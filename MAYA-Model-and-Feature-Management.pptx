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package" Target="../embeddings/Microsoft_Excel_Sheet1.xlsx"/><Relationship Id="rId3" Type="http://schemas.openxmlformats.org/officeDocument/2006/relationships/image" Target="../media/image2.wmf"/><Relationship Id="rId4" Type="http://schemas.openxmlformats.org/officeDocument/2006/relationships/package" Target="../embeddings/Microsoft_Excel_Sheet2.xlsx"/></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397763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Rectangle 3"/>
          <p:cNvSpPr/>
          <p:nvPr/>
        </p:nvSpPr>
        <p:spPr>
          <a:xfrm>
            <a:off x="0" y="3977639"/>
            <a:ext cx="12191695" cy="54864"/>
          </a:xfrm>
          <a:prstGeom prst="rect">
            <a:avLst/>
          </a:prstGeom>
          <a:solidFill>
            <a:srgbClr val="B88B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 name="Rectangle 4"/>
          <p:cNvSpPr/>
          <p:nvPr/>
        </p:nvSpPr>
        <p:spPr>
          <a:xfrm>
            <a:off x="0" y="0"/>
            <a:ext cx="182880" cy="3977639"/>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pic>
        <p:nvPicPr>
          <p:cNvPr id="6" name="Picture 5" descr="maya-mark-white.png"/>
          <p:cNvPicPr>
            <a:picLocks noChangeAspect="1"/>
          </p:cNvPicPr>
          <p:nvPr/>
        </p:nvPicPr>
        <p:blipFill>
          <a:blip r:embed="rId2"/>
          <a:stretch>
            <a:fillRect/>
          </a:stretch>
        </p:blipFill>
        <p:spPr>
          <a:xfrm>
            <a:off x="1051560" y="640080"/>
            <a:ext cx="731520" cy="731520"/>
          </a:xfrm>
          <a:prstGeom prst="rect">
            <a:avLst/>
          </a:prstGeom>
        </p:spPr>
      </p:pic>
      <p:sp>
        <p:nvSpPr>
          <p:cNvPr id="7" name="TextBox 6"/>
          <p:cNvSpPr txBox="1"/>
          <p:nvPr/>
        </p:nvSpPr>
        <p:spPr>
          <a:xfrm>
            <a:off x="1911095" y="905256"/>
            <a:ext cx="9686239" cy="310896"/>
          </a:xfrm>
          <a:prstGeom prst="rect">
            <a:avLst/>
          </a:prstGeom>
          <a:noFill/>
        </p:spPr>
        <p:txBody>
          <a:bodyPr wrap="square" lIns="0" rIns="0" tIns="0" bIns="0" anchor="t">
            <a:spAutoFit/>
          </a:bodyPr>
          <a:lstStyle/>
          <a:p>
            <a:pPr algn="l">
              <a:spcBef>
                <a:spcPts val="0"/>
              </a:spcBef>
              <a:spcAft>
                <a:spcPts val="0"/>
              </a:spcAft>
            </a:pPr>
            <a:r>
              <a:rPr sz="1100" b="1" i="0">
                <a:solidFill>
                  <a:srgbClr val="E8B8C0"/>
                </a:solidFill>
                <a:latin typeface="Calibri"/>
              </a:rPr>
              <a:t>MAYA  ·  MODEL &amp; AI LIFECYCLE ASSURANCE PLATFORM</a:t>
            </a:r>
          </a:p>
        </p:txBody>
      </p:sp>
      <p:sp>
        <p:nvSpPr>
          <p:cNvPr id="8" name="TextBox 7"/>
          <p:cNvSpPr txBox="1"/>
          <p:nvPr/>
        </p:nvSpPr>
        <p:spPr>
          <a:xfrm>
            <a:off x="1051560" y="1389888"/>
            <a:ext cx="9148005" cy="2011680"/>
          </a:xfrm>
          <a:prstGeom prst="rect">
            <a:avLst/>
          </a:prstGeom>
          <a:noFill/>
        </p:spPr>
        <p:txBody>
          <a:bodyPr wrap="square" lIns="0" rIns="0" tIns="0" bIns="0" anchor="t">
            <a:spAutoFit/>
          </a:bodyPr>
          <a:lstStyle/>
          <a:p>
            <a:pPr algn="l">
              <a:spcBef>
                <a:spcPts val="0"/>
              </a:spcBef>
              <a:spcAft>
                <a:spcPts val="200"/>
              </a:spcAft>
            </a:pPr>
            <a:r>
              <a:rPr sz="3800" b="0" i="0">
                <a:solidFill>
                  <a:srgbClr val="FFFFFF"/>
                </a:solidFill>
                <a:latin typeface="Georgia"/>
              </a:rPr>
              <a:t>Model and Feature Management</a:t>
            </a:r>
          </a:p>
          <a:p>
            <a:pPr>
              <a:spcBef>
                <a:spcPts val="0"/>
              </a:spcBef>
              <a:spcAft>
                <a:spcPts val="400"/>
              </a:spcAft>
            </a:pPr>
            <a:r>
              <a:rPr sz="3800" b="0" i="0">
                <a:solidFill>
                  <a:srgbClr val="FFFFFF"/>
                </a:solidFill>
                <a:latin typeface="Georgia"/>
              </a:rPr>
              <a:t>Concepts and System Design</a:t>
            </a:r>
          </a:p>
        </p:txBody>
      </p:sp>
      <p:sp>
        <p:nvSpPr>
          <p:cNvPr id="9" name="Rectangle 8"/>
          <p:cNvSpPr/>
          <p:nvPr/>
        </p:nvSpPr>
        <p:spPr>
          <a:xfrm>
            <a:off x="1051560" y="3035808"/>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0" name="TextBox 9"/>
          <p:cNvSpPr txBox="1"/>
          <p:nvPr/>
        </p:nvSpPr>
        <p:spPr>
          <a:xfrm>
            <a:off x="1051560" y="3255264"/>
            <a:ext cx="8935260" cy="731520"/>
          </a:xfrm>
          <a:prstGeom prst="rect">
            <a:avLst/>
          </a:prstGeom>
          <a:noFill/>
        </p:spPr>
        <p:txBody>
          <a:bodyPr wrap="square" lIns="0" rIns="0" tIns="0" bIns="0" anchor="t">
            <a:spAutoFit/>
          </a:bodyPr>
          <a:lstStyle/>
          <a:p>
            <a:pPr algn="l">
              <a:lnSpc>
                <a:spcPct val="125000"/>
              </a:lnSpc>
              <a:spcBef>
                <a:spcPts val="0"/>
              </a:spcBef>
              <a:spcAft>
                <a:spcPts val="0"/>
              </a:spcAft>
            </a:pPr>
            <a:r>
              <a:rPr sz="1350" b="0" i="1">
                <a:solidFill>
                  <a:srgbClr val="F4DFE3"/>
                </a:solidFill>
                <a:latin typeface="Calibri"/>
              </a:rPr>
              <a:t>The philosophy, the foundations, the concepts a practitioner works with, the design of the system that holds them — and worked examples throughout</a:t>
            </a:r>
          </a:p>
        </p:txBody>
      </p:sp>
      <p:sp>
        <p:nvSpPr>
          <p:cNvPr id="11" name="TextBox 10"/>
          <p:cNvSpPr txBox="1"/>
          <p:nvPr/>
        </p:nvSpPr>
        <p:spPr>
          <a:xfrm>
            <a:off x="1051560" y="4443984"/>
            <a:ext cx="5318607" cy="1097280"/>
          </a:xfrm>
          <a:prstGeom prst="rect">
            <a:avLst/>
          </a:prstGeom>
          <a:noFill/>
        </p:spPr>
        <p:txBody>
          <a:bodyPr wrap="square" lIns="0" rIns="0" tIns="0" bIns="0" anchor="t">
            <a:spAutoFit/>
          </a:bodyPr>
          <a:lstStyle/>
          <a:p>
            <a:pPr algn="l">
              <a:spcBef>
                <a:spcPts val="0"/>
              </a:spcBef>
              <a:spcAft>
                <a:spcPts val="300"/>
              </a:spcAft>
            </a:pPr>
            <a:r>
              <a:rPr sz="2000" b="1" i="0">
                <a:solidFill>
                  <a:srgbClr val="1C1C1E"/>
                </a:solidFill>
                <a:latin typeface="Georgia"/>
              </a:rPr>
              <a:t>Ashutosh Sinha</a:t>
            </a:r>
          </a:p>
          <a:p>
            <a:pPr>
              <a:spcBef>
                <a:spcPts val="0"/>
              </a:spcBef>
              <a:spcAft>
                <a:spcPts val="100"/>
              </a:spcAft>
            </a:pPr>
            <a:r>
              <a:rPr sz="1200" b="0" i="0">
                <a:solidFill>
                  <a:srgbClr val="A51C30"/>
                </a:solidFill>
                <a:latin typeface="Calibri"/>
              </a:rPr>
              <a:t>Independent Researcher</a:t>
            </a:r>
          </a:p>
          <a:p>
            <a:pPr>
              <a:spcBef>
                <a:spcPts val="0"/>
              </a:spcBef>
              <a:spcAft>
                <a:spcPts val="600"/>
              </a:spcAft>
            </a:pPr>
            <a:r>
              <a:rPr sz="1050" b="0" i="0">
                <a:solidFill>
                  <a:srgbClr val="7A7F87"/>
                </a:solidFill>
                <a:latin typeface="Calibri"/>
              </a:rPr>
              <a:t>September 2026</a:t>
            </a:r>
          </a:p>
        </p:txBody>
      </p:sp>
      <p:sp>
        <p:nvSpPr>
          <p:cNvPr id="12" name="TextBox 11"/>
          <p:cNvSpPr txBox="1"/>
          <p:nvPr/>
        </p:nvSpPr>
        <p:spPr>
          <a:xfrm>
            <a:off x="6095847" y="4315968"/>
            <a:ext cx="5318607" cy="2194560"/>
          </a:xfrm>
          <a:prstGeom prst="rect">
            <a:avLst/>
          </a:prstGeom>
          <a:noFill/>
        </p:spPr>
        <p:txBody>
          <a:bodyPr wrap="square" lIns="0" rIns="0" tIns="0" bIns="0" anchor="t">
            <a:spAutoFit/>
          </a:bodyPr>
          <a:lstStyle/>
          <a:p>
            <a:pPr algn="l">
              <a:spcBef>
                <a:spcPts val="0"/>
              </a:spcBef>
              <a:spcAft>
                <a:spcPts val="600"/>
              </a:spcAft>
            </a:pPr>
            <a:r>
              <a:rPr sz="950" b="1" i="0">
                <a:solidFill>
                  <a:srgbClr val="A51C30"/>
                </a:solidFill>
                <a:latin typeface="Calibri"/>
              </a:rPr>
              <a:t>IN FIVE PARTS</a:t>
            </a:r>
          </a:p>
          <a:p>
            <a:pPr>
              <a:spcBef>
                <a:spcPts val="0"/>
              </a:spcBef>
              <a:spcAft>
                <a:spcPts val="400"/>
              </a:spcAft>
            </a:pPr>
            <a:r>
              <a:rPr sz="1000" b="1" i="0">
                <a:solidFill>
                  <a:srgbClr val="A51C30"/>
                </a:solidFill>
                <a:latin typeface="Calibri"/>
              </a:rPr>
              <a:t>I   </a:t>
            </a:r>
            <a:r>
              <a:rPr sz="1000" b="1" i="0">
                <a:solidFill>
                  <a:srgbClr val="1C1C1E"/>
                </a:solidFill>
                <a:latin typeface="Calibri"/>
              </a:rPr>
              <a:t>Philosophy  </a:t>
            </a:r>
            <a:r>
              <a:rPr sz="1000" b="0" i="0">
                <a:solidFill>
                  <a:srgbClr val="4A4F57"/>
                </a:solidFill>
                <a:latin typeface="Calibri"/>
              </a:rPr>
              <a:t>what a model is, and what goes wrong when you forget</a:t>
            </a:r>
          </a:p>
          <a:p>
            <a:pPr>
              <a:spcBef>
                <a:spcPts val="0"/>
              </a:spcBef>
              <a:spcAft>
                <a:spcPts val="400"/>
              </a:spcAft>
            </a:pPr>
            <a:r>
              <a:rPr sz="1000" b="1" i="0">
                <a:solidFill>
                  <a:srgbClr val="A51C30"/>
                </a:solidFill>
                <a:latin typeface="Calibri"/>
              </a:rPr>
              <a:t>II  </a:t>
            </a:r>
            <a:r>
              <a:rPr sz="1000" b="1" i="0">
                <a:solidFill>
                  <a:srgbClr val="1C1C1E"/>
                </a:solidFill>
                <a:latin typeface="Calibri"/>
              </a:rPr>
              <a:t>Foundations  </a:t>
            </a:r>
            <a:r>
              <a:rPr sz="1000" b="0" i="0">
                <a:solidFill>
                  <a:srgbClr val="4A4F57"/>
                </a:solidFill>
                <a:latin typeface="Calibri"/>
              </a:rPr>
              <a:t>the mathematics, run as tests rather than claimed</a:t>
            </a:r>
          </a:p>
          <a:p>
            <a:pPr>
              <a:spcBef>
                <a:spcPts val="0"/>
              </a:spcBef>
              <a:spcAft>
                <a:spcPts val="400"/>
              </a:spcAft>
            </a:pPr>
            <a:r>
              <a:rPr sz="1000" b="1" i="0">
                <a:solidFill>
                  <a:srgbClr val="A51C30"/>
                </a:solidFill>
                <a:latin typeface="Calibri"/>
              </a:rPr>
              <a:t>III </a:t>
            </a:r>
            <a:r>
              <a:rPr sz="1000" b="1" i="0">
                <a:solidFill>
                  <a:srgbClr val="1C1C1E"/>
                </a:solidFill>
                <a:latin typeface="Calibri"/>
              </a:rPr>
              <a:t>Concepts  </a:t>
            </a:r>
            <a:r>
              <a:rPr sz="1000" b="0" i="0">
                <a:solidFill>
                  <a:srgbClr val="4A4F57"/>
                </a:solidFill>
                <a:latin typeface="Calibri"/>
              </a:rPr>
              <a:t>the objects a practitioner works with</a:t>
            </a:r>
          </a:p>
          <a:p>
            <a:pPr>
              <a:spcBef>
                <a:spcPts val="0"/>
              </a:spcBef>
              <a:spcAft>
                <a:spcPts val="400"/>
              </a:spcAft>
            </a:pPr>
            <a:r>
              <a:rPr sz="1000" b="1" i="0">
                <a:solidFill>
                  <a:srgbClr val="A51C30"/>
                </a:solidFill>
                <a:latin typeface="Calibri"/>
              </a:rPr>
              <a:t>IV  </a:t>
            </a:r>
            <a:r>
              <a:rPr sz="1000" b="1" i="0">
                <a:solidFill>
                  <a:srgbClr val="1C1C1E"/>
                </a:solidFill>
                <a:latin typeface="Calibri"/>
              </a:rPr>
              <a:t>System design  </a:t>
            </a:r>
            <a:r>
              <a:rPr sz="1000" b="0" i="0">
                <a:solidFill>
                  <a:srgbClr val="4A4F57"/>
                </a:solidFill>
                <a:latin typeface="Calibri"/>
              </a:rPr>
              <a:t>components, algorithms, boundaries</a:t>
            </a:r>
          </a:p>
          <a:p>
            <a:pPr>
              <a:spcBef>
                <a:spcPts val="0"/>
              </a:spcBef>
              <a:spcAft>
                <a:spcPts val="400"/>
              </a:spcAft>
            </a:pPr>
            <a:r>
              <a:rPr sz="1000" b="1" i="0">
                <a:solidFill>
                  <a:srgbClr val="A51C30"/>
                </a:solidFill>
                <a:latin typeface="Calibri"/>
              </a:rPr>
              <a:t>V   </a:t>
            </a:r>
            <a:r>
              <a:rPr sz="1000" b="1" i="0">
                <a:solidFill>
                  <a:srgbClr val="1C1C1E"/>
                </a:solidFill>
                <a:latin typeface="Calibri"/>
              </a:rPr>
              <a:t>Worked examples  </a:t>
            </a:r>
            <a:r>
              <a:rPr sz="1000" b="0" i="0">
                <a:solidFill>
                  <a:srgbClr val="4A4F57"/>
                </a:solidFill>
                <a:latin typeface="Calibri"/>
              </a:rPr>
              <a:t>seven kinds of model, then real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FRONT MATTER · SCOPE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Who this is for, and where to stop reading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Front matter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a:t>
            </a:r>
          </a:p>
        </p:txBody>
      </p:sp>
      <p:graphicFrame>
        <p:nvGraphicFramePr>
          <p:cNvPr id="10" name="Table 9"/>
          <p:cNvGraphicFramePr>
            <a:graphicFrameLocks noGrp="1"/>
          </p:cNvGraphicFramePr>
          <p:nvPr/>
        </p:nvGraphicFramePr>
        <p:xfrm>
          <a:off x="777240" y="1353312"/>
          <a:ext cx="10637214" cy="2609925"/>
        </p:xfrm>
        <a:graphic>
          <a:graphicData uri="http://schemas.openxmlformats.org/drawingml/2006/table">
            <a:tbl>
              <a:tblPr firstRow="1">
                <a:tableStyleId>{5C22544A-7EE6-4342-B048-85BDC9FD1C3A}</a:tableStyleId>
              </a:tblPr>
              <a:tblGrid>
                <a:gridCol w="2925828"/>
                <a:gridCol w="4754471"/>
                <a:gridCol w="2956915"/>
              </a:tblGrid>
              <a:tr h="329184">
                <a:tc>
                  <a:txBody>
                    <a:bodyPr wrap="square"/>
                    <a:lstStyle/>
                    <a:p>
                      <a:pPr algn="l"/>
                      <a:r>
                        <a:rPr sz="1050" b="1">
                          <a:solidFill>
                            <a:srgbClr val="FFFFFF"/>
                          </a:solidFill>
                          <a:latin typeface="Calibri"/>
                        </a:rPr>
                        <a:t>If you are</a:t>
                      </a:r>
                    </a:p>
                  </a:txBody>
                  <a:tcPr marL="82296" marR="64008" marT="32004" marB="32004" anchor="ctr">
                    <a:solidFill>
                      <a:srgbClr val="A51C30"/>
                    </a:solidFill>
                  </a:tcPr>
                </a:tc>
                <a:tc>
                  <a:txBody>
                    <a:bodyPr wrap="square"/>
                    <a:lstStyle/>
                    <a:p>
                      <a:pPr algn="l"/>
                      <a:r>
                        <a:rPr sz="1050" b="1">
                          <a:solidFill>
                            <a:srgbClr val="FFFFFF"/>
                          </a:solidFill>
                          <a:latin typeface="Calibri"/>
                        </a:rPr>
                        <a:t>Read</a:t>
                      </a:r>
                    </a:p>
                  </a:txBody>
                  <a:tcPr marL="82296" marR="64008" marT="32004" marB="32004" anchor="ctr">
                    <a:solidFill>
                      <a:srgbClr val="A51C30"/>
                    </a:solidFill>
                  </a:tcPr>
                </a:tc>
                <a:tc>
                  <a:txBody>
                    <a:bodyPr wrap="square"/>
                    <a:lstStyle/>
                    <a:p>
                      <a:pPr algn="l"/>
                      <a:r>
                        <a:rPr sz="1050" b="1">
                          <a:solidFill>
                            <a:srgbClr val="FFFFFF"/>
                          </a:solidFill>
                          <a:latin typeface="Calibri"/>
                        </a:rPr>
                        <a:t>And you can stop after</a:t>
                      </a:r>
                    </a:p>
                  </a:txBody>
                  <a:tcPr marL="82296" marR="64008" marT="32004" marB="32004" anchor="ctr">
                    <a:solidFill>
                      <a:srgbClr val="A51C30"/>
                    </a:solidFill>
                  </a:tcPr>
                </a:tc>
              </a:tr>
              <a:tr h="504215">
                <a:tc>
                  <a:txBody>
                    <a:bodyPr wrap="square"/>
                    <a:lstStyle/>
                    <a:p>
                      <a:pPr algn="l"/>
                      <a:r>
                        <a:rPr sz="1050" b="1">
                          <a:solidFill>
                            <a:srgbClr val="A51C30"/>
                          </a:solidFill>
                          <a:latin typeface="Calibri"/>
                        </a:rPr>
                        <a:t>a model developer or a quant</a:t>
                      </a:r>
                    </a:p>
                  </a:txBody>
                  <a:tcPr marL="82296" marR="64008" marT="32004" marB="32004" anchor="ctr">
                    <a:solidFill>
                      <a:srgbClr val="FFFFFF"/>
                    </a:solidFill>
                  </a:tcPr>
                </a:tc>
                <a:tc>
                  <a:txBody>
                    <a:bodyPr wrap="square"/>
                    <a:lstStyle/>
                    <a:p>
                      <a:pPr algn="l"/>
                      <a:r>
                        <a:rPr sz="1050" b="0">
                          <a:solidFill>
                            <a:srgbClr val="1C1C1E"/>
                          </a:solidFill>
                          <a:latin typeface="Calibri"/>
                        </a:rPr>
                        <a:t>Parts I, III and V — philosophy, the objects, the examples</a:t>
                      </a:r>
                    </a:p>
                  </a:txBody>
                  <a:tcPr marL="82296" marR="64008" marT="32004" marB="32004" anchor="ctr">
                    <a:solidFill>
                      <a:srgbClr val="FFFFFF"/>
                    </a:solidFill>
                  </a:tcPr>
                </a:tc>
                <a:tc>
                  <a:txBody>
                    <a:bodyPr wrap="square"/>
                    <a:lstStyle/>
                    <a:p>
                      <a:pPr algn="l"/>
                      <a:r>
                        <a:rPr sz="1050" b="0">
                          <a:solidFill>
                            <a:srgbClr val="1C1C1E"/>
                          </a:solidFill>
                          <a:latin typeface="Calibri"/>
                        </a:rPr>
                        <a:t>chapter 15, having seen every refusal you will meet</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a validator or model risk manager</a:t>
                      </a:r>
                    </a:p>
                  </a:txBody>
                  <a:tcPr marL="82296" marR="64008" marT="32004" marB="32004" anchor="ctr">
                    <a:solidFill>
                      <a:srgbClr val="F6F3EF"/>
                    </a:solidFill>
                  </a:tcPr>
                </a:tc>
                <a:tc>
                  <a:txBody>
                    <a:bodyPr wrap="square"/>
                    <a:lstStyle/>
                    <a:p>
                      <a:pPr algn="l"/>
                      <a:r>
                        <a:rPr sz="1050" b="0">
                          <a:solidFill>
                            <a:srgbClr val="1C1C1E"/>
                          </a:solidFill>
                          <a:latin typeface="Calibri"/>
                        </a:rPr>
                        <a:t>Parts I, II and III — and chapter 24 for the evidence each class can produce</a:t>
                      </a:r>
                    </a:p>
                  </a:txBody>
                  <a:tcPr marL="82296" marR="64008" marT="32004" marB="32004" anchor="ctr">
                    <a:solidFill>
                      <a:srgbClr val="F6F3EF"/>
                    </a:solidFill>
                  </a:tcPr>
                </a:tc>
                <a:tc>
                  <a:txBody>
                    <a:bodyPr wrap="square"/>
                    <a:lstStyle/>
                    <a:p>
                      <a:pPr algn="l"/>
                      <a:r>
                        <a:rPr sz="1050" b="0">
                          <a:solidFill>
                            <a:srgbClr val="1C1C1E"/>
                          </a:solidFill>
                          <a:latin typeface="Calibri"/>
                        </a:rPr>
                        <a:t>chapter 15</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a supervisor or an auditor</a:t>
                      </a:r>
                    </a:p>
                  </a:txBody>
                  <a:tcPr marL="82296" marR="64008" marT="32004" marB="32004" anchor="ctr">
                    <a:solidFill>
                      <a:srgbClr val="FFFFFF"/>
                    </a:solidFill>
                  </a:tcPr>
                </a:tc>
                <a:tc>
                  <a:txBody>
                    <a:bodyPr wrap="square"/>
                    <a:lstStyle/>
                    <a:p>
                      <a:pPr algn="l"/>
                      <a:r>
                        <a:rPr sz="1050" b="0">
                          <a:solidFill>
                            <a:srgbClr val="1C1C1E"/>
                          </a:solidFill>
                          <a:latin typeface="Calibri"/>
                        </a:rPr>
                        <a:t>Part I, then chapters 7, 8 and 14 — evidence, the laws, and what a pack contains</a:t>
                      </a:r>
                    </a:p>
                  </a:txBody>
                  <a:tcPr marL="82296" marR="64008" marT="32004" marB="32004" anchor="ctr">
                    <a:solidFill>
                      <a:srgbClr val="FFFFFF"/>
                    </a:solidFill>
                  </a:tcPr>
                </a:tc>
                <a:tc>
                  <a:txBody>
                    <a:bodyPr wrap="square"/>
                    <a:lstStyle/>
                    <a:p>
                      <a:pPr algn="l"/>
                      <a:r>
                        <a:rPr sz="1050" b="0">
                          <a:solidFill>
                            <a:srgbClr val="1C1C1E"/>
                          </a:solidFill>
                          <a:latin typeface="Calibri"/>
                        </a:rPr>
                        <a:t>chapter 14</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an engineer building on it</a:t>
                      </a:r>
                    </a:p>
                  </a:txBody>
                  <a:tcPr marL="82296" marR="64008" marT="32004" marB="32004" anchor="ctr">
                    <a:solidFill>
                      <a:srgbClr val="F6F3EF"/>
                    </a:solidFill>
                  </a:tcPr>
                </a:tc>
                <a:tc>
                  <a:txBody>
                    <a:bodyPr wrap="square"/>
                    <a:lstStyle/>
                    <a:p>
                      <a:pPr algn="l"/>
                      <a:r>
                        <a:rPr sz="1050" b="0">
                          <a:solidFill>
                            <a:srgbClr val="1C1C1E"/>
                          </a:solidFill>
                          <a:latin typeface="Calibri"/>
                        </a:rPr>
                        <a:t>all of it, and chapter 16 onward is the level below the architecture</a:t>
                      </a:r>
                    </a:p>
                  </a:txBody>
                  <a:tcPr marL="82296" marR="64008" marT="32004" marB="32004" anchor="ctr">
                    <a:solidFill>
                      <a:srgbClr val="F6F3EF"/>
                    </a:solidFill>
                  </a:tcPr>
                </a:tc>
                <a:tc>
                  <a:txBody>
                    <a:bodyPr wrap="square"/>
                    <a:lstStyle/>
                    <a:p>
                      <a:pPr algn="l"/>
                      <a:r>
                        <a:rPr sz="1050" b="0">
                          <a:solidFill>
                            <a:srgbClr val="1C1C1E"/>
                          </a:solidFill>
                          <a:latin typeface="Calibri"/>
                        </a:rPr>
                        <a:t>nowhere; chapter 23 is the operations</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deciding whether to buy or build</a:t>
                      </a:r>
                    </a:p>
                  </a:txBody>
                  <a:tcPr marL="82296" marR="64008" marT="32004" marB="32004" anchor="ctr">
                    <a:solidFill>
                      <a:srgbClr val="FFFFFF"/>
                    </a:solidFill>
                  </a:tcPr>
                </a:tc>
                <a:tc>
                  <a:txBody>
                    <a:bodyPr wrap="square"/>
                    <a:lstStyle/>
                    <a:p>
                      <a:pPr algn="l"/>
                      <a:r>
                        <a:rPr sz="1050" b="0">
                          <a:solidFill>
                            <a:srgbClr val="1C1C1E"/>
                          </a:solidFill>
                          <a:latin typeface="Calibri"/>
                        </a:rPr>
                        <a:t>Part I and chapter 24</a:t>
                      </a:r>
                    </a:p>
                  </a:txBody>
                  <a:tcPr marL="82296" marR="64008" marT="32004" marB="32004" anchor="ctr">
                    <a:solidFill>
                      <a:srgbClr val="FFFFFF"/>
                    </a:solidFill>
                  </a:tcPr>
                </a:tc>
                <a:tc>
                  <a:txBody>
                    <a:bodyPr wrap="square"/>
                    <a:lstStyle/>
                    <a:p>
                      <a:pPr algn="l"/>
                      <a:r>
                        <a:rPr sz="1050" b="0">
                          <a:solidFill>
                            <a:srgbClr val="1C1C1E"/>
                          </a:solidFill>
                          <a:latin typeface="Calibri"/>
                        </a:rPr>
                        <a:t>chapter 24</a:t>
                      </a:r>
                    </a:p>
                  </a:txBody>
                  <a:tcPr marL="82296" marR="64008" marT="32004" marB="32004" anchor="ctr">
                    <a:solidFill>
                      <a:srgbClr val="FFFFFF"/>
                    </a:solidFill>
                  </a:tcPr>
                </a:tc>
              </a:tr>
            </a:tbl>
          </a:graphicData>
        </a:graphic>
      </p:graphicFrame>
      <p:sp>
        <p:nvSpPr>
          <p:cNvPr id="11" name="Rectangle 10"/>
          <p:cNvSpPr/>
          <p:nvPr/>
        </p:nvSpPr>
        <p:spPr>
          <a:xfrm>
            <a:off x="777240" y="4237558"/>
            <a:ext cx="10637215"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237558"/>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356430"/>
            <a:ext cx="10180015" cy="9235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Part I is nine slides and answers a question the rest of the deck assumes. </a:t>
            </a:r>
            <a:r>
              <a:rPr sz="1050" b="0" i="0">
                <a:solidFill>
                  <a:srgbClr val="1C1C1E"/>
                </a:solidFill>
                <a:latin typeface="Calibri"/>
              </a:rPr>
              <a:t>If you read nothing else, read that — the whole design is downstream of one sentence about what a model is, and the sections that look like engineering decisions are consequences of it rather than choices made beside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FRONT MATTER · SCOPE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this document is, and what it is not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Front matter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a:t>
            </a:r>
          </a:p>
        </p:txBody>
      </p:sp>
      <p:graphicFrame>
        <p:nvGraphicFramePr>
          <p:cNvPr id="10" name="Table 9"/>
          <p:cNvGraphicFramePr>
            <a:graphicFrameLocks noGrp="1"/>
          </p:cNvGraphicFramePr>
          <p:nvPr/>
        </p:nvGraphicFramePr>
        <p:xfrm>
          <a:off x="777240" y="1353312"/>
          <a:ext cx="10637214" cy="2662199"/>
        </p:xfrm>
        <a:graphic>
          <a:graphicData uri="http://schemas.openxmlformats.org/drawingml/2006/table">
            <a:tbl>
              <a:tblPr firstRow="1">
                <a:tableStyleId>{5C22544A-7EE6-4342-B048-85BDC9FD1C3A}</a:tableStyleId>
              </a:tblPr>
              <a:tblGrid>
                <a:gridCol w="2834396"/>
                <a:gridCol w="3017260"/>
                <a:gridCol w="4785558"/>
              </a:tblGrid>
              <a:tr h="329184">
                <a:tc>
                  <a:txBody>
                    <a:bodyPr wrap="square"/>
                    <a:lstStyle/>
                    <a:p>
                      <a:pPr algn="l"/>
                      <a:r>
                        <a:rPr sz="1050" b="1">
                          <a:solidFill>
                            <a:srgbClr val="FFFFFF"/>
                          </a:solidFill>
                          <a:latin typeface="Calibri"/>
                        </a:rPr>
                        <a:t>Document</a:t>
                      </a:r>
                    </a:p>
                  </a:txBody>
                  <a:tcPr marL="82296" marR="64008" marT="32004" marB="32004" anchor="ctr">
                    <a:solidFill>
                      <a:srgbClr val="A51C30"/>
                    </a:solidFill>
                  </a:tcPr>
                </a:tc>
                <a:tc>
                  <a:txBody>
                    <a:bodyPr wrap="square"/>
                    <a:lstStyle/>
                    <a:p>
                      <a:pPr algn="l"/>
                      <a:r>
                        <a:rPr sz="1050" b="1">
                          <a:solidFill>
                            <a:srgbClr val="FFFFFF"/>
                          </a:solidFill>
                          <a:latin typeface="Calibri"/>
                        </a:rPr>
                        <a:t>Level</a:t>
                      </a:r>
                    </a:p>
                  </a:txBody>
                  <a:tcPr marL="82296" marR="64008" marT="32004" marB="32004" anchor="ctr">
                    <a:solidFill>
                      <a:srgbClr val="A51C30"/>
                    </a:solidFill>
                  </a:tcPr>
                </a:tc>
                <a:tc>
                  <a:txBody>
                    <a:bodyPr wrap="square"/>
                    <a:lstStyle/>
                    <a:p>
                      <a:pPr algn="l"/>
                      <a:r>
                        <a:rPr sz="1050" b="1">
                          <a:solidFill>
                            <a:srgbClr val="FFFFFF"/>
                          </a:solidFill>
                          <a:latin typeface="Calibri"/>
                        </a:rPr>
                        <a:t>Answers</a:t>
                      </a:r>
                    </a:p>
                  </a:txBody>
                  <a:tcPr marL="82296" marR="64008" marT="32004" marB="32004" anchor="ctr">
                    <a:solidFill>
                      <a:srgbClr val="A51C30"/>
                    </a:solidFill>
                  </a:tcPr>
                </a:tc>
              </a:tr>
              <a:tr h="365760">
                <a:tc>
                  <a:txBody>
                    <a:bodyPr wrap="square"/>
                    <a:lstStyle/>
                    <a:p>
                      <a:pPr algn="l"/>
                      <a:r>
                        <a:rPr sz="1050" b="1">
                          <a:solidFill>
                            <a:srgbClr val="A51C30"/>
                          </a:solidFill>
                          <a:latin typeface="Calibri"/>
                        </a:rPr>
                        <a:t>03 — Requirements</a:t>
                      </a:r>
                    </a:p>
                  </a:txBody>
                  <a:tcPr marL="82296" marR="64008" marT="32004" marB="32004" anchor="ctr">
                    <a:solidFill>
                      <a:srgbClr val="FFFFFF"/>
                    </a:solidFill>
                  </a:tcPr>
                </a:tc>
                <a:tc>
                  <a:txBody>
                    <a:bodyPr wrap="square"/>
                    <a:lstStyle/>
                    <a:p>
                      <a:pPr algn="l"/>
                      <a:r>
                        <a:rPr sz="1050" b="0">
                          <a:solidFill>
                            <a:srgbClr val="1C1C1E"/>
                          </a:solidFill>
                          <a:latin typeface="Calibri"/>
                        </a:rPr>
                        <a:t>what must be true</a:t>
                      </a:r>
                    </a:p>
                  </a:txBody>
                  <a:tcPr marL="82296" marR="64008" marT="32004" marB="32004" anchor="ctr">
                    <a:solidFill>
                      <a:srgbClr val="FFFFFF"/>
                    </a:solidFill>
                  </a:tcPr>
                </a:tc>
                <a:tc>
                  <a:txBody>
                    <a:bodyPr wrap="square"/>
                    <a:lstStyle/>
                    <a:p>
                      <a:pPr algn="l"/>
                      <a:r>
                        <a:rPr sz="1050" b="0">
                          <a:solidFill>
                            <a:srgbClr val="1C1C1E"/>
                          </a:solidFill>
                          <a:latin typeface="Calibri"/>
                        </a:rPr>
                        <a:t>~200 numbered requirements, personas, regulatory traceability</a:t>
                      </a:r>
                    </a:p>
                  </a:txBody>
                  <a:tcPr marL="82296" marR="64008" marT="32004" marB="32004" anchor="ctr">
                    <a:solidFill>
                      <a:srgbClr val="FFFFFF"/>
                    </a:solidFill>
                  </a:tcPr>
                </a:tc>
              </a:tr>
              <a:tr h="365760">
                <a:tc>
                  <a:txBody>
                    <a:bodyPr wrap="square"/>
                    <a:lstStyle/>
                    <a:p>
                      <a:pPr algn="l"/>
                      <a:r>
                        <a:rPr sz="1050" b="1">
                          <a:solidFill>
                            <a:srgbClr val="A51C30"/>
                          </a:solidFill>
                          <a:latin typeface="Calibri"/>
                        </a:rPr>
                        <a:t>04 — Architecture</a:t>
                      </a:r>
                    </a:p>
                  </a:txBody>
                  <a:tcPr marL="82296" marR="64008" marT="32004" marB="32004" anchor="ctr">
                    <a:solidFill>
                      <a:srgbClr val="F6F3EF"/>
                    </a:solidFill>
                  </a:tcPr>
                </a:tc>
                <a:tc>
                  <a:txBody>
                    <a:bodyPr wrap="square"/>
                    <a:lstStyle/>
                    <a:p>
                      <a:pPr algn="l"/>
                      <a:r>
                        <a:rPr sz="1050" b="0">
                          <a:solidFill>
                            <a:srgbClr val="1C1C1E"/>
                          </a:solidFill>
                          <a:latin typeface="Calibri"/>
                        </a:rPr>
                        <a:t>what the containers are, and why</a:t>
                      </a:r>
                    </a:p>
                  </a:txBody>
                  <a:tcPr marL="82296" marR="64008" marT="32004" marB="32004" anchor="ctr">
                    <a:solidFill>
                      <a:srgbClr val="F6F3EF"/>
                    </a:solidFill>
                  </a:tcPr>
                </a:tc>
                <a:tc>
                  <a:txBody>
                    <a:bodyPr wrap="square"/>
                    <a:lstStyle/>
                    <a:p>
                      <a:pPr algn="l"/>
                      <a:r>
                        <a:rPr sz="1050" b="0">
                          <a:solidFill>
                            <a:srgbClr val="1C1C1E"/>
                          </a:solidFill>
                          <a:latin typeface="Calibri"/>
                        </a:rPr>
                        <a:t>deployable units, bounded contexts, extensibility, failure modes</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This deck</a:t>
                      </a:r>
                    </a:p>
                  </a:txBody>
                  <a:tcPr marL="82296" marR="64008" marT="32004" marB="32004" anchor="ctr">
                    <a:solidFill>
                      <a:srgbClr val="FFFFFF"/>
                    </a:solidFill>
                  </a:tcPr>
                </a:tc>
                <a:tc>
                  <a:txBody>
                    <a:bodyPr wrap="square"/>
                    <a:lstStyle/>
                    <a:p>
                      <a:pPr algn="l"/>
                      <a:r>
                        <a:rPr sz="1050" b="0">
                          <a:solidFill>
                            <a:srgbClr val="1C1C1E"/>
                          </a:solidFill>
                          <a:latin typeface="Calibri"/>
                        </a:rPr>
                        <a:t>the whole thing, at the level a person reads</a:t>
                      </a:r>
                    </a:p>
                  </a:txBody>
                  <a:tcPr marL="82296" marR="64008" marT="32004" marB="32004" anchor="ctr">
                    <a:solidFill>
                      <a:srgbClr val="FFFFFF"/>
                    </a:solidFill>
                  </a:tcPr>
                </a:tc>
                <a:tc>
                  <a:txBody>
                    <a:bodyPr wrap="square"/>
                    <a:lstStyle/>
                    <a:p>
                      <a:pPr algn="l"/>
                      <a:r>
                        <a:rPr sz="1050" b="0">
                          <a:solidFill>
                            <a:srgbClr val="1C1C1E"/>
                          </a:solidFill>
                          <a:latin typeface="Calibri"/>
                        </a:rPr>
                        <a:t>the philosophy, the mathematics, the objects, the design, and worked examples of each</a:t>
                      </a:r>
                    </a:p>
                  </a:txBody>
                  <a:tcPr marL="82296" marR="64008" marT="32004" marB="32004" anchor="ctr">
                    <a:solidFill>
                      <a:srgbClr val="FFFFFF"/>
                    </a:solidFill>
                  </a:tcPr>
                </a:tc>
              </a:tr>
              <a:tr h="365760">
                <a:tc>
                  <a:txBody>
                    <a:bodyPr wrap="square"/>
                    <a:lstStyle/>
                    <a:p>
                      <a:pPr algn="l"/>
                      <a:r>
                        <a:rPr sz="1050" b="1">
                          <a:solidFill>
                            <a:srgbClr val="A51C30"/>
                          </a:solidFill>
                          <a:latin typeface="Calibri"/>
                        </a:rPr>
                        <a:t>14 — Detailed design</a:t>
                      </a:r>
                    </a:p>
                  </a:txBody>
                  <a:tcPr marL="82296" marR="64008" marT="32004" marB="32004" anchor="ctr">
                    <a:solidFill>
                      <a:srgbClr val="F6F3EF"/>
                    </a:solidFill>
                  </a:tcPr>
                </a:tc>
                <a:tc>
                  <a:txBody>
                    <a:bodyPr wrap="square"/>
                    <a:lstStyle/>
                    <a:p>
                      <a:pPr algn="l"/>
                      <a:r>
                        <a:rPr sz="1050" b="0">
                          <a:solidFill>
                            <a:srgbClr val="1C1C1E"/>
                          </a:solidFill>
                          <a:latin typeface="Calibri"/>
                        </a:rPr>
                        <a:t>what each component does internally</a:t>
                      </a:r>
                    </a:p>
                  </a:txBody>
                  <a:tcPr marL="82296" marR="64008" marT="32004" marB="32004" anchor="ctr">
                    <a:solidFill>
                      <a:srgbClr val="F6F3EF"/>
                    </a:solidFill>
                  </a:tcPr>
                </a:tc>
                <a:tc>
                  <a:txBody>
                    <a:bodyPr wrap="square"/>
                    <a:lstStyle/>
                    <a:p>
                      <a:pPr algn="l"/>
                      <a:r>
                        <a:rPr sz="1050" b="0">
                          <a:solidFill>
                            <a:srgbClr val="1C1C1E"/>
                          </a:solidFill>
                          <a:latin typeface="Calibri"/>
                        </a:rPr>
                        <a:t>interfaces, algorithms, transaction boundaries, concurrency, SLOs</a:t>
                      </a:r>
                    </a:p>
                  </a:txBody>
                  <a:tcPr marL="82296" marR="64008" marT="32004" marB="32004" anchor="ctr">
                    <a:solidFill>
                      <a:srgbClr val="F6F3EF"/>
                    </a:solidFill>
                  </a:tcPr>
                </a:tc>
              </a:tr>
              <a:tr h="365760">
                <a:tc>
                  <a:txBody>
                    <a:bodyPr wrap="square"/>
                    <a:lstStyle/>
                    <a:p>
                      <a:pPr algn="l"/>
                      <a:r>
                        <a:rPr sz="1050" b="1">
                          <a:solidFill>
                            <a:srgbClr val="A51C30"/>
                          </a:solidFill>
                          <a:latin typeface="Calibri"/>
                        </a:rPr>
                        <a:t>00 — Foundations</a:t>
                      </a:r>
                    </a:p>
                  </a:txBody>
                  <a:tcPr marL="82296" marR="64008" marT="32004" marB="32004" anchor="ctr">
                    <a:solidFill>
                      <a:srgbClr val="FFFFFF"/>
                    </a:solidFill>
                  </a:tcPr>
                </a:tc>
                <a:tc>
                  <a:txBody>
                    <a:bodyPr wrap="square"/>
                    <a:lstStyle/>
                    <a:p>
                      <a:pPr algn="l"/>
                      <a:r>
                        <a:rPr sz="1050" b="0">
                          <a:solidFill>
                            <a:srgbClr val="1C1C1E"/>
                          </a:solidFill>
                          <a:latin typeface="Calibri"/>
                        </a:rPr>
                        <a:t>why any of it is true</a:t>
                      </a:r>
                    </a:p>
                  </a:txBody>
                  <a:tcPr marL="82296" marR="64008" marT="32004" marB="32004" anchor="ctr">
                    <a:solidFill>
                      <a:srgbClr val="FFFFFF"/>
                    </a:solidFill>
                  </a:tcPr>
                </a:tc>
                <a:tc>
                  <a:txBody>
                    <a:bodyPr wrap="square"/>
                    <a:lstStyle/>
                    <a:p>
                      <a:pPr algn="l"/>
                      <a:r>
                        <a:rPr sz="1050" b="0">
                          <a:solidFill>
                            <a:srgbClr val="1C1C1E"/>
                          </a:solidFill>
                          <a:latin typeface="Calibri"/>
                        </a:rPr>
                        <a:t>the definitions, the theorems, and the law table with what runs</a:t>
                      </a:r>
                    </a:p>
                  </a:txBody>
                  <a:tcPr marL="82296" marR="64008" marT="32004" marB="32004" anchor="ctr">
                    <a:solidFill>
                      <a:srgbClr val="FFFFFF"/>
                    </a:solidFill>
                  </a:tcPr>
                </a:tc>
              </a:tr>
              <a:tr h="365760">
                <a:tc>
                  <a:txBody>
                    <a:bodyPr wrap="square"/>
                    <a:lstStyle/>
                    <a:p>
                      <a:pPr algn="l"/>
                      <a:r>
                        <a:rPr sz="1050" b="1">
                          <a:solidFill>
                            <a:srgbClr val="A51C30"/>
                          </a:solidFill>
                          <a:latin typeface="Calibri"/>
                        </a:rPr>
                        <a:t>11 — Adversarial review</a:t>
                      </a:r>
                    </a:p>
                  </a:txBody>
                  <a:tcPr marL="82296" marR="64008" marT="32004" marB="32004" anchor="ctr">
                    <a:solidFill>
                      <a:srgbClr val="F6F3EF"/>
                    </a:solidFill>
                  </a:tcPr>
                </a:tc>
                <a:tc>
                  <a:txBody>
                    <a:bodyPr wrap="square"/>
                    <a:lstStyle/>
                    <a:p>
                      <a:pPr algn="l"/>
                      <a:r>
                        <a:rPr sz="1050" b="0">
                          <a:solidFill>
                            <a:srgbClr val="1C1C1E"/>
                          </a:solidFill>
                          <a:latin typeface="Calibri"/>
                        </a:rPr>
                        <a:t>what was wrong with all of it</a:t>
                      </a:r>
                    </a:p>
                  </a:txBody>
                  <a:tcPr marL="82296" marR="64008" marT="32004" marB="32004" anchor="ctr">
                    <a:solidFill>
                      <a:srgbClr val="F6F3EF"/>
                    </a:solidFill>
                  </a:tcPr>
                </a:tc>
                <a:tc>
                  <a:txBody>
                    <a:bodyPr wrap="square"/>
                    <a:lstStyle/>
                    <a:p>
                      <a:pPr algn="l"/>
                      <a:r>
                        <a:rPr sz="1050" b="0">
                          <a:solidFill>
                            <a:srgbClr val="1C1C1E"/>
                          </a:solidFill>
                          <a:latin typeface="Calibri"/>
                        </a:rPr>
                        <a:t>27 findings; 17 required redesign — folded in here</a:t>
                      </a:r>
                    </a:p>
                  </a:txBody>
                  <a:tcPr marL="82296" marR="64008" marT="32004" marB="32004" anchor="ctr">
                    <a:solidFill>
                      <a:srgbClr val="F6F3EF"/>
                    </a:solidFill>
                  </a:tcPr>
                </a:tc>
              </a:tr>
            </a:tbl>
          </a:graphicData>
        </a:graphic>
      </p:graphicFrame>
      <p:sp>
        <p:nvSpPr>
          <p:cNvPr id="11" name="Rectangle 10"/>
          <p:cNvSpPr/>
          <p:nvPr/>
        </p:nvSpPr>
        <p:spPr>
          <a:xfrm>
            <a:off x="777240" y="4289831"/>
            <a:ext cx="10637215" cy="10515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289831"/>
            <a:ext cx="41148"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408703"/>
            <a:ext cx="10180015"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Test of adequacy. </a:t>
            </a:r>
            <a:r>
              <a:rPr sz="1050" b="0" i="0">
                <a:solidFill>
                  <a:srgbClr val="1C1C1E"/>
                </a:solidFill>
                <a:latin typeface="Calibri"/>
              </a:rPr>
              <a:t>A practitioner who has read Parts I to III should be able to register a model, compose a featureset and issue a warrant without guessing; and an engineer who has read Part IV should be able to open a component and begin implementing without inventing an interface. Where that is not true it is a gap in this deck rather than a decision left to the reader.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Philosophy</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What a model is, what goes wrong when an organisation forgets, and the five positions this platform takes as a result.</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1 · The name, and what it is for</a:t>
            </a:r>
          </a:p>
          <a:p>
            <a:pPr>
              <a:lnSpc>
                <a:spcPct val="115000"/>
              </a:lnSpc>
              <a:spcBef>
                <a:spcPts val="0"/>
              </a:spcBef>
              <a:spcAft>
                <a:spcPts val="800"/>
              </a:spcAft>
            </a:pPr>
            <a:r>
              <a:rPr sz="1150" b="0" i="0">
                <a:solidFill>
                  <a:srgbClr val="E4DED6"/>
                </a:solidFill>
                <a:latin typeface="Calibri"/>
              </a:rPr>
              <a:t>2 · One estate, many kinds of model</a:t>
            </a:r>
          </a:p>
          <a:p>
            <a:pPr>
              <a:lnSpc>
                <a:spcPct val="115000"/>
              </a:lnSpc>
              <a:spcBef>
                <a:spcPts val="0"/>
              </a:spcBef>
              <a:spcAft>
                <a:spcPts val="800"/>
              </a:spcAft>
            </a:pPr>
            <a:r>
              <a:rPr sz="1150" b="0" i="0">
                <a:solidFill>
                  <a:srgbClr val="E4DED6"/>
                </a:solidFill>
                <a:latin typeface="Calibri"/>
              </a:rPr>
              <a:t>3 · Five positions, and their cost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a:t>
            </a:r>
          </a:p>
        </p:txBody>
      </p:sp>
      <p:sp>
        <p:nvSpPr>
          <p:cNvPr id="5" name="TextBox 4"/>
          <p:cNvSpPr txBox="1"/>
          <p:nvPr/>
        </p:nvSpPr>
        <p:spPr>
          <a:xfrm>
            <a:off x="1005840" y="2463393"/>
            <a:ext cx="6169584" cy="1188720"/>
          </a:xfrm>
          <a:prstGeom prst="rect">
            <a:avLst/>
          </a:prstGeom>
          <a:noFill/>
        </p:spPr>
        <p:txBody>
          <a:bodyPr wrap="square" lIns="0" rIns="0" tIns="0" bIns="0" anchor="t">
            <a:spAutoFit/>
          </a:bodyPr>
          <a:lstStyle/>
          <a:p>
            <a:pPr algn="l">
              <a:spcBef>
                <a:spcPts val="0"/>
              </a:spcBef>
              <a:spcAft>
                <a:spcPts val="0"/>
              </a:spcAft>
            </a:pPr>
            <a:r>
              <a:rPr sz="2800" b="0" i="0">
                <a:solidFill>
                  <a:srgbClr val="FFFFFF"/>
                </a:solidFill>
                <a:latin typeface="Georgia"/>
              </a:rPr>
              <a:t>The Name, and What It Is For</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māyā is appearance: the representation that stands in for reality and is so easily mistaken for it.</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What the word means</a:t>
            </a:r>
          </a:p>
          <a:p>
            <a:pPr>
              <a:lnSpc>
                <a:spcPct val="115000"/>
              </a:lnSpc>
              <a:spcBef>
                <a:spcPts val="0"/>
              </a:spcBef>
              <a:spcAft>
                <a:spcPts val="700"/>
              </a:spcAft>
            </a:pPr>
            <a:r>
              <a:rPr sz="1150" b="0" i="0">
                <a:solidFill>
                  <a:srgbClr val="F6E6E9"/>
                </a:solidFill>
                <a:latin typeface="Calibri"/>
              </a:rPr>
              <a:t>The mark, and the oldest model there is</a:t>
            </a:r>
          </a:p>
          <a:p>
            <a:pPr>
              <a:lnSpc>
                <a:spcPct val="115000"/>
              </a:lnSpc>
              <a:spcBef>
                <a:spcPts val="0"/>
              </a:spcBef>
              <a:spcAft>
                <a:spcPts val="700"/>
              </a:spcAft>
            </a:pPr>
            <a:r>
              <a:rPr sz="1150" b="0" i="0">
                <a:solidFill>
                  <a:srgbClr val="F6E6E9"/>
                </a:solidFill>
                <a:latin typeface="Calibri"/>
              </a:rPr>
              <a:t>Map and territory</a:t>
            </a:r>
          </a:p>
          <a:p>
            <a:pPr>
              <a:lnSpc>
                <a:spcPct val="115000"/>
              </a:lnSpc>
              <a:spcBef>
                <a:spcPts val="0"/>
              </a:spcBef>
              <a:spcAft>
                <a:spcPts val="700"/>
              </a:spcAft>
            </a:pPr>
            <a:r>
              <a:rPr sz="1150" b="0" i="0">
                <a:solidFill>
                  <a:srgbClr val="F6E6E9"/>
                </a:solidFill>
                <a:latin typeface="Calibri"/>
              </a:rPr>
              <a:t>What that commits the platform 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THE NAME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māyā — appearance, not illusion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Name, and What It Is For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a:t>
            </a:r>
          </a:p>
        </p:txBody>
      </p:sp>
      <p:sp>
        <p:nvSpPr>
          <p:cNvPr id="10" name="TextBox 9"/>
          <p:cNvSpPr txBox="1"/>
          <p:nvPr/>
        </p:nvSpPr>
        <p:spPr>
          <a:xfrm>
            <a:off x="777240" y="1353312"/>
            <a:ext cx="5744096" cy="3108960"/>
          </a:xfrm>
          <a:prstGeom prst="rect">
            <a:avLst/>
          </a:prstGeom>
          <a:noFill/>
        </p:spPr>
        <p:txBody>
          <a:bodyPr wrap="square" lIns="0" rIns="0" tIns="0" bIns="0" anchor="t">
            <a:spAutoFit/>
          </a:bodyPr>
          <a:lstStyle/>
          <a:p>
            <a:pPr algn="l">
              <a:spcBef>
                <a:spcPts val="0"/>
              </a:spcBef>
              <a:spcAft>
                <a:spcPts val="1200"/>
              </a:spcAft>
            </a:pPr>
            <a:r>
              <a:rPr sz="4400" b="0" i="0">
                <a:solidFill>
                  <a:srgbClr val="A51C30"/>
                </a:solidFill>
                <a:latin typeface="Georgia"/>
              </a:rPr>
              <a:t>माया</a:t>
            </a:r>
          </a:p>
          <a:p>
            <a:pPr>
              <a:lnSpc>
                <a:spcPct val="130000"/>
              </a:lnSpc>
              <a:spcBef>
                <a:spcPts val="0"/>
              </a:spcBef>
              <a:spcAft>
                <a:spcPts val="1000"/>
              </a:spcAft>
            </a:pPr>
            <a:r>
              <a:rPr sz="1300" b="0" i="0">
                <a:solidFill>
                  <a:srgbClr val="1C1C1E"/>
                </a:solidFill>
                <a:latin typeface="Calibri"/>
              </a:rPr>
              <a:t>In Indian philosophy, māyā is the representation that stands in for reality. The usual translation — “illusion” — is too strong.</a:t>
            </a:r>
          </a:p>
          <a:p>
            <a:pPr>
              <a:lnSpc>
                <a:spcPct val="130000"/>
              </a:lnSpc>
              <a:spcBef>
                <a:spcPts val="0"/>
              </a:spcBef>
              <a:spcAft>
                <a:spcPts val="1000"/>
              </a:spcAft>
            </a:pPr>
            <a:r>
              <a:rPr sz="1300" b="0" i="0">
                <a:solidFill>
                  <a:srgbClr val="1C1C1E"/>
                </a:solidFill>
                <a:latin typeface="Calibri"/>
              </a:rPr>
              <a:t>Māyā is not falsehood. It is a RENDERING of the world: useful, often necessary, and dangerous only when you forget that it is a rendering.</a:t>
            </a:r>
          </a:p>
          <a:p>
            <a:pPr>
              <a:lnSpc>
                <a:spcPct val="130000"/>
              </a:lnSpc>
              <a:spcBef>
                <a:spcPts val="0"/>
              </a:spcBef>
              <a:spcAft>
                <a:spcPts val="0"/>
              </a:spcAft>
            </a:pPr>
            <a:r>
              <a:rPr sz="1300" b="0" i="0">
                <a:solidFill>
                  <a:srgbClr val="1C1C1E"/>
                </a:solidFill>
                <a:latin typeface="Calibri"/>
              </a:rPr>
              <a:t>That is exactly what a model is — and the supervisory guidance says so in almost the same words.</a:t>
            </a:r>
          </a:p>
        </p:txBody>
      </p:sp>
      <p:sp>
        <p:nvSpPr>
          <p:cNvPr id="11" name="Rectangle 10"/>
          <p:cNvSpPr/>
          <p:nvPr/>
        </p:nvSpPr>
        <p:spPr>
          <a:xfrm>
            <a:off x="6946824" y="1490472"/>
            <a:ext cx="41148" cy="9144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7202856" y="1472184"/>
            <a:ext cx="4193310" cy="658368"/>
          </a:xfrm>
          <a:prstGeom prst="rect">
            <a:avLst/>
          </a:prstGeom>
          <a:noFill/>
        </p:spPr>
        <p:txBody>
          <a:bodyPr wrap="square" lIns="0" rIns="0" tIns="0" bIns="0" anchor="t">
            <a:spAutoFit/>
          </a:bodyPr>
          <a:lstStyle/>
          <a:p>
            <a:pPr algn="l">
              <a:lnSpc>
                <a:spcPct val="125000"/>
              </a:lnSpc>
              <a:spcBef>
                <a:spcPts val="0"/>
              </a:spcBef>
              <a:spcAft>
                <a:spcPts val="500"/>
              </a:spcAft>
            </a:pPr>
            <a:r>
              <a:rPr sz="1300" b="0" i="1">
                <a:solidFill>
                  <a:srgbClr val="1C1C1E"/>
                </a:solidFill>
                <a:latin typeface="Georgia"/>
              </a:rPr>
              <a:t>“Models are simplified representations of real-world relationships… based on assumptions that make them useful in estimating values and predicting events, but which also can have limitations and create model risk.”</a:t>
            </a:r>
          </a:p>
          <a:p>
            <a:pPr>
              <a:spcBef>
                <a:spcPts val="0"/>
              </a:spcBef>
              <a:spcAft>
                <a:spcPts val="600"/>
              </a:spcAft>
            </a:pPr>
            <a:r>
              <a:rPr sz="950" b="1" i="0">
                <a:solidFill>
                  <a:srgbClr val="7A7F87"/>
                </a:solidFill>
                <a:latin typeface="Calibri"/>
              </a:rPr>
              <a:t>SR 26-2, §III</a:t>
            </a:r>
          </a:p>
        </p:txBody>
      </p:sp>
      <p:sp>
        <p:nvSpPr>
          <p:cNvPr id="13" name="Rectangle 12"/>
          <p:cNvSpPr/>
          <p:nvPr/>
        </p:nvSpPr>
        <p:spPr>
          <a:xfrm>
            <a:off x="6946824" y="2953512"/>
            <a:ext cx="4467630" cy="15544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6946824" y="2953512"/>
            <a:ext cx="41148" cy="15544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7184568" y="3072384"/>
            <a:ext cx="4010430" cy="13350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Model risk is what happens when an organisation forgets the difference between the map and the territory. </a:t>
            </a:r>
            <a:r>
              <a:rPr sz="1050" b="0" i="0">
                <a:solidFill>
                  <a:srgbClr val="1C1C1E"/>
                </a:solidFill>
                <a:latin typeface="Calibri"/>
              </a:rPr>
              <a:t>The platform is named for the thing it governs, and for the discipline of never mistaking it for the world.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THE MARK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square inscribed in a circle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Name, and What It Is For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a:t>
            </a:r>
          </a:p>
        </p:txBody>
      </p:sp>
      <p:sp>
        <p:nvSpPr>
          <p:cNvPr id="10" name="TextBox 9"/>
          <p:cNvSpPr txBox="1"/>
          <p:nvPr/>
        </p:nvSpPr>
        <p:spPr>
          <a:xfrm>
            <a:off x="777240" y="1353312"/>
            <a:ext cx="5531351" cy="3291840"/>
          </a:xfrm>
          <a:prstGeom prst="rect">
            <a:avLst/>
          </a:prstGeom>
          <a:noFill/>
        </p:spPr>
        <p:txBody>
          <a:bodyPr wrap="square" lIns="0" rIns="0" tIns="0" bIns="0" anchor="t">
            <a:spAutoFit/>
          </a:bodyPr>
          <a:lstStyle/>
          <a:p>
            <a:pPr algn="l">
              <a:spcBef>
                <a:spcPts val="0"/>
              </a:spcBef>
              <a:spcAft>
                <a:spcPts val="1000"/>
              </a:spcAft>
            </a:pPr>
            <a:r>
              <a:rPr sz="1400" b="1" i="0">
                <a:solidFill>
                  <a:srgbClr val="A51C30"/>
                </a:solidFill>
                <a:latin typeface="Georgia"/>
              </a:rPr>
              <a:t>The oldest model there is.</a:t>
            </a:r>
          </a:p>
          <a:p>
            <a:pPr>
              <a:lnSpc>
                <a:spcPct val="130000"/>
              </a:lnSpc>
              <a:spcBef>
                <a:spcPts val="0"/>
              </a:spcBef>
              <a:spcAft>
                <a:spcPts val="1000"/>
              </a:spcAft>
            </a:pPr>
            <a:r>
              <a:rPr sz="1200" b="0" i="0">
                <a:solidFill>
                  <a:srgbClr val="1C1C1E"/>
                </a:solidFill>
                <a:latin typeface="Calibri"/>
              </a:rPr>
              <a:t>Archimedes estimated π by inscribing and circumscribing polygons and tightening the bound as the sides multiplied: a tractable figure standing in for one that cannot be computed directly.</a:t>
            </a:r>
          </a:p>
          <a:p>
            <a:pPr>
              <a:lnSpc>
                <a:spcPct val="130000"/>
              </a:lnSpc>
              <a:spcBef>
                <a:spcPts val="0"/>
              </a:spcBef>
              <a:spcAft>
                <a:spcPts val="800"/>
              </a:spcAft>
            </a:pPr>
            <a:r>
              <a:rPr sz="1200" b="0" i="0">
                <a:solidFill>
                  <a:srgbClr val="1C1C1E"/>
                </a:solidFill>
                <a:latin typeface="Calibri"/>
              </a:rPr>
              <a:t>Which gives the mark its reading:</a:t>
            </a:r>
          </a:p>
          <a:p>
            <a:pPr>
              <a:spcBef>
                <a:spcPts val="0"/>
              </a:spcBef>
              <a:spcAft>
                <a:spcPts val="700"/>
              </a:spcAft>
            </a:pPr>
            <a:r>
              <a:rPr sz="1100" b="1" i="0">
                <a:solidFill>
                  <a:srgbClr val="A51C30"/>
                </a:solidFill>
                <a:latin typeface="Calibri"/>
              </a:rPr>
              <a:t>→  </a:t>
            </a:r>
            <a:r>
              <a:rPr sz="1100" b="1" i="0">
                <a:solidFill>
                  <a:srgbClr val="1C1C1E"/>
                </a:solidFill>
                <a:latin typeface="Calibri"/>
              </a:rPr>
              <a:t>The gap </a:t>
            </a:r>
            <a:r>
              <a:rPr sz="1100" b="0" i="0">
                <a:solidFill>
                  <a:srgbClr val="4A4F57"/>
                </a:solidFill>
                <a:latin typeface="Calibri"/>
              </a:rPr>
              <a:t>between the square and the circle is the model error.</a:t>
            </a:r>
          </a:p>
          <a:p>
            <a:pPr>
              <a:spcBef>
                <a:spcPts val="0"/>
              </a:spcBef>
              <a:spcAft>
                <a:spcPts val="700"/>
              </a:spcAft>
            </a:pPr>
            <a:r>
              <a:rPr sz="1100" b="1" i="0">
                <a:solidFill>
                  <a:srgbClr val="A51C30"/>
                </a:solidFill>
                <a:latin typeface="Calibri"/>
              </a:rPr>
              <a:t>→  </a:t>
            </a:r>
            <a:r>
              <a:rPr sz="1100" b="1" i="0">
                <a:solidFill>
                  <a:srgbClr val="1C1C1E"/>
                </a:solidFill>
                <a:latin typeface="Calibri"/>
              </a:rPr>
              <a:t>The four points </a:t>
            </a:r>
            <a:r>
              <a:rPr sz="1100" b="0" i="0">
                <a:solidFill>
                  <a:srgbClr val="4A4F57"/>
                </a:solidFill>
                <a:latin typeface="Calibri"/>
              </a:rPr>
              <a:t>are where the model and the world agree.</a:t>
            </a:r>
          </a:p>
          <a:p>
            <a:pPr>
              <a:spcBef>
                <a:spcPts val="0"/>
              </a:spcBef>
              <a:spcAft>
                <a:spcPts val="700"/>
              </a:spcAft>
            </a:pPr>
            <a:r>
              <a:rPr sz="1100" b="1" i="0">
                <a:solidFill>
                  <a:srgbClr val="A51C30"/>
                </a:solidFill>
                <a:latin typeface="Calibri"/>
              </a:rPr>
              <a:t>→  </a:t>
            </a:r>
            <a:r>
              <a:rPr sz="1100" b="1" i="0">
                <a:solidFill>
                  <a:srgbClr val="1C1C1E"/>
                </a:solidFill>
                <a:latin typeface="Calibri"/>
              </a:rPr>
              <a:t>Add sides </a:t>
            </a:r>
            <a:r>
              <a:rPr sz="1100" b="0" i="0">
                <a:solidFill>
                  <a:srgbClr val="4A4F57"/>
                </a:solidFill>
                <a:latin typeface="Calibri"/>
              </a:rPr>
              <a:t>and the gap closes but never vanishes — no model becomes the thing it represents.</a:t>
            </a:r>
          </a:p>
        </p:txBody>
      </p:sp>
      <p:sp>
        <p:nvSpPr>
          <p:cNvPr id="11" name="Rectangle 10"/>
          <p:cNvSpPr/>
          <p:nvPr/>
        </p:nvSpPr>
        <p:spPr>
          <a:xfrm>
            <a:off x="6734080" y="1353312"/>
            <a:ext cx="4680374"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734080" y="135331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6971824" y="1472184"/>
            <a:ext cx="4223174"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That is māyā, and it is model risk, in one figure. </a:t>
            </a:r>
            <a:r>
              <a:rPr sz="1050" b="0" i="0">
                <a:solidFill>
                  <a:srgbClr val="1C1C1E"/>
                </a:solidFill>
                <a:latin typeface="Calibri"/>
              </a:rPr>
              <a:t>A logo is usually decoration. This one is the argument, and the argument is that error is not a defect to be eliminated but a quantity to be known.</a:t>
            </a:r>
          </a:p>
        </p:txBody>
      </p:sp>
      <p:graphicFrame>
        <p:nvGraphicFramePr>
          <p:cNvPr id="14" name="Table 13"/>
          <p:cNvGraphicFramePr>
            <a:graphicFrameLocks noGrp="1"/>
          </p:cNvGraphicFramePr>
          <p:nvPr/>
        </p:nvGraphicFramePr>
        <p:xfrm>
          <a:off x="6734080" y="2816352"/>
          <a:ext cx="4680374" cy="1620266"/>
        </p:xfrm>
        <a:graphic>
          <a:graphicData uri="http://schemas.openxmlformats.org/drawingml/2006/table">
            <a:tbl>
              <a:tblPr firstRow="1">
                <a:tableStyleId>{5C22544A-7EE6-4342-B048-85BDC9FD1C3A}</a:tableStyleId>
              </a:tblPr>
              <a:tblGrid>
                <a:gridCol w="2278834"/>
                <a:gridCol w="2401540"/>
              </a:tblGrid>
              <a:tr h="329184">
                <a:tc>
                  <a:txBody>
                    <a:bodyPr wrap="square"/>
                    <a:lstStyle/>
                    <a:p>
                      <a:pPr algn="l"/>
                      <a:r>
                        <a:rPr sz="1000" b="1">
                          <a:solidFill>
                            <a:srgbClr val="FFFFFF"/>
                          </a:solidFill>
                          <a:latin typeface="Calibri"/>
                        </a:rPr>
                        <a:t>What the estate assumes</a:t>
                      </a:r>
                    </a:p>
                  </a:txBody>
                  <a:tcPr marL="82296" marR="64008" marT="32004" marB="32004" anchor="ctr">
                    <a:solidFill>
                      <a:srgbClr val="A51C30"/>
                    </a:solidFill>
                  </a:tcPr>
                </a:tc>
                <a:tc>
                  <a:txBody>
                    <a:bodyPr wrap="square"/>
                    <a:lstStyle/>
                    <a:p>
                      <a:pPr algn="l"/>
                      <a:r>
                        <a:rPr sz="1000" b="1">
                          <a:solidFill>
                            <a:srgbClr val="FFFFFF"/>
                          </a:solidFill>
                          <a:latin typeface="Calibri"/>
                        </a:rPr>
                        <a:t>What the figure says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validated model is correct</a:t>
                      </a:r>
                    </a:p>
                  </a:txBody>
                  <a:tcPr marL="82296" marR="64008" marT="32004" marB="32004" anchor="ctr">
                    <a:solidFill>
                      <a:srgbClr val="FFFFFF"/>
                    </a:solidFill>
                  </a:tcPr>
                </a:tc>
                <a:tc>
                  <a:txBody>
                    <a:bodyPr wrap="square"/>
                    <a:lstStyle/>
                    <a:p>
                      <a:pPr algn="l"/>
                      <a:r>
                        <a:rPr sz="1000" b="0">
                          <a:solidFill>
                            <a:srgbClr val="1C1C1E"/>
                          </a:solidFill>
                          <a:latin typeface="Calibri"/>
                        </a:rPr>
                        <a:t>it is wrong by a knowable amount</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more data closes the gap</a:t>
                      </a:r>
                    </a:p>
                  </a:txBody>
                  <a:tcPr marL="82296" marR="64008" marT="32004" marB="32004" anchor="ctr">
                    <a:solidFill>
                      <a:srgbClr val="F6F3EF"/>
                    </a:solidFill>
                  </a:tcPr>
                </a:tc>
                <a:tc>
                  <a:txBody>
                    <a:bodyPr wrap="square"/>
                    <a:lstStyle/>
                    <a:p>
                      <a:pPr algn="l"/>
                      <a:r>
                        <a:rPr sz="1000" b="0">
                          <a:solidFill>
                            <a:srgbClr val="1C1C1E"/>
                          </a:solidFill>
                          <a:latin typeface="Calibri"/>
                        </a:rPr>
                        <a:t>more sides close it and never to zero</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the model IS the risk</a:t>
                      </a:r>
                    </a:p>
                  </a:txBody>
                  <a:tcPr marL="82296" marR="64008" marT="32004" marB="32004" anchor="ctr">
                    <a:solidFill>
                      <a:srgbClr val="FFFFFF"/>
                    </a:solidFill>
                  </a:tcPr>
                </a:tc>
                <a:tc>
                  <a:txBody>
                    <a:bodyPr wrap="square"/>
                    <a:lstStyle/>
                    <a:p>
                      <a:pPr algn="l"/>
                      <a:r>
                        <a:rPr sz="1000" b="0">
                          <a:solidFill>
                            <a:srgbClr val="1C1C1E"/>
                          </a:solidFill>
                          <a:latin typeface="Calibri"/>
                        </a:rPr>
                        <a:t>the risk is forgetting it is a model</a:t>
                      </a:r>
                    </a:p>
                  </a:txBody>
                  <a:tcPr marL="82296" marR="64008" marT="32004" marB="32004"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CONSEQUENCES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naming it that commits the platform to</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 · The Name, and What It Is For</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a:t>
            </a:r>
          </a:p>
        </p:txBody>
      </p:sp>
      <p:sp>
        <p:nvSpPr>
          <p:cNvPr id="10" name="Rectangle 9"/>
          <p:cNvSpPr/>
          <p:nvPr/>
        </p:nvSpPr>
        <p:spPr>
          <a:xfrm>
            <a:off x="777240"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gap is measured, not denied</a:t>
            </a:r>
          </a:p>
        </p:txBody>
      </p:sp>
      <p:sp>
        <p:nvSpPr>
          <p:cNvPr id="14" name="TextBox 13"/>
          <p:cNvSpPr txBox="1"/>
          <p:nvPr/>
        </p:nvSpPr>
        <p:spPr>
          <a:xfrm>
            <a:off x="996695"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Every model carries an operating boundary — the domain it was validated in — and a warrant that runs outside it is refused rather than answered.</a:t>
            </a:r>
          </a:p>
        </p:txBody>
      </p:sp>
      <p:sp>
        <p:nvSpPr>
          <p:cNvPr id="15" name="Rectangle 14"/>
          <p:cNvSpPr/>
          <p:nvPr/>
        </p:nvSpPr>
        <p:spPr>
          <a:xfrm>
            <a:off x="4414418"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14418"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33874"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4633874" y="1847088"/>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Representation is versioned</a:t>
            </a:r>
          </a:p>
        </p:txBody>
      </p:sp>
      <p:sp>
        <p:nvSpPr>
          <p:cNvPr id="19" name="TextBox 18"/>
          <p:cNvSpPr txBox="1"/>
          <p:nvPr/>
        </p:nvSpPr>
        <p:spPr>
          <a:xfrm>
            <a:off x="4633874" y="2157984"/>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model is a rendering, and renderings are replaced. Immutable versions and a governed alias are what let the rendering change without the thing it renders appearing to.</a:t>
            </a:r>
          </a:p>
        </p:txBody>
      </p:sp>
      <p:sp>
        <p:nvSpPr>
          <p:cNvPr id="20" name="Rectangle 19"/>
          <p:cNvSpPr/>
          <p:nvPr/>
        </p:nvSpPr>
        <p:spPr>
          <a:xfrm>
            <a:off x="8051596"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51596"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71052"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8271052" y="1847088"/>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Error has a direction</a:t>
            </a:r>
          </a:p>
        </p:txBody>
      </p:sp>
      <p:sp>
        <p:nvSpPr>
          <p:cNvPr id="24" name="TextBox 23"/>
          <p:cNvSpPr txBox="1"/>
          <p:nvPr/>
        </p:nvSpPr>
        <p:spPr>
          <a:xfrm>
            <a:off x="8271052" y="2157984"/>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Which is why an overlay register exists: an adjustment is somebody saying the map is wrong HERE, and that statement is worth keeping.</a:t>
            </a:r>
          </a:p>
        </p:txBody>
      </p:sp>
      <p:sp>
        <p:nvSpPr>
          <p:cNvPr id="25" name="Rectangle 24"/>
          <p:cNvSpPr/>
          <p:nvPr/>
        </p:nvSpPr>
        <p:spPr>
          <a:xfrm>
            <a:off x="777240"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96695"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996695" y="3950207"/>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Nobody is asked to believe</a:t>
            </a:r>
          </a:p>
        </p:txBody>
      </p:sp>
      <p:sp>
        <p:nvSpPr>
          <p:cNvPr id="29" name="TextBox 28"/>
          <p:cNvSpPr txBox="1"/>
          <p:nvPr/>
        </p:nvSpPr>
        <p:spPr>
          <a:xfrm>
            <a:off x="996695" y="4261103"/>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Evidence, not assertion. Every claim is bound to the artefact it rests on, because a governance system that asks for trust has reproduced the problem it was built to solve.</a:t>
            </a:r>
          </a:p>
        </p:txBody>
      </p:sp>
      <p:sp>
        <p:nvSpPr>
          <p:cNvPr id="30" name="Rectangle 29"/>
          <p:cNvSpPr/>
          <p:nvPr/>
        </p:nvSpPr>
        <p:spPr>
          <a:xfrm>
            <a:off x="4414418"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4414418"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4633874"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05</a:t>
            </a:r>
          </a:p>
        </p:txBody>
      </p:sp>
      <p:sp>
        <p:nvSpPr>
          <p:cNvPr id="33" name="TextBox 32"/>
          <p:cNvSpPr txBox="1"/>
          <p:nvPr/>
        </p:nvSpPr>
        <p:spPr>
          <a:xfrm>
            <a:off x="4633874" y="3950207"/>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word is not a metaphor</a:t>
            </a:r>
          </a:p>
        </p:txBody>
      </p:sp>
      <p:sp>
        <p:nvSpPr>
          <p:cNvPr id="34" name="TextBox 33"/>
          <p:cNvSpPr txBox="1"/>
          <p:nvPr/>
        </p:nvSpPr>
        <p:spPr>
          <a:xfrm>
            <a:off x="4633874" y="4261103"/>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It is the definition. A model is a map; governance is knowing the difference; and every refusal in this platform is an instance of that sentence.</a:t>
            </a:r>
          </a:p>
        </p:txBody>
      </p:sp>
      <p:sp>
        <p:nvSpPr>
          <p:cNvPr id="35" name="Rectangle 34"/>
          <p:cNvSpPr/>
          <p:nvPr/>
        </p:nvSpPr>
        <p:spPr>
          <a:xfrm>
            <a:off x="8051596"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8051596"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8271052"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06</a:t>
            </a:r>
          </a:p>
        </p:txBody>
      </p:sp>
      <p:sp>
        <p:nvSpPr>
          <p:cNvPr id="38" name="TextBox 37"/>
          <p:cNvSpPr txBox="1"/>
          <p:nvPr/>
        </p:nvSpPr>
        <p:spPr>
          <a:xfrm>
            <a:off x="8271052"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And it applies to MAYA itself</a:t>
            </a:r>
          </a:p>
        </p:txBody>
      </p:sp>
      <p:sp>
        <p:nvSpPr>
          <p:cNvPr id="39" name="TextBox 38"/>
          <p:cNvSpPr txBox="1"/>
          <p:nvPr/>
        </p:nvSpPr>
        <p:spPr>
          <a:xfrm>
            <a:off x="8271052"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platform is also a representation — of an estate. Its own documentation is compiled from the register rather than written, so the map of the maps cannot drift either.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a:t>
            </a:r>
          </a:p>
        </p:txBody>
      </p:sp>
      <p:sp>
        <p:nvSpPr>
          <p:cNvPr id="5" name="TextBox 4"/>
          <p:cNvSpPr txBox="1"/>
          <p:nvPr/>
        </p:nvSpPr>
        <p:spPr>
          <a:xfrm>
            <a:off x="1005840" y="2478024"/>
            <a:ext cx="6169584" cy="1188720"/>
          </a:xfrm>
          <a:prstGeom prst="rect">
            <a:avLst/>
          </a:prstGeom>
          <a:noFill/>
        </p:spPr>
        <p:txBody>
          <a:bodyPr wrap="square" lIns="0" rIns="0" tIns="0" bIns="0" anchor="t">
            <a:spAutoFit/>
          </a:bodyPr>
          <a:lstStyle/>
          <a:p>
            <a:pPr algn="l">
              <a:spcBef>
                <a:spcPts val="0"/>
              </a:spcBef>
              <a:spcAft>
                <a:spcPts val="0"/>
              </a:spcAft>
            </a:pPr>
            <a:r>
              <a:rPr sz="2600" b="0" i="0">
                <a:solidFill>
                  <a:srgbClr val="FFFFFF"/>
                </a:solidFill>
                <a:latin typeface="Georgia"/>
              </a:rPr>
              <a:t>One Estate, Many Kinds of Model</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Why “is it AI?” separates nothing useful, and what it costs to keep asking it.</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What is actually in the estate</a:t>
            </a:r>
          </a:p>
          <a:p>
            <a:pPr>
              <a:lnSpc>
                <a:spcPct val="115000"/>
              </a:lnSpc>
              <a:spcBef>
                <a:spcPts val="0"/>
              </a:spcBef>
              <a:spcAft>
                <a:spcPts val="700"/>
              </a:spcAft>
            </a:pPr>
            <a:r>
              <a:rPr sz="1150" b="0" i="0">
                <a:solidFill>
                  <a:srgbClr val="F6E6E9"/>
                </a:solidFill>
                <a:latin typeface="Calibri"/>
              </a:rPr>
              <a:t>The question that sorts it wrongly</a:t>
            </a:r>
          </a:p>
          <a:p>
            <a:pPr>
              <a:lnSpc>
                <a:spcPct val="115000"/>
              </a:lnSpc>
              <a:spcBef>
                <a:spcPts val="0"/>
              </a:spcBef>
              <a:spcAft>
                <a:spcPts val="700"/>
              </a:spcAft>
            </a:pPr>
            <a:r>
              <a:rPr sz="1150" b="0" i="0">
                <a:solidFill>
                  <a:srgbClr val="F6E6E9"/>
                </a:solidFill>
                <a:latin typeface="Calibri"/>
              </a:rPr>
              <a:t>The question that sorts it correctly</a:t>
            </a:r>
          </a:p>
          <a:p>
            <a:pPr>
              <a:lnSpc>
                <a:spcPct val="115000"/>
              </a:lnSpc>
              <a:spcBef>
                <a:spcPts val="0"/>
              </a:spcBef>
              <a:spcAft>
                <a:spcPts val="700"/>
              </a:spcAft>
            </a:pPr>
            <a:r>
              <a:rPr sz="1150" b="0" i="0">
                <a:solidFill>
                  <a:srgbClr val="F6E6E9"/>
                </a:solidFill>
                <a:latin typeface="Calibri"/>
              </a:rPr>
              <a:t>Asserted, not evidenced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PROBLEM · WHAT IS ACTUALLY THERE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bank's estate is not one kind of thing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One Estate, Many Kinds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a:t>
            </a:r>
          </a:p>
        </p:txBody>
      </p:sp>
      <p:graphicFrame>
        <p:nvGraphicFramePr>
          <p:cNvPr id="10" name="Table 9"/>
          <p:cNvGraphicFramePr>
            <a:graphicFrameLocks noGrp="1"/>
          </p:cNvGraphicFramePr>
          <p:nvPr/>
        </p:nvGraphicFramePr>
        <p:xfrm>
          <a:off x="777240" y="1353312"/>
          <a:ext cx="10637214" cy="2863088"/>
        </p:xfrm>
        <a:graphic>
          <a:graphicData uri="http://schemas.openxmlformats.org/drawingml/2006/table">
            <a:tbl>
              <a:tblPr firstRow="1">
                <a:tableStyleId>{5C22544A-7EE6-4342-B048-85BDC9FD1C3A}</a:tableStyleId>
              </a:tblPr>
              <a:tblGrid>
                <a:gridCol w="4114446"/>
                <a:gridCol w="2925828"/>
                <a:gridCol w="1371482"/>
                <a:gridCol w="2225458"/>
              </a:tblGrid>
              <a:tr h="329184">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How P is inhabited</a:t>
                      </a:r>
                    </a:p>
                  </a:txBody>
                  <a:tcPr marL="82296" marR="64008" marT="32004" marB="32004" anchor="ctr">
                    <a:solidFill>
                      <a:srgbClr val="A51C30"/>
                    </a:solidFill>
                  </a:tcPr>
                </a:tc>
                <a:tc>
                  <a:txBody>
                    <a:bodyPr wrap="square"/>
                    <a:lstStyle/>
                    <a:p>
                      <a:pPr algn="l"/>
                      <a:r>
                        <a:rPr sz="1000" b="1">
                          <a:solidFill>
                            <a:srgbClr val="FFFFFF"/>
                          </a:solidFill>
                          <a:latin typeface="Calibri"/>
                        </a:rPr>
                        <a:t>Trained?</a:t>
                      </a:r>
                    </a:p>
                  </a:txBody>
                  <a:tcPr marL="82296" marR="64008" marT="32004" marB="32004" anchor="ctr">
                    <a:solidFill>
                      <a:srgbClr val="A51C30"/>
                    </a:solidFill>
                  </a:tcPr>
                </a:tc>
                <a:tc>
                  <a:txBody>
                    <a:bodyPr wrap="square"/>
                    <a:lstStyle/>
                    <a:p>
                      <a:pPr algn="l"/>
                      <a:r>
                        <a:rPr sz="1000" b="1">
                          <a:solidFill>
                            <a:srgbClr val="FFFFFF"/>
                          </a:solidFill>
                          <a:latin typeface="Calibri"/>
                        </a:rPr>
                        <a:t>Roughly how many</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pricing library — discount, bond, swaption</a:t>
                      </a:r>
                    </a:p>
                  </a:txBody>
                  <a:tcPr marL="82296" marR="64008" marT="32004" marB="32004" anchor="ctr">
                    <a:solidFill>
                      <a:srgbClr val="FFFFFF"/>
                    </a:solidFill>
                  </a:tcPr>
                </a:tc>
                <a:tc>
                  <a:txBody>
                    <a:bodyPr wrap="square"/>
                    <a:lstStyle/>
                    <a:p>
                      <a:pPr algn="l"/>
                      <a:r>
                        <a:rPr sz="1000" b="0">
                          <a:solidFill>
                            <a:srgbClr val="1C1C1E"/>
                          </a:solidFill>
                          <a:latin typeface="Calibri"/>
                        </a:rPr>
                        <a:t>from theory</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hundreds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term-structure model, solved each morning</a:t>
                      </a:r>
                    </a:p>
                  </a:txBody>
                  <a:tcPr marL="82296" marR="64008" marT="32004" marB="32004" anchor="ctr">
                    <a:solidFill>
                      <a:srgbClr val="F6F3EF"/>
                    </a:solidFill>
                  </a:tcPr>
                </a:tc>
                <a:tc>
                  <a:txBody>
                    <a:bodyPr wrap="square"/>
                    <a:lstStyle/>
                    <a:p>
                      <a:pPr algn="l"/>
                      <a:r>
                        <a:rPr sz="1000" b="0">
                          <a:solidFill>
                            <a:srgbClr val="1C1C1E"/>
                          </a:solidFill>
                          <a:latin typeface="Calibri"/>
                        </a:rPr>
                        <a:t>a solver, against quotes</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c>
                  <a:txBody>
                    <a:bodyPr wrap="square"/>
                    <a:lstStyle/>
                    <a:p>
                      <a:pPr algn="l"/>
                      <a:r>
                        <a:rPr sz="1000" b="0">
                          <a:solidFill>
                            <a:srgbClr val="1C1C1E"/>
                          </a:solidFill>
                          <a:latin typeface="Calibri"/>
                        </a:rPr>
                        <a:t>tens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scorecard on eight thousand rows</a:t>
                      </a:r>
                    </a:p>
                  </a:txBody>
                  <a:tcPr marL="82296" marR="64008" marT="32004" marB="32004" anchor="ctr">
                    <a:solidFill>
                      <a:srgbClr val="FFFFFF"/>
                    </a:solidFill>
                  </a:tcPr>
                </a:tc>
                <a:tc>
                  <a:txBody>
                    <a:bodyPr wrap="square"/>
                    <a:lstStyle/>
                    <a:p>
                      <a:pPr algn="l"/>
                      <a:r>
                        <a:rPr sz="1000" b="0">
                          <a:solidFill>
                            <a:srgbClr val="1C1C1E"/>
                          </a:solidFill>
                          <a:latin typeface="Calibri"/>
                        </a:rPr>
                        <a:t>a statistical estimator</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c>
                  <a:txBody>
                    <a:bodyPr wrap="square"/>
                    <a:lstStyle/>
                    <a:p>
                      <a:pPr algn="l"/>
                      <a:r>
                        <a:rPr sz="1000" b="0">
                          <a:solidFill>
                            <a:srgbClr val="1C1C1E"/>
                          </a:solidFill>
                          <a:latin typeface="Calibri"/>
                        </a:rPr>
                        <a:t>hundreds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network with twenty million weights</a:t>
                      </a:r>
                    </a:p>
                  </a:txBody>
                  <a:tcPr marL="82296" marR="64008" marT="32004" marB="32004" anchor="ctr">
                    <a:solidFill>
                      <a:srgbClr val="F6F3EF"/>
                    </a:solidFill>
                  </a:tcPr>
                </a:tc>
                <a:tc>
                  <a:txBody>
                    <a:bodyPr wrap="square"/>
                    <a:lstStyle/>
                    <a:p>
                      <a:pPr algn="l"/>
                      <a:r>
                        <a:rPr sz="1000" b="0">
                          <a:solidFill>
                            <a:srgbClr val="1C1C1E"/>
                          </a:solidFill>
                          <a:latin typeface="Calibri"/>
                        </a:rPr>
                        <a:t>a training run</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c>
                  <a:txBody>
                    <a:bodyPr wrap="square"/>
                    <a:lstStyle/>
                    <a:p>
                      <a:pPr algn="l"/>
                      <a:r>
                        <a:rPr sz="1000" b="0">
                          <a:solidFill>
                            <a:srgbClr val="1C1C1E"/>
                          </a:solidFill>
                          <a:latin typeface="Calibri"/>
                        </a:rPr>
                        <a:t>tens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language model somebody else hosts</a:t>
                      </a:r>
                    </a:p>
                  </a:txBody>
                  <a:tcPr marL="82296" marR="64008" marT="32004" marB="32004" anchor="ctr">
                    <a:solidFill>
                      <a:srgbClr val="FFFFFF"/>
                    </a:solidFill>
                  </a:tcPr>
                </a:tc>
                <a:tc>
                  <a:txBody>
                    <a:bodyPr wrap="square"/>
                    <a:lstStyle/>
                    <a:p>
                      <a:pPr algn="l"/>
                      <a:r>
                        <a:rPr sz="1000" b="0">
                          <a:solidFill>
                            <a:srgbClr val="1C1C1E"/>
                          </a:solidFill>
                          <a:latin typeface="Calibri"/>
                        </a:rPr>
                        <a:t>a configuration</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growing</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vendor black box under licence</a:t>
                      </a:r>
                    </a:p>
                  </a:txBody>
                  <a:tcPr marL="82296" marR="64008" marT="32004" marB="32004" anchor="ctr">
                    <a:solidFill>
                      <a:srgbClr val="F6F3EF"/>
                    </a:solidFill>
                  </a:tcPr>
                </a:tc>
                <a:tc>
                  <a:txBody>
                    <a:bodyPr wrap="square"/>
                    <a:lstStyle/>
                    <a:p>
                      <a:pPr algn="l"/>
                      <a:r>
                        <a:rPr sz="1000" b="0">
                          <a:solidFill>
                            <a:srgbClr val="1C1C1E"/>
                          </a:solidFill>
                          <a:latin typeface="Calibri"/>
                        </a:rPr>
                        <a:t>inside their binary</a:t>
                      </a:r>
                    </a:p>
                  </a:txBody>
                  <a:tcPr marL="82296" marR="64008" marT="32004" marB="32004" anchor="ctr">
                    <a:solidFill>
                      <a:srgbClr val="F6F3EF"/>
                    </a:solidFill>
                  </a:tcPr>
                </a:tc>
                <a:tc>
                  <a:txBody>
                    <a:bodyPr wrap="square"/>
                    <a:lstStyle/>
                    <a:p>
                      <a:pPr algn="l"/>
                      <a:r>
                        <a:rPr sz="1000" b="0">
                          <a:solidFill>
                            <a:srgbClr val="1C1C1E"/>
                          </a:solidFill>
                          <a:latin typeface="Calibri"/>
                        </a:rPr>
                        <a:t>unknowable</a:t>
                      </a:r>
                    </a:p>
                  </a:txBody>
                  <a:tcPr marL="82296" marR="64008" marT="32004" marB="32004" anchor="ctr">
                    <a:solidFill>
                      <a:srgbClr val="F6F3EF"/>
                    </a:solidFill>
                  </a:tcPr>
                </a:tc>
                <a:tc>
                  <a:txBody>
                    <a:bodyPr wrap="square"/>
                    <a:lstStyle/>
                    <a:p>
                      <a:pPr algn="l"/>
                      <a:r>
                        <a:rPr sz="1000" b="0">
                          <a:solidFill>
                            <a:srgbClr val="1C1C1E"/>
                          </a:solidFill>
                          <a:latin typeface="Calibri"/>
                        </a:rPr>
                        <a:t>dozens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An expert-weighted scoring sheet</a:t>
                      </a:r>
                    </a:p>
                  </a:txBody>
                  <a:tcPr marL="82296" marR="64008" marT="32004" marB="32004" anchor="ctr">
                    <a:solidFill>
                      <a:srgbClr val="FFFFFF"/>
                    </a:solidFill>
                  </a:tcPr>
                </a:tc>
                <a:tc>
                  <a:txBody>
                    <a:bodyPr wrap="square"/>
                    <a:lstStyle/>
                    <a:p>
                      <a:pPr algn="l"/>
                      <a:r>
                        <a:rPr sz="1000" b="0">
                          <a:solidFill>
                            <a:srgbClr val="1C1C1E"/>
                          </a:solidFill>
                          <a:latin typeface="Calibri"/>
                        </a:rPr>
                        <a:t>a room full of people</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dozens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Four thousand spreadsheets</a:t>
                      </a:r>
                    </a:p>
                  </a:txBody>
                  <a:tcPr marL="82296" marR="64008" marT="32004" marB="32004" anchor="ctr">
                    <a:solidFill>
                      <a:srgbClr val="F6F3EF"/>
                    </a:solidFill>
                  </a:tcPr>
                </a:tc>
                <a:tc>
                  <a:txBody>
                    <a:bodyPr wrap="square"/>
                    <a:lstStyle/>
                    <a:p>
                      <a:pPr algn="l"/>
                      <a:r>
                        <a:rPr sz="1000" b="0">
                          <a:solidFill>
                            <a:srgbClr val="1C1C1E"/>
                          </a:solidFill>
                          <a:latin typeface="Calibri"/>
                        </a:rPr>
                        <a:t>cells</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c>
                  <a:txBody>
                    <a:bodyPr wrap="square"/>
                    <a:lstStyle/>
                    <a:p>
                      <a:pPr algn="l"/>
                      <a:r>
                        <a:rPr sz="1000" b="0">
                          <a:solidFill>
                            <a:srgbClr val="1C1C1E"/>
                          </a:solidFill>
                          <a:latin typeface="Calibri"/>
                        </a:rPr>
                        <a:t>thousands</a:t>
                      </a:r>
                    </a:p>
                  </a:txBody>
                  <a:tcPr marL="82296" marR="64008" marT="32004" marB="32004" anchor="ctr">
                    <a:solidFill>
                      <a:srgbClr val="F6F3EF"/>
                    </a:solidFill>
                  </a:tcPr>
                </a:tc>
              </a:tr>
            </a:tbl>
          </a:graphicData>
        </a:graphic>
      </p:graphicFrame>
      <p:sp>
        <p:nvSpPr>
          <p:cNvPr id="11" name="Rectangle 10"/>
          <p:cNvSpPr/>
          <p:nvPr/>
        </p:nvSpPr>
        <p:spPr>
          <a:xfrm>
            <a:off x="777240" y="4472432"/>
            <a:ext cx="10637215" cy="8686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472432"/>
            <a:ext cx="41148" cy="8686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591304"/>
            <a:ext cx="10180015" cy="649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Model risk management is expected to cover all of it with one process. </a:t>
            </a:r>
            <a:r>
              <a:rPr sz="1050" b="0" i="0">
                <a:solidFill>
                  <a:srgbClr val="1C1C1E"/>
                </a:solidFill>
                <a:latin typeface="Calibri"/>
              </a:rPr>
              <a:t>Most tooling responds by covering the third and fourth rows well and leaving the rest to a spreadsheet — which is the same spreadsheet the programme was bought to replace.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PROBLEM · THE QUESTION THAT SORTS WRONGLY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“Is it AI?” puts these in different buckets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One Estate, Many Kinds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a:t>
            </a:r>
          </a:p>
        </p:txBody>
      </p:sp>
      <p:sp>
        <p:nvSpPr>
          <p:cNvPr id="10" name="TextBox 9"/>
          <p:cNvSpPr txBox="1"/>
          <p:nvPr/>
        </p:nvSpPr>
        <p:spPr>
          <a:xfrm>
            <a:off x="777240" y="1353312"/>
            <a:ext cx="4893118" cy="237744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Different buckets</a:t>
            </a:r>
          </a:p>
          <a:p>
            <a:pPr>
              <a:spcBef>
                <a:spcPts val="0"/>
              </a:spcBef>
              <a:spcAft>
                <a:spcPts val="800"/>
              </a:spcAft>
            </a:pPr>
            <a:r>
              <a:rPr sz="1300" b="0" i="0">
                <a:solidFill>
                  <a:srgbClr val="1C1C1E"/>
                </a:solidFill>
                <a:latin typeface="Consolas"/>
              </a:rPr>
              <a:t>Black–Scholes  ·  a linear regression</a:t>
            </a:r>
          </a:p>
          <a:p>
            <a:pPr>
              <a:lnSpc>
                <a:spcPct val="128000"/>
              </a:lnSpc>
              <a:spcBef>
                <a:spcPts val="0"/>
              </a:spcBef>
              <a:spcAft>
                <a:spcPts val="0"/>
              </a:spcAft>
            </a:pPr>
            <a:r>
              <a:rPr sz="1100" b="0" i="0">
                <a:solidFill>
                  <a:srgbClr val="4A4F57"/>
                </a:solidFill>
                <a:latin typeface="Calibri"/>
              </a:rPr>
              <a:t>One is “not AI” and one is “traditional statistics”, and the validation checklist differs — although both have a closed form, both have an operating boundary, and only one of them has parameters at all.</a:t>
            </a:r>
          </a:p>
        </p:txBody>
      </p:sp>
      <p:sp>
        <p:nvSpPr>
          <p:cNvPr id="11" name="TextBox 10"/>
          <p:cNvSpPr txBox="1"/>
          <p:nvPr/>
        </p:nvSpPr>
        <p:spPr>
          <a:xfrm>
            <a:off x="6308591" y="1353312"/>
            <a:ext cx="4893118" cy="237744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The same bucket</a:t>
            </a:r>
          </a:p>
          <a:p>
            <a:pPr>
              <a:spcBef>
                <a:spcPts val="0"/>
              </a:spcBef>
              <a:spcAft>
                <a:spcPts val="800"/>
              </a:spcAft>
            </a:pPr>
            <a:r>
              <a:rPr sz="1300" b="0" i="0">
                <a:solidFill>
                  <a:srgbClr val="1C1C1E"/>
                </a:solidFill>
                <a:latin typeface="Consolas"/>
              </a:rPr>
              <a:t>a linear regression  ·  a large language model</a:t>
            </a:r>
          </a:p>
          <a:p>
            <a:pPr>
              <a:lnSpc>
                <a:spcPct val="128000"/>
              </a:lnSpc>
              <a:spcBef>
                <a:spcPts val="0"/>
              </a:spcBef>
              <a:spcAft>
                <a:spcPts val="0"/>
              </a:spcAft>
            </a:pPr>
            <a:r>
              <a:rPr sz="1100" b="0" i="0">
                <a:solidFill>
                  <a:srgbClr val="4A4F57"/>
                </a:solidFill>
                <a:latin typeface="Calibri"/>
              </a:rPr>
              <a:t>Both are “models”, or on a bad day both are “AI”. One is fitted from eight thousand labelled rows you own; the other is configured around weights somebody else replaces on a Tuesday without telling you.</a:t>
            </a:r>
          </a:p>
        </p:txBody>
      </p:sp>
      <p:sp>
        <p:nvSpPr>
          <p:cNvPr id="12" name="Rectangle 11"/>
          <p:cNvSpPr/>
          <p:nvPr/>
        </p:nvSpPr>
        <p:spPr>
          <a:xfrm>
            <a:off x="777240" y="3959352"/>
            <a:ext cx="10637215" cy="16002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3959352"/>
            <a:ext cx="41148" cy="16002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1014983" y="4078224"/>
            <a:ext cx="10180015" cy="13807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Everything downstream inherits the confusion. </a:t>
            </a:r>
            <a:r>
              <a:rPr sz="1050" b="0" i="0">
                <a:solidFill>
                  <a:srgbClr val="1C1C1E"/>
                </a:solidFill>
                <a:latin typeface="Calibri"/>
              </a:rPr>
              <a:t>A validation checklist with fields that make no sense for half the estate, so people learn to write “N/A” and then stop reading the fields at all. An inventory whose categories nobody applies consistently, so two teams classify the same model differently and neither is wrong. And controls that are ceremony for some models and absent for others, which is the worst of the three because it looks like coverage.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PROBLEM · THE QUESTION THAT WORKS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“How is P inhabited?” sorts it correctly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One Estate, Many Kinds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a:t>
            </a:r>
          </a:p>
        </p:txBody>
      </p:sp>
      <p:graphicFrame>
        <p:nvGraphicFramePr>
          <p:cNvPr id="10" name="Table 9"/>
          <p:cNvGraphicFramePr>
            <a:graphicFrameLocks noGrp="1"/>
          </p:cNvGraphicFramePr>
          <p:nvPr/>
        </p:nvGraphicFramePr>
        <p:xfrm>
          <a:off x="777240" y="1353312"/>
          <a:ext cx="10637213" cy="2546350"/>
        </p:xfrm>
        <a:graphic>
          <a:graphicData uri="http://schemas.openxmlformats.org/drawingml/2006/table">
            <a:tbl>
              <a:tblPr firstRow="1">
                <a:tableStyleId>{5C22544A-7EE6-4342-B048-85BDC9FD1C3A}</a:tableStyleId>
              </a:tblPr>
              <a:tblGrid>
                <a:gridCol w="3931582"/>
                <a:gridCol w="2468667"/>
                <a:gridCol w="1005753"/>
                <a:gridCol w="3231211"/>
              </a:tblGrid>
              <a:tr h="329184">
                <a:tc>
                  <a:txBody>
                    <a:bodyPr wrap="square"/>
                    <a:lstStyle/>
                    <a:p>
                      <a:pPr algn="l"/>
                      <a:r>
                        <a:rPr sz="1000" b="1">
                          <a:solidFill>
                            <a:srgbClr val="FFFFFF"/>
                          </a:solidFill>
                          <a:latin typeface="Calibri"/>
                        </a:rPr>
                        <a:t>How P is inhabited</a:t>
                      </a:r>
                    </a:p>
                  </a:txBody>
                  <a:tcPr marL="82296" marR="64008" marT="32004" marB="32004" anchor="ctr">
                    <a:solidFill>
                      <a:srgbClr val="A51C30"/>
                    </a:solidFill>
                  </a:tcPr>
                </a:tc>
                <a:tc>
                  <a:txBody>
                    <a:bodyPr wrap="square"/>
                    <a:lstStyle/>
                    <a:p>
                      <a:pPr algn="l"/>
                      <a:r>
                        <a:rPr sz="1000" b="1">
                          <a:solidFill>
                            <a:srgbClr val="FFFFFF"/>
                          </a:solidFill>
                          <a:latin typeface="Calibri"/>
                        </a:rPr>
                        <a:t>Example</a:t>
                      </a:r>
                    </a:p>
                  </a:txBody>
                  <a:tcPr marL="82296" marR="64008" marT="32004" marB="32004" anchor="ctr">
                    <a:solidFill>
                      <a:srgbClr val="A51C30"/>
                    </a:solidFill>
                  </a:tcPr>
                </a:tc>
                <a:tc>
                  <a:txBody>
                    <a:bodyPr wrap="square"/>
                    <a:lstStyle/>
                    <a:p>
                      <a:pPr algn="l"/>
                      <a:r>
                        <a:rPr sz="1000" b="1">
                          <a:solidFill>
                            <a:srgbClr val="FFFFFF"/>
                          </a:solidFill>
                          <a:latin typeface="Calibri"/>
                        </a:rPr>
                        <a:t>Class</a:t>
                      </a:r>
                    </a:p>
                  </a:txBody>
                  <a:tcPr marL="82296" marR="64008" marT="32004" marB="32004" anchor="ctr">
                    <a:solidFill>
                      <a:srgbClr val="A51C30"/>
                    </a:solidFill>
                  </a:tcPr>
                </a:tc>
                <a:tc>
                  <a:txBody>
                    <a:bodyPr wrap="square"/>
                    <a:lstStyle/>
                    <a:p>
                      <a:pPr algn="l"/>
                      <a:r>
                        <a:rPr sz="1000" b="1">
                          <a:solidFill>
                            <a:srgbClr val="FFFFFF"/>
                          </a:solidFill>
                          <a:latin typeface="Calibri"/>
                        </a:rPr>
                        <a:t>Can it be fitted?</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it isn't — nothing to fill</a:t>
                      </a:r>
                    </a:p>
                  </a:txBody>
                  <a:tcPr marL="82296" marR="64008" marT="32004" marB="32004" anchor="ctr">
                    <a:solidFill>
                      <a:srgbClr val="FFFFFF"/>
                    </a:solidFill>
                  </a:tcPr>
                </a:tc>
                <a:tc>
                  <a:txBody>
                    <a:bodyPr wrap="square"/>
                    <a:lstStyle/>
                    <a:p>
                      <a:pPr algn="l"/>
                      <a:r>
                        <a:rPr sz="1000" b="0">
                          <a:solidFill>
                            <a:srgbClr val="1C1C1E"/>
                          </a:solidFill>
                          <a:latin typeface="Calibri"/>
                        </a:rPr>
                        <a:t>Black–Scholes</a:t>
                      </a:r>
                    </a:p>
                  </a:txBody>
                  <a:tcPr marL="82296" marR="64008" marT="32004" marB="32004" anchor="ctr">
                    <a:solidFill>
                      <a:srgbClr val="FFFFFF"/>
                    </a:solidFill>
                  </a:tcPr>
                </a:tc>
                <a:tc>
                  <a:txBody>
                    <a:bodyPr wrap="square"/>
                    <a:lstStyle/>
                    <a:p>
                      <a:pPr algn="l"/>
                      <a:r>
                        <a:rPr sz="1000" b="0">
                          <a:solidFill>
                            <a:srgbClr val="1C1C1E"/>
                          </a:solidFill>
                          <a:latin typeface="Calibri"/>
                        </a:rPr>
                        <a:t>T0</a:t>
                      </a:r>
                    </a:p>
                  </a:txBody>
                  <a:tcPr marL="82296" marR="64008" marT="32004" marB="32004" anchor="ctr">
                    <a:solidFill>
                      <a:srgbClr val="FFFFFF"/>
                    </a:solidFill>
                  </a:tcPr>
                </a:tc>
                <a:tc>
                  <a:txBody>
                    <a:bodyPr wrap="square"/>
                    <a:lstStyle/>
                    <a:p>
                      <a:pPr algn="l"/>
                      <a:r>
                        <a:rPr sz="1000" b="0">
                          <a:solidFill>
                            <a:srgbClr val="1C1C1E"/>
                          </a:solidFill>
                          <a:latin typeface="Calibri"/>
                        </a:rPr>
                        <a:t>asking is a TYPE ERROR</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solver, against market quotes</a:t>
                      </a:r>
                    </a:p>
                  </a:txBody>
                  <a:tcPr marL="82296" marR="64008" marT="32004" marB="32004" anchor="ctr">
                    <a:solidFill>
                      <a:srgbClr val="F6F3EF"/>
                    </a:solidFill>
                  </a:tcPr>
                </a:tc>
                <a:tc>
                  <a:txBody>
                    <a:bodyPr wrap="square"/>
                    <a:lstStyle/>
                    <a:p>
                      <a:pPr algn="l"/>
                      <a:r>
                        <a:rPr sz="1000" b="0">
                          <a:solidFill>
                            <a:srgbClr val="1C1C1E"/>
                          </a:solidFill>
                          <a:latin typeface="Calibri"/>
                        </a:rPr>
                        <a:t>Hull–White</a:t>
                      </a:r>
                    </a:p>
                  </a:txBody>
                  <a:tcPr marL="82296" marR="64008" marT="32004" marB="32004" anchor="ctr">
                    <a:solidFill>
                      <a:srgbClr val="F6F3EF"/>
                    </a:solidFill>
                  </a:tcPr>
                </a:tc>
                <a:tc>
                  <a:txBody>
                    <a:bodyPr wrap="square"/>
                    <a:lstStyle/>
                    <a:p>
                      <a:pPr algn="l"/>
                      <a:r>
                        <a:rPr sz="1000" b="0">
                          <a:solidFill>
                            <a:srgbClr val="1C1C1E"/>
                          </a:solidFill>
                          <a:latin typeface="Calibri"/>
                        </a:rPr>
                        <a:t>T1</a:t>
                      </a:r>
                    </a:p>
                  </a:txBody>
                  <a:tcPr marL="82296" marR="64008" marT="32004" marB="32004" anchor="ctr">
                    <a:solidFill>
                      <a:srgbClr val="F6F3EF"/>
                    </a:solidFill>
                  </a:tcPr>
                </a:tc>
                <a:tc>
                  <a:txBody>
                    <a:bodyPr wrap="square"/>
                    <a:lstStyle/>
                    <a:p>
                      <a:pPr algn="l"/>
                      <a:r>
                        <a:rPr sz="1000" b="0">
                          <a:solidFill>
                            <a:srgbClr val="1C1C1E"/>
                          </a:solidFill>
                          <a:latin typeface="Calibri"/>
                        </a:rPr>
                        <a:t>yes — daily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statistical estimator</a:t>
                      </a:r>
                    </a:p>
                  </a:txBody>
                  <a:tcPr marL="82296" marR="64008" marT="32004" marB="32004" anchor="ctr">
                    <a:solidFill>
                      <a:srgbClr val="FFFFFF"/>
                    </a:solidFill>
                  </a:tcPr>
                </a:tc>
                <a:tc>
                  <a:txBody>
                    <a:bodyPr wrap="square"/>
                    <a:lstStyle/>
                    <a:p>
                      <a:pPr algn="l"/>
                      <a:r>
                        <a:rPr sz="1000" b="0">
                          <a:solidFill>
                            <a:srgbClr val="1C1C1E"/>
                          </a:solidFill>
                          <a:latin typeface="Calibri"/>
                        </a:rPr>
                        <a:t>a PD scorecard</a:t>
                      </a:r>
                    </a:p>
                  </a:txBody>
                  <a:tcPr marL="82296" marR="64008" marT="32004" marB="32004" anchor="ctr">
                    <a:solidFill>
                      <a:srgbClr val="FFFFFF"/>
                    </a:solidFill>
                  </a:tcPr>
                </a:tc>
                <a:tc>
                  <a:txBody>
                    <a:bodyPr wrap="square"/>
                    <a:lstStyle/>
                    <a:p>
                      <a:pPr algn="l"/>
                      <a:r>
                        <a:rPr sz="1000" b="0">
                          <a:solidFill>
                            <a:srgbClr val="1C1C1E"/>
                          </a:solidFill>
                          <a:latin typeface="Calibri"/>
                        </a:rPr>
                        <a:t>T2</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training run</a:t>
                      </a:r>
                    </a:p>
                  </a:txBody>
                  <a:tcPr marL="82296" marR="64008" marT="32004" marB="32004" anchor="ctr">
                    <a:solidFill>
                      <a:srgbClr val="F6F3EF"/>
                    </a:solidFill>
                  </a:tcPr>
                </a:tc>
                <a:tc>
                  <a:txBody>
                    <a:bodyPr wrap="square"/>
                    <a:lstStyle/>
                    <a:p>
                      <a:pPr algn="l"/>
                      <a:r>
                        <a:rPr sz="1000" b="0">
                          <a:solidFill>
                            <a:srgbClr val="1C1C1E"/>
                          </a:solidFill>
                          <a:latin typeface="Calibri"/>
                        </a:rPr>
                        <a:t>a fraud network</a:t>
                      </a:r>
                    </a:p>
                  </a:txBody>
                  <a:tcPr marL="82296" marR="64008" marT="32004" marB="32004" anchor="ctr">
                    <a:solidFill>
                      <a:srgbClr val="F6F3EF"/>
                    </a:solidFill>
                  </a:tcPr>
                </a:tc>
                <a:tc>
                  <a:txBody>
                    <a:bodyPr wrap="square"/>
                    <a:lstStyle/>
                    <a:p>
                      <a:pPr algn="l"/>
                      <a:r>
                        <a:rPr sz="1000" b="0">
                          <a:solidFill>
                            <a:srgbClr val="1C1C1E"/>
                          </a:solidFill>
                          <a:latin typeface="Calibri"/>
                        </a:rPr>
                        <a:t>T3</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configuration around someone else's model</a:t>
                      </a:r>
                    </a:p>
                  </a:txBody>
                  <a:tcPr marL="82296" marR="64008" marT="32004" marB="32004" anchor="ctr">
                    <a:solidFill>
                      <a:srgbClr val="FFFFFF"/>
                    </a:solidFill>
                  </a:tcPr>
                </a:tc>
                <a:tc>
                  <a:txBody>
                    <a:bodyPr wrap="square"/>
                    <a:lstStyle/>
                    <a:p>
                      <a:pPr algn="l"/>
                      <a:r>
                        <a:rPr sz="1000" b="0">
                          <a:solidFill>
                            <a:srgbClr val="1C1C1E"/>
                          </a:solidFill>
                          <a:latin typeface="Calibri"/>
                        </a:rPr>
                        <a:t>a triage assistant</a:t>
                      </a:r>
                    </a:p>
                  </a:txBody>
                  <a:tcPr marL="82296" marR="64008" marT="32004" marB="32004" anchor="ctr">
                    <a:solidFill>
                      <a:srgbClr val="FFFFFF"/>
                    </a:solidFill>
                  </a:tcPr>
                </a:tc>
                <a:tc>
                  <a:txBody>
                    <a:bodyPr wrap="square"/>
                    <a:lstStyle/>
                    <a:p>
                      <a:pPr algn="l"/>
                      <a:r>
                        <a:rPr sz="1000" b="0">
                          <a:solidFill>
                            <a:srgbClr val="1C1C1E"/>
                          </a:solidFill>
                          <a:latin typeface="Calibri"/>
                        </a:rPr>
                        <a:t>T5</a:t>
                      </a:r>
                    </a:p>
                  </a:txBody>
                  <a:tcPr marL="82296" marR="64008" marT="32004" marB="32004" anchor="ctr">
                    <a:solidFill>
                      <a:srgbClr val="FFFFFF"/>
                    </a:solidFill>
                  </a:tcPr>
                </a:tc>
                <a:tc>
                  <a:txBody>
                    <a:bodyPr wrap="square"/>
                    <a:lstStyle/>
                    <a:p>
                      <a:pPr algn="l"/>
                      <a:r>
                        <a:rPr sz="1000" b="0">
                          <a:solidFill>
                            <a:srgbClr val="1C1C1E"/>
                          </a:solidFill>
                          <a:latin typeface="Calibri"/>
                        </a:rPr>
                        <a:t>configured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room full of people</a:t>
                      </a:r>
                    </a:p>
                  </a:txBody>
                  <a:tcPr marL="82296" marR="64008" marT="32004" marB="32004" anchor="ctr">
                    <a:solidFill>
                      <a:srgbClr val="F6F3EF"/>
                    </a:solidFill>
                  </a:tcPr>
                </a:tc>
                <a:tc>
                  <a:txBody>
                    <a:bodyPr wrap="square"/>
                    <a:lstStyle/>
                    <a:p>
                      <a:pPr algn="l"/>
                      <a:r>
                        <a:rPr sz="1000" b="0">
                          <a:solidFill>
                            <a:srgbClr val="1C1C1E"/>
                          </a:solidFill>
                          <a:latin typeface="Calibri"/>
                        </a:rPr>
                        <a:t>an expert scorecard</a:t>
                      </a:r>
                    </a:p>
                  </a:txBody>
                  <a:tcPr marL="82296" marR="64008" marT="32004" marB="32004" anchor="ctr">
                    <a:solidFill>
                      <a:srgbClr val="F6F3EF"/>
                    </a:solidFill>
                  </a:tcPr>
                </a:tc>
                <a:tc>
                  <a:txBody>
                    <a:bodyPr wrap="square"/>
                    <a:lstStyle/>
                    <a:p>
                      <a:pPr algn="l"/>
                      <a:r>
                        <a:rPr sz="1000" b="0">
                          <a:solidFill>
                            <a:srgbClr val="1C1C1E"/>
                          </a:solidFill>
                          <a:latin typeface="Calibri"/>
                        </a:rPr>
                        <a:t>T7</a:t>
                      </a:r>
                    </a:p>
                  </a:txBody>
                  <a:tcPr marL="82296" marR="64008" marT="32004" marB="32004" anchor="ctr">
                    <a:solidFill>
                      <a:srgbClr val="F6F3EF"/>
                    </a:solidFill>
                  </a:tcPr>
                </a:tc>
                <a:tc>
                  <a:txBody>
                    <a:bodyPr wrap="square"/>
                    <a:lstStyle/>
                    <a:p>
                      <a:pPr algn="l"/>
                      <a:r>
                        <a:rPr sz="1000" b="0">
                          <a:solidFill>
                            <a:srgbClr val="1C1C1E"/>
                          </a:solidFill>
                          <a:latin typeface="Calibri"/>
                        </a:rPr>
                        <a:t>elicited</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inside a vendor's binary</a:t>
                      </a:r>
                    </a:p>
                  </a:txBody>
                  <a:tcPr marL="82296" marR="64008" marT="32004" marB="32004" anchor="ctr">
                    <a:solidFill>
                      <a:srgbClr val="FFFFFF"/>
                    </a:solidFill>
                  </a:tcPr>
                </a:tc>
                <a:tc>
                  <a:txBody>
                    <a:bodyPr wrap="square"/>
                    <a:lstStyle/>
                    <a:p>
                      <a:pPr algn="l"/>
                      <a:r>
                        <a:rPr sz="1000" b="0">
                          <a:solidFill>
                            <a:srgbClr val="1C1C1E"/>
                          </a:solidFill>
                          <a:latin typeface="Calibri"/>
                        </a:rPr>
                        <a:t>an AML score</a:t>
                      </a:r>
                    </a:p>
                  </a:txBody>
                  <a:tcPr marL="82296" marR="64008" marT="32004" marB="32004" anchor="ctr">
                    <a:solidFill>
                      <a:srgbClr val="FFFFFF"/>
                    </a:solidFill>
                  </a:tcPr>
                </a:tc>
                <a:tc>
                  <a:txBody>
                    <a:bodyPr wrap="square"/>
                    <a:lstStyle/>
                    <a:p>
                      <a:pPr algn="l"/>
                      <a:r>
                        <a:rPr sz="1000" b="0">
                          <a:solidFill>
                            <a:srgbClr val="1C1C1E"/>
                          </a:solidFill>
                          <a:latin typeface="Calibri"/>
                        </a:rPr>
                        <a:t>T6</a:t>
                      </a:r>
                    </a:p>
                  </a:txBody>
                  <a:tcPr marL="82296" marR="64008" marT="32004" marB="32004" anchor="ctr">
                    <a:solidFill>
                      <a:srgbClr val="FFFFFF"/>
                    </a:solidFill>
                  </a:tcPr>
                </a:tc>
                <a:tc>
                  <a:txBody>
                    <a:bodyPr wrap="square"/>
                    <a:lstStyle/>
                    <a:p>
                      <a:pPr algn="l"/>
                      <a:r>
                        <a:rPr sz="1000" b="0">
                          <a:solidFill>
                            <a:srgbClr val="1C1C1E"/>
                          </a:solidFill>
                          <a:latin typeface="Calibri"/>
                        </a:rPr>
                        <a:t>not reachable</a:t>
                      </a:r>
                    </a:p>
                  </a:txBody>
                  <a:tcPr marL="82296" marR="64008" marT="32004" marB="32004" anchor="ctr">
                    <a:solidFill>
                      <a:srgbClr val="FFFFFF"/>
                    </a:solidFill>
                  </a:tcPr>
                </a:tc>
              </a:tr>
            </a:tbl>
          </a:graphicData>
        </a:graphic>
      </p:graphicFrame>
      <p:sp>
        <p:nvSpPr>
          <p:cNvPr id="11" name="Rectangle 10"/>
          <p:cNvSpPr/>
          <p:nvPr/>
        </p:nvSpPr>
        <p:spPr>
          <a:xfrm>
            <a:off x="777240" y="4173981"/>
            <a:ext cx="10637215" cy="11887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173981"/>
            <a:ext cx="41148" cy="1188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292853"/>
            <a:ext cx="10180015" cy="9692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class is DERIVED from that answer and never declared. </a:t>
            </a:r>
            <a:r>
              <a:rPr sz="1050" b="0" i="0">
                <a:solidFill>
                  <a:srgbClr val="1C1C1E"/>
                </a:solidFill>
                <a:latin typeface="Calibri"/>
              </a:rPr>
              <a:t>Nobody self-reports whether their model is trained — which is the question that invites the answer requiring least work. It falls out of two facts about the kernel, so asking a closed-form pricer for its training set is a type error rather than an empty field, and a rule set is not a second-class citizen squeezed into a schema designed for gradient descent.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PROBLEM · WHAT NOBODY CAN CHECK</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deeper failure: governance is asserted, not evidenced</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 · One Estate, Many Kinds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a:t>
            </a:r>
          </a:p>
        </p:txBody>
      </p:sp>
      <p:graphicFrame>
        <p:nvGraphicFramePr>
          <p:cNvPr id="10" name="Table 9"/>
          <p:cNvGraphicFramePr>
            <a:graphicFrameLocks noGrp="1"/>
          </p:cNvGraphicFramePr>
          <p:nvPr/>
        </p:nvGraphicFramePr>
        <p:xfrm>
          <a:off x="777240" y="1764792"/>
          <a:ext cx="10637214" cy="1955479"/>
        </p:xfrm>
        <a:graphic>
          <a:graphicData uri="http://schemas.openxmlformats.org/drawingml/2006/table">
            <a:tbl>
              <a:tblPr firstRow="1">
                <a:tableStyleId>{5C22544A-7EE6-4342-B048-85BDC9FD1C3A}</a:tableStyleId>
              </a:tblPr>
              <a:tblGrid>
                <a:gridCol w="4023014"/>
                <a:gridCol w="3108692"/>
                <a:gridCol w="3505508"/>
              </a:tblGrid>
              <a:tr h="329184">
                <a:tc>
                  <a:txBody>
                    <a:bodyPr wrap="square"/>
                    <a:lstStyle/>
                    <a:p>
                      <a:pPr algn="l"/>
                      <a:r>
                        <a:rPr sz="1050" b="1">
                          <a:solidFill>
                            <a:srgbClr val="FFFFFF"/>
                          </a:solidFill>
                          <a:latin typeface="Calibri"/>
                        </a:rPr>
                        <a:t>The claim</a:t>
                      </a:r>
                    </a:p>
                  </a:txBody>
                  <a:tcPr marL="82296" marR="64008" marT="32004" marB="32004" anchor="ctr">
                    <a:solidFill>
                      <a:srgbClr val="A51C30"/>
                    </a:solidFill>
                  </a:tcPr>
                </a:tc>
                <a:tc>
                  <a:txBody>
                    <a:bodyPr wrap="square"/>
                    <a:lstStyle/>
                    <a:p>
                      <a:pPr algn="l"/>
                      <a:r>
                        <a:rPr sz="1050" b="1">
                          <a:solidFill>
                            <a:srgbClr val="FFFFFF"/>
                          </a:solidFill>
                          <a:latin typeface="Calibri"/>
                        </a:rPr>
                        <a:t>Where it lives</a:t>
                      </a:r>
                    </a:p>
                  </a:txBody>
                  <a:tcPr marL="82296" marR="64008" marT="32004" marB="32004" anchor="ctr">
                    <a:solidFill>
                      <a:srgbClr val="A51C30"/>
                    </a:solidFill>
                  </a:tcPr>
                </a:tc>
                <a:tc>
                  <a:txBody>
                    <a:bodyPr wrap="square"/>
                    <a:lstStyle/>
                    <a:p>
                      <a:pPr algn="l"/>
                      <a:r>
                        <a:rPr sz="1050" b="1">
                          <a:solidFill>
                            <a:srgbClr val="FFFFFF"/>
                          </a:solidFill>
                          <a:latin typeface="Calibri"/>
                        </a:rPr>
                        <a:t>What connects it to reality</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“This model was validated in March”</a:t>
                      </a:r>
                    </a:p>
                  </a:txBody>
                  <a:tcPr marL="82296" marR="64008" marT="32004" marB="32004" anchor="ctr">
                    <a:solidFill>
                      <a:srgbClr val="FFFFFF"/>
                    </a:solidFill>
                  </a:tcPr>
                </a:tc>
                <a:tc>
                  <a:txBody>
                    <a:bodyPr wrap="square"/>
                    <a:lstStyle/>
                    <a:p>
                      <a:pPr algn="l"/>
                      <a:r>
                        <a:rPr sz="1050" b="0">
                          <a:solidFill>
                            <a:srgbClr val="1C1C1E"/>
                          </a:solidFill>
                          <a:latin typeface="Calibri"/>
                        </a:rPr>
                        <a:t>a spreadsheet cell</a:t>
                      </a:r>
                    </a:p>
                  </a:txBody>
                  <a:tcPr marL="82296" marR="64008" marT="32004" marB="32004" anchor="ctr">
                    <a:solidFill>
                      <a:srgbClr val="FFFFFF"/>
                    </a:solidFill>
                  </a:tcPr>
                </a:tc>
                <a:tc>
                  <a:txBody>
                    <a:bodyPr wrap="square"/>
                    <a:lstStyle/>
                    <a:p>
                      <a:pPr algn="l"/>
                      <a:r>
                        <a:rPr sz="1050" b="0">
                          <a:solidFill>
                            <a:srgbClr val="1C1C1E"/>
                          </a:solidFill>
                          <a:latin typeface="Calibri"/>
                        </a:rPr>
                        <a:t>nothing</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“That finding was closed”</a:t>
                      </a:r>
                    </a:p>
                  </a:txBody>
                  <a:tcPr marL="82296" marR="64008" marT="32004" marB="32004" anchor="ctr">
                    <a:solidFill>
                      <a:srgbClr val="F6F3EF"/>
                    </a:solidFill>
                  </a:tcPr>
                </a:tc>
                <a:tc>
                  <a:txBody>
                    <a:bodyPr wrap="square"/>
                    <a:lstStyle/>
                    <a:p>
                      <a:pPr algn="l"/>
                      <a:r>
                        <a:rPr sz="1050" b="0">
                          <a:solidFill>
                            <a:srgbClr val="1C1C1E"/>
                          </a:solidFill>
                          <a:latin typeface="Calibri"/>
                        </a:rPr>
                        <a:t>a ticket</a:t>
                      </a:r>
                    </a:p>
                  </a:txBody>
                  <a:tcPr marL="82296" marR="64008" marT="32004" marB="32004" anchor="ctr">
                    <a:solidFill>
                      <a:srgbClr val="F6F3EF"/>
                    </a:solidFill>
                  </a:tcPr>
                </a:tc>
                <a:tc>
                  <a:txBody>
                    <a:bodyPr wrap="square"/>
                    <a:lstStyle/>
                    <a:p>
                      <a:pPr algn="l"/>
                      <a:r>
                        <a:rPr sz="1050" b="0">
                          <a:solidFill>
                            <a:srgbClr val="1C1C1E"/>
                          </a:solidFill>
                          <a:latin typeface="Calibri"/>
                        </a:rPr>
                        <a:t>nothing</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“The champion is version 3.2.1”</a:t>
                      </a:r>
                    </a:p>
                  </a:txBody>
                  <a:tcPr marL="82296" marR="64008" marT="32004" marB="32004" anchor="ctr">
                    <a:solidFill>
                      <a:srgbClr val="FFFFFF"/>
                    </a:solidFill>
                  </a:tcPr>
                </a:tc>
                <a:tc>
                  <a:txBody>
                    <a:bodyPr wrap="square"/>
                    <a:lstStyle/>
                    <a:p>
                      <a:pPr algn="l"/>
                      <a:r>
                        <a:rPr sz="1050" b="0">
                          <a:solidFill>
                            <a:srgbClr val="1C1C1E"/>
                          </a:solidFill>
                          <a:latin typeface="Calibri"/>
                        </a:rPr>
                        <a:t>a deployment note</a:t>
                      </a:r>
                    </a:p>
                  </a:txBody>
                  <a:tcPr marL="82296" marR="64008" marT="32004" marB="32004" anchor="ctr">
                    <a:solidFill>
                      <a:srgbClr val="FFFFFF"/>
                    </a:solidFill>
                  </a:tcPr>
                </a:tc>
                <a:tc>
                  <a:txBody>
                    <a:bodyPr wrap="square"/>
                    <a:lstStyle/>
                    <a:p>
                      <a:pPr algn="l"/>
                      <a:r>
                        <a:rPr sz="1050" b="0">
                          <a:solidFill>
                            <a:srgbClr val="1C1C1E"/>
                          </a:solidFill>
                          <a:latin typeface="Calibri"/>
                        </a:rPr>
                        <a:t>nothing</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“These coefficients were approved”</a:t>
                      </a:r>
                    </a:p>
                  </a:txBody>
                  <a:tcPr marL="82296" marR="64008" marT="32004" marB="32004" anchor="ctr">
                    <a:solidFill>
                      <a:srgbClr val="F6F3EF"/>
                    </a:solidFill>
                  </a:tcPr>
                </a:tc>
                <a:tc>
                  <a:txBody>
                    <a:bodyPr wrap="square"/>
                    <a:lstStyle/>
                    <a:p>
                      <a:pPr algn="l"/>
                      <a:r>
                        <a:rPr sz="1050" b="0">
                          <a:solidFill>
                            <a:srgbClr val="1C1C1E"/>
                          </a:solidFill>
                          <a:latin typeface="Calibri"/>
                        </a:rPr>
                        <a:t>an email thread</a:t>
                      </a:r>
                    </a:p>
                  </a:txBody>
                  <a:tcPr marL="82296" marR="64008" marT="32004" marB="32004" anchor="ctr">
                    <a:solidFill>
                      <a:srgbClr val="F6F3EF"/>
                    </a:solidFill>
                  </a:tcPr>
                </a:tc>
                <a:tc>
                  <a:txBody>
                    <a:bodyPr wrap="square"/>
                    <a:lstStyle/>
                    <a:p>
                      <a:pPr algn="l"/>
                      <a:r>
                        <a:rPr sz="1050" b="0">
                          <a:solidFill>
                            <a:srgbClr val="1C1C1E"/>
                          </a:solidFill>
                          <a:latin typeface="Calibri"/>
                        </a:rPr>
                        <a:t>nothing</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“It was trained on Q1 data”</a:t>
                      </a:r>
                    </a:p>
                  </a:txBody>
                  <a:tcPr marL="82296" marR="64008" marT="32004" marB="32004" anchor="ctr">
                    <a:solidFill>
                      <a:srgbClr val="FFFFFF"/>
                    </a:solidFill>
                  </a:tcPr>
                </a:tc>
                <a:tc>
                  <a:txBody>
                    <a:bodyPr wrap="square"/>
                    <a:lstStyle/>
                    <a:p>
                      <a:pPr algn="l"/>
                      <a:r>
                        <a:rPr sz="1050" b="0">
                          <a:solidFill>
                            <a:srgbClr val="1C1C1E"/>
                          </a:solidFill>
                          <a:latin typeface="Calibri"/>
                        </a:rPr>
                        <a:t>a slide</a:t>
                      </a:r>
                    </a:p>
                  </a:txBody>
                  <a:tcPr marL="82296" marR="64008" marT="32004" marB="32004" anchor="ctr">
                    <a:solidFill>
                      <a:srgbClr val="FFFFFF"/>
                    </a:solidFill>
                  </a:tcPr>
                </a:tc>
                <a:tc>
                  <a:txBody>
                    <a:bodyPr wrap="square"/>
                    <a:lstStyle/>
                    <a:p>
                      <a:pPr algn="l"/>
                      <a:r>
                        <a:rPr sz="1050" b="0">
                          <a:solidFill>
                            <a:srgbClr val="1C1C1E"/>
                          </a:solidFill>
                          <a:latin typeface="Calibri"/>
                        </a:rPr>
                        <a:t>nothing</a:t>
                      </a:r>
                    </a:p>
                  </a:txBody>
                  <a:tcPr marL="82296" marR="64008" marT="32004" marB="32004" anchor="ctr">
                    <a:solidFill>
                      <a:srgbClr val="FFFFFF"/>
                    </a:solidFill>
                  </a:tcPr>
                </a:tc>
              </a:tr>
            </a:tbl>
          </a:graphicData>
        </a:graphic>
      </p:graphicFrame>
      <p:sp>
        <p:nvSpPr>
          <p:cNvPr id="11" name="Rectangle 10"/>
          <p:cNvSpPr/>
          <p:nvPr/>
        </p:nvSpPr>
        <p:spPr>
          <a:xfrm>
            <a:off x="777240" y="4012882"/>
            <a:ext cx="10637215" cy="16002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012882"/>
            <a:ext cx="41148" cy="16002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131754"/>
            <a:ext cx="10180015" cy="13807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An examiner is shown a claim and asked to believe it. </a:t>
            </a:r>
            <a:r>
              <a:rPr sz="1050" b="0" i="0">
                <a:solidFill>
                  <a:srgbClr val="1C1C1E"/>
                </a:solidFill>
                <a:latin typeface="Calibri"/>
              </a:rPr>
              <a:t>So is the organisation's own risk committee, which is the part that should worry a board: the second line is in the same position as the regulator, reading assertions it cannot check against artefacts it cannot reach. Every design decision in the rest of this deck is downstream of refusing that arrangement — and the refusals are where it shows.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3</a:t>
            </a:r>
          </a:p>
        </p:txBody>
      </p:sp>
      <p:sp>
        <p:nvSpPr>
          <p:cNvPr id="5" name="TextBox 4"/>
          <p:cNvSpPr txBox="1"/>
          <p:nvPr/>
        </p:nvSpPr>
        <p:spPr>
          <a:xfrm>
            <a:off x="1005840" y="2478024"/>
            <a:ext cx="6169584" cy="1188720"/>
          </a:xfrm>
          <a:prstGeom prst="rect">
            <a:avLst/>
          </a:prstGeom>
          <a:noFill/>
        </p:spPr>
        <p:txBody>
          <a:bodyPr wrap="square" lIns="0" rIns="0" tIns="0" bIns="0" anchor="t">
            <a:spAutoFit/>
          </a:bodyPr>
          <a:lstStyle/>
          <a:p>
            <a:pPr algn="l">
              <a:spcBef>
                <a:spcPts val="0"/>
              </a:spcBef>
              <a:spcAft>
                <a:spcPts val="0"/>
              </a:spcAft>
            </a:pPr>
            <a:r>
              <a:rPr sz="2600" b="0" i="0">
                <a:solidFill>
                  <a:srgbClr val="FFFFFF"/>
                </a:solidFill>
                <a:latin typeface="Georgia"/>
              </a:rPr>
              <a:t>Five Positions, and Their Cost</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Each one is a choice with a price. The price is stated here rather than discovered later.</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It does not run models</a:t>
            </a:r>
          </a:p>
          <a:p>
            <a:pPr>
              <a:lnSpc>
                <a:spcPct val="115000"/>
              </a:lnSpc>
              <a:spcBef>
                <a:spcPts val="0"/>
              </a:spcBef>
              <a:spcAft>
                <a:spcPts val="700"/>
              </a:spcAft>
            </a:pPr>
            <a:r>
              <a:rPr sz="1150" b="0" i="0">
                <a:solidFill>
                  <a:srgbClr val="F6E6E9"/>
                </a:solidFill>
                <a:latin typeface="Calibri"/>
              </a:rPr>
              <a:t>Evidence, not assertion</a:t>
            </a:r>
          </a:p>
          <a:p>
            <a:pPr>
              <a:lnSpc>
                <a:spcPct val="115000"/>
              </a:lnSpc>
              <a:spcBef>
                <a:spcPts val="0"/>
              </a:spcBef>
              <a:spcAft>
                <a:spcPts val="700"/>
              </a:spcAft>
            </a:pPr>
            <a:r>
              <a:rPr sz="1150" b="0" i="0">
                <a:solidFill>
                  <a:srgbClr val="F6E6E9"/>
                </a:solidFill>
                <a:latin typeface="Calibri"/>
              </a:rPr>
              <a:t>Refusals are the product</a:t>
            </a:r>
          </a:p>
          <a:p>
            <a:pPr>
              <a:lnSpc>
                <a:spcPct val="115000"/>
              </a:lnSpc>
              <a:spcBef>
                <a:spcPts val="0"/>
              </a:spcBef>
              <a:spcAft>
                <a:spcPts val="700"/>
              </a:spcAft>
            </a:pPr>
            <a:r>
              <a:rPr sz="1150" b="0" i="0">
                <a:solidFill>
                  <a:srgbClr val="F6E6E9"/>
                </a:solidFill>
                <a:latin typeface="Calibri"/>
              </a:rPr>
              <a:t>Laws, not conventions</a:t>
            </a:r>
          </a:p>
          <a:p>
            <a:pPr>
              <a:lnSpc>
                <a:spcPct val="115000"/>
              </a:lnSpc>
              <a:spcBef>
                <a:spcPts val="0"/>
              </a:spcBef>
              <a:spcAft>
                <a:spcPts val="700"/>
              </a:spcAft>
            </a:pPr>
            <a:r>
              <a:rPr sz="1150" b="0" i="0">
                <a:solidFill>
                  <a:srgbClr val="F6E6E9"/>
                </a:solidFill>
                <a:latin typeface="Calibri"/>
              </a:rPr>
              <a:t>Derived, not entered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THE STANCE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Five positions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Five Positions, and Their Cost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a:t>
            </a:r>
          </a:p>
        </p:txBody>
      </p:sp>
      <p:graphicFrame>
        <p:nvGraphicFramePr>
          <p:cNvPr id="10" name="Table 9"/>
          <p:cNvGraphicFramePr>
            <a:graphicFrameLocks noGrp="1"/>
          </p:cNvGraphicFramePr>
          <p:nvPr/>
        </p:nvGraphicFramePr>
        <p:xfrm>
          <a:off x="777240" y="1353312"/>
          <a:ext cx="10637214" cy="2765044"/>
        </p:xfrm>
        <a:graphic>
          <a:graphicData uri="http://schemas.openxmlformats.org/drawingml/2006/table">
            <a:tbl>
              <a:tblPr firstRow="1">
                <a:tableStyleId>{5C22544A-7EE6-4342-B048-85BDC9FD1C3A}</a:tableStyleId>
              </a:tblPr>
              <a:tblGrid>
                <a:gridCol w="2468667"/>
                <a:gridCol w="4114446"/>
                <a:gridCol w="4054101"/>
              </a:tblGrid>
              <a:tr h="329184">
                <a:tc>
                  <a:txBody>
                    <a:bodyPr wrap="square"/>
                    <a:lstStyle/>
                    <a:p>
                      <a:pPr algn="l"/>
                      <a:r>
                        <a:rPr sz="1000" b="1">
                          <a:solidFill>
                            <a:srgbClr val="FFFFFF"/>
                          </a:solidFill>
                          <a:latin typeface="Calibri"/>
                        </a:rPr>
                        <a:t>Position</a:t>
                      </a:r>
                    </a:p>
                  </a:txBody>
                  <a:tcPr marL="82296" marR="64008" marT="32004" marB="32004" anchor="ctr">
                    <a:solidFill>
                      <a:srgbClr val="A51C30"/>
                    </a:solidFill>
                  </a:tcPr>
                </a:tc>
                <a:tc>
                  <a:txBody>
                    <a:bodyPr wrap="square"/>
                    <a:lstStyle/>
                    <a:p>
                      <a:pPr algn="l"/>
                      <a:r>
                        <a:rPr sz="1000" b="1">
                          <a:solidFill>
                            <a:srgbClr val="FFFFFF"/>
                          </a:solidFill>
                          <a:latin typeface="Calibri"/>
                        </a:rPr>
                        <a:t>What it means</a:t>
                      </a:r>
                    </a:p>
                  </a:txBody>
                  <a:tcPr marL="82296" marR="64008" marT="32004" marB="32004" anchor="ctr">
                    <a:solidFill>
                      <a:srgbClr val="A51C30"/>
                    </a:solidFill>
                  </a:tcPr>
                </a:tc>
                <a:tc>
                  <a:txBody>
                    <a:bodyPr wrap="square"/>
                    <a:lstStyle/>
                    <a:p>
                      <a:pPr algn="l"/>
                      <a:r>
                        <a:rPr sz="1000" b="1">
                          <a:solidFill>
                            <a:srgbClr val="FFFFFF"/>
                          </a:solidFill>
                          <a:latin typeface="Calibri"/>
                        </a:rPr>
                        <a:t>What it costs</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It does not run models</a:t>
                      </a:r>
                    </a:p>
                  </a:txBody>
                  <a:tcPr marL="82296" marR="64008" marT="32004" marB="32004" anchor="ctr">
                    <a:solidFill>
                      <a:srgbClr val="FFFFFF"/>
                    </a:solidFill>
                  </a:tcPr>
                </a:tc>
                <a:tc>
                  <a:txBody>
                    <a:bodyPr wrap="square"/>
                    <a:lstStyle/>
                    <a:p>
                      <a:pPr algn="l"/>
                      <a:r>
                        <a:rPr sz="1000" b="0">
                          <a:solidFill>
                            <a:srgbClr val="1C1C1E"/>
                          </a:solidFill>
                          <a:latin typeface="Calibri"/>
                        </a:rPr>
                        <a:t>MAYA issues a signed, expiring, entitlement-bound warrant and an engine acts on it</a:t>
                      </a:r>
                    </a:p>
                  </a:txBody>
                  <a:tcPr marL="82296" marR="64008" marT="32004" marB="32004" anchor="ctr">
                    <a:solidFill>
                      <a:srgbClr val="FFFFFF"/>
                    </a:solidFill>
                  </a:tcPr>
                </a:tc>
                <a:tc>
                  <a:txBody>
                    <a:bodyPr wrap="square"/>
                    <a:lstStyle/>
                    <a:p>
                      <a:pPr algn="l"/>
                      <a:r>
                        <a:rPr sz="1000" b="0">
                          <a:solidFill>
                            <a:srgbClr val="1C1C1E"/>
                          </a:solidFill>
                          <a:latin typeface="Calibri"/>
                        </a:rPr>
                        <a:t>MAYA cannot guarantee anything about a run it never saw — only about the authority behind it</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Evidence, not assertion</a:t>
                      </a:r>
                    </a:p>
                  </a:txBody>
                  <a:tcPr marL="82296" marR="64008" marT="32004" marB="32004" anchor="ctr">
                    <a:solidFill>
                      <a:srgbClr val="F6F3EF"/>
                    </a:solidFill>
                  </a:tcPr>
                </a:tc>
                <a:tc>
                  <a:txBody>
                    <a:bodyPr wrap="square"/>
                    <a:lstStyle/>
                    <a:p>
                      <a:pPr algn="l"/>
                      <a:r>
                        <a:rPr sz="1000" b="0">
                          <a:solidFill>
                            <a:srgbClr val="1C1C1E"/>
                          </a:solidFill>
                          <a:latin typeface="Calibri"/>
                        </a:rPr>
                        <a:t>every claim is bound to the artefact it rests on, in an append-only hash-chained record</a:t>
                      </a:r>
                    </a:p>
                  </a:txBody>
                  <a:tcPr marL="82296" marR="64008" marT="32004" marB="32004" anchor="ctr">
                    <a:solidFill>
                      <a:srgbClr val="F6F3EF"/>
                    </a:solidFill>
                  </a:tcPr>
                </a:tc>
                <a:tc>
                  <a:txBody>
                    <a:bodyPr wrap="square"/>
                    <a:lstStyle/>
                    <a:p>
                      <a:pPr algn="l"/>
                      <a:r>
                        <a:rPr sz="1000" b="0">
                          <a:solidFill>
                            <a:srgbClr val="1C1C1E"/>
                          </a:solidFill>
                          <a:latin typeface="Calibri"/>
                        </a:rPr>
                        <a:t>the chain can only be as good as what was recorded; anchoring it outside the system is not built</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Refusals are the product</a:t>
                      </a:r>
                    </a:p>
                  </a:txBody>
                  <a:tcPr marL="82296" marR="64008" marT="32004" marB="32004" anchor="ctr">
                    <a:solidFill>
                      <a:srgbClr val="FFFFFF"/>
                    </a:solidFill>
                  </a:tcPr>
                </a:tc>
                <a:tc>
                  <a:txBody>
                    <a:bodyPr wrap="square"/>
                    <a:lstStyle/>
                    <a:p>
                      <a:pPr algn="l"/>
                      <a:r>
                        <a:rPr sz="1000" b="0">
                          <a:solidFill>
                            <a:srgbClr val="1C1C1E"/>
                          </a:solidFill>
                          <a:latin typeface="Calibri"/>
                        </a:rPr>
                        <a:t>every refusal names what was violated and what to do about it</a:t>
                      </a:r>
                    </a:p>
                  </a:txBody>
                  <a:tcPr marL="82296" marR="64008" marT="32004" marB="32004" anchor="ctr">
                    <a:solidFill>
                      <a:srgbClr val="FFFFFF"/>
                    </a:solidFill>
                  </a:tcPr>
                </a:tc>
                <a:tc>
                  <a:txBody>
                    <a:bodyPr wrap="square"/>
                    <a:lstStyle/>
                    <a:p>
                      <a:pPr algn="l"/>
                      <a:r>
                        <a:rPr sz="1000" b="0">
                          <a:solidFill>
                            <a:srgbClr val="1C1C1E"/>
                          </a:solidFill>
                          <a:latin typeface="Calibri"/>
                        </a:rPr>
                        <a:t>a platform that refuses is a platform people route around unless the compliant path is also the fast one</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Laws, not conventions</a:t>
                      </a:r>
                    </a:p>
                  </a:txBody>
                  <a:tcPr marL="82296" marR="64008" marT="32004" marB="32004" anchor="ctr">
                    <a:solidFill>
                      <a:srgbClr val="F6F3EF"/>
                    </a:solidFill>
                  </a:tcPr>
                </a:tc>
                <a:tc>
                  <a:txBody>
                    <a:bodyPr wrap="square"/>
                    <a:lstStyle/>
                    <a:p>
                      <a:pPr algn="l"/>
                      <a:r>
                        <a:rPr sz="1000" b="0">
                          <a:solidFill>
                            <a:srgbClr val="1C1C1E"/>
                          </a:solidFill>
                          <a:latin typeface="Calibri"/>
                        </a:rPr>
                        <a:t>twenty-one foundational laws stated; fifteen run, and a failing one fails the build</a:t>
                      </a:r>
                    </a:p>
                  </a:txBody>
                  <a:tcPr marL="82296" marR="64008" marT="32004" marB="32004" anchor="ctr">
                    <a:solidFill>
                      <a:srgbClr val="F6F3EF"/>
                    </a:solidFill>
                  </a:tcPr>
                </a:tc>
                <a:tc>
                  <a:txBody>
                    <a:bodyPr wrap="square"/>
                    <a:lstStyle/>
                    <a:p>
                      <a:pPr algn="l"/>
                      <a:r>
                        <a:rPr sz="1000" b="0">
                          <a:solidFill>
                            <a:srgbClr val="1C1C1E"/>
                          </a:solidFill>
                          <a:latin typeface="Calibri"/>
                        </a:rPr>
                        <a:t>six do not run, and a law stated but not executed prevented nothing</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Derived, not entered</a:t>
                      </a:r>
                    </a:p>
                  </a:txBody>
                  <a:tcPr marL="82296" marR="64008" marT="32004" marB="32004" anchor="ctr">
                    <a:solidFill>
                      <a:srgbClr val="FFFFFF"/>
                    </a:solidFill>
                  </a:tcPr>
                </a:tc>
                <a:tc>
                  <a:txBody>
                    <a:bodyPr wrap="square"/>
                    <a:lstStyle/>
                    <a:p>
                      <a:pPr algn="l"/>
                      <a:r>
                        <a:rPr sz="1000" b="0">
                          <a:solidFill>
                            <a:srgbClr val="1C1C1E"/>
                          </a:solidFill>
                          <a:latin typeface="Calibri"/>
                        </a:rPr>
                        <a:t>tier, worklist, estate summary, documentation, board pack: computed from the register</a:t>
                      </a:r>
                    </a:p>
                  </a:txBody>
                  <a:tcPr marL="82296" marR="64008" marT="32004" marB="32004" anchor="ctr">
                    <a:solidFill>
                      <a:srgbClr val="FFFFFF"/>
                    </a:solidFill>
                  </a:tcPr>
                </a:tc>
                <a:tc>
                  <a:txBody>
                    <a:bodyPr wrap="square"/>
                    <a:lstStyle/>
                    <a:p>
                      <a:pPr algn="l"/>
                      <a:r>
                        <a:rPr sz="1000" b="0">
                          <a:solidFill>
                            <a:srgbClr val="1C1C1E"/>
                          </a:solidFill>
                          <a:latin typeface="Calibri"/>
                        </a:rPr>
                        <a:t>computation costs latency, and a derivation nobody can read is a black box of its own</a:t>
                      </a:r>
                    </a:p>
                  </a:txBody>
                  <a:tcPr marL="82296" marR="64008" marT="32004" marB="32004" anchor="ctr">
                    <a:solidFill>
                      <a:srgbClr val="FFFFFF"/>
                    </a:solidFill>
                  </a:tcPr>
                </a:tc>
              </a:tr>
            </a:tbl>
          </a:graphicData>
        </a:graphic>
      </p:graphicFrame>
      <p:sp>
        <p:nvSpPr>
          <p:cNvPr id="11" name="Rectangle 10"/>
          <p:cNvSpPr/>
          <p:nvPr/>
        </p:nvSpPr>
        <p:spPr>
          <a:xfrm>
            <a:off x="777240" y="4356100"/>
            <a:ext cx="10637215" cy="8229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356100"/>
            <a:ext cx="41148" cy="8229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474972"/>
            <a:ext cx="10180015" cy="6035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position with no stated cost is marketing. </a:t>
            </a:r>
            <a:r>
              <a:rPr sz="1050" b="0" i="0">
                <a:solidFill>
                  <a:srgbClr val="1C1C1E"/>
                </a:solidFill>
                <a:latin typeface="Calibri"/>
              </a:rPr>
              <a:t>Each of these is a trade, and the right-hand column is the half that usually goes unwritten.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POSITION ONE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Why governance must not be in the serving path</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Five Positions, and Their Cost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15</a:t>
            </a:r>
          </a:p>
        </p:txBody>
      </p:sp>
      <p:sp>
        <p:nvSpPr>
          <p:cNvPr id="10" name="Rectangle 9"/>
          <p:cNvSpPr/>
          <p:nvPr/>
        </p:nvSpPr>
        <p:spPr>
          <a:xfrm>
            <a:off x="777240"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A consumer holds a URN</a:t>
            </a:r>
          </a:p>
          <a:p>
            <a:pPr>
              <a:lnSpc>
                <a:spcPct val="115000"/>
              </a:lnSpc>
              <a:spcBef>
                <a:spcPts val="0"/>
              </a:spcBef>
              <a:spcAft>
                <a:spcPts val="600"/>
              </a:spcAft>
            </a:pPr>
            <a:r>
              <a:rPr sz="850" b="0" i="0">
                <a:solidFill>
                  <a:srgbClr val="4A4F57"/>
                </a:solidFill>
                <a:latin typeface="Calibri"/>
              </a:rPr>
              <a:t>maya://model/credit.pd.smallbiz#champion — never a version, never a path</a:t>
            </a:r>
          </a:p>
        </p:txBody>
      </p:sp>
      <p:sp>
        <p:nvSpPr>
          <p:cNvPr id="13" name="Rectangle 12"/>
          <p:cNvSpPr/>
          <p:nvPr/>
        </p:nvSpPr>
        <p:spPr>
          <a:xfrm>
            <a:off x="3482263"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It resolves at the moment of use</a:t>
            </a:r>
          </a:p>
          <a:p>
            <a:pPr>
              <a:lnSpc>
                <a:spcPct val="115000"/>
              </a:lnSpc>
              <a:spcBef>
                <a:spcPts val="0"/>
              </a:spcBef>
              <a:spcAft>
                <a:spcPts val="600"/>
              </a:spcAft>
            </a:pPr>
            <a:r>
              <a:rPr sz="850" b="0" i="0">
                <a:solidFill>
                  <a:srgbClr val="4A4F57"/>
                </a:solidFill>
                <a:latin typeface="Calibri"/>
              </a:rPr>
              <a:t>against the policy in force then, not the policy in force when it was written</a:t>
            </a:r>
          </a:p>
        </p:txBody>
      </p:sp>
      <p:sp>
        <p:nvSpPr>
          <p:cNvPr id="16" name="Rectangle 15"/>
          <p:cNvSpPr/>
          <p:nvPr/>
        </p:nvSpPr>
        <p:spPr>
          <a:xfrm>
            <a:off x="6187287"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An engine acts on the warrant</a:t>
            </a:r>
          </a:p>
          <a:p>
            <a:pPr>
              <a:lnSpc>
                <a:spcPct val="115000"/>
              </a:lnSpc>
              <a:spcBef>
                <a:spcPts val="0"/>
              </a:spcBef>
              <a:spcAft>
                <a:spcPts val="600"/>
              </a:spcAft>
            </a:pPr>
            <a:r>
              <a:rPr sz="850" b="0" i="0">
                <a:solidFill>
                  <a:srgbClr val="4A4F57"/>
                </a:solidFill>
                <a:latin typeface="Calibri"/>
              </a:rPr>
              <a:t>MAYA is not on the path; if it is down, authorised scoring continues</a:t>
            </a:r>
          </a:p>
        </p:txBody>
      </p:sp>
      <p:sp>
        <p:nvSpPr>
          <p:cNvPr id="19" name="Rectangle 18"/>
          <p:cNvSpPr/>
          <p:nvPr/>
        </p:nvSpPr>
        <p:spPr>
          <a:xfrm>
            <a:off x="8892311"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Only new issuance stops</a:t>
            </a:r>
          </a:p>
          <a:p>
            <a:pPr>
              <a:lnSpc>
                <a:spcPct val="115000"/>
              </a:lnSpc>
              <a:spcBef>
                <a:spcPts val="0"/>
              </a:spcBef>
              <a:spcAft>
                <a:spcPts val="600"/>
              </a:spcAft>
            </a:pPr>
            <a:r>
              <a:rPr sz="850" b="0" i="0">
                <a:solidFill>
                  <a:srgbClr val="4A4F57"/>
                </a:solidFill>
                <a:latin typeface="Calibri"/>
              </a:rPr>
              <a:t>which is the correct failure mode: governance must not be the bank's single point of failure</a:t>
            </a:r>
          </a:p>
        </p:txBody>
      </p:sp>
      <p:sp>
        <p:nvSpPr>
          <p:cNvPr id="22" name="Rectangle 21"/>
          <p:cNvSpPr/>
          <p:nvPr/>
        </p:nvSpPr>
        <p:spPr>
          <a:xfrm>
            <a:off x="777240" y="3227832"/>
            <a:ext cx="10637215" cy="15087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227832"/>
            <a:ext cx="41148" cy="15087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14983" y="3346703"/>
            <a:ext cx="10180015" cy="12893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consequence people notice first is the one about deployment. </a:t>
            </a:r>
            <a:r>
              <a:rPr sz="1050" b="0" i="0">
                <a:solidFill>
                  <a:srgbClr val="1C1C1E"/>
                </a:solidFill>
                <a:latin typeface="Calibri"/>
              </a:rPr>
              <a:t>Promoting a version requires no consumer to redeploy, because no consumer ever held a version. Revocation takes effect in under sixty seconds for the same reason. And an open blocking finding stops RESOLUTION — so a validation finding actually stops the model, rather than generating an email that somebody files.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PHILOSOPHY · POSITION THREE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a refusal has to contain to be worth having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3 · Five Positions, and Their Cost</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16</a:t>
            </a:r>
          </a:p>
        </p:txBody>
      </p:sp>
      <p:sp>
        <p:nvSpPr>
          <p:cNvPr id="10" name="Rectangle 9"/>
          <p:cNvSpPr/>
          <p:nvPr/>
        </p:nvSpPr>
        <p:spPr>
          <a:xfrm>
            <a:off x="777240" y="1353312"/>
            <a:ext cx="5956840" cy="199286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992866"/>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A REFUSAL, IN FULL</a:t>
            </a:r>
          </a:p>
        </p:txBody>
      </p:sp>
      <p:sp>
        <p:nvSpPr>
          <p:cNvPr id="13" name="TextBox 12"/>
          <p:cNvSpPr txBox="1"/>
          <p:nvPr/>
        </p:nvSpPr>
        <p:spPr>
          <a:xfrm>
            <a:off x="978408" y="1746504"/>
            <a:ext cx="5591080"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{"error":       "nothing_to_fit",</a:t>
            </a:r>
          </a:p>
          <a:p>
            <a:pPr>
              <a:lnSpc>
                <a:spcPct val="134000"/>
              </a:lnSpc>
              <a:spcBef>
                <a:spcPts val="0"/>
              </a:spcBef>
              <a:spcAft>
                <a:spcPts val="0"/>
              </a:spcAft>
            </a:pPr>
            <a:r>
              <a:rPr sz="950" b="0" i="0">
                <a:solidFill>
                  <a:srgbClr val="1C1C1E"/>
                </a:solidFill>
                <a:latin typeface="Consolas"/>
              </a:rPr>
              <a:t> "detail":      "markets.pricing.vanilla 1.0.0 is T0: its parameter</a:t>
            </a:r>
          </a:p>
          <a:p>
            <a:pPr>
              <a:lnSpc>
                <a:spcPct val="134000"/>
              </a:lnSpc>
              <a:spcBef>
                <a:spcPts val="0"/>
              </a:spcBef>
              <a:spcAft>
                <a:spcPts val="0"/>
              </a:spcAft>
            </a:pPr>
            <a:r>
              <a:rPr sz="950" b="0" i="0">
                <a:solidFill>
                  <a:srgbClr val="1C1C1E"/>
                </a:solidFill>
                <a:latin typeface="Consolas"/>
              </a:rPr>
              <a:t>                 object is the terminal object, so there is no point</a:t>
            </a:r>
          </a:p>
          <a:p>
            <a:pPr>
              <a:lnSpc>
                <a:spcPct val="134000"/>
              </a:lnSpc>
              <a:spcBef>
                <a:spcPts val="0"/>
              </a:spcBef>
              <a:spcAft>
                <a:spcPts val="0"/>
              </a:spcAft>
            </a:pPr>
            <a:r>
              <a:rPr sz="950" b="0" i="0">
                <a:solidFill>
                  <a:srgbClr val="1C1C1E"/>
                </a:solidFill>
                <a:latin typeface="Consolas"/>
              </a:rPr>
              <a:t>                 of P to move to",</a:t>
            </a:r>
          </a:p>
          <a:p>
            <a:pPr>
              <a:lnSpc>
                <a:spcPct val="134000"/>
              </a:lnSpc>
              <a:spcBef>
                <a:spcPts val="0"/>
              </a:spcBef>
              <a:spcAft>
                <a:spcPts val="0"/>
              </a:spcAft>
            </a:pPr>
            <a:r>
              <a:rPr sz="950" b="0" i="0">
                <a:solidFill>
                  <a:srgbClr val="1C1C1E"/>
                </a:solidFill>
                <a:latin typeface="Consolas"/>
              </a:rPr>
              <a:t> "remediation": "if this model does have parameters, the kernel</a:t>
            </a:r>
          </a:p>
          <a:p>
            <a:pPr>
              <a:lnSpc>
                <a:spcPct val="134000"/>
              </a:lnSpc>
              <a:spcBef>
                <a:spcPts val="0"/>
              </a:spcBef>
              <a:spcAft>
                <a:spcPts val="0"/>
              </a:spcAft>
            </a:pPr>
            <a:r>
              <a:rPr sz="950" b="0" i="0">
                <a:solidFill>
                  <a:srgbClr val="1C1C1E"/>
                </a:solidFill>
                <a:latin typeface="Consolas"/>
              </a:rPr>
              <a:t>                 declares the wrong parameter_kind; fix the version</a:t>
            </a:r>
          </a:p>
          <a:p>
            <a:pPr>
              <a:lnSpc>
                <a:spcPct val="134000"/>
              </a:lnSpc>
              <a:spcBef>
                <a:spcPts val="0"/>
              </a:spcBef>
              <a:spcAft>
                <a:spcPts val="0"/>
              </a:spcAft>
            </a:pPr>
            <a:r>
              <a:rPr sz="950" b="0" i="0">
                <a:solidFill>
                  <a:srgbClr val="1C1C1E"/>
                </a:solidFill>
                <a:latin typeface="Consolas"/>
              </a:rPr>
              <a:t>                 rather than the warrant"}</a:t>
            </a:r>
          </a:p>
        </p:txBody>
      </p:sp>
      <p:sp>
        <p:nvSpPr>
          <p:cNvPr id="14" name="TextBox 13"/>
          <p:cNvSpPr txBox="1"/>
          <p:nvPr/>
        </p:nvSpPr>
        <p:spPr>
          <a:xfrm>
            <a:off x="7159569" y="1353312"/>
            <a:ext cx="4254886" cy="310896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Three parts, and the third is the one clients throw away</a:t>
            </a:r>
          </a:p>
          <a:p>
            <a:pPr>
              <a:spcBef>
                <a:spcPts val="0"/>
              </a:spcBef>
              <a:spcAft>
                <a:spcPts val="800"/>
              </a:spcAft>
            </a:pPr>
            <a:r>
              <a:rPr sz="1050" b="1" i="0">
                <a:solidFill>
                  <a:srgbClr val="A51C30"/>
                </a:solidFill>
                <a:latin typeface="Calibri"/>
              </a:rPr>
              <a:t>error </a:t>
            </a:r>
            <a:r>
              <a:rPr sz="1050" b="0" i="0">
                <a:solidFill>
                  <a:srgbClr val="4A4F57"/>
                </a:solidFill>
                <a:latin typeface="Calibri"/>
              </a:rPr>
              <a:t>— a code a caller can branch on, from a closed taxonomy that maps to a status saying WHO must act</a:t>
            </a:r>
          </a:p>
          <a:p>
            <a:pPr>
              <a:spcBef>
                <a:spcPts val="0"/>
              </a:spcBef>
              <a:spcAft>
                <a:spcPts val="800"/>
              </a:spcAft>
            </a:pPr>
            <a:r>
              <a:rPr sz="1050" b="1" i="0">
                <a:solidFill>
                  <a:srgbClr val="A51C30"/>
                </a:solidFill>
                <a:latin typeface="Calibri"/>
              </a:rPr>
              <a:t>detail </a:t>
            </a:r>
            <a:r>
              <a:rPr sz="1050" b="0" i="0">
                <a:solidFill>
                  <a:srgbClr val="4A4F57"/>
                </a:solidFill>
                <a:latin typeface="Calibri"/>
              </a:rPr>
              <a:t>— which fact about the request made it incoherent, named</a:t>
            </a:r>
          </a:p>
          <a:p>
            <a:pPr>
              <a:spcBef>
                <a:spcPts val="0"/>
              </a:spcBef>
              <a:spcAft>
                <a:spcPts val="800"/>
              </a:spcAft>
            </a:pPr>
            <a:r>
              <a:rPr sz="1050" b="1" i="0">
                <a:solidFill>
                  <a:srgbClr val="A51C30"/>
                </a:solidFill>
                <a:latin typeface="Calibri"/>
              </a:rPr>
              <a:t>remediation </a:t>
            </a:r>
            <a:r>
              <a:rPr sz="1050" b="0" i="0">
                <a:solidFill>
                  <a:srgbClr val="4A4F57"/>
                </a:solidFill>
                <a:latin typeface="Calibri"/>
              </a:rPr>
              <a:t>— what to do instead. Without it a refusal is a wall, and a wall is what people build a workaround around</a:t>
            </a:r>
          </a:p>
          <a:p>
            <a:pPr>
              <a:lnSpc>
                <a:spcPct val="126000"/>
              </a:lnSpc>
              <a:spcBef>
                <a:spcPts val="0"/>
              </a:spcBef>
              <a:spcAft>
                <a:spcPts val="0"/>
              </a:spcAft>
            </a:pPr>
            <a:r>
              <a:rPr sz="1050" b="0" i="0">
                <a:solidFill>
                  <a:srgbClr val="1C1C1E"/>
                </a:solidFill>
                <a:latin typeface="Calibri"/>
              </a:rPr>
              <a:t>Notice what this one does not say: it does not say “no”. It names the fact about the kernel that made the request meaningless, and points at the version rather than the request — because if the model really does have parameters, the version is where the error is.</a:t>
            </a:r>
          </a:p>
        </p:txBody>
      </p:sp>
      <p:sp>
        <p:nvSpPr>
          <p:cNvPr id="15" name="Rectangle 14"/>
          <p:cNvSpPr/>
          <p:nvPr/>
        </p:nvSpPr>
        <p:spPr>
          <a:xfrm>
            <a:off x="777240" y="3620498"/>
            <a:ext cx="5956840"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3620498"/>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1014983" y="3739370"/>
            <a:ext cx="5499640"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interesting behaviour of this platform is what it will not do. </a:t>
            </a:r>
            <a:r>
              <a:rPr sz="1050" b="0" i="0">
                <a:solidFill>
                  <a:srgbClr val="1C1C1E"/>
                </a:solidFill>
                <a:latin typeface="Calibri"/>
              </a:rPr>
              <a:t>Everything else is bookkeeping — and there is a whole chapter of refusals later, because they are the clearest statement of what the design believes.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Foundations</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The mathematics the rest of it is derived from — stated, and then run as tests rather than left as a claim.</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4 · The definition</a:t>
            </a:r>
          </a:p>
          <a:p>
            <a:pPr>
              <a:lnSpc>
                <a:spcPct val="115000"/>
              </a:lnSpc>
              <a:spcBef>
                <a:spcPts val="0"/>
              </a:spcBef>
              <a:spcAft>
                <a:spcPts val="800"/>
              </a:spcAft>
            </a:pPr>
            <a:r>
              <a:rPr sz="1150" b="0" i="0">
                <a:solidFill>
                  <a:srgbClr val="E4DED6"/>
                </a:solidFill>
                <a:latin typeface="Calibri"/>
              </a:rPr>
              <a:t>5 · The algebra</a:t>
            </a:r>
          </a:p>
          <a:p>
            <a:pPr>
              <a:lnSpc>
                <a:spcPct val="115000"/>
              </a:lnSpc>
              <a:spcBef>
                <a:spcPts val="0"/>
              </a:spcBef>
              <a:spcAft>
                <a:spcPts val="800"/>
              </a:spcAft>
            </a:pPr>
            <a:r>
              <a:rPr sz="1150" b="0" i="0">
                <a:solidFill>
                  <a:srgbClr val="E4DED6"/>
                </a:solidFill>
                <a:latin typeface="Calibri"/>
              </a:rPr>
              <a:t>6 · Two clocks</a:t>
            </a:r>
          </a:p>
          <a:p>
            <a:pPr>
              <a:lnSpc>
                <a:spcPct val="115000"/>
              </a:lnSpc>
              <a:spcBef>
                <a:spcPts val="0"/>
              </a:spcBef>
              <a:spcAft>
                <a:spcPts val="800"/>
              </a:spcAft>
            </a:pPr>
            <a:r>
              <a:rPr sz="1150" b="0" i="0">
                <a:solidFill>
                  <a:srgbClr val="E4DED6"/>
                </a:solidFill>
                <a:latin typeface="Calibri"/>
              </a:rPr>
              <a:t>7 · Evidence, and six questions from one traversal</a:t>
            </a:r>
          </a:p>
          <a:p>
            <a:pPr>
              <a:lnSpc>
                <a:spcPct val="115000"/>
              </a:lnSpc>
              <a:spcBef>
                <a:spcPts val="0"/>
              </a:spcBef>
              <a:spcAft>
                <a:spcPts val="800"/>
              </a:spcAft>
            </a:pPr>
            <a:r>
              <a:rPr sz="1150" b="0" i="0">
                <a:solidFill>
                  <a:srgbClr val="E4DED6"/>
                </a:solidFill>
                <a:latin typeface="Calibri"/>
              </a:rPr>
              <a:t>8 · The laws, and which of them run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4</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The Definition</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f : P ⊗ X → D(Y). One line, and everything else derived from it.</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five words</a:t>
            </a:r>
          </a:p>
          <a:p>
            <a:pPr>
              <a:lnSpc>
                <a:spcPct val="115000"/>
              </a:lnSpc>
              <a:spcBef>
                <a:spcPts val="0"/>
              </a:spcBef>
              <a:spcAft>
                <a:spcPts val="700"/>
              </a:spcAft>
            </a:pPr>
            <a:r>
              <a:rPr sz="1150" b="0" i="0">
                <a:solidFill>
                  <a:srgbClr val="F6E6E9"/>
                </a:solidFill>
                <a:latin typeface="Calibri"/>
              </a:rPr>
              <a:t>Why a distribution</a:t>
            </a:r>
          </a:p>
          <a:p>
            <a:pPr>
              <a:lnSpc>
                <a:spcPct val="115000"/>
              </a:lnSpc>
              <a:spcBef>
                <a:spcPts val="0"/>
              </a:spcBef>
              <a:spcAft>
                <a:spcPts val="700"/>
              </a:spcAft>
            </a:pPr>
            <a:r>
              <a:rPr sz="1150" b="0" i="0">
                <a:solidFill>
                  <a:srgbClr val="F6E6E9"/>
                </a:solidFill>
                <a:latin typeface="Calibri"/>
              </a:rPr>
              <a:t>Trainability, derived</a:t>
            </a:r>
          </a:p>
          <a:p>
            <a:pPr>
              <a:lnSpc>
                <a:spcPct val="115000"/>
              </a:lnSpc>
              <a:spcBef>
                <a:spcPts val="0"/>
              </a:spcBef>
              <a:spcAft>
                <a:spcPts val="700"/>
              </a:spcAft>
            </a:pPr>
            <a:r>
              <a:rPr sz="1150" b="0" i="0">
                <a:solidFill>
                  <a:srgbClr val="F6E6E9"/>
                </a:solidFill>
                <a:latin typeface="Calibri"/>
              </a:rPr>
              <a:t>What it dissolves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THE DEFINITION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model is a parametric kernel</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19</a:t>
            </a:r>
          </a:p>
        </p:txBody>
      </p:sp>
      <p:sp>
        <p:nvSpPr>
          <p:cNvPr id="10" name="TextBox 9"/>
          <p:cNvSpPr txBox="1"/>
          <p:nvPr/>
        </p:nvSpPr>
        <p:spPr>
          <a:xfrm>
            <a:off x="777240" y="1353312"/>
            <a:ext cx="10637215" cy="822960"/>
          </a:xfrm>
          <a:prstGeom prst="rect">
            <a:avLst/>
          </a:prstGeom>
          <a:noFill/>
        </p:spPr>
        <p:txBody>
          <a:bodyPr wrap="square" lIns="0" rIns="0" tIns="0" bIns="0" anchor="t">
            <a:spAutoFit/>
          </a:bodyPr>
          <a:lstStyle/>
          <a:p>
            <a:pPr algn="ctr">
              <a:spcBef>
                <a:spcPts val="0"/>
              </a:spcBef>
              <a:spcAft>
                <a:spcPts val="0"/>
              </a:spcAft>
            </a:pPr>
            <a:r>
              <a:rPr sz="3400" b="0" i="0">
                <a:solidFill>
                  <a:srgbClr val="1C1C1E"/>
                </a:solidFill>
                <a:latin typeface="Consolas"/>
              </a:rPr>
              <a:t>f  :  P  ⊗  X  →  D(Y)</a:t>
            </a:r>
          </a:p>
        </p:txBody>
      </p:sp>
      <p:graphicFrame>
        <p:nvGraphicFramePr>
          <p:cNvPr id="11" name="Table 10"/>
          <p:cNvGraphicFramePr>
            <a:graphicFrameLocks noGrp="1"/>
          </p:cNvGraphicFramePr>
          <p:nvPr/>
        </p:nvGraphicFramePr>
        <p:xfrm>
          <a:off x="777240" y="2313432"/>
          <a:ext cx="10637214" cy="2150135"/>
        </p:xfrm>
        <a:graphic>
          <a:graphicData uri="http://schemas.openxmlformats.org/drawingml/2006/table">
            <a:tbl>
              <a:tblPr firstRow="1">
                <a:tableStyleId>{5C22544A-7EE6-4342-B048-85BDC9FD1C3A}</a:tableStyleId>
              </a:tblPr>
              <a:tblGrid>
                <a:gridCol w="914321"/>
                <a:gridCol w="4937335"/>
                <a:gridCol w="4785558"/>
              </a:tblGrid>
              <a:tr h="329184">
                <a:tc>
                  <a:txBody>
                    <a:bodyPr wrap="square"/>
                    <a:lstStyle/>
                    <a:p>
                      <a:pPr algn="l"/>
                      <a:r>
                        <a:rPr sz="1050" b="1">
                          <a:solidFill>
                            <a:srgbClr val="FFFFFF"/>
                          </a:solidFill>
                          <a:latin typeface="Calibri"/>
                        </a:rPr>
                        <a:t>Term</a:t>
                      </a:r>
                    </a:p>
                  </a:txBody>
                  <a:tcPr marL="82296" marR="64008" marT="32004" marB="32004" anchor="ctr">
                    <a:solidFill>
                      <a:srgbClr val="A51C30"/>
                    </a:solidFill>
                  </a:tcPr>
                </a:tc>
                <a:tc>
                  <a:txBody>
                    <a:bodyPr wrap="square"/>
                    <a:lstStyle/>
                    <a:p>
                      <a:pPr algn="l"/>
                      <a:r>
                        <a:rPr sz="1050" b="1">
                          <a:solidFill>
                            <a:srgbClr val="FFFFFF"/>
                          </a:solidFill>
                          <a:latin typeface="Calibri"/>
                        </a:rPr>
                        <a:t>Is</a:t>
                      </a:r>
                    </a:p>
                  </a:txBody>
                  <a:tcPr marL="82296" marR="64008" marT="32004" marB="32004" anchor="ctr">
                    <a:solidFill>
                      <a:srgbClr val="A51C30"/>
                    </a:solidFill>
                  </a:tcPr>
                </a:tc>
                <a:tc>
                  <a:txBody>
                    <a:bodyPr wrap="square"/>
                    <a:lstStyle/>
                    <a:p>
                      <a:pPr algn="l"/>
                      <a:r>
                        <a:rPr sz="1050" b="1">
                          <a:solidFill>
                            <a:srgbClr val="FFFFFF"/>
                          </a:solidFill>
                          <a:latin typeface="Calibri"/>
                        </a:rPr>
                        <a:t>Commonly mistaken for</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f</a:t>
                      </a:r>
                    </a:p>
                  </a:txBody>
                  <a:tcPr marL="82296" marR="64008" marT="32004" marB="32004" anchor="ctr">
                    <a:solidFill>
                      <a:srgbClr val="FFFFFF"/>
                    </a:solidFill>
                  </a:tcPr>
                </a:tc>
                <a:tc>
                  <a:txBody>
                    <a:bodyPr wrap="square"/>
                    <a:lstStyle/>
                    <a:p>
                      <a:pPr algn="l"/>
                      <a:r>
                        <a:rPr sz="1050" b="0">
                          <a:solidFill>
                            <a:srgbClr val="1C1C1E"/>
                          </a:solidFill>
                          <a:latin typeface="Calibri"/>
                        </a:rPr>
                        <a:t>the kernel — the computation itself</a:t>
                      </a:r>
                    </a:p>
                  </a:txBody>
                  <a:tcPr marL="82296" marR="64008" marT="32004" marB="32004" anchor="ctr">
                    <a:solidFill>
                      <a:srgbClr val="FFFFFF"/>
                    </a:solidFill>
                  </a:tcPr>
                </a:tc>
                <a:tc>
                  <a:txBody>
                    <a:bodyPr wrap="square"/>
                    <a:lstStyle/>
                    <a:p>
                      <a:pPr algn="l"/>
                      <a:r>
                        <a:rPr sz="1050" b="0">
                          <a:solidFill>
                            <a:srgbClr val="1C1C1E"/>
                          </a:solidFill>
                          <a:latin typeface="Calibri"/>
                        </a:rPr>
                        <a:t>“the model”, which is the kernel AND a point of P</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P</a:t>
                      </a:r>
                    </a:p>
                  </a:txBody>
                  <a:tcPr marL="82296" marR="64008" marT="32004" marB="32004" anchor="ctr">
                    <a:solidFill>
                      <a:srgbClr val="F6F3EF"/>
                    </a:solidFill>
                  </a:tcPr>
                </a:tc>
                <a:tc>
                  <a:txBody>
                    <a:bodyPr wrap="square"/>
                    <a:lstStyle/>
                    <a:p>
                      <a:pPr algn="l"/>
                      <a:r>
                        <a:rPr sz="1050" b="0">
                          <a:solidFill>
                            <a:srgbClr val="1C1C1E"/>
                          </a:solidFill>
                          <a:latin typeface="Calibri"/>
                        </a:rPr>
                        <a:t>the parameter object: everything fitted, calibrated, configured or elicited</a:t>
                      </a:r>
                    </a:p>
                  </a:txBody>
                  <a:tcPr marL="82296" marR="64008" marT="32004" marB="32004" anchor="ctr">
                    <a:solidFill>
                      <a:srgbClr val="F6F3EF"/>
                    </a:solidFill>
                  </a:tcPr>
                </a:tc>
                <a:tc>
                  <a:txBody>
                    <a:bodyPr wrap="square"/>
                    <a:lstStyle/>
                    <a:p>
                      <a:pPr algn="l"/>
                      <a:r>
                        <a:rPr sz="1050" b="0">
                          <a:solidFill>
                            <a:srgbClr val="1C1C1E"/>
                          </a:solidFill>
                          <a:latin typeface="Calibri"/>
                        </a:rPr>
                        <a:t>“the weights”, which is one way of inhabiting it</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X</a:t>
                      </a:r>
                    </a:p>
                  </a:txBody>
                  <a:tcPr marL="82296" marR="64008" marT="32004" marB="32004" anchor="ctr">
                    <a:solidFill>
                      <a:srgbClr val="FFFFFF"/>
                    </a:solidFill>
                  </a:tcPr>
                </a:tc>
                <a:tc>
                  <a:txBody>
                    <a:bodyPr wrap="square"/>
                    <a:lstStyle/>
                    <a:p>
                      <a:pPr algn="l"/>
                      <a:r>
                        <a:rPr sz="1050" b="0">
                          <a:solidFill>
                            <a:srgbClr val="1C1C1E"/>
                          </a:solidFill>
                          <a:latin typeface="Calibri"/>
                        </a:rPr>
                        <a:t>the input object — a NAMED, versioned presentation of the data</a:t>
                      </a:r>
                    </a:p>
                  </a:txBody>
                  <a:tcPr marL="82296" marR="64008" marT="32004" marB="32004" anchor="ctr">
                    <a:solidFill>
                      <a:srgbClr val="FFFFFF"/>
                    </a:solidFill>
                  </a:tcPr>
                </a:tc>
                <a:tc>
                  <a:txBody>
                    <a:bodyPr wrap="square"/>
                    <a:lstStyle/>
                    <a:p>
                      <a:pPr algn="l"/>
                      <a:r>
                        <a:rPr sz="1050" b="0">
                          <a:solidFill>
                            <a:srgbClr val="1C1C1E"/>
                          </a:solidFill>
                          <a:latin typeface="Calibri"/>
                        </a:rPr>
                        <a:t>“the features”, which are its constituents rather than its identity</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a:t>
                      </a:r>
                    </a:p>
                  </a:txBody>
                  <a:tcPr marL="82296" marR="64008" marT="32004" marB="32004" anchor="ctr">
                    <a:solidFill>
                      <a:srgbClr val="F6F3EF"/>
                    </a:solidFill>
                  </a:tcPr>
                </a:tc>
                <a:tc>
                  <a:txBody>
                    <a:bodyPr wrap="square"/>
                    <a:lstStyle/>
                    <a:p>
                      <a:pPr algn="l"/>
                      <a:r>
                        <a:rPr sz="1050" b="0">
                          <a:solidFill>
                            <a:srgbClr val="1C1C1E"/>
                          </a:solidFill>
                          <a:latin typeface="Calibri"/>
                        </a:rPr>
                        <a:t>tensor: P and X arrive together and neither is privileged</a:t>
                      </a:r>
                    </a:p>
                  </a:txBody>
                  <a:tcPr marL="82296" marR="64008" marT="32004" marB="32004" anchor="ctr">
                    <a:solidFill>
                      <a:srgbClr val="F6F3EF"/>
                    </a:solidFill>
                  </a:tcPr>
                </a:tc>
                <a:tc>
                  <a:txBody>
                    <a:bodyPr wrap="square"/>
                    <a:lstStyle/>
                    <a:p>
                      <a:pPr algn="l"/>
                      <a:r>
                        <a:rPr sz="1050" b="0">
                          <a:solidFill>
                            <a:srgbClr val="1C1C1E"/>
                          </a:solidFill>
                          <a:latin typeface="Calibri"/>
                        </a:rPr>
                        <a:t>a function of X that happens to have settings</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D(Y)</a:t>
                      </a:r>
                    </a:p>
                  </a:txBody>
                  <a:tcPr marL="82296" marR="64008" marT="32004" marB="32004" anchor="ctr">
                    <a:solidFill>
                      <a:srgbClr val="FFFFFF"/>
                    </a:solidFill>
                  </a:tcPr>
                </a:tc>
                <a:tc>
                  <a:txBody>
                    <a:bodyPr wrap="square"/>
                    <a:lstStyle/>
                    <a:p>
                      <a:pPr algn="l"/>
                      <a:r>
                        <a:rPr sz="1050" b="0">
                          <a:solidFill>
                            <a:srgbClr val="1C1C1E"/>
                          </a:solidFill>
                          <a:latin typeface="Calibri"/>
                        </a:rPr>
                        <a:t>a DISTRIBUTION over outputs, not a value</a:t>
                      </a:r>
                    </a:p>
                  </a:txBody>
                  <a:tcPr marL="82296" marR="64008" marT="32004" marB="32004" anchor="ctr">
                    <a:solidFill>
                      <a:srgbClr val="FFFFFF"/>
                    </a:solidFill>
                  </a:tcPr>
                </a:tc>
                <a:tc>
                  <a:txBody>
                    <a:bodyPr wrap="square"/>
                    <a:lstStyle/>
                    <a:p>
                      <a:pPr algn="l"/>
                      <a:r>
                        <a:rPr sz="1050" b="0">
                          <a:solidFill>
                            <a:srgbClr val="1C1C1E"/>
                          </a:solidFill>
                          <a:latin typeface="Calibri"/>
                        </a:rPr>
                        <a:t>the answer, which is one draw or one summary of it</a:t>
                      </a:r>
                    </a:p>
                  </a:txBody>
                  <a:tcPr marL="82296" marR="64008" marT="32004" marB="32004" anchor="ctr">
                    <a:solidFill>
                      <a:srgbClr val="FFFFFF"/>
                    </a:solidFill>
                  </a:tcPr>
                </a:tc>
              </a:tr>
            </a:tbl>
          </a:graphicData>
        </a:graphic>
      </p:graphicFrame>
      <p:sp>
        <p:nvSpPr>
          <p:cNvPr id="12" name="Rectangle 11"/>
          <p:cNvSpPr/>
          <p:nvPr/>
        </p:nvSpPr>
        <p:spPr>
          <a:xfrm>
            <a:off x="777240" y="4701311"/>
            <a:ext cx="10637215" cy="7772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4701311"/>
            <a:ext cx="41148" cy="7772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1014983" y="4820183"/>
            <a:ext cx="10180015" cy="5577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Five words, and four of them are usually collapsed into two. </a:t>
            </a:r>
            <a:r>
              <a:rPr sz="1050" b="0" i="0">
                <a:solidFill>
                  <a:srgbClr val="1C1C1E"/>
                </a:solidFill>
                <a:latin typeface="Calibri"/>
              </a:rPr>
              <a:t>Most of the confusion in model governance is a consequence of that collapse rather than of anything difficult.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D(Y)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Why the target is a distribution and not a value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20</a:t>
            </a:r>
          </a:p>
        </p:txBody>
      </p:sp>
      <p:sp>
        <p:nvSpPr>
          <p:cNvPr id="10" name="TextBox 9"/>
          <p:cNvSpPr txBox="1"/>
          <p:nvPr/>
        </p:nvSpPr>
        <p:spPr>
          <a:xfrm>
            <a:off x="777240" y="1353312"/>
            <a:ext cx="5744096" cy="31089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Because most models do not return a number.</a:t>
            </a:r>
          </a:p>
          <a:p>
            <a:pPr>
              <a:spcBef>
                <a:spcPts val="0"/>
              </a:spcBef>
              <a:spcAft>
                <a:spcPts val="800"/>
              </a:spcAft>
            </a:pPr>
            <a:r>
              <a:rPr sz="1050" b="1" i="0">
                <a:solidFill>
                  <a:srgbClr val="A51C30"/>
                </a:solidFill>
                <a:latin typeface="Calibri"/>
              </a:rPr>
              <a:t>→  </a:t>
            </a:r>
            <a:r>
              <a:rPr sz="1050" b="1" i="0">
                <a:solidFill>
                  <a:srgbClr val="1C1C1E"/>
                </a:solidFill>
                <a:latin typeface="Calibri"/>
              </a:rPr>
              <a:t>A PD scorecard </a:t>
            </a:r>
            <a:r>
              <a:rPr sz="1050" b="0" i="0">
                <a:solidFill>
                  <a:srgbClr val="4A4F57"/>
                </a:solidFill>
                <a:latin typeface="Calibri"/>
              </a:rPr>
              <a:t>returns a probability — which IS a distribution over {default, not}, and treating it as a number is how a calibration error becomes invisible.</a:t>
            </a:r>
          </a:p>
          <a:p>
            <a:pPr>
              <a:spcBef>
                <a:spcPts val="0"/>
              </a:spcBef>
              <a:spcAft>
                <a:spcPts val="800"/>
              </a:spcAft>
            </a:pPr>
            <a:r>
              <a:rPr sz="1050" b="1" i="0">
                <a:solidFill>
                  <a:srgbClr val="A51C30"/>
                </a:solidFill>
                <a:latin typeface="Calibri"/>
              </a:rPr>
              <a:t>→  </a:t>
            </a:r>
            <a:r>
              <a:rPr sz="1050" b="1" i="0">
                <a:solidFill>
                  <a:srgbClr val="1C1C1E"/>
                </a:solidFill>
                <a:latin typeface="Calibri"/>
              </a:rPr>
              <a:t>A Monte Carlo engine </a:t>
            </a:r>
            <a:r>
              <a:rPr sz="1050" b="0" i="0">
                <a:solidFill>
                  <a:srgbClr val="4A4F57"/>
                </a:solidFill>
                <a:latin typeface="Calibri"/>
              </a:rPr>
              <a:t>returns an estimate with a standard error. The point estimate alone is a claim without its uncertainty.</a:t>
            </a:r>
          </a:p>
          <a:p>
            <a:pPr>
              <a:spcBef>
                <a:spcPts val="0"/>
              </a:spcBef>
              <a:spcAft>
                <a:spcPts val="800"/>
              </a:spcAft>
            </a:pPr>
            <a:r>
              <a:rPr sz="1050" b="1" i="0">
                <a:solidFill>
                  <a:srgbClr val="A51C30"/>
                </a:solidFill>
                <a:latin typeface="Calibri"/>
              </a:rPr>
              <a:t>→  </a:t>
            </a:r>
            <a:r>
              <a:rPr sz="1050" b="1" i="0">
                <a:solidFill>
                  <a:srgbClr val="1C1C1E"/>
                </a:solidFill>
                <a:latin typeface="Calibri"/>
              </a:rPr>
              <a:t>A GARCH </a:t>
            </a:r>
            <a:r>
              <a:rPr sz="1050" b="0" i="0">
                <a:solidFill>
                  <a:srgbClr val="4A4F57"/>
                </a:solidFill>
                <a:latin typeface="Calibri"/>
              </a:rPr>
              <a:t>returns a variance — a statement about a distribution rather than a draw from one.</a:t>
            </a:r>
          </a:p>
          <a:p>
            <a:pPr>
              <a:spcBef>
                <a:spcPts val="0"/>
              </a:spcBef>
              <a:spcAft>
                <a:spcPts val="800"/>
              </a:spcAft>
            </a:pPr>
            <a:r>
              <a:rPr sz="1050" b="1" i="0">
                <a:solidFill>
                  <a:srgbClr val="A51C30"/>
                </a:solidFill>
                <a:latin typeface="Calibri"/>
              </a:rPr>
              <a:t>→  </a:t>
            </a:r>
            <a:r>
              <a:rPr sz="1050" b="1" i="0">
                <a:solidFill>
                  <a:srgbClr val="1C1C1E"/>
                </a:solidFill>
                <a:latin typeface="Calibri"/>
              </a:rPr>
              <a:t>An LLM </a:t>
            </a:r>
            <a:r>
              <a:rPr sz="1050" b="0" i="0">
                <a:solidFill>
                  <a:srgbClr val="4A4F57"/>
                </a:solidFill>
                <a:latin typeface="Calibri"/>
              </a:rPr>
              <a:t>returns a sample. Two calls differ, and a design that assumes otherwise will be believed by whatever reads the result.</a:t>
            </a:r>
          </a:p>
        </p:txBody>
      </p:sp>
      <p:sp>
        <p:nvSpPr>
          <p:cNvPr id="11" name="Rectangle 10"/>
          <p:cNvSpPr/>
          <p:nvPr/>
        </p:nvSpPr>
        <p:spPr>
          <a:xfrm>
            <a:off x="6946824" y="1353312"/>
            <a:ext cx="4467630" cy="20116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946824" y="1353312"/>
            <a:ext cx="41148" cy="20116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7184568" y="1472184"/>
            <a:ext cx="4010430" cy="179222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Making D(Y) part of the definition forces the question early. </a:t>
            </a:r>
            <a:r>
              <a:rPr sz="1050" b="0" i="0">
                <a:solidFill>
                  <a:srgbClr val="1C1C1E"/>
                </a:solidFill>
                <a:latin typeface="Calibri"/>
              </a:rPr>
              <a:t>A version declares its output kind — point estimate, probability, distribution, interval, ranking, text — and the warrant carries it, so an engine that receives a distribution and reports a mean has done something the record can name.</a:t>
            </a:r>
          </a:p>
        </p:txBody>
      </p:sp>
      <p:sp>
        <p:nvSpPr>
          <p:cNvPr id="14" name="Rectangle 13"/>
          <p:cNvSpPr/>
          <p:nvPr/>
        </p:nvSpPr>
        <p:spPr>
          <a:xfrm>
            <a:off x="6946824" y="3547872"/>
            <a:ext cx="4467630" cy="17373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946824" y="3547872"/>
            <a:ext cx="41148" cy="17373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7184568" y="3666744"/>
            <a:ext cx="4010430" cy="15179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It is also where determinism lives. </a:t>
            </a:r>
            <a:r>
              <a:rPr sz="1050" b="0" i="0">
                <a:solidFill>
                  <a:srgbClr val="1C1C1E"/>
                </a:solidFill>
                <a:latin typeface="Calibri"/>
              </a:rPr>
              <a:t>`deterministic` is a CLAIM about the map, and the grammar checks it: asserted without a pinned seed, from any runtime that executes code MAYA cannot read, it is refused rather than believed (L-W5).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TRAINABILITY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class falls out; nobody declares it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21</a:t>
            </a:r>
          </a:p>
        </p:txBody>
      </p:sp>
      <p:sp>
        <p:nvSpPr>
          <p:cNvPr id="10" name="Rectangle 9"/>
          <p:cNvSpPr/>
          <p:nvPr/>
        </p:nvSpPr>
        <p:spPr>
          <a:xfrm>
            <a:off x="777240" y="1353312"/>
            <a:ext cx="5531351" cy="260398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60398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core/domain/algebra.py</a:t>
            </a:r>
          </a:p>
        </p:txBody>
      </p:sp>
      <p:sp>
        <p:nvSpPr>
          <p:cNvPr id="13" name="TextBox 12"/>
          <p:cNvSpPr txBox="1"/>
          <p:nvPr/>
        </p:nvSpPr>
        <p:spPr>
          <a:xfrm>
            <a:off x="978408" y="1746504"/>
            <a:ext cx="5165591" cy="2128494"/>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parameter_kind   ×   fit_procedure   ⟹   trainability class</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none             ×   none            ⟹   T0   theory; nothing to fit</a:t>
            </a:r>
          </a:p>
          <a:p>
            <a:pPr>
              <a:lnSpc>
                <a:spcPct val="134000"/>
              </a:lnSpc>
              <a:spcBef>
                <a:spcPts val="0"/>
              </a:spcBef>
              <a:spcAft>
                <a:spcPts val="0"/>
              </a:spcAft>
            </a:pPr>
            <a:r>
              <a:rPr sz="950" b="0" i="0">
                <a:solidFill>
                  <a:srgbClr val="1C1C1E"/>
                </a:solidFill>
                <a:latin typeface="Consolas"/>
              </a:rPr>
              <a:t>calibration_set  ×   calibrate       ⟹   T1   solved against quotes</a:t>
            </a:r>
          </a:p>
          <a:p>
            <a:pPr>
              <a:lnSpc>
                <a:spcPct val="134000"/>
              </a:lnSpc>
              <a:spcBef>
                <a:spcPts val="0"/>
              </a:spcBef>
              <a:spcAft>
                <a:spcPts val="0"/>
              </a:spcAft>
            </a:pPr>
            <a:r>
              <a:rPr sz="950" b="0" i="0">
                <a:solidFill>
                  <a:srgbClr val="1C1C1E"/>
                </a:solidFill>
                <a:latin typeface="Consolas"/>
              </a:rPr>
              <a:t>estimated_coeffs ×   estimate        ⟹   T2   a statistical estimator</a:t>
            </a:r>
          </a:p>
          <a:p>
            <a:pPr>
              <a:lnSpc>
                <a:spcPct val="134000"/>
              </a:lnSpc>
              <a:spcBef>
                <a:spcPts val="0"/>
              </a:spcBef>
              <a:spcAft>
                <a:spcPts val="0"/>
              </a:spcAft>
            </a:pPr>
            <a:r>
              <a:rPr sz="950" b="0" i="0">
                <a:solidFill>
                  <a:srgbClr val="1C1C1E"/>
                </a:solidFill>
                <a:latin typeface="Consolas"/>
              </a:rPr>
              <a:t>learned_weights  ×   train           ⟹   T3   a training run</a:t>
            </a:r>
          </a:p>
          <a:p>
            <a:pPr>
              <a:lnSpc>
                <a:spcPct val="134000"/>
              </a:lnSpc>
              <a:spcBef>
                <a:spcPts val="0"/>
              </a:spcBef>
              <a:spcAft>
                <a:spcPts val="0"/>
              </a:spcAft>
            </a:pPr>
            <a:r>
              <a:rPr sz="950" b="0" i="0">
                <a:solidFill>
                  <a:srgbClr val="1C1C1E"/>
                </a:solidFill>
                <a:latin typeface="Consolas"/>
              </a:rPr>
              <a:t>         ... and adaptive        ⟹   T4   training that continues</a:t>
            </a:r>
          </a:p>
          <a:p>
            <a:pPr>
              <a:lnSpc>
                <a:spcPct val="134000"/>
              </a:lnSpc>
              <a:spcBef>
                <a:spcPts val="0"/>
              </a:spcBef>
              <a:spcAft>
                <a:spcPts val="0"/>
              </a:spcAft>
            </a:pPr>
            <a:r>
              <a:rPr sz="950" b="0" i="0">
                <a:solidFill>
                  <a:srgbClr val="1C1C1E"/>
                </a:solidFill>
                <a:latin typeface="Consolas"/>
              </a:rPr>
              <a:t>llm_configuration×   configure       ⟹   T5   somebody else's model</a:t>
            </a:r>
          </a:p>
          <a:p>
            <a:pPr>
              <a:lnSpc>
                <a:spcPct val="134000"/>
              </a:lnSpc>
              <a:spcBef>
                <a:spcPts val="0"/>
              </a:spcBef>
              <a:spcAft>
                <a:spcPts val="0"/>
              </a:spcAft>
            </a:pPr>
            <a:r>
              <a:rPr sz="950" b="0" i="0">
                <a:solidFill>
                  <a:srgbClr val="1C1C1E"/>
                </a:solidFill>
                <a:latin typeface="Consolas"/>
              </a:rPr>
              <a:t>rule_set         ×   none            ⟹   T8   rules, written down</a:t>
            </a:r>
          </a:p>
          <a:p>
            <a:pPr>
              <a:lnSpc>
                <a:spcPct val="134000"/>
              </a:lnSpc>
              <a:spcBef>
                <a:spcPts val="0"/>
              </a:spcBef>
              <a:spcAft>
                <a:spcPts val="0"/>
              </a:spcAft>
            </a:pPr>
            <a:r>
              <a:rPr sz="950" b="0" i="0">
                <a:solidFill>
                  <a:srgbClr val="1C1C1E"/>
                </a:solidFill>
                <a:latin typeface="Consolas"/>
              </a:rPr>
              <a:t>opaque           ×   none            ⟹   T6   inside a vendor binary</a:t>
            </a:r>
          </a:p>
        </p:txBody>
      </p:sp>
      <p:sp>
        <p:nvSpPr>
          <p:cNvPr id="14" name="TextBox 13"/>
          <p:cNvSpPr txBox="1"/>
          <p:nvPr/>
        </p:nvSpPr>
        <p:spPr>
          <a:xfrm>
            <a:off x="6734080" y="1353312"/>
            <a:ext cx="4680374" cy="310896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Why derivation rather than declaration</a:t>
            </a:r>
          </a:p>
          <a:p>
            <a:pPr>
              <a:lnSpc>
                <a:spcPct val="126000"/>
              </a:lnSpc>
              <a:spcBef>
                <a:spcPts val="0"/>
              </a:spcBef>
              <a:spcAft>
                <a:spcPts val="800"/>
              </a:spcAft>
            </a:pPr>
            <a:r>
              <a:rPr sz="1100" b="0" i="0">
                <a:solidFill>
                  <a:srgbClr val="1C1C1E"/>
                </a:solidFill>
                <a:latin typeface="Calibri"/>
              </a:rPr>
              <a:t>“Is this model trained?” is a question that invites the answer requiring least work — and the answer is then a field somebody typed, which every control keys on.</a:t>
            </a:r>
          </a:p>
          <a:p>
            <a:pPr>
              <a:lnSpc>
                <a:spcPct val="126000"/>
              </a:lnSpc>
              <a:spcBef>
                <a:spcPts val="0"/>
              </a:spcBef>
              <a:spcAft>
                <a:spcPts val="800"/>
              </a:spcAft>
            </a:pPr>
            <a:r>
              <a:rPr sz="1100" b="0" i="0">
                <a:solidFill>
                  <a:srgbClr val="1C1C1E"/>
                </a:solidFill>
                <a:latin typeface="Calibri"/>
              </a:rPr>
              <a:t>The class here is a fact about the ARTIFACT rather than an opinion about it. Two facts go in and the class comes out, so it cannot be wrong without one of the two facts being wrong — and those are facts a reviewer can check.</a:t>
            </a:r>
          </a:p>
          <a:p>
            <a:pPr>
              <a:lnSpc>
                <a:spcPct val="126000"/>
              </a:lnSpc>
              <a:spcBef>
                <a:spcPts val="0"/>
              </a:spcBef>
              <a:spcAft>
                <a:spcPts val="0"/>
              </a:spcAft>
            </a:pPr>
            <a:r>
              <a:rPr sz="1100" b="0" i="0">
                <a:solidFill>
                  <a:srgbClr val="4A4F57"/>
                </a:solidFill>
                <a:latin typeface="Calibri"/>
              </a:rPr>
              <a:t>It is also what makes a refusal a type error rather than a policy: asking a T0 for its training set is incoherent, not disallowed.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FOUNDATIONS · CONSEQUENCES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Four problems that stop existing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4 · The Definition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22</a:t>
            </a:r>
          </a:p>
        </p:txBody>
      </p:sp>
      <p:sp>
        <p:nvSpPr>
          <p:cNvPr id="10" name="Rectangle 9"/>
          <p:cNvSpPr/>
          <p:nvPr/>
        </p:nvSpPr>
        <p:spPr>
          <a:xfrm>
            <a:off x="777240" y="135331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“Which models need validating?”</a:t>
            </a:r>
          </a:p>
        </p:txBody>
      </p:sp>
      <p:sp>
        <p:nvSpPr>
          <p:cNvPr id="14" name="TextBox 13"/>
          <p:cNvSpPr txBox="1"/>
          <p:nvPr/>
        </p:nvSpPr>
        <p:spPr>
          <a:xfrm>
            <a:off x="996695" y="2157984"/>
            <a:ext cx="474253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Every model. What DIFFERS is the evidence each can produce, and the class says which — so a T0 gets benchmarked against an independent implementation and a T3 gets replayed.</a:t>
            </a:r>
          </a:p>
        </p:txBody>
      </p:sp>
      <p:sp>
        <p:nvSpPr>
          <p:cNvPr id="15" name="Rectangle 14"/>
          <p:cNvSpPr/>
          <p:nvPr/>
        </p:nvSpPr>
        <p:spPr>
          <a:xfrm>
            <a:off x="6233007" y="135331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233007" y="135331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452463" y="157276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6452463" y="184708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“Is a spreadsheet a model?”</a:t>
            </a:r>
          </a:p>
        </p:txBody>
      </p:sp>
      <p:sp>
        <p:nvSpPr>
          <p:cNvPr id="19" name="TextBox 18"/>
          <p:cNvSpPr txBox="1"/>
          <p:nvPr/>
        </p:nvSpPr>
        <p:spPr>
          <a:xfrm>
            <a:off x="6452463" y="2157984"/>
            <a:ext cx="474253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If it maps inputs to outputs under parameters, yes. rule_set × none ⟹ T8, and it is governed like anything else rather than living in a separate register nobody reads.</a:t>
            </a:r>
          </a:p>
        </p:txBody>
      </p:sp>
      <p:sp>
        <p:nvSpPr>
          <p:cNvPr id="20" name="Rectangle 19"/>
          <p:cNvSpPr/>
          <p:nvPr/>
        </p:nvSpPr>
        <p:spPr>
          <a:xfrm>
            <a:off x="777240" y="350215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350215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996695" y="372160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996695" y="399592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“How do we validate an LLM?”</a:t>
            </a:r>
          </a:p>
        </p:txBody>
      </p:sp>
      <p:sp>
        <p:nvSpPr>
          <p:cNvPr id="24" name="TextBox 23"/>
          <p:cNvSpPr txBox="1"/>
          <p:nvPr/>
        </p:nvSpPr>
        <p:spPr>
          <a:xfrm>
            <a:off x="996695" y="4306824"/>
            <a:ext cx="4742535" cy="97840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P is a configuration: base model, prompt, corpus version, tools, guardrails. Each is versioned and pinned, so “what changed” has an answer that is not “the vendor did something”.</a:t>
            </a:r>
          </a:p>
        </p:txBody>
      </p:sp>
      <p:sp>
        <p:nvSpPr>
          <p:cNvPr id="25" name="Rectangle 24"/>
          <p:cNvSpPr/>
          <p:nvPr/>
        </p:nvSpPr>
        <p:spPr>
          <a:xfrm>
            <a:off x="6233007" y="3502152"/>
            <a:ext cx="518144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6233007" y="3502152"/>
            <a:ext cx="518144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6452463" y="3721608"/>
            <a:ext cx="474253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6452463" y="3995928"/>
            <a:ext cx="474253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“What is a model change?”</a:t>
            </a:r>
          </a:p>
        </p:txBody>
      </p:sp>
      <p:sp>
        <p:nvSpPr>
          <p:cNvPr id="29" name="TextBox 28"/>
          <p:cNvSpPr txBox="1"/>
          <p:nvPr/>
        </p:nvSpPr>
        <p:spPr>
          <a:xfrm>
            <a:off x="6452463" y="4306824"/>
            <a:ext cx="4742535" cy="97840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change to f is a new version. A change to P is a new parameter set. A change to X is a model change too, and L-W10 is where that is enforced rather than remembered.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5</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The Algebra</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One order for four questions, one fold for two levels, and the laws that make both checkable.</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Four implementations of one relation</a:t>
            </a:r>
          </a:p>
          <a:p>
            <a:pPr>
              <a:lnSpc>
                <a:spcPct val="115000"/>
              </a:lnSpc>
              <a:spcBef>
                <a:spcPts val="0"/>
              </a:spcBef>
              <a:spcAft>
                <a:spcPts val="700"/>
              </a:spcAft>
            </a:pPr>
            <a:r>
              <a:rPr sz="1150" b="0" i="0">
                <a:solidFill>
                  <a:srgbClr val="F6E6E9"/>
                </a:solidFill>
                <a:latin typeface="Calibri"/>
              </a:rPr>
              <a:t>Schemas as a lattice</a:t>
            </a:r>
          </a:p>
          <a:p>
            <a:pPr>
              <a:lnSpc>
                <a:spcPct val="115000"/>
              </a:lnSpc>
              <a:spcBef>
                <a:spcPts val="0"/>
              </a:spcBef>
              <a:spcAft>
                <a:spcPts val="700"/>
              </a:spcAft>
            </a:pPr>
            <a:r>
              <a:rPr sz="1150" b="0" i="0">
                <a:solidFill>
                  <a:srgbClr val="F6E6E9"/>
                </a:solidFill>
                <a:latin typeface="Calibri"/>
              </a:rPr>
              <a:t>The fold, and what it buys</a:t>
            </a:r>
          </a:p>
          <a:p>
            <a:pPr>
              <a:lnSpc>
                <a:spcPct val="115000"/>
              </a:lnSpc>
              <a:spcBef>
                <a:spcPts val="0"/>
              </a:spcBef>
              <a:spcAft>
                <a:spcPts val="700"/>
              </a:spcAft>
            </a:pPr>
            <a:r>
              <a:rPr sz="1150" b="0" i="0">
                <a:solidFill>
                  <a:srgbClr val="F6E6E9"/>
                </a:solidFill>
                <a:latin typeface="Calibri"/>
              </a:rPr>
              <a:t>Independent edits commute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WHY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Four places asked one question, four different ways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24</a:t>
            </a:r>
          </a:p>
        </p:txBody>
      </p:sp>
      <p:graphicFrame>
        <p:nvGraphicFramePr>
          <p:cNvPr id="10" name="Table 9"/>
          <p:cNvGraphicFramePr>
            <a:graphicFrameLocks noGrp="1"/>
          </p:cNvGraphicFramePr>
          <p:nvPr/>
        </p:nvGraphicFramePr>
        <p:xfrm>
          <a:off x="777240" y="1353312"/>
          <a:ext cx="10637214" cy="1645920"/>
        </p:xfrm>
        <a:graphic>
          <a:graphicData uri="http://schemas.openxmlformats.org/drawingml/2006/table">
            <a:tbl>
              <a:tblPr firstRow="1">
                <a:tableStyleId>{5C22544A-7EE6-4342-B048-85BDC9FD1C3A}</a:tableStyleId>
              </a:tblPr>
              <a:tblGrid>
                <a:gridCol w="2377235"/>
                <a:gridCol w="4205878"/>
                <a:gridCol w="4054101"/>
              </a:tblGrid>
              <a:tr h="329184">
                <a:tc>
                  <a:txBody>
                    <a:bodyPr wrap="square"/>
                    <a:lstStyle/>
                    <a:p>
                      <a:pPr algn="l"/>
                      <a:r>
                        <a:rPr sz="1050" b="1">
                          <a:solidFill>
                            <a:srgbClr val="FFFFFF"/>
                          </a:solidFill>
                          <a:latin typeface="Calibri"/>
                        </a:rPr>
                        <a:t>Where</a:t>
                      </a:r>
                    </a:p>
                  </a:txBody>
                  <a:tcPr marL="82296" marR="64008" marT="32004" marB="32004" anchor="ctr">
                    <a:solidFill>
                      <a:srgbClr val="A51C30"/>
                    </a:solidFill>
                  </a:tcPr>
                </a:tc>
                <a:tc>
                  <a:txBody>
                    <a:bodyPr wrap="square"/>
                    <a:lstStyle/>
                    <a:p>
                      <a:pPr algn="l"/>
                      <a:r>
                        <a:rPr sz="1050" b="1">
                          <a:solidFill>
                            <a:srgbClr val="FFFFFF"/>
                          </a:solidFill>
                          <a:latin typeface="Calibri"/>
                        </a:rPr>
                        <a:t>What it asked</a:t>
                      </a:r>
                    </a:p>
                  </a:txBody>
                  <a:tcPr marL="82296" marR="64008" marT="32004" marB="32004" anchor="ctr">
                    <a:solidFill>
                      <a:srgbClr val="A51C30"/>
                    </a:solidFill>
                  </a:tcPr>
                </a:tc>
                <a:tc>
                  <a:txBody>
                    <a:bodyPr wrap="square"/>
                    <a:lstStyle/>
                    <a:p>
                      <a:pPr algn="l"/>
                      <a:r>
                        <a:rPr sz="1050" b="1">
                          <a:solidFill>
                            <a:srgbClr val="FFFFFF"/>
                          </a:solidFill>
                          <a:latin typeface="Calibri"/>
                        </a:rPr>
                        <a:t>How it answered</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An alias move</a:t>
                      </a:r>
                    </a:p>
                  </a:txBody>
                  <a:tcPr marL="82296" marR="64008" marT="32004" marB="32004" anchor="ctr">
                    <a:solidFill>
                      <a:srgbClr val="FFFFFF"/>
                    </a:solidFill>
                  </a:tcPr>
                </a:tc>
                <a:tc>
                  <a:txBody>
                    <a:bodyPr wrap="square"/>
                    <a:lstStyle/>
                    <a:p>
                      <a:pPr algn="l"/>
                      <a:r>
                        <a:rPr sz="1050" b="0">
                          <a:solidFill>
                            <a:srgbClr val="1C1C1E"/>
                          </a:solidFill>
                          <a:latin typeface="Calibri"/>
                        </a:rPr>
                        <a:t>is the replacement version substitutable?</a:t>
                      </a:r>
                    </a:p>
                  </a:txBody>
                  <a:tcPr marL="82296" marR="64008" marT="32004" marB="32004" anchor="ctr">
                    <a:solidFill>
                      <a:srgbClr val="FFFFFF"/>
                    </a:solidFill>
                  </a:tcPr>
                </a:tc>
                <a:tc>
                  <a:txBody>
                    <a:bodyPr wrap="square"/>
                    <a:lstStyle/>
                    <a:p>
                      <a:pPr algn="l"/>
                      <a:r>
                        <a:rPr sz="1050" b="0">
                          <a:solidFill>
                            <a:srgbClr val="1C1C1E"/>
                          </a:solidFill>
                          <a:latin typeface="Calibri"/>
                        </a:rPr>
                        <a:t>substitutable() in core/domain/schemas.py</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A fit warrant</a:t>
                      </a:r>
                    </a:p>
                  </a:txBody>
                  <a:tcPr marL="82296" marR="64008" marT="32004" marB="32004" anchor="ctr">
                    <a:solidFill>
                      <a:srgbClr val="F6F3EF"/>
                    </a:solidFill>
                  </a:tcPr>
                </a:tc>
                <a:tc>
                  <a:txBody>
                    <a:bodyPr wrap="square"/>
                    <a:lstStyle/>
                    <a:p>
                      <a:pPr algn="l"/>
                      <a:r>
                        <a:rPr sz="1050" b="0">
                          <a:solidFill>
                            <a:srgbClr val="1C1C1E"/>
                          </a:solidFill>
                          <a:latin typeface="Calibri"/>
                        </a:rPr>
                        <a:t>does the featureset provide what the kernel reads?</a:t>
                      </a:r>
                    </a:p>
                  </a:txBody>
                  <a:tcPr marL="82296" marR="64008" marT="32004" marB="32004" anchor="ctr">
                    <a:solidFill>
                      <a:srgbClr val="F6F3EF"/>
                    </a:solidFill>
                  </a:tcPr>
                </a:tc>
                <a:tc>
                  <a:txBody>
                    <a:bodyPr wrap="square"/>
                    <a:lstStyle/>
                    <a:p>
                      <a:pPr algn="l"/>
                      <a:r>
                        <a:rPr sz="1050" b="0">
                          <a:solidFill>
                            <a:srgbClr val="1C1C1E"/>
                          </a:solidFill>
                          <a:latin typeface="Calibri"/>
                        </a:rPr>
                        <a:t>a hand-written slot loop</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An operating contract</a:t>
                      </a:r>
                    </a:p>
                  </a:txBody>
                  <a:tcPr marL="82296" marR="64008" marT="32004" marB="32004" anchor="ctr">
                    <a:solidFill>
                      <a:srgbClr val="FFFFFF"/>
                    </a:solidFill>
                  </a:tcPr>
                </a:tc>
                <a:tc>
                  <a:txBody>
                    <a:bodyPr wrap="square"/>
                    <a:lstStyle/>
                    <a:p>
                      <a:pPr algn="l"/>
                      <a:r>
                        <a:rPr sz="1050" b="0">
                          <a:solidFill>
                            <a:srgbClr val="1C1C1E"/>
                          </a:solidFill>
                          <a:latin typeface="Calibri"/>
                        </a:rPr>
                        <a:t>does the new contract refine the old one?</a:t>
                      </a:r>
                    </a:p>
                  </a:txBody>
                  <a:tcPr marL="82296" marR="64008" marT="32004" marB="32004" anchor="ctr">
                    <a:solidFill>
                      <a:srgbClr val="FFFFFF"/>
                    </a:solidFill>
                  </a:tcPr>
                </a:tc>
                <a:tc>
                  <a:txBody>
                    <a:bodyPr wrap="square"/>
                    <a:lstStyle/>
                    <a:p>
                      <a:pPr algn="l"/>
                      <a:r>
                        <a:rPr sz="1050" b="0">
                          <a:solidFill>
                            <a:srgbClr val="1C1C1E"/>
                          </a:solidFill>
                          <a:latin typeface="Calibri"/>
                        </a:rPr>
                        <a:t>refines() in core/domain/contracts.py</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A dependency edge</a:t>
                      </a:r>
                    </a:p>
                  </a:txBody>
                  <a:tcPr marL="82296" marR="64008" marT="32004" marB="32004" anchor="ctr">
                    <a:solidFill>
                      <a:srgbClr val="F6F3EF"/>
                    </a:solidFill>
                  </a:tcPr>
                </a:tc>
                <a:tc>
                  <a:txBody>
                    <a:bodyPr wrap="square"/>
                    <a:lstStyle/>
                    <a:p>
                      <a:pPr algn="l"/>
                      <a:r>
                        <a:rPr sz="1050" b="0">
                          <a:solidFill>
                            <a:srgbClr val="1C1C1E"/>
                          </a:solidFill>
                          <a:latin typeface="Calibri"/>
                        </a:rPr>
                        <a:t>does the source's output arrive where the target reads?</a:t>
                      </a:r>
                    </a:p>
                  </a:txBody>
                  <a:tcPr marL="82296" marR="64008" marT="32004" marB="32004" anchor="ctr">
                    <a:solidFill>
                      <a:srgbClr val="F6F3EF"/>
                    </a:solidFill>
                  </a:tcPr>
                </a:tc>
                <a:tc>
                  <a:txBody>
                    <a:bodyPr wrap="square"/>
                    <a:lstStyle/>
                    <a:p>
                      <a:pPr algn="l"/>
                      <a:r>
                        <a:rPr sz="1050" b="0">
                          <a:solidFill>
                            <a:srgbClr val="1C1C1E"/>
                          </a:solidFill>
                          <a:latin typeface="Calibri"/>
                        </a:rPr>
                        <a:t>IT DID NOT ASK</a:t>
                      </a:r>
                    </a:p>
                  </a:txBody>
                  <a:tcPr marL="82296" marR="64008" marT="32004" marB="32004" anchor="ctr">
                    <a:solidFill>
                      <a:srgbClr val="F6F3EF"/>
                    </a:solidFill>
                  </a:tcPr>
                </a:tc>
              </a:tr>
            </a:tbl>
          </a:graphicData>
        </a:graphic>
      </p:graphicFrame>
      <p:sp>
        <p:nvSpPr>
          <p:cNvPr id="11" name="Rectangle 10"/>
          <p:cNvSpPr/>
          <p:nvPr/>
        </p:nvSpPr>
        <p:spPr>
          <a:xfrm>
            <a:off x="777240" y="3273551"/>
            <a:ext cx="10637215" cy="11430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273551"/>
            <a:ext cx="41148" cy="1143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392423"/>
            <a:ext cx="10180015" cy="9235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Four implementations of one relation disagree eventually. </a:t>
            </a:r>
            <a:r>
              <a:rPr sz="1050" b="0" i="0">
                <a:solidFill>
                  <a:srgbClr val="1C1C1E"/>
                </a:solidFill>
                <a:latin typeface="Calibri"/>
              </a:rPr>
              <a:t>And the direction is predictable: toward PERMITTING MORE, because that is the direction in which nobody files a bug. The fourth row is the worst of them — a dependency graph whose edges were never checked, followed by a blast radius that trusted them. So the relation is written once, and everything that used to ask its own version of the question now asks it.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THE ORDER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 B — “A can stand in for B”</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25</a:t>
            </a:r>
          </a:p>
        </p:txBody>
      </p:sp>
      <p:sp>
        <p:nvSpPr>
          <p:cNvPr id="10" name="Rectangle 9"/>
          <p:cNvSpPr/>
          <p:nvPr/>
        </p:nvSpPr>
        <p:spPr>
          <a:xfrm>
            <a:off x="777240" y="1353312"/>
            <a:ext cx="5744096" cy="169266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9266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core/domain/lattice.py</a:t>
            </a:r>
          </a:p>
        </p:txBody>
      </p:sp>
      <p:sp>
        <p:nvSpPr>
          <p:cNvPr id="13" name="TextBox 12"/>
          <p:cNvSpPr txBox="1"/>
          <p:nvPr/>
        </p:nvSpPr>
        <p:spPr>
          <a:xfrm>
            <a:off x="978408" y="1746504"/>
            <a:ext cx="5378336" cy="1217180"/>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A ⊑ B   iff   A has every field B has,</a:t>
            </a:r>
          </a:p>
          <a:p>
            <a:pPr>
              <a:lnSpc>
                <a:spcPct val="134000"/>
              </a:lnSpc>
              <a:spcBef>
                <a:spcPts val="0"/>
              </a:spcBef>
              <a:spcAft>
                <a:spcPts val="0"/>
              </a:spcAft>
            </a:pPr>
            <a:r>
              <a:rPr sz="1050" b="0" i="0">
                <a:solidFill>
                  <a:srgbClr val="1C1C1E"/>
                </a:solidFill>
                <a:latin typeface="Consolas"/>
              </a:rPr>
              <a:t>              each accepting AT LEAST what B's accepted</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7A7F87"/>
                </a:solidFill>
                <a:latin typeface="Consolas"/>
              </a:rPr>
              <a:t># extra fields in A are fine — they are simply not read</a:t>
            </a:r>
          </a:p>
          <a:p>
            <a:pPr>
              <a:lnSpc>
                <a:spcPct val="134000"/>
              </a:lnSpc>
              <a:spcBef>
                <a:spcPts val="0"/>
              </a:spcBef>
              <a:spcAft>
                <a:spcPts val="0"/>
              </a:spcAft>
            </a:pPr>
            <a:r>
              <a:rPr sz="1050" b="0" i="0">
                <a:solidFill>
                  <a:srgbClr val="7A7F87"/>
                </a:solidFill>
                <a:latin typeface="Consolas"/>
              </a:rPr>
              <a:t># a NARROWER acceptance is the regression, not a wider one</a:t>
            </a:r>
          </a:p>
        </p:txBody>
      </p:sp>
      <p:sp>
        <p:nvSpPr>
          <p:cNvPr id="14" name="Rectangle 13"/>
          <p:cNvSpPr/>
          <p:nvPr/>
        </p:nvSpPr>
        <p:spPr>
          <a:xfrm>
            <a:off x="777240" y="3302012"/>
            <a:ext cx="5744096"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30201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420884"/>
            <a:ext cx="5286896"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design note had this backwards. </a:t>
            </a:r>
            <a:r>
              <a:rPr sz="1050" b="0" i="0">
                <a:solidFill>
                  <a:srgbClr val="1C1C1E"/>
                </a:solidFill>
                <a:latin typeface="Calibri"/>
              </a:rPr>
              <a:t>It said a refinement is “at a type no wider”, written from the intuition that a subtype is narrower. Standing in for something requires accepting at least what it accepted. The `accepts` relation in the code had it right all along, and writing the implementation found the error in the prose — which is the ordinary direction of that traffic.</a:t>
            </a:r>
          </a:p>
        </p:txBody>
      </p:sp>
      <p:sp>
        <p:nvSpPr>
          <p:cNvPr id="17" name="TextBox 16"/>
          <p:cNvSpPr txBox="1"/>
          <p:nvPr/>
        </p:nvSpPr>
        <p:spPr>
          <a:xfrm>
            <a:off x="6946824" y="1353312"/>
            <a:ext cx="4467630" cy="3657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It is a lattice</a:t>
            </a:r>
          </a:p>
        </p:txBody>
      </p:sp>
      <p:sp>
        <p:nvSpPr>
          <p:cNvPr id="18" name="TextBox 17"/>
          <p:cNvSpPr txBox="1"/>
          <p:nvPr/>
        </p:nvSpPr>
        <p:spPr>
          <a:xfrm>
            <a:off x="6946824" y="1810512"/>
            <a:ext cx="4467630" cy="822960"/>
          </a:xfrm>
          <a:prstGeom prst="rect">
            <a:avLst/>
          </a:prstGeom>
          <a:noFill/>
        </p:spPr>
        <p:txBody>
          <a:bodyPr wrap="square" lIns="0" rIns="0" tIns="0" bIns="0" anchor="t">
            <a:spAutoFit/>
          </a:bodyPr>
          <a:lstStyle/>
          <a:p>
            <a:pPr algn="l">
              <a:spcBef>
                <a:spcPts val="0"/>
              </a:spcBef>
              <a:spcAft>
                <a:spcPts val="300"/>
              </a:spcAft>
            </a:pPr>
            <a:r>
              <a:rPr sz="1050" b="1" i="0">
                <a:solidFill>
                  <a:srgbClr val="1C1C1E"/>
                </a:solidFill>
                <a:latin typeface="Consolas"/>
              </a:rPr>
              <a:t>meet  A ⊓ B</a:t>
            </a:r>
          </a:p>
          <a:p>
            <a:pPr>
              <a:lnSpc>
                <a:spcPct val="120000"/>
              </a:lnSpc>
              <a:spcBef>
                <a:spcPts val="0"/>
              </a:spcBef>
              <a:spcAft>
                <a:spcPts val="0"/>
              </a:spcAft>
            </a:pPr>
            <a:r>
              <a:rPr sz="950" b="0" i="0">
                <a:solidFill>
                  <a:srgbClr val="4A4F57"/>
                </a:solidFill>
                <a:latin typeface="Calibri"/>
              </a:rPr>
              <a:t>the UNION of the fields, widened to accept both — what a featureset must provide to serve two models at once</a:t>
            </a:r>
          </a:p>
        </p:txBody>
      </p:sp>
      <p:sp>
        <p:nvSpPr>
          <p:cNvPr id="19" name="TextBox 18"/>
          <p:cNvSpPr txBox="1"/>
          <p:nvPr/>
        </p:nvSpPr>
        <p:spPr>
          <a:xfrm>
            <a:off x="6946824" y="2724912"/>
            <a:ext cx="4467630" cy="822960"/>
          </a:xfrm>
          <a:prstGeom prst="rect">
            <a:avLst/>
          </a:prstGeom>
          <a:noFill/>
        </p:spPr>
        <p:txBody>
          <a:bodyPr wrap="square" lIns="0" rIns="0" tIns="0" bIns="0" anchor="t">
            <a:spAutoFit/>
          </a:bodyPr>
          <a:lstStyle/>
          <a:p>
            <a:pPr algn="l">
              <a:spcBef>
                <a:spcPts val="0"/>
              </a:spcBef>
              <a:spcAft>
                <a:spcPts val="300"/>
              </a:spcAft>
            </a:pPr>
            <a:r>
              <a:rPr sz="1050" b="1" i="0">
                <a:solidFill>
                  <a:srgbClr val="1C1C1E"/>
                </a:solidFill>
                <a:latin typeface="Consolas"/>
              </a:rPr>
              <a:t>join  A ⊔ B</a:t>
            </a:r>
          </a:p>
          <a:p>
            <a:pPr>
              <a:lnSpc>
                <a:spcPct val="120000"/>
              </a:lnSpc>
              <a:spcBef>
                <a:spcPts val="0"/>
              </a:spcBef>
              <a:spcAft>
                <a:spcPts val="0"/>
              </a:spcAft>
            </a:pPr>
            <a:r>
              <a:rPr sz="950" b="0" i="0">
                <a:solidFill>
                  <a:srgbClr val="4A4F57"/>
                </a:solidFill>
                <a:latin typeface="Calibri"/>
              </a:rPr>
              <a:t>the INTERSECTION, narrowed to what both accepted — what a consumer of either may rely on</a:t>
            </a:r>
          </a:p>
        </p:txBody>
      </p:sp>
      <p:sp>
        <p:nvSpPr>
          <p:cNvPr id="20" name="TextBox 19"/>
          <p:cNvSpPr txBox="1"/>
          <p:nvPr/>
        </p:nvSpPr>
        <p:spPr>
          <a:xfrm>
            <a:off x="6946824" y="3639312"/>
            <a:ext cx="4467630" cy="822960"/>
          </a:xfrm>
          <a:prstGeom prst="rect">
            <a:avLst/>
          </a:prstGeom>
          <a:noFill/>
        </p:spPr>
        <p:txBody>
          <a:bodyPr wrap="square" lIns="0" rIns="0" tIns="0" bIns="0" anchor="t">
            <a:spAutoFit/>
          </a:bodyPr>
          <a:lstStyle/>
          <a:p>
            <a:pPr algn="l">
              <a:spcBef>
                <a:spcPts val="0"/>
              </a:spcBef>
              <a:spcAft>
                <a:spcPts val="300"/>
              </a:spcAft>
            </a:pPr>
            <a:r>
              <a:rPr sz="1050" b="1" i="0">
                <a:solidFill>
                  <a:srgbClr val="1C1C1E"/>
                </a:solidFill>
                <a:latin typeface="Consolas"/>
              </a:rPr>
              <a:t>top</a:t>
            </a:r>
          </a:p>
          <a:p>
            <a:pPr>
              <a:lnSpc>
                <a:spcPct val="120000"/>
              </a:lnSpc>
              <a:spcBef>
                <a:spcPts val="0"/>
              </a:spcBef>
              <a:spcAft>
                <a:spcPts val="0"/>
              </a:spcAft>
            </a:pPr>
            <a:r>
              <a:rPr sz="950" b="0" i="0">
                <a:solidFill>
                  <a:srgbClr val="4A4F57"/>
                </a:solidFill>
                <a:latin typeface="Calibri"/>
              </a:rPr>
              <a:t>the empty schema: it demands nothing, so everything can stand in for it</a:t>
            </a:r>
          </a:p>
        </p:txBody>
      </p:sp>
      <p:sp>
        <p:nvSpPr>
          <p:cNvPr id="21" name="Rectangle 20"/>
          <p:cNvSpPr/>
          <p:nvPr/>
        </p:nvSpPr>
        <p:spPr>
          <a:xfrm>
            <a:off x="6946824" y="4599432"/>
            <a:ext cx="4467630"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6946824" y="459943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7184568" y="4718304"/>
            <a:ext cx="4010430"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Meet is PARTIAL, informatively. </a:t>
            </a:r>
            <a:r>
              <a:rPr sz="1050" b="0" i="0">
                <a:solidFill>
                  <a:srgbClr val="1C1C1E"/>
                </a:solidFill>
                <a:latin typeface="Calibri"/>
              </a:rPr>
              <a:t>Two schemas whose shared slot carries two different dtypes have no meet — no schema accepts both a number and a string in one slot. The honest answer to “can one featureset serve both these models” is then no, with the slot named.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WHAT IT UNIFIED</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relation, four questions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26</a:t>
            </a:r>
          </a:p>
        </p:txBody>
      </p:sp>
      <p:graphicFrame>
        <p:nvGraphicFramePr>
          <p:cNvPr id="10" name="Table 9"/>
          <p:cNvGraphicFramePr>
            <a:graphicFrameLocks noGrp="1"/>
          </p:cNvGraphicFramePr>
          <p:nvPr/>
        </p:nvGraphicFramePr>
        <p:xfrm>
          <a:off x="777240" y="1353312"/>
          <a:ext cx="10637213" cy="1955479"/>
        </p:xfrm>
        <a:graphic>
          <a:graphicData uri="http://schemas.openxmlformats.org/drawingml/2006/table">
            <a:tbl>
              <a:tblPr firstRow="1">
                <a:tableStyleId>{5C22544A-7EE6-4342-B048-85BDC9FD1C3A}</a:tableStyleId>
              </a:tblPr>
              <a:tblGrid>
                <a:gridCol w="4205878"/>
                <a:gridCol w="3108692"/>
                <a:gridCol w="3322643"/>
              </a:tblGrid>
              <a:tr h="329184">
                <a:tc>
                  <a:txBody>
                    <a:bodyPr wrap="square"/>
                    <a:lstStyle/>
                    <a:p>
                      <a:pPr algn="l"/>
                      <a:r>
                        <a:rPr sz="1050" b="1">
                          <a:solidFill>
                            <a:srgbClr val="FFFFFF"/>
                          </a:solidFill>
                          <a:latin typeface="Calibri"/>
                        </a:rPr>
                        <a:t>Question</a:t>
                      </a:r>
                    </a:p>
                  </a:txBody>
                  <a:tcPr marL="82296" marR="64008" marT="32004" marB="32004" anchor="ctr">
                    <a:solidFill>
                      <a:srgbClr val="A51C30"/>
                    </a:solidFill>
                  </a:tcPr>
                </a:tc>
                <a:tc>
                  <a:txBody>
                    <a:bodyPr wrap="square"/>
                    <a:lstStyle/>
                    <a:p>
                      <a:pPr algn="l"/>
                      <a:r>
                        <a:rPr sz="1050" b="1">
                          <a:solidFill>
                            <a:srgbClr val="FFFFFF"/>
                          </a:solidFill>
                          <a:latin typeface="Calibri"/>
                        </a:rPr>
                        <a:t>Before</a:t>
                      </a:r>
                    </a:p>
                  </a:txBody>
                  <a:tcPr marL="82296" marR="64008" marT="32004" marB="32004" anchor="ctr">
                    <a:solidFill>
                      <a:srgbClr val="A51C30"/>
                    </a:solidFill>
                  </a:tcPr>
                </a:tc>
                <a:tc>
                  <a:txBody>
                    <a:bodyPr wrap="square"/>
                    <a:lstStyle/>
                    <a:p>
                      <a:pPr algn="l"/>
                      <a:r>
                        <a:rPr sz="1050" b="1">
                          <a:solidFill>
                            <a:srgbClr val="FFFFFF"/>
                          </a:solidFill>
                          <a:latin typeface="Calibri"/>
                        </a:rPr>
                        <a:t>Now</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Featureset satisfies the kernel  (L-W10)</a:t>
                      </a:r>
                    </a:p>
                  </a:txBody>
                  <a:tcPr marL="82296" marR="64008" marT="32004" marB="32004" anchor="ctr">
                    <a:solidFill>
                      <a:srgbClr val="FFFFFF"/>
                    </a:solidFill>
                  </a:tcPr>
                </a:tc>
                <a:tc>
                  <a:txBody>
                    <a:bodyPr wrap="square"/>
                    <a:lstStyle/>
                    <a:p>
                      <a:pPr algn="l"/>
                      <a:r>
                        <a:rPr sz="1050" b="0">
                          <a:solidFill>
                            <a:srgbClr val="1C1C1E"/>
                          </a:solidFill>
                          <a:latin typeface="Calibri"/>
                        </a:rPr>
                        <a:t>a bespoke slot loop</a:t>
                      </a:r>
                    </a:p>
                  </a:txBody>
                  <a:tcPr marL="82296" marR="64008" marT="32004" marB="32004" anchor="ctr">
                    <a:solidFill>
                      <a:srgbClr val="FFFFFF"/>
                    </a:solidFill>
                  </a:tcPr>
                </a:tc>
                <a:tc>
                  <a:txBody>
                    <a:bodyPr wrap="square"/>
                    <a:lstStyle/>
                    <a:p>
                      <a:pPr algn="l"/>
                      <a:r>
                        <a:rPr sz="1050" b="0">
                          <a:solidFill>
                            <a:srgbClr val="1C1C1E"/>
                          </a:solidFill>
                          <a:latin typeface="Calibri"/>
                        </a:rPr>
                        <a:t>refines(resolved, kernel_inputs)</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Replacement is substitutable  (L-12)</a:t>
                      </a:r>
                    </a:p>
                  </a:txBody>
                  <a:tcPr marL="82296" marR="64008" marT="32004" marB="32004" anchor="ctr">
                    <a:solidFill>
                      <a:srgbClr val="F6F3EF"/>
                    </a:solidFill>
                  </a:tcPr>
                </a:tc>
                <a:tc>
                  <a:txBody>
                    <a:bodyPr wrap="square"/>
                    <a:lstStyle/>
                    <a:p>
                      <a:pPr algn="l"/>
                      <a:r>
                        <a:rPr sz="1050" b="0">
                          <a:solidFill>
                            <a:srgbClr val="1C1C1E"/>
                          </a:solidFill>
                          <a:latin typeface="Calibri"/>
                        </a:rPr>
                        <a:t>accepts_superset_of</a:t>
                      </a:r>
                    </a:p>
                  </a:txBody>
                  <a:tcPr marL="82296" marR="64008" marT="32004" marB="32004" anchor="ctr">
                    <a:solidFill>
                      <a:srgbClr val="F6F3EF"/>
                    </a:solidFill>
                  </a:tcPr>
                </a:tc>
                <a:tc>
                  <a:txBody>
                    <a:bodyPr wrap="square"/>
                    <a:lstStyle/>
                    <a:p>
                      <a:pPr algn="l"/>
                      <a:r>
                        <a:rPr sz="1050" b="0">
                          <a:solidFill>
                            <a:srgbClr val="1C1C1E"/>
                          </a:solidFill>
                          <a:latin typeface="Calibri"/>
                        </a:rPr>
                        <a:t>the same refines()</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Is this child a refinement of its parent?</a:t>
                      </a:r>
                    </a:p>
                  </a:txBody>
                  <a:tcPr marL="82296" marR="64008" marT="32004" marB="32004" anchor="ctr">
                    <a:solidFill>
                      <a:srgbClr val="FFFFFF"/>
                    </a:solidFill>
                  </a:tcPr>
                </a:tc>
                <a:tc>
                  <a:txBody>
                    <a:bodyPr wrap="square"/>
                    <a:lstStyle/>
                    <a:p>
                      <a:pPr algn="l"/>
                      <a:r>
                        <a:rPr sz="1050" b="0">
                          <a:solidFill>
                            <a:srgbClr val="1C1C1E"/>
                          </a:solidFill>
                          <a:latin typeface="Calibri"/>
                        </a:rPr>
                        <a:t>NOT ASKABLE</a:t>
                      </a:r>
                    </a:p>
                  </a:txBody>
                  <a:tcPr marL="82296" marR="64008" marT="32004" marB="32004" anchor="ctr">
                    <a:solidFill>
                      <a:srgbClr val="FFFFFF"/>
                    </a:solidFill>
                  </a:tcPr>
                </a:tc>
                <a:tc>
                  <a:txBody>
                    <a:bodyPr wrap="square"/>
                    <a:lstStyle/>
                    <a:p>
                      <a:pPr algn="l"/>
                      <a:r>
                        <a:rPr sz="1050" b="0">
                          <a:solidFill>
                            <a:srgbClr val="1C1C1E"/>
                          </a:solidFill>
                          <a:latin typeface="Calibri"/>
                        </a:rPr>
                        <a:t>A ⊑ B</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What must a featureset provide to serve both?</a:t>
                      </a:r>
                    </a:p>
                  </a:txBody>
                  <a:tcPr marL="82296" marR="64008" marT="32004" marB="32004" anchor="ctr">
                    <a:solidFill>
                      <a:srgbClr val="F6F3EF"/>
                    </a:solidFill>
                  </a:tcPr>
                </a:tc>
                <a:tc>
                  <a:txBody>
                    <a:bodyPr wrap="square"/>
                    <a:lstStyle/>
                    <a:p>
                      <a:pPr algn="l"/>
                      <a:r>
                        <a:rPr sz="1050" b="0">
                          <a:solidFill>
                            <a:srgbClr val="1C1C1E"/>
                          </a:solidFill>
                          <a:latin typeface="Calibri"/>
                        </a:rPr>
                        <a:t>NOT ASKABLE</a:t>
                      </a:r>
                    </a:p>
                  </a:txBody>
                  <a:tcPr marL="82296" marR="64008" marT="32004" marB="32004" anchor="ctr">
                    <a:solidFill>
                      <a:srgbClr val="F6F3EF"/>
                    </a:solidFill>
                  </a:tcPr>
                </a:tc>
                <a:tc>
                  <a:txBody>
                    <a:bodyPr wrap="square"/>
                    <a:lstStyle/>
                    <a:p>
                      <a:pPr algn="l"/>
                      <a:r>
                        <a:rPr sz="1050" b="0">
                          <a:solidFill>
                            <a:srgbClr val="1C1C1E"/>
                          </a:solidFill>
                          <a:latin typeface="Calibri"/>
                        </a:rPr>
                        <a:t>their meet</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What do two versions agree on?</a:t>
                      </a:r>
                    </a:p>
                  </a:txBody>
                  <a:tcPr marL="82296" marR="64008" marT="32004" marB="32004" anchor="ctr">
                    <a:solidFill>
                      <a:srgbClr val="FFFFFF"/>
                    </a:solidFill>
                  </a:tcPr>
                </a:tc>
                <a:tc>
                  <a:txBody>
                    <a:bodyPr wrap="square"/>
                    <a:lstStyle/>
                    <a:p>
                      <a:pPr algn="l"/>
                      <a:r>
                        <a:rPr sz="1050" b="0">
                          <a:solidFill>
                            <a:srgbClr val="1C1C1E"/>
                          </a:solidFill>
                          <a:latin typeface="Calibri"/>
                        </a:rPr>
                        <a:t>NOT ASKABLE</a:t>
                      </a:r>
                    </a:p>
                  </a:txBody>
                  <a:tcPr marL="82296" marR="64008" marT="32004" marB="32004" anchor="ctr">
                    <a:solidFill>
                      <a:srgbClr val="FFFFFF"/>
                    </a:solidFill>
                  </a:tcPr>
                </a:tc>
                <a:tc>
                  <a:txBody>
                    <a:bodyPr wrap="square"/>
                    <a:lstStyle/>
                    <a:p>
                      <a:pPr algn="l"/>
                      <a:r>
                        <a:rPr sz="1050" b="0">
                          <a:solidFill>
                            <a:srgbClr val="1C1C1E"/>
                          </a:solidFill>
                          <a:latin typeface="Calibri"/>
                        </a:rPr>
                        <a:t>their join</a:t>
                      </a:r>
                    </a:p>
                  </a:txBody>
                  <a:tcPr marL="82296" marR="64008" marT="32004" marB="32004" anchor="ctr">
                    <a:solidFill>
                      <a:srgbClr val="FFFFFF"/>
                    </a:solidFill>
                  </a:tcPr>
                </a:tc>
              </a:tr>
            </a:tbl>
          </a:graphicData>
        </a:graphic>
      </p:graphicFrame>
      <p:sp>
        <p:nvSpPr>
          <p:cNvPr id="11" name="Rectangle 10"/>
          <p:cNvSpPr/>
          <p:nvPr/>
        </p:nvSpPr>
        <p:spPr>
          <a:xfrm>
            <a:off x="777240" y="3583114"/>
            <a:ext cx="10637215" cy="10515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583114"/>
            <a:ext cx="41148"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701986"/>
            <a:ext cx="10180015"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L-20, asserted over generated schemas. </a:t>
            </a:r>
            <a:r>
              <a:rPr sz="1050" b="0" i="0">
                <a:solidFill>
                  <a:srgbClr val="1C1C1E"/>
                </a:solidFill>
                <a:latin typeface="Calibri"/>
              </a:rPr>
              <a:t>Partial order, meet below both, join above both, idempotence, commutativity, associativity, absorption — and the link A ⊑ B ⟺ A ⊓ B = A that makes it a lattice ORDER rather than an order and two unrelated operations. Two of those four questions could not be asked at all before, and both are ones a practitioner asks out loud in a meeting.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COMPOSITION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fold, at two levels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27</a:t>
            </a:r>
          </a:p>
        </p:txBody>
      </p:sp>
      <p:sp>
        <p:nvSpPr>
          <p:cNvPr id="10" name="Rectangle 9"/>
          <p:cNvSpPr/>
          <p:nvPr/>
        </p:nvSpPr>
        <p:spPr>
          <a:xfrm>
            <a:off x="777240" y="1353312"/>
            <a:ext cx="5956840" cy="169266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9266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core/features/composition.py</a:t>
            </a:r>
          </a:p>
        </p:txBody>
      </p:sp>
      <p:sp>
        <p:nvSpPr>
          <p:cNvPr id="13" name="TextBox 12"/>
          <p:cNvSpPr txBox="1"/>
          <p:nvPr/>
        </p:nvSpPr>
        <p:spPr>
          <a:xfrm>
            <a:off x="978408" y="1746504"/>
            <a:ext cx="5591080" cy="1217180"/>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compose([a, b, c])  =  merge(merge(a, b), c)</a:t>
            </a:r>
          </a:p>
          <a:p>
            <a:pPr>
              <a:lnSpc>
                <a:spcPct val="134000"/>
              </a:lnSpc>
              <a:spcBef>
                <a:spcPts val="0"/>
              </a:spcBef>
              <a:spcAft>
                <a:spcPts val="0"/>
              </a:spcAft>
            </a:pPr>
            <a:r>
              <a:rPr sz="1050" b="0" i="0">
                <a:solidFill>
                  <a:srgbClr val="1C1C1E"/>
                </a:solidFill>
                <a:latin typeface="Consolas"/>
              </a:rPr>
              <a:t>                       then the object's own operations, last</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7A7F87"/>
                </a:solidFill>
                <a:latin typeface="Consolas"/>
              </a:rPr>
              <a:t># left to right, RIGHTMOST WINS, {} the identity</a:t>
            </a:r>
          </a:p>
          <a:p>
            <a:pPr>
              <a:lnSpc>
                <a:spcPct val="134000"/>
              </a:lnSpc>
              <a:spcBef>
                <a:spcPts val="0"/>
              </a:spcBef>
              <a:spcAft>
                <a:spcPts val="0"/>
              </a:spcAft>
            </a:pPr>
            <a:r>
              <a:rPr sz="1050" b="0" i="0">
                <a:solidFill>
                  <a:srgbClr val="7A7F87"/>
                </a:solidFill>
                <a:latin typeface="Consolas"/>
              </a:rPr>
              <a:t># associative — asserted, not assumed  (L-19)</a:t>
            </a:r>
          </a:p>
        </p:txBody>
      </p:sp>
      <p:sp>
        <p:nvSpPr>
          <p:cNvPr id="14" name="TextBox 13"/>
          <p:cNvSpPr txBox="1"/>
          <p:nvPr/>
        </p:nvSpPr>
        <p:spPr>
          <a:xfrm>
            <a:off x="777240" y="3320300"/>
            <a:ext cx="5956840" cy="219456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Three things a monoid buys</a:t>
            </a:r>
          </a:p>
          <a:p>
            <a:pPr>
              <a:spcBef>
                <a:spcPts val="0"/>
              </a:spcBef>
              <a:spcAft>
                <a:spcPts val="700"/>
              </a:spcAft>
            </a:pPr>
            <a:r>
              <a:rPr sz="1000" b="1" i="0">
                <a:solidFill>
                  <a:srgbClr val="A51C30"/>
                </a:solidFill>
                <a:latin typeface="Calibri"/>
              </a:rPr>
              <a:t>→  </a:t>
            </a:r>
            <a:r>
              <a:rPr sz="1000" b="0" i="0">
                <a:solidFill>
                  <a:srgbClr val="4A4F57"/>
                </a:solidFill>
                <a:latin typeface="Calibri"/>
              </a:rPr>
              <a:t>Order of GROUPING does not matter, so “which order did we build this in” stops being a question with a consequence.</a:t>
            </a:r>
          </a:p>
          <a:p>
            <a:pPr>
              <a:spcBef>
                <a:spcPts val="0"/>
              </a:spcBef>
              <a:spcAft>
                <a:spcPts val="700"/>
              </a:spcAft>
            </a:pPr>
            <a:r>
              <a:rPr sz="1000" b="1" i="0">
                <a:solidFill>
                  <a:srgbClr val="A51C30"/>
                </a:solidFill>
                <a:latin typeface="Calibri"/>
              </a:rPr>
              <a:t>→  </a:t>
            </a:r>
            <a:r>
              <a:rPr sz="1000" b="0" i="0">
                <a:solidFill>
                  <a:srgbClr val="4A4F57"/>
                </a:solidFill>
                <a:latin typeface="Calibri"/>
              </a:rPr>
              <a:t>Precedence is a PROPERTY rather than a preference: leftmost is least prominent, so a child of three parents has one answer rather than three.</a:t>
            </a:r>
          </a:p>
          <a:p>
            <a:pPr>
              <a:spcBef>
                <a:spcPts val="0"/>
              </a:spcBef>
              <a:spcAft>
                <a:spcPts val="700"/>
              </a:spcAft>
            </a:pPr>
            <a:r>
              <a:rPr sz="1000" b="1" i="0">
                <a:solidFill>
                  <a:srgbClr val="A51C30"/>
                </a:solidFill>
                <a:latin typeface="Calibri"/>
              </a:rPr>
              <a:t>→  </a:t>
            </a:r>
            <a:r>
              <a:rPr sz="1000" b="0" i="0">
                <a:solidFill>
                  <a:srgbClr val="4A4F57"/>
                </a:solidFill>
                <a:latin typeface="Calibri"/>
              </a:rPr>
              <a:t>“A combination of features is a feature” is a STATEMENT — it is the closure of the fold, and it is why features and featuresets share one mechanism rather than two.</a:t>
            </a:r>
          </a:p>
        </p:txBody>
      </p:sp>
      <p:graphicFrame>
        <p:nvGraphicFramePr>
          <p:cNvPr id="15" name="Table 14"/>
          <p:cNvGraphicFramePr>
            <a:graphicFrameLocks noGrp="1"/>
          </p:cNvGraphicFramePr>
          <p:nvPr/>
        </p:nvGraphicFramePr>
        <p:xfrm>
          <a:off x="7159569" y="1353312"/>
          <a:ext cx="4254885" cy="1279398"/>
        </p:xfrm>
        <a:graphic>
          <a:graphicData uri="http://schemas.openxmlformats.org/drawingml/2006/table">
            <a:tbl>
              <a:tblPr firstRow="1">
                <a:tableStyleId>{5C22544A-7EE6-4342-B048-85BDC9FD1C3A}</a:tableStyleId>
              </a:tblPr>
              <a:tblGrid>
                <a:gridCol w="1115513"/>
                <a:gridCol w="3139372"/>
              </a:tblGrid>
              <a:tr h="329184">
                <a:tc>
                  <a:txBody>
                    <a:bodyPr wrap="square"/>
                    <a:lstStyle/>
                    <a:p>
                      <a:pPr algn="l"/>
                      <a:r>
                        <a:rPr sz="1000" b="1">
                          <a:solidFill>
                            <a:srgbClr val="FFFFFF"/>
                          </a:solidFill>
                          <a:latin typeface="Calibri"/>
                        </a:rPr>
                        <a:t>Operation</a:t>
                      </a:r>
                    </a:p>
                  </a:txBody>
                  <a:tcPr marL="82296" marR="64008" marT="32004" marB="32004" anchor="ctr">
                    <a:solidFill>
                      <a:srgbClr val="A51C30"/>
                    </a:solidFill>
                  </a:tcPr>
                </a:tc>
                <a:tc>
                  <a:txBody>
                    <a:bodyPr wrap="square"/>
                    <a:lstStyle/>
                    <a:p>
                      <a:pPr algn="l"/>
                      <a:r>
                        <a:rPr sz="1000" b="1">
                          <a:solidFill>
                            <a:srgbClr val="FFFFFF"/>
                          </a:solidFill>
                          <a:latin typeface="Calibri"/>
                        </a:rPr>
                        <a:t>Refused when</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add</a:t>
                      </a:r>
                    </a:p>
                  </a:txBody>
                  <a:tcPr marL="82296" marR="64008" marT="32004" marB="32004" anchor="ctr">
                    <a:solidFill>
                      <a:srgbClr val="FFFFFF"/>
                    </a:solidFill>
                  </a:tcPr>
                </a:tc>
                <a:tc>
                  <a:txBody>
                    <a:bodyPr wrap="square"/>
                    <a:lstStyle/>
                    <a:p>
                      <a:pPr algn="l"/>
                      <a:r>
                        <a:rPr sz="1000" b="0">
                          <a:solidFill>
                            <a:srgbClr val="1C1C1E"/>
                          </a:solidFill>
                          <a:latin typeface="Calibri"/>
                        </a:rPr>
                        <a:t>the member already exists — say override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drop</a:t>
                      </a:r>
                    </a:p>
                  </a:txBody>
                  <a:tcPr marL="82296" marR="64008" marT="32004" marB="32004" anchor="ctr">
                    <a:solidFill>
                      <a:srgbClr val="F6F3EF"/>
                    </a:solidFill>
                  </a:tcPr>
                </a:tc>
                <a:tc>
                  <a:txBody>
                    <a:bodyPr wrap="square"/>
                    <a:lstStyle/>
                    <a:p>
                      <a:pPr algn="l"/>
                      <a:r>
                        <a:rPr sz="1000" b="0">
                          <a:solidFill>
                            <a:srgbClr val="1C1C1E"/>
                          </a:solidFill>
                          <a:latin typeface="Calibri"/>
                        </a:rPr>
                        <a:t>no parent has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override</a:t>
                      </a:r>
                    </a:p>
                  </a:txBody>
                  <a:tcPr marL="82296" marR="64008" marT="32004" marB="32004" anchor="ctr">
                    <a:solidFill>
                      <a:srgbClr val="FFFFFF"/>
                    </a:solidFill>
                  </a:tcPr>
                </a:tc>
                <a:tc>
                  <a:txBody>
                    <a:bodyPr wrap="square"/>
                    <a:lstStyle/>
                    <a:p>
                      <a:pPr algn="l"/>
                      <a:r>
                        <a:rPr sz="1000" b="0">
                          <a:solidFill>
                            <a:srgbClr val="1C1C1E"/>
                          </a:solidFill>
                          <a:latin typeface="Calibri"/>
                        </a:rPr>
                        <a:t>no parent has it — say add</a:t>
                      </a:r>
                    </a:p>
                  </a:txBody>
                  <a:tcPr marL="82296" marR="64008" marT="32004" marB="32004" anchor="ctr">
                    <a:solidFill>
                      <a:srgbClr val="FFFFFF"/>
                    </a:solidFill>
                  </a:tcPr>
                </a:tc>
              </a:tr>
            </a:tbl>
          </a:graphicData>
        </a:graphic>
      </p:graphicFrame>
      <p:sp>
        <p:nvSpPr>
          <p:cNvPr id="16" name="Rectangle 15"/>
          <p:cNvSpPr/>
          <p:nvPr/>
        </p:nvSpPr>
        <p:spPr>
          <a:xfrm>
            <a:off x="7159569" y="2888742"/>
            <a:ext cx="4254886" cy="13716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159569" y="2888742"/>
            <a:ext cx="41148" cy="13716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7397313" y="3007614"/>
            <a:ext cx="3797686" cy="11521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Every operation is total. </a:t>
            </a:r>
            <a:r>
              <a:rPr sz="1050" b="0" i="0">
                <a:solidFill>
                  <a:srgbClr val="1C1C1E"/>
                </a:solidFill>
                <a:latin typeface="Calibri"/>
              </a:rPr>
              <a:t>None of the three is idempotent, deliberately: an operation that silently did nothing is one somebody believes happened, and the child then differs from what its author wrote with nothing to show for it.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ALGEBRA · THE LAW THAT WAS MISSING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Independent edits commute — and nobody had checked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5 · The Algebra</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28</a:t>
            </a:r>
          </a:p>
        </p:txBody>
      </p:sp>
      <p:sp>
        <p:nvSpPr>
          <p:cNvPr id="10" name="Rectangle 9"/>
          <p:cNvSpPr/>
          <p:nvPr/>
        </p:nvSpPr>
        <p:spPr>
          <a:xfrm>
            <a:off x="777240" y="1353312"/>
            <a:ext cx="5956840" cy="146752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675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L-20 · tests/test_laws.py</a:t>
            </a:r>
          </a:p>
        </p:txBody>
      </p:sp>
      <p:sp>
        <p:nvSpPr>
          <p:cNvPr id="13" name="TextBox 12"/>
          <p:cNvSpPr txBox="1"/>
          <p:nvPr/>
        </p:nvSpPr>
        <p:spPr>
          <a:xfrm>
            <a:off x="978408" y="1746504"/>
            <a:ext cx="5591080" cy="992032"/>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op₁ · op₂  =  op₂ · op₁      whenever they name DIFFERENT members</a:t>
            </a:r>
          </a:p>
          <a:p>
            <a:pPr>
              <a:lnSpc>
                <a:spcPct val="134000"/>
              </a:lnSpc>
              <a:spcBef>
                <a:spcPts val="0"/>
              </a:spcBef>
              <a:spcAft>
                <a:spcPts val="0"/>
              </a:spcAft>
            </a:pPr>
            <a:r>
              <a:rPr sz="1050" b="0" i="0">
                <a:solidFill>
                  <a:srgbClr val="1C1C1E"/>
                </a:solidFill>
                <a:latin typeface="Consolas"/>
              </a:rPr>
              <a:t> </a:t>
            </a:r>
          </a:p>
          <a:p>
            <a:pPr>
              <a:lnSpc>
                <a:spcPct val="134000"/>
              </a:lnSpc>
              <a:spcBef>
                <a:spcPts val="0"/>
              </a:spcBef>
              <a:spcAft>
                <a:spcPts val="0"/>
              </a:spcAft>
            </a:pPr>
            <a:r>
              <a:rPr sz="1050" b="0" i="0">
                <a:solidFill>
                  <a:srgbClr val="1C1C1E"/>
                </a:solidFill>
                <a:latin typeface="Consolas"/>
              </a:rPr>
              <a:t>drop(x) · add(x, τ)             =  id</a:t>
            </a:r>
          </a:p>
          <a:p>
            <a:pPr>
              <a:lnSpc>
                <a:spcPct val="134000"/>
              </a:lnSpc>
              <a:spcBef>
                <a:spcPts val="0"/>
              </a:spcBef>
              <a:spcAft>
                <a:spcPts val="0"/>
              </a:spcAft>
            </a:pPr>
            <a:r>
              <a:rPr sz="1050" b="0" i="0">
                <a:solidFill>
                  <a:srgbClr val="1C1C1E"/>
                </a:solidFill>
                <a:latin typeface="Consolas"/>
              </a:rPr>
              <a:t>override(x, σ) · override(x, τ) =  override(x, σ)</a:t>
            </a:r>
          </a:p>
        </p:txBody>
      </p:sp>
      <p:sp>
        <p:nvSpPr>
          <p:cNvPr id="14" name="Rectangle 13"/>
          <p:cNvSpPr/>
          <p:nvPr/>
        </p:nvSpPr>
        <p:spPr>
          <a:xfrm>
            <a:off x="777240" y="3095152"/>
            <a:ext cx="5956840" cy="19202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095152"/>
            <a:ext cx="41148" cy="19202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214024"/>
            <a:ext cx="5499640" cy="17007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This is what two people editing a shared featureset rely on. </a:t>
            </a:r>
            <a:r>
              <a:rPr sz="1050" b="0" i="0">
                <a:solidFill>
                  <a:srgbClr val="1C1C1E"/>
                </a:solidFill>
                <a:latin typeface="Calibri"/>
              </a:rPr>
              <a:t>If independent edits commute, the order their edits happened to arrive in carries no meaning — the difference between a merge and a conflict whose resolution is itself a decision nobody recorded. It was never tested, and a failure here could not have been found by testing one edit at a time.</a:t>
            </a:r>
          </a:p>
        </p:txBody>
      </p:sp>
      <p:sp>
        <p:nvSpPr>
          <p:cNvPr id="17" name="TextBox 16"/>
          <p:cNvSpPr txBox="1"/>
          <p:nvPr/>
        </p:nvSpPr>
        <p:spPr>
          <a:xfrm>
            <a:off x="7159569" y="1353312"/>
            <a:ext cx="4254886" cy="310896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What is NOT claimed</a:t>
            </a:r>
          </a:p>
          <a:p>
            <a:pPr>
              <a:lnSpc>
                <a:spcPct val="125000"/>
              </a:lnSpc>
              <a:spcBef>
                <a:spcPts val="0"/>
              </a:spcBef>
              <a:spcAft>
                <a:spcPts val="800"/>
              </a:spcAft>
            </a:pPr>
            <a:r>
              <a:rPr sz="1100" b="0" i="0">
                <a:solidFill>
                  <a:srgbClr val="1C1C1E"/>
                </a:solidFill>
                <a:latin typeface="Calibri"/>
              </a:rPr>
              <a:t>Dependent edits are deliberately not claimed to commute.</a:t>
            </a:r>
          </a:p>
          <a:p>
            <a:pPr>
              <a:lnSpc>
                <a:spcPct val="128000"/>
              </a:lnSpc>
              <a:spcBef>
                <a:spcPts val="0"/>
              </a:spcBef>
              <a:spcAft>
                <a:spcPts val="0"/>
              </a:spcAft>
            </a:pPr>
            <a:r>
              <a:rPr sz="1050" b="0" i="0">
                <a:solidFill>
                  <a:srgbClr val="4A4F57"/>
                </a:solidFill>
                <a:latin typeface="Calibri"/>
              </a:rPr>
              <a:t>override then drop of the same slot is not drop then override — the second order is refused outright. Stating the law only for independent edits is the honest form of it, and a law stated more widely than it holds is a law somebody will rely on where it does not.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6</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Two Clocks</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When a fact was true, when it became known — and the read that keeps them apart.</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Why one clock cannot answer</a:t>
            </a:r>
          </a:p>
          <a:p>
            <a:pPr>
              <a:lnSpc>
                <a:spcPct val="115000"/>
              </a:lnSpc>
              <a:spcBef>
                <a:spcPts val="0"/>
              </a:spcBef>
              <a:spcAft>
                <a:spcPts val="700"/>
              </a:spcAft>
            </a:pPr>
            <a:r>
              <a:rPr sz="1150" b="0" i="0">
                <a:solidFill>
                  <a:srgbClr val="F6E6E9"/>
                </a:solidFill>
                <a:latin typeface="Calibri"/>
              </a:rPr>
              <a:t>The as-of operator</a:t>
            </a:r>
          </a:p>
          <a:p>
            <a:pPr>
              <a:lnSpc>
                <a:spcPct val="115000"/>
              </a:lnSpc>
              <a:spcBef>
                <a:spcPts val="0"/>
              </a:spcBef>
              <a:spcAft>
                <a:spcPts val="700"/>
              </a:spcAft>
            </a:pPr>
            <a:r>
              <a:rPr sz="1150" b="0" i="0">
                <a:solidFill>
                  <a:srgbClr val="F6E6E9"/>
                </a:solidFill>
                <a:latin typeface="Calibri"/>
              </a:rPr>
              <a:t>Four properties, one of which is reproducibility</a:t>
            </a:r>
          </a:p>
          <a:p>
            <a:pPr>
              <a:lnSpc>
                <a:spcPct val="115000"/>
              </a:lnSpc>
              <a:spcBef>
                <a:spcPts val="0"/>
              </a:spcBef>
              <a:spcAft>
                <a:spcPts val="700"/>
              </a:spcAft>
            </a:pPr>
            <a:r>
              <a:rPr sz="1150" b="0" i="0">
                <a:solidFill>
                  <a:srgbClr val="F6E6E9"/>
                </a:solidFill>
                <a:latin typeface="Calibri"/>
              </a:rPr>
              <a:t>Alignment, and hiding nothing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TWO CLOCKS · THE PROBLEM</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Every fact has two timestamps, and one of them is skipped</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Two Clocks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30</a:t>
            </a:r>
          </a:p>
        </p:txBody>
      </p:sp>
      <p:graphicFrame>
        <p:nvGraphicFramePr>
          <p:cNvPr id="10" name="Table 9"/>
          <p:cNvGraphicFramePr>
            <a:graphicFrameLocks noGrp="1"/>
          </p:cNvGraphicFramePr>
          <p:nvPr/>
        </p:nvGraphicFramePr>
        <p:xfrm>
          <a:off x="777240" y="1764792"/>
          <a:ext cx="10637213" cy="1630220"/>
        </p:xfrm>
        <a:graphic>
          <a:graphicData uri="http://schemas.openxmlformats.org/drawingml/2006/table">
            <a:tbl>
              <a:tblPr firstRow="1">
                <a:tableStyleId>{5C22544A-7EE6-4342-B048-85BDC9FD1C3A}</a:tableStyleId>
              </a:tblPr>
              <a:tblGrid>
                <a:gridCol w="1920074"/>
                <a:gridCol w="4297310"/>
                <a:gridCol w="4419829"/>
              </a:tblGrid>
              <a:tr h="329184">
                <a:tc>
                  <a:txBody>
                    <a:bodyPr wrap="square"/>
                    <a:lstStyle/>
                    <a:p>
                      <a:pPr algn="l"/>
                      <a:r>
                        <a:rPr sz="1050" b="1">
                          <a:solidFill>
                            <a:srgbClr val="FFFFFF"/>
                          </a:solidFill>
                          <a:latin typeface="Calibri"/>
                        </a:rPr>
                        <a:t/>
                      </a:r>
                    </a:p>
                  </a:txBody>
                  <a:tcPr marL="82296" marR="64008" marT="32004" marB="32004" anchor="ctr">
                    <a:solidFill>
                      <a:srgbClr val="A51C30"/>
                    </a:solidFill>
                  </a:tcPr>
                </a:tc>
                <a:tc>
                  <a:txBody>
                    <a:bodyPr wrap="square"/>
                    <a:lstStyle/>
                    <a:p>
                      <a:pPr algn="l"/>
                      <a:r>
                        <a:rPr sz="1050" b="1">
                          <a:solidFill>
                            <a:srgbClr val="FFFFFF"/>
                          </a:solidFill>
                          <a:latin typeface="Calibri"/>
                        </a:rPr>
                        <a:t>event_ts</a:t>
                      </a:r>
                    </a:p>
                  </a:txBody>
                  <a:tcPr marL="82296" marR="64008" marT="32004" marB="32004" anchor="ctr">
                    <a:solidFill>
                      <a:srgbClr val="A51C30"/>
                    </a:solidFill>
                  </a:tcPr>
                </a:tc>
                <a:tc>
                  <a:txBody>
                    <a:bodyPr wrap="square"/>
                    <a:lstStyle/>
                    <a:p>
                      <a:pPr algn="l"/>
                      <a:r>
                        <a:rPr sz="1050" b="1">
                          <a:solidFill>
                            <a:srgbClr val="FFFFFF"/>
                          </a:solidFill>
                          <a:latin typeface="Calibri"/>
                        </a:rPr>
                        <a:t>ingest_ts</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Answers</a:t>
                      </a:r>
                    </a:p>
                  </a:txBody>
                  <a:tcPr marL="82296" marR="64008" marT="32004" marB="32004" anchor="ctr">
                    <a:solidFill>
                      <a:srgbClr val="FFFFFF"/>
                    </a:solidFill>
                  </a:tcPr>
                </a:tc>
                <a:tc>
                  <a:txBody>
                    <a:bodyPr wrap="square"/>
                    <a:lstStyle/>
                    <a:p>
                      <a:pPr algn="l"/>
                      <a:r>
                        <a:rPr sz="1050" b="0">
                          <a:solidFill>
                            <a:srgbClr val="1C1C1E"/>
                          </a:solidFill>
                          <a:latin typeface="Calibri"/>
                        </a:rPr>
                        <a:t>when the fact was TRUE</a:t>
                      </a:r>
                    </a:p>
                  </a:txBody>
                  <a:tcPr marL="82296" marR="64008" marT="32004" marB="32004" anchor="ctr">
                    <a:solidFill>
                      <a:srgbClr val="FFFFFF"/>
                    </a:solidFill>
                  </a:tcPr>
                </a:tc>
                <a:tc>
                  <a:txBody>
                    <a:bodyPr wrap="square"/>
                    <a:lstStyle/>
                    <a:p>
                      <a:pPr algn="l"/>
                      <a:r>
                        <a:rPr sz="1050" b="0">
                          <a:solidFill>
                            <a:srgbClr val="1C1C1E"/>
                          </a:solidFill>
                          <a:latin typeface="Calibri"/>
                        </a:rPr>
                        <a:t>when it became KNOWN to us</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For a Q1 ratio</a:t>
                      </a:r>
                    </a:p>
                  </a:txBody>
                  <a:tcPr marL="82296" marR="64008" marT="32004" marB="32004" anchor="ctr">
                    <a:solidFill>
                      <a:srgbClr val="F6F3EF"/>
                    </a:solidFill>
                  </a:tcPr>
                </a:tc>
                <a:tc>
                  <a:txBody>
                    <a:bodyPr wrap="square"/>
                    <a:lstStyle/>
                    <a:p>
                      <a:pPr algn="l"/>
                      <a:r>
                        <a:rPr sz="1050" b="0">
                          <a:solidFill>
                            <a:srgbClr val="1C1C1E"/>
                          </a:solidFill>
                          <a:latin typeface="Calibri"/>
                        </a:rPr>
                        <a:t>31 March — the period it describes</a:t>
                      </a:r>
                    </a:p>
                  </a:txBody>
                  <a:tcPr marL="82296" marR="64008" marT="32004" marB="32004" anchor="ctr">
                    <a:solidFill>
                      <a:srgbClr val="F6F3EF"/>
                    </a:solidFill>
                  </a:tcPr>
                </a:tc>
                <a:tc>
                  <a:txBody>
                    <a:bodyPr wrap="square"/>
                    <a:lstStyle/>
                    <a:p>
                      <a:pPr algn="l"/>
                      <a:r>
                        <a:rPr sz="1050" b="0">
                          <a:solidFill>
                            <a:srgbClr val="1C1C1E"/>
                          </a:solidFill>
                          <a:latin typeface="Calibri"/>
                        </a:rPr>
                        <a:t>20 May — when they filed</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A restatement</a:t>
                      </a:r>
                    </a:p>
                  </a:txBody>
                  <a:tcPr marL="82296" marR="64008" marT="32004" marB="32004" anchor="ctr">
                    <a:solidFill>
                      <a:srgbClr val="FFFFFF"/>
                    </a:solidFill>
                  </a:tcPr>
                </a:tc>
                <a:tc>
                  <a:txBody>
                    <a:bodyPr wrap="square"/>
                    <a:lstStyle/>
                    <a:p>
                      <a:pPr algn="l"/>
                      <a:r>
                        <a:rPr sz="1050" b="0">
                          <a:solidFill>
                            <a:srgbClr val="1C1C1E"/>
                          </a:solidFill>
                          <a:latin typeface="Calibri"/>
                        </a:rPr>
                        <a:t>unchanged: still about Q1</a:t>
                      </a:r>
                    </a:p>
                  </a:txBody>
                  <a:tcPr marL="82296" marR="64008" marT="32004" marB="32004" anchor="ctr">
                    <a:solidFill>
                      <a:srgbClr val="FFFFFF"/>
                    </a:solidFill>
                  </a:tcPr>
                </a:tc>
                <a:tc>
                  <a:txBody>
                    <a:bodyPr wrap="square"/>
                    <a:lstStyle/>
                    <a:p>
                      <a:pPr algn="l"/>
                      <a:r>
                        <a:rPr sz="1050" b="0">
                          <a:solidFill>
                            <a:srgbClr val="1C1C1E"/>
                          </a:solidFill>
                          <a:latin typeface="Calibri"/>
                        </a:rPr>
                        <a:t>August — when the revision arrived</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Dropped by</a:t>
                      </a:r>
                    </a:p>
                  </a:txBody>
                  <a:tcPr marL="82296" marR="64008" marT="32004" marB="32004" anchor="ctr">
                    <a:solidFill>
                      <a:srgbClr val="F6F3EF"/>
                    </a:solidFill>
                  </a:tcPr>
                </a:tc>
                <a:tc>
                  <a:txBody>
                    <a:bodyPr wrap="square"/>
                    <a:lstStyle/>
                    <a:p>
                      <a:pPr algn="l"/>
                      <a:r>
                        <a:rPr sz="1050" b="0">
                          <a:solidFill>
                            <a:srgbClr val="1C1C1E"/>
                          </a:solidFill>
                          <a:latin typeface="Calibri"/>
                        </a:rPr>
                        <a:t>nobody</a:t>
                      </a:r>
                    </a:p>
                  </a:txBody>
                  <a:tcPr marL="82296" marR="64008" marT="32004" marB="32004" anchor="ctr">
                    <a:solidFill>
                      <a:srgbClr val="F6F3EF"/>
                    </a:solidFill>
                  </a:tcPr>
                </a:tc>
                <a:tc>
                  <a:txBody>
                    <a:bodyPr wrap="square"/>
                    <a:lstStyle/>
                    <a:p>
                      <a:pPr algn="l"/>
                      <a:r>
                        <a:rPr sz="1050" b="0">
                          <a:solidFill>
                            <a:srgbClr val="1C1C1E"/>
                          </a:solidFill>
                          <a:latin typeface="Calibri"/>
                        </a:rPr>
                        <a:t>almost every feature store</a:t>
                      </a:r>
                    </a:p>
                  </a:txBody>
                  <a:tcPr marL="82296" marR="64008" marT="32004" marB="32004" anchor="ctr">
                    <a:solidFill>
                      <a:srgbClr val="F6F3EF"/>
                    </a:solidFill>
                  </a:tcPr>
                </a:tc>
              </a:tr>
            </a:tbl>
          </a:graphicData>
        </a:graphic>
      </p:graphicFrame>
      <p:sp>
        <p:nvSpPr>
          <p:cNvPr id="11" name="Rectangle 10"/>
          <p:cNvSpPr/>
          <p:nvPr/>
        </p:nvSpPr>
        <p:spPr>
          <a:xfrm>
            <a:off x="777240" y="3687622"/>
            <a:ext cx="5744096" cy="199286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687622"/>
            <a:ext cx="41148" cy="1992866"/>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377906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CASE THIS EXISTS FOR</a:t>
            </a:r>
          </a:p>
        </p:txBody>
      </p:sp>
      <p:sp>
        <p:nvSpPr>
          <p:cNvPr id="14" name="TextBox 13"/>
          <p:cNvSpPr txBox="1"/>
          <p:nvPr/>
        </p:nvSpPr>
        <p:spPr>
          <a:xfrm>
            <a:off x="978408" y="4080814"/>
            <a:ext cx="5378336"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7A7F87"/>
                </a:solidFill>
                <a:latin typeface="Consolas"/>
              </a:rPr>
              <a:t># the borrower revises Q1 downward, in August</a:t>
            </a:r>
          </a:p>
          <a:p>
            <a:pPr>
              <a:lnSpc>
                <a:spcPct val="134000"/>
              </a:lnSpc>
              <a:spcBef>
                <a:spcPts val="0"/>
              </a:spcBef>
              <a:spcAft>
                <a:spcPts val="0"/>
              </a:spcAft>
            </a:pPr>
            <a:r>
              <a:rPr sz="950" b="0" i="0">
                <a:solidFill>
                  <a:srgbClr val="1C1C1E"/>
                </a:solidFill>
                <a:latin typeface="Consolas"/>
              </a:rPr>
              <a:t>  event 31-Mar   ingest 20-May    dscr 1.20     ← what we knew in May</a:t>
            </a:r>
          </a:p>
          <a:p>
            <a:pPr>
              <a:lnSpc>
                <a:spcPct val="134000"/>
              </a:lnSpc>
              <a:spcBef>
                <a:spcPts val="0"/>
              </a:spcBef>
              <a:spcAft>
                <a:spcPts val="0"/>
              </a:spcAft>
            </a:pPr>
            <a:r>
              <a:rPr sz="950" b="0" i="0">
                <a:solidFill>
                  <a:srgbClr val="1C1C1E"/>
                </a:solidFill>
                <a:latin typeface="Consolas"/>
              </a:rPr>
              <a:t>  event 31-Mar   ingest 20-Aug    dscr 0.40     ← the restatement</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building a training row for a decision made in MAY</a:t>
            </a:r>
          </a:p>
          <a:p>
            <a:pPr>
              <a:lnSpc>
                <a:spcPct val="134000"/>
              </a:lnSpc>
              <a:spcBef>
                <a:spcPts val="0"/>
              </a:spcBef>
              <a:spcAft>
                <a:spcPts val="0"/>
              </a:spcAft>
            </a:pPr>
            <a:r>
              <a:rPr sz="950" b="0" i="0">
                <a:solidFill>
                  <a:srgbClr val="1C1C1E"/>
                </a:solidFill>
                <a:latin typeface="Consolas"/>
              </a:rPr>
              <a:t>  one clock  →  0.40    (it is the current value for Q1)</a:t>
            </a:r>
          </a:p>
          <a:p>
            <a:pPr>
              <a:lnSpc>
                <a:spcPct val="134000"/>
              </a:lnSpc>
              <a:spcBef>
                <a:spcPts val="0"/>
              </a:spcBef>
              <a:spcAft>
                <a:spcPts val="0"/>
              </a:spcAft>
            </a:pPr>
            <a:r>
              <a:rPr sz="950" b="0" i="0">
                <a:solidFill>
                  <a:srgbClr val="1C1C1E"/>
                </a:solidFill>
                <a:latin typeface="Consolas"/>
              </a:rPr>
              <a:t>  two clocks →  1.20    (0.40 was not knowable in May)</a:t>
            </a:r>
          </a:p>
        </p:txBody>
      </p:sp>
      <p:sp>
        <p:nvSpPr>
          <p:cNvPr id="15" name="Rectangle 14"/>
          <p:cNvSpPr/>
          <p:nvPr/>
        </p:nvSpPr>
        <p:spPr>
          <a:xfrm>
            <a:off x="6946824" y="3687622"/>
            <a:ext cx="4467630" cy="1992866"/>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946824" y="3687622"/>
            <a:ext cx="41148" cy="199286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7184568" y="3806494"/>
            <a:ext cx="4010430" cy="177341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Train on 0.40 and the model learns to predict defaults from a number that exists BECAUSE the default already happened. </a:t>
            </a:r>
            <a:r>
              <a:rPr sz="1050" b="0" i="0">
                <a:solidFill>
                  <a:srgbClr val="1C1C1E"/>
                </a:solidFill>
                <a:latin typeface="Calibri"/>
              </a:rPr>
              <a:t>It scores beautifully in backtest and fails in production, and the failure looks like drift rather than what it is.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TWO CLOCKS · ASOF</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read, named as an operator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Two Clocks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31</a:t>
            </a:r>
          </a:p>
        </p:txBody>
      </p:sp>
      <p:sp>
        <p:nvSpPr>
          <p:cNvPr id="10" name="Rectangle 9"/>
          <p:cNvSpPr/>
          <p:nvPr/>
        </p:nvSpPr>
        <p:spPr>
          <a:xfrm>
            <a:off x="777240" y="1353312"/>
            <a:ext cx="5956840" cy="18534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8534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core/features/assembly.py</a:t>
            </a:r>
          </a:p>
        </p:txBody>
      </p:sp>
      <p:sp>
        <p:nvSpPr>
          <p:cNvPr id="13" name="TextBox 12"/>
          <p:cNvSpPr txBox="1"/>
          <p:nvPr/>
        </p:nvSpPr>
        <p:spPr>
          <a:xfrm>
            <a:off x="978408" y="1746504"/>
            <a:ext cx="5591080" cy="1378000"/>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1C1C1E"/>
                </a:solidFill>
                <a:latin typeface="Consolas"/>
              </a:rPr>
              <a:t>AsOf(R, ℓ, a) =</a:t>
            </a:r>
          </a:p>
          <a:p>
            <a:pPr>
              <a:lnSpc>
                <a:spcPct val="134000"/>
              </a:lnSpc>
              <a:spcBef>
                <a:spcPts val="0"/>
              </a:spcBef>
              <a:spcAft>
                <a:spcPts val="0"/>
              </a:spcAft>
            </a:pPr>
            <a:r>
              <a:rPr sz="1000" b="0" i="0">
                <a:solidFill>
                  <a:srgbClr val="1C1C1E"/>
                </a:solidFill>
                <a:latin typeface="Consolas"/>
              </a:rPr>
              <a:t>    argmax over (event_ts, ingest_ts) of</a:t>
            </a:r>
          </a:p>
          <a:p>
            <a:pPr>
              <a:lnSpc>
                <a:spcPct val="134000"/>
              </a:lnSpc>
              <a:spcBef>
                <a:spcPts val="0"/>
              </a:spcBef>
              <a:spcAft>
                <a:spcPts val="0"/>
              </a:spcAft>
            </a:pPr>
            <a:r>
              <a:rPr sz="1000" b="0" i="0">
                <a:solidFill>
                  <a:srgbClr val="1C1C1E"/>
                </a:solidFill>
                <a:latin typeface="Consolas"/>
              </a:rPr>
              <a:t>    { r ∈ R : r.event ≤ ℓ  ∧  r.ingest ≤ min(ℓ, a) }</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7A7F87"/>
                </a:solidFill>
                <a:latin typeface="Consolas"/>
              </a:rPr>
              <a:t>#  ℓ  the label's moment — what the model could have known</a:t>
            </a:r>
          </a:p>
          <a:p>
            <a:pPr>
              <a:lnSpc>
                <a:spcPct val="134000"/>
              </a:lnSpc>
              <a:spcBef>
                <a:spcPts val="0"/>
              </a:spcBef>
              <a:spcAft>
                <a:spcPts val="0"/>
              </a:spcAft>
            </a:pPr>
            <a:r>
              <a:rPr sz="1000" b="0" i="0">
                <a:solidFill>
                  <a:srgbClr val="7A7F87"/>
                </a:solidFill>
                <a:latin typeface="Consolas"/>
              </a:rPr>
              <a:t>#  a  the assembly's as_of — what the PLATFORM could have known</a:t>
            </a:r>
          </a:p>
        </p:txBody>
      </p:sp>
      <p:sp>
        <p:nvSpPr>
          <p:cNvPr id="14" name="Rectangle 13"/>
          <p:cNvSpPr/>
          <p:nvPr/>
        </p:nvSpPr>
        <p:spPr>
          <a:xfrm>
            <a:off x="777240" y="3462832"/>
            <a:ext cx="5956840" cy="17373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462832"/>
            <a:ext cx="41148" cy="17373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581704"/>
            <a:ext cx="5499640" cy="15179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Both bounds, because they refuse different things. </a:t>
            </a:r>
            <a:r>
              <a:rPr sz="1050" b="0" i="0">
                <a:solidFill>
                  <a:srgbClr val="1C1C1E"/>
                </a:solidFill>
                <a:latin typeface="Calibri"/>
              </a:rPr>
              <a:t>`ℓ` is what the model could have known when the decision was made. `a` is what the platform could have known when the set was built, so a restatement arriving after assembly cannot creep into a re-run. Dropping either one admits a different leak, and the second is the one people drop.</a:t>
            </a:r>
          </a:p>
        </p:txBody>
      </p:sp>
      <p:graphicFrame>
        <p:nvGraphicFramePr>
          <p:cNvPr id="17" name="Table 16"/>
          <p:cNvGraphicFramePr>
            <a:graphicFrameLocks noGrp="1"/>
          </p:cNvGraphicFramePr>
          <p:nvPr/>
        </p:nvGraphicFramePr>
        <p:xfrm>
          <a:off x="7159569" y="1353312"/>
          <a:ext cx="4254886" cy="1885872"/>
        </p:xfrm>
        <a:graphic>
          <a:graphicData uri="http://schemas.openxmlformats.org/drawingml/2006/table">
            <a:tbl>
              <a:tblPr firstRow="1">
                <a:tableStyleId>{5C22544A-7EE6-4342-B048-85BDC9FD1C3A}</a:tableStyleId>
              </a:tblPr>
              <a:tblGrid>
                <a:gridCol w="1474071"/>
                <a:gridCol w="2780815"/>
              </a:tblGrid>
              <a:tr h="329184">
                <a:tc>
                  <a:txBody>
                    <a:bodyPr wrap="square"/>
                    <a:lstStyle/>
                    <a:p>
                      <a:pPr algn="l"/>
                      <a:r>
                        <a:rPr sz="950" b="1">
                          <a:solidFill>
                            <a:srgbClr val="FFFFFF"/>
                          </a:solidFill>
                          <a:latin typeface="Calibri"/>
                        </a:rPr>
                        <a:t>Property</a:t>
                      </a:r>
                    </a:p>
                  </a:txBody>
                  <a:tcPr marL="82296" marR="64008" marT="32004" marB="32004" anchor="ctr">
                    <a:solidFill>
                      <a:srgbClr val="A51C30"/>
                    </a:solidFill>
                  </a:tcPr>
                </a:tc>
                <a:tc>
                  <a:txBody>
                    <a:bodyPr wrap="square"/>
                    <a:lstStyle/>
                    <a:p>
                      <a:pPr algn="l"/>
                      <a:r>
                        <a:rPr sz="950" b="1">
                          <a:solidFill>
                            <a:srgbClr val="FFFFFF"/>
                          </a:solidFill>
                          <a:latin typeface="Calibri"/>
                        </a:rPr>
                        <a:t>Says</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Idempotent</a:t>
                      </a:r>
                    </a:p>
                  </a:txBody>
                  <a:tcPr marL="82296" marR="64008" marT="32004" marB="32004" anchor="ctr">
                    <a:solidFill>
                      <a:srgbClr val="FFFFFF"/>
                    </a:solidFill>
                  </a:tcPr>
                </a:tc>
                <a:tc>
                  <a:txBody>
                    <a:bodyPr wrap="square"/>
                    <a:lstStyle/>
                    <a:p>
                      <a:pPr algn="l"/>
                      <a:r>
                        <a:rPr sz="950" b="0">
                          <a:solidFill>
                            <a:srgbClr val="1C1C1E"/>
                          </a:solidFill>
                          <a:latin typeface="Calibri"/>
                        </a:rPr>
                        <a:t>reading the result again returns it</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Commutes with projection</a:t>
                      </a:r>
                    </a:p>
                  </a:txBody>
                  <a:tcPr marL="82296" marR="64008" marT="32004" marB="32004" anchor="ctr">
                    <a:solidFill>
                      <a:srgbClr val="F6F3EF"/>
                    </a:solidFill>
                  </a:tcPr>
                </a:tc>
                <a:tc>
                  <a:txBody>
                    <a:bodyPr wrap="square"/>
                    <a:lstStyle/>
                    <a:p>
                      <a:pPr algn="l"/>
                      <a:r>
                        <a:rPr sz="950" b="0">
                          <a:solidFill>
                            <a:srgbClr val="1C1C1E"/>
                          </a:solidFill>
                          <a:latin typeface="Calibri"/>
                        </a:rPr>
                        <a:t>the choice is made on the clocks alone, so fewer columns cannot change it</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Monotone in a</a:t>
                      </a:r>
                    </a:p>
                  </a:txBody>
                  <a:tcPr marL="82296" marR="64008" marT="32004" marB="32004" anchor="ctr">
                    <a:solidFill>
                      <a:srgbClr val="FFFFFF"/>
                    </a:solidFill>
                  </a:tcPr>
                </a:tc>
                <a:tc>
                  <a:txBody>
                    <a:bodyPr wrap="square"/>
                    <a:lstStyle/>
                    <a:p>
                      <a:pPr algn="l"/>
                      <a:r>
                        <a:rPr sz="950" b="0">
                          <a:solidFill>
                            <a:srgbClr val="1C1C1E"/>
                          </a:solidFill>
                          <a:latin typeface="Calibri"/>
                        </a:rPr>
                        <a:t>a later read can only WIDEN what is admissible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Saturating at ℓ</a:t>
                      </a:r>
                    </a:p>
                  </a:txBody>
                  <a:tcPr marL="82296" marR="64008" marT="32004" marB="32004" anchor="ctr">
                    <a:solidFill>
                      <a:srgbClr val="F6F3EF"/>
                    </a:solidFill>
                  </a:tcPr>
                </a:tc>
                <a:tc>
                  <a:txBody>
                    <a:bodyPr wrap="square"/>
                    <a:lstStyle/>
                    <a:p>
                      <a:pPr algn="l"/>
                      <a:r>
                        <a:rPr sz="950" b="0">
                          <a:solidFill>
                            <a:srgbClr val="1C1C1E"/>
                          </a:solidFill>
                          <a:latin typeface="Calibri"/>
                        </a:rPr>
                        <a:t>every a ≥ ℓ gives the SAME ANSWER</a:t>
                      </a:r>
                    </a:p>
                  </a:txBody>
                  <a:tcPr marL="82296" marR="64008" marT="32004" marB="32004" anchor="ctr">
                    <a:solidFill>
                      <a:srgbClr val="F6F3EF"/>
                    </a:solidFill>
                  </a:tcPr>
                </a:tc>
              </a:tr>
            </a:tbl>
          </a:graphicData>
        </a:graphic>
      </p:graphicFrame>
      <p:sp>
        <p:nvSpPr>
          <p:cNvPr id="18" name="TextBox 17"/>
          <p:cNvSpPr txBox="1"/>
          <p:nvPr/>
        </p:nvSpPr>
        <p:spPr>
          <a:xfrm>
            <a:off x="7159569" y="3476929"/>
            <a:ext cx="4254886" cy="548640"/>
          </a:xfrm>
          <a:prstGeom prst="rect">
            <a:avLst/>
          </a:prstGeom>
          <a:noFill/>
        </p:spPr>
        <p:txBody>
          <a:bodyPr wrap="square" lIns="0" rIns="0" tIns="0" bIns="0" anchor="t">
            <a:spAutoFit/>
          </a:bodyPr>
          <a:lstStyle/>
          <a:p>
            <a:pPr algn="l">
              <a:spcBef>
                <a:spcPts val="0"/>
              </a:spcBef>
              <a:spcAft>
                <a:spcPts val="0"/>
              </a:spcAft>
            </a:pPr>
            <a:r>
              <a:rPr sz="950" b="1" i="0">
                <a:solidFill>
                  <a:srgbClr val="7A7F87"/>
                </a:solidFill>
                <a:latin typeface="Consolas"/>
              </a:rPr>
              <a:t>L-10 · tests/test_laws.py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TWO CLOCKS · WHY MIN(ℓ, A) MATTERS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fourth one is the reproducibility guarantee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Two Clocks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32</a:t>
            </a:r>
          </a:p>
        </p:txBody>
      </p:sp>
      <p:sp>
        <p:nvSpPr>
          <p:cNvPr id="10" name="Rectangle 9"/>
          <p:cNvSpPr/>
          <p:nvPr/>
        </p:nvSpPr>
        <p:spPr>
          <a:xfrm>
            <a:off x="777240"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Assemble in May</a:t>
            </a:r>
          </a:p>
          <a:p>
            <a:pPr>
              <a:lnSpc>
                <a:spcPct val="115000"/>
              </a:lnSpc>
              <a:spcBef>
                <a:spcPts val="0"/>
              </a:spcBef>
              <a:spcAft>
                <a:spcPts val="600"/>
              </a:spcAft>
            </a:pPr>
            <a:r>
              <a:rPr sz="850" b="0" i="0">
                <a:solidFill>
                  <a:srgbClr val="4A4F57"/>
                </a:solidFill>
                <a:latin typeface="Calibri"/>
              </a:rPr>
              <a:t>the row for a decision labelled in May reads dscr = 1.20, the value knowable then</a:t>
            </a:r>
          </a:p>
        </p:txBody>
      </p:sp>
      <p:sp>
        <p:nvSpPr>
          <p:cNvPr id="13" name="Rectangle 12"/>
          <p:cNvSpPr/>
          <p:nvPr/>
        </p:nvSpPr>
        <p:spPr>
          <a:xfrm>
            <a:off x="3482263"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A restatement arrives</a:t>
            </a:r>
          </a:p>
          <a:p>
            <a:pPr>
              <a:lnSpc>
                <a:spcPct val="115000"/>
              </a:lnSpc>
              <a:spcBef>
                <a:spcPts val="0"/>
              </a:spcBef>
              <a:spcAft>
                <a:spcPts val="600"/>
              </a:spcAft>
            </a:pPr>
            <a:r>
              <a:rPr sz="850" b="0" i="0">
                <a:solidFill>
                  <a:srgbClr val="4A4F57"/>
                </a:solidFill>
                <a:latin typeface="Calibri"/>
              </a:rPr>
              <a:t>August: the same Q1 figure, revised to 0.40. Both rows are true and both stay</a:t>
            </a:r>
          </a:p>
        </p:txBody>
      </p:sp>
      <p:sp>
        <p:nvSpPr>
          <p:cNvPr id="16" name="Rectangle 15"/>
          <p:cNvSpPr/>
          <p:nvPr/>
        </p:nvSpPr>
        <p:spPr>
          <a:xfrm>
            <a:off x="6187287"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Re-assemble a year later</a:t>
            </a:r>
          </a:p>
          <a:p>
            <a:pPr>
              <a:lnSpc>
                <a:spcPct val="115000"/>
              </a:lnSpc>
              <a:spcBef>
                <a:spcPts val="0"/>
              </a:spcBef>
              <a:spcAft>
                <a:spcPts val="600"/>
              </a:spcAft>
            </a:pPr>
            <a:r>
              <a:rPr sz="850" b="0" i="0">
                <a:solidFill>
                  <a:srgbClr val="4A4F57"/>
                </a:solidFill>
                <a:latin typeface="Calibri"/>
              </a:rPr>
              <a:t>the ingest bound is min(label, as_of), so it saturates at the label</a:t>
            </a:r>
          </a:p>
        </p:txBody>
      </p:sp>
      <p:sp>
        <p:nvSpPr>
          <p:cNvPr id="19" name="Rectangle 18"/>
          <p:cNvSpPr/>
          <p:nvPr/>
        </p:nvSpPr>
        <p:spPr>
          <a:xfrm>
            <a:off x="8892311" y="1353312"/>
            <a:ext cx="2522143" cy="160020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32588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The answer is identical</a:t>
            </a:r>
          </a:p>
          <a:p>
            <a:pPr>
              <a:lnSpc>
                <a:spcPct val="115000"/>
              </a:lnSpc>
              <a:spcBef>
                <a:spcPts val="0"/>
              </a:spcBef>
              <a:spcAft>
                <a:spcPts val="600"/>
              </a:spcAft>
            </a:pPr>
            <a:r>
              <a:rPr sz="850" b="0" i="0">
                <a:solidFill>
                  <a:srgbClr val="4A4F57"/>
                </a:solidFill>
                <a:latin typeface="Calibri"/>
              </a:rPr>
              <a:t>1.20 — however many restatements arrived between, and however long ago it was</a:t>
            </a:r>
          </a:p>
        </p:txBody>
      </p:sp>
      <p:sp>
        <p:nvSpPr>
          <p:cNvPr id="22" name="Rectangle 21"/>
          <p:cNvSpPr/>
          <p:nvPr/>
        </p:nvSpPr>
        <p:spPr>
          <a:xfrm>
            <a:off x="777240" y="3227832"/>
            <a:ext cx="10637215"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22783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14983" y="3346703"/>
            <a:ext cx="10180015"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Without the min, a re-run quietly IMPROVES on the original. </a:t>
            </a:r>
            <a:r>
              <a:rPr sz="1050" b="0" i="0">
                <a:solidFill>
                  <a:srgbClr val="1C1C1E"/>
                </a:solidFill>
                <a:latin typeface="Calibri"/>
              </a:rPr>
              <a:t>That is the least useful kind of reproducibility: the numbers then agree with nothing, including themselves — a validator replaying a decision gets a better answer than the one that was made, cannot tell that is what happened, and reports agreement. The bound is one function call and it is the whole guarantee.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TWO CLOCKS · AND HIDING NOTHING</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Alignment: three of the five rules reach into the future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6 · Two Clocks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33</a:t>
            </a:r>
          </a:p>
        </p:txBody>
      </p:sp>
      <p:graphicFrame>
        <p:nvGraphicFramePr>
          <p:cNvPr id="10" name="Table 9"/>
          <p:cNvGraphicFramePr>
            <a:graphicFrameLocks noGrp="1"/>
          </p:cNvGraphicFramePr>
          <p:nvPr/>
        </p:nvGraphicFramePr>
        <p:xfrm>
          <a:off x="777240" y="1764792"/>
          <a:ext cx="5531350" cy="1912874"/>
        </p:xfrm>
        <a:graphic>
          <a:graphicData uri="http://schemas.openxmlformats.org/drawingml/2006/table">
            <a:tbl>
              <a:tblPr firstRow="1">
                <a:tableStyleId>{5C22544A-7EE6-4342-B048-85BDC9FD1C3A}</a:tableStyleId>
              </a:tblPr>
              <a:tblGrid>
                <a:gridCol w="1275239"/>
                <a:gridCol w="2311371"/>
                <a:gridCol w="1944740"/>
              </a:tblGrid>
              <a:tr h="329184">
                <a:tc>
                  <a:txBody>
                    <a:bodyPr wrap="square"/>
                    <a:lstStyle/>
                    <a:p>
                      <a:pPr algn="l"/>
                      <a:r>
                        <a:rPr sz="1000" b="1">
                          <a:solidFill>
                            <a:srgbClr val="FFFFFF"/>
                          </a:solidFill>
                          <a:latin typeface="Calibri"/>
                        </a:rPr>
                        <a:t>Rule</a:t>
                      </a:r>
                    </a:p>
                  </a:txBody>
                  <a:tcPr marL="82296" marR="64008" marT="32004" marB="32004" anchor="ctr">
                    <a:solidFill>
                      <a:srgbClr val="A51C30"/>
                    </a:solidFill>
                  </a:tcPr>
                </a:tc>
                <a:tc>
                  <a:txBody>
                    <a:bodyPr wrap="square"/>
                    <a:lstStyle/>
                    <a:p>
                      <a:pPr algn="l"/>
                      <a:r>
                        <a:rPr sz="1000" b="1">
                          <a:solidFill>
                            <a:srgbClr val="FFFFFF"/>
                          </a:solidFill>
                          <a:latin typeface="Calibri"/>
                        </a:rPr>
                        <a:t>Fills from</a:t>
                      </a:r>
                    </a:p>
                  </a:txBody>
                  <a:tcPr marL="82296" marR="64008" marT="32004" marB="32004" anchor="ctr">
                    <a:solidFill>
                      <a:srgbClr val="A51C30"/>
                    </a:solidFill>
                  </a:tcPr>
                </a:tc>
                <a:tc>
                  <a:txBody>
                    <a:bodyPr wrap="square"/>
                    <a:lstStyle/>
                    <a:p>
                      <a:pPr algn="l"/>
                      <a:r>
                        <a:rPr sz="1000" b="1">
                          <a:solidFill>
                            <a:srgbClr val="FFFFFF"/>
                          </a:solidFill>
                          <a:latin typeface="Calibri"/>
                        </a:rPr>
                        <a:t>Point-in-time safe</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none</a:t>
                      </a:r>
                    </a:p>
                  </a:txBody>
                  <a:tcPr marL="82296" marR="64008" marT="32004" marB="32004" anchor="ctr">
                    <a:solidFill>
                      <a:srgbClr val="FFFFFF"/>
                    </a:solidFill>
                  </a:tcPr>
                </a:tc>
                <a:tc>
                  <a:txBody>
                    <a:bodyPr wrap="square"/>
                    <a:lstStyle/>
                    <a:p>
                      <a:pPr algn="l"/>
                      <a:r>
                        <a:rPr sz="1000" b="0">
                          <a:solidFill>
                            <a:srgbClr val="1C1C1E"/>
                          </a:solidFill>
                          <a:latin typeface="Calibri"/>
                        </a:rPr>
                        <a:t>nothing</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flat_forward</a:t>
                      </a:r>
                    </a:p>
                  </a:txBody>
                  <a:tcPr marL="82296" marR="64008" marT="32004" marB="32004" anchor="ctr">
                    <a:solidFill>
                      <a:srgbClr val="F6F3EF"/>
                    </a:solidFill>
                  </a:tcPr>
                </a:tc>
                <a:tc>
                  <a:txBody>
                    <a:bodyPr wrap="square"/>
                    <a:lstStyle/>
                    <a:p>
                      <a:pPr algn="l"/>
                      <a:r>
                        <a:rPr sz="1000" b="0">
                          <a:solidFill>
                            <a:srgbClr val="1C1C1E"/>
                          </a:solidFill>
                          <a:latin typeface="Calibri"/>
                        </a:rPr>
                        <a:t>the last observation</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flat_backward</a:t>
                      </a:r>
                    </a:p>
                  </a:txBody>
                  <a:tcPr marL="82296" marR="64008" marT="32004" marB="32004" anchor="ctr">
                    <a:solidFill>
                      <a:srgbClr val="FFFFFF"/>
                    </a:solidFill>
                  </a:tcPr>
                </a:tc>
                <a:tc>
                  <a:txBody>
                    <a:bodyPr wrap="square"/>
                    <a:lstStyle/>
                    <a:p>
                      <a:pPr algn="l"/>
                      <a:r>
                        <a:rPr sz="1000" b="0">
                          <a:solidFill>
                            <a:srgbClr val="1C1C1E"/>
                          </a:solidFill>
                          <a:latin typeface="Calibri"/>
                        </a:rPr>
                        <a:t>the NEXT observation</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linear</a:t>
                      </a:r>
                    </a:p>
                  </a:txBody>
                  <a:tcPr marL="82296" marR="64008" marT="32004" marB="32004" anchor="ctr">
                    <a:solidFill>
                      <a:srgbClr val="F6F3EF"/>
                    </a:solidFill>
                  </a:tcPr>
                </a:tc>
                <a:tc>
                  <a:txBody>
                    <a:bodyPr wrap="square"/>
                    <a:lstStyle/>
                    <a:p>
                      <a:pPr algn="l"/>
                      <a:r>
                        <a:rPr sz="1000" b="0">
                          <a:solidFill>
                            <a:srgbClr val="1C1C1E"/>
                          </a:solidFill>
                          <a:latin typeface="Calibri"/>
                        </a:rPr>
                        <a:t>both neighbours</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nearest</a:t>
                      </a:r>
                    </a:p>
                  </a:txBody>
                  <a:tcPr marL="82296" marR="64008" marT="32004" marB="32004" anchor="ctr">
                    <a:solidFill>
                      <a:srgbClr val="FFFFFF"/>
                    </a:solidFill>
                  </a:tcPr>
                </a:tc>
                <a:tc>
                  <a:txBody>
                    <a:bodyPr wrap="square"/>
                    <a:lstStyle/>
                    <a:p>
                      <a:pPr algn="l"/>
                      <a:r>
                        <a:rPr sz="1000" b="0">
                          <a:solidFill>
                            <a:srgbClr val="1C1C1E"/>
                          </a:solidFill>
                          <a:latin typeface="Calibri"/>
                        </a:rPr>
                        <a:t>whichever is closer</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bl>
          </a:graphicData>
        </a:graphic>
      </p:graphicFrame>
      <p:sp>
        <p:nvSpPr>
          <p:cNvPr id="11" name="TextBox 10"/>
          <p:cNvSpPr txBox="1"/>
          <p:nvPr/>
        </p:nvSpPr>
        <p:spPr>
          <a:xfrm>
            <a:off x="6734080" y="1764792"/>
            <a:ext cx="4680374" cy="3291840"/>
          </a:xfrm>
          <a:prstGeom prst="rect">
            <a:avLst/>
          </a:prstGeom>
          <a:noFill/>
        </p:spPr>
        <p:txBody>
          <a:bodyPr wrap="square" lIns="0" rIns="0" tIns="0" bIns="0" anchor="t">
            <a:spAutoFit/>
          </a:bodyPr>
          <a:lstStyle/>
          <a:p>
            <a:pPr algn="l">
              <a:spcBef>
                <a:spcPts val="0"/>
              </a:spcBef>
              <a:spcAft>
                <a:spcPts val="900"/>
              </a:spcAft>
            </a:pPr>
            <a:r>
              <a:rPr sz="1300" b="1" i="0">
                <a:solidFill>
                  <a:srgbClr val="A51C30"/>
                </a:solidFill>
                <a:latin typeface="Georgia"/>
              </a:rPr>
              <a:t>They are not refused. They are stamped.</a:t>
            </a:r>
          </a:p>
          <a:p>
            <a:pPr>
              <a:lnSpc>
                <a:spcPct val="126000"/>
              </a:lnSpc>
              <a:spcBef>
                <a:spcPts val="0"/>
              </a:spcBef>
              <a:spcAft>
                <a:spcPts val="900"/>
              </a:spcAft>
            </a:pPr>
            <a:r>
              <a:rPr sz="1100" b="0" i="0">
                <a:solidFill>
                  <a:srgbClr val="1C1C1E"/>
                </a:solidFill>
                <a:latin typeface="Calibri"/>
              </a:rPr>
              <a:t>Back-filling is the right answer for drawing a curve, for an explicitly retrospective backtest, for showing a history to a person — and wrong for training. Refusing it would push it into a spreadsheet where nothing can see it.</a:t>
            </a:r>
          </a:p>
          <a:p>
            <a:pPr>
              <a:lnSpc>
                <a:spcPct val="126000"/>
              </a:lnSpc>
              <a:spcBef>
                <a:spcPts val="0"/>
              </a:spcBef>
              <a:spcAft>
                <a:spcPts val="900"/>
              </a:spcAft>
            </a:pPr>
            <a:r>
              <a:rPr sz="1100" b="0" i="0">
                <a:solidFill>
                  <a:srgbClr val="1C1C1E"/>
                </a:solidFill>
                <a:latin typeface="Calibri"/>
              </a:rPr>
              <a:t>So a value carried backwards inherits the LATER observation's ingest_ts, because that is genuinely when it became knowable. An ordinary point-in-time read then excludes it, with nobody having to remember a flag.</a:t>
            </a:r>
          </a:p>
          <a:p>
            <a:pPr>
              <a:lnSpc>
                <a:spcPct val="126000"/>
              </a:lnSpc>
              <a:spcBef>
                <a:spcPts val="0"/>
              </a:spcBef>
              <a:spcAft>
                <a:spcPts val="0"/>
              </a:spcAft>
            </a:pPr>
            <a:r>
              <a:rPr sz="1150" b="1" i="0">
                <a:solidFill>
                  <a:srgbClr val="A51C30"/>
                </a:solidFill>
                <a:latin typeface="Calibri"/>
              </a:rPr>
              <a:t>The leakage is not caught by a check. It is made arithmetically impossible to hide.</a:t>
            </a:r>
          </a:p>
        </p:txBody>
      </p:sp>
      <p:sp>
        <p:nvSpPr>
          <p:cNvPr id="12" name="Rectangle 11"/>
          <p:cNvSpPr/>
          <p:nvPr/>
        </p:nvSpPr>
        <p:spPr>
          <a:xfrm>
            <a:off x="777240" y="3951985"/>
            <a:ext cx="5531351" cy="12801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3951985"/>
            <a:ext cx="41148" cy="12801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1014983" y="4070857"/>
            <a:ext cx="5074151" cy="10607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bounds finish it. </a:t>
            </a:r>
            <a:r>
              <a:rPr sz="1050" b="0" i="0">
                <a:solidFill>
                  <a:srgbClr val="1C1C1E"/>
                </a:solidFill>
                <a:latin typeface="Calibri"/>
              </a:rPr>
              <a:t>A CARRY LIMIT bounds how far an observation may travel — a balance from eighteen months ago is not this month's balance. And interpolation will not EXTRAPOLATE from one side under the name of interpolating: a different act, with a different error, and doing it silently would hide which was done.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7</a:t>
            </a:r>
          </a:p>
        </p:txBody>
      </p:sp>
      <p:sp>
        <p:nvSpPr>
          <p:cNvPr id="5" name="TextBox 4"/>
          <p:cNvSpPr txBox="1"/>
          <p:nvPr/>
        </p:nvSpPr>
        <p:spPr>
          <a:xfrm>
            <a:off x="1005840" y="2478024"/>
            <a:ext cx="6169584" cy="1188720"/>
          </a:xfrm>
          <a:prstGeom prst="rect">
            <a:avLst/>
          </a:prstGeom>
          <a:noFill/>
        </p:spPr>
        <p:txBody>
          <a:bodyPr wrap="square" lIns="0" rIns="0" tIns="0" bIns="0" anchor="t">
            <a:spAutoFit/>
          </a:bodyPr>
          <a:lstStyle/>
          <a:p>
            <a:pPr algn="l">
              <a:spcBef>
                <a:spcPts val="0"/>
              </a:spcBef>
              <a:spcAft>
                <a:spcPts val="0"/>
              </a:spcAft>
            </a:pPr>
            <a:r>
              <a:rPr sz="2600" b="0" i="0">
                <a:solidFill>
                  <a:srgbClr val="FFFFFF"/>
                </a:solidFill>
                <a:latin typeface="Georgia"/>
              </a:rPr>
              <a:t>Evidence, and Six Questions from One Traversal</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An append-only chain, a semiring per question, and the universal object that makes them one computation.</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Why there is no audit log</a:t>
            </a:r>
          </a:p>
          <a:p>
            <a:pPr>
              <a:lnSpc>
                <a:spcPct val="115000"/>
              </a:lnSpc>
              <a:spcBef>
                <a:spcPts val="0"/>
              </a:spcBef>
              <a:spcAft>
                <a:spcPts val="700"/>
              </a:spcAft>
            </a:pPr>
            <a:r>
              <a:rPr sz="1150" b="0" i="0">
                <a:solidFill>
                  <a:srgbClr val="F6E6E9"/>
                </a:solidFill>
                <a:latin typeface="Calibri"/>
              </a:rPr>
              <a:t>The chain, and what verification means</a:t>
            </a:r>
          </a:p>
          <a:p>
            <a:pPr>
              <a:lnSpc>
                <a:spcPct val="115000"/>
              </a:lnSpc>
              <a:spcBef>
                <a:spcPts val="0"/>
              </a:spcBef>
              <a:spcAft>
                <a:spcPts val="700"/>
              </a:spcAft>
            </a:pPr>
            <a:r>
              <a:rPr sz="1150" b="0" i="0">
                <a:solidFill>
                  <a:srgbClr val="F6E6E9"/>
                </a:solidFill>
                <a:latin typeface="Calibri"/>
              </a:rPr>
              <a:t>Six semirings</a:t>
            </a:r>
          </a:p>
          <a:p>
            <a:pPr>
              <a:lnSpc>
                <a:spcPct val="115000"/>
              </a:lnSpc>
              <a:spcBef>
                <a:spcPts val="0"/>
              </a:spcBef>
              <a:spcAft>
                <a:spcPts val="700"/>
              </a:spcAft>
            </a:pPr>
            <a:r>
              <a:rPr sz="1150" b="0" i="0">
                <a:solidFill>
                  <a:srgbClr val="F6E6E9"/>
                </a:solidFill>
                <a:latin typeface="Calibri"/>
              </a:rPr>
              <a:t>The polynomial underneath</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ONE RECORD</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There is no separate audit log, and that is deliberate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35</a:t>
            </a:r>
          </a:p>
        </p:txBody>
      </p:sp>
      <p:sp>
        <p:nvSpPr>
          <p:cNvPr id="10" name="TextBox 9"/>
          <p:cNvSpPr txBox="1"/>
          <p:nvPr/>
        </p:nvSpPr>
        <p:spPr>
          <a:xfrm>
            <a:off x="777240" y="1764792"/>
            <a:ext cx="5744096" cy="26517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Two records of who did what are two records that can disagree.</a:t>
            </a:r>
          </a:p>
          <a:p>
            <a:pPr>
              <a:lnSpc>
                <a:spcPct val="128000"/>
              </a:lnSpc>
              <a:spcBef>
                <a:spcPts val="0"/>
              </a:spcBef>
              <a:spcAft>
                <a:spcPts val="900"/>
              </a:spcAft>
            </a:pPr>
            <a:r>
              <a:rPr sz="1150" b="0" i="0">
                <a:solidFill>
                  <a:srgbClr val="1C1C1E"/>
                </a:solidFill>
                <a:latin typeface="Calibri"/>
              </a:rPr>
              <a:t>So the evidence chain IS the audit log — and the consolidation is load-bearing rather than tidy: segregation of duties is decided by READING THE CHAIN, which only works if the chain is the record.</a:t>
            </a:r>
          </a:p>
          <a:p>
            <a:pPr>
              <a:lnSpc>
                <a:spcPct val="128000"/>
              </a:lnSpc>
              <a:spcBef>
                <a:spcPts val="0"/>
              </a:spcBef>
              <a:spcAft>
                <a:spcPts val="0"/>
              </a:spcAft>
            </a:pPr>
            <a:r>
              <a:rPr sz="1100" b="0" i="0">
                <a:solidFill>
                  <a:srgbClr val="4A4F57"/>
                </a:solidFill>
                <a:latin typeface="Calibri"/>
              </a:rPr>
              <a:t>“Has this person already acted incompatibly on this model?” is a query over the same rows that prove what happened. A second who-did-what table would answer it from a copy, and the copy is what goes stale.</a:t>
            </a:r>
          </a:p>
        </p:txBody>
      </p:sp>
      <p:sp>
        <p:nvSpPr>
          <p:cNvPr id="11" name="Rectangle 10"/>
          <p:cNvSpPr/>
          <p:nvPr/>
        </p:nvSpPr>
        <p:spPr>
          <a:xfrm>
            <a:off x="6946824" y="1764792"/>
            <a:ext cx="4467630" cy="178916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946824" y="1764792"/>
            <a:ext cx="41148" cy="178916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7147992" y="1856231"/>
            <a:ext cx="410187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ONE TABLE, TWO STRUCTURES</a:t>
            </a:r>
          </a:p>
        </p:txBody>
      </p:sp>
      <p:sp>
        <p:nvSpPr>
          <p:cNvPr id="14" name="TextBox 13"/>
          <p:cNvSpPr txBox="1"/>
          <p:nvPr/>
        </p:nvSpPr>
        <p:spPr>
          <a:xfrm>
            <a:off x="7147992" y="2157984"/>
            <a:ext cx="4101870"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evidence_node:</a:t>
            </a:r>
          </a:p>
          <a:p>
            <a:pPr>
              <a:lnSpc>
                <a:spcPct val="134000"/>
              </a:lnSpc>
              <a:spcBef>
                <a:spcPts val="0"/>
              </a:spcBef>
              <a:spcAft>
                <a:spcPts val="0"/>
              </a:spcAft>
            </a:pPr>
            <a:r>
              <a:rPr sz="950" b="0" i="0">
                <a:solidFill>
                  <a:srgbClr val="1C1C1E"/>
                </a:solidFill>
                <a:latin typeface="Consolas"/>
              </a:rPr>
              <a:t>  seq · kind · subject_type · subject_id</a:t>
            </a:r>
          </a:p>
          <a:p>
            <a:pPr>
              <a:lnSpc>
                <a:spcPct val="134000"/>
              </a:lnSpc>
              <a:spcBef>
                <a:spcPts val="0"/>
              </a:spcBef>
              <a:spcAft>
                <a:spcPts val="0"/>
              </a:spcAft>
            </a:pPr>
            <a:r>
              <a:rPr sz="950" b="0" i="0">
                <a:solidFill>
                  <a:srgbClr val="1C1C1E"/>
                </a:solidFill>
                <a:latin typeface="Consolas"/>
              </a:rPr>
              <a:t>  payload · parents</a:t>
            </a:r>
          </a:p>
          <a:p>
            <a:pPr>
              <a:lnSpc>
                <a:spcPct val="134000"/>
              </a:lnSpc>
              <a:spcBef>
                <a:spcPts val="0"/>
              </a:spcBef>
              <a:spcAft>
                <a:spcPts val="0"/>
              </a:spcAft>
            </a:pPr>
            <a:r>
              <a:rPr sz="950" b="0" i="0">
                <a:solidFill>
                  <a:srgbClr val="1C1C1E"/>
                </a:solidFill>
                <a:latin typeface="Consolas"/>
              </a:rPr>
              <a:t>  contains_personal_data · trust</a:t>
            </a:r>
          </a:p>
          <a:p>
            <a:pPr>
              <a:lnSpc>
                <a:spcPct val="134000"/>
              </a:lnSpc>
              <a:spcBef>
                <a:spcPts val="0"/>
              </a:spcBef>
              <a:spcAft>
                <a:spcPts val="0"/>
              </a:spcAft>
            </a:pPr>
            <a:r>
              <a:rPr sz="950" b="0" i="0">
                <a:solidFill>
                  <a:srgbClr val="1C1C1E"/>
                </a:solidFill>
                <a:latin typeface="Consolas"/>
              </a:rPr>
              <a:t>  recorded_at · recorded_by</a:t>
            </a:r>
          </a:p>
          <a:p>
            <a:pPr>
              <a:lnSpc>
                <a:spcPct val="134000"/>
              </a:lnSpc>
              <a:spcBef>
                <a:spcPts val="0"/>
              </a:spcBef>
              <a:spcAft>
                <a:spcPts val="0"/>
              </a:spcAft>
            </a:pPr>
            <a:r>
              <a:rPr sz="950" b="0" i="0">
                <a:solidFill>
                  <a:srgbClr val="1C1C1E"/>
                </a:solidFill>
                <a:latin typeface="Consolas"/>
              </a:rPr>
              <a:t>  content_hash · prev_hash · chain_hash</a:t>
            </a:r>
          </a:p>
        </p:txBody>
      </p:sp>
      <p:sp>
        <p:nvSpPr>
          <p:cNvPr id="15" name="Rectangle 14"/>
          <p:cNvSpPr/>
          <p:nvPr/>
        </p:nvSpPr>
        <p:spPr>
          <a:xfrm>
            <a:off x="6946824" y="3791696"/>
            <a:ext cx="4467630"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946824" y="3791696"/>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7184568" y="3910568"/>
            <a:ext cx="4010430"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parents are a DAG and say what supports what. </a:t>
            </a:r>
            <a:r>
              <a:rPr sz="1050" b="0" i="0">
                <a:solidFill>
                  <a:srgbClr val="1C1C1E"/>
                </a:solidFill>
                <a:latin typeface="Calibri"/>
              </a:rPr>
              <a:t>The seq / prev_hash chain is linear and says what order things happened in — which is what makes deleting a leaf or inserting into the past detectable.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THE DEFECT THAT LIVED HERE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Verification re-derives; it does not re-link</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36</a:t>
            </a:r>
          </a:p>
        </p:txBody>
      </p:sp>
      <p:sp>
        <p:nvSpPr>
          <p:cNvPr id="10" name="Rectangle 9"/>
          <p:cNvSpPr/>
          <p:nvPr/>
        </p:nvSpPr>
        <p:spPr>
          <a:xfrm>
            <a:off x="777240"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Sequence gaps</a:t>
            </a:r>
          </a:p>
          <a:p>
            <a:pPr>
              <a:lnSpc>
                <a:spcPct val="115000"/>
              </a:lnSpc>
              <a:spcBef>
                <a:spcPts val="0"/>
              </a:spcBef>
              <a:spcAft>
                <a:spcPts val="600"/>
              </a:spcAft>
            </a:pPr>
            <a:r>
              <a:rPr sz="850" b="0" i="0">
                <a:solidFill>
                  <a:srgbClr val="4A4F57"/>
                </a:solidFill>
                <a:latin typeface="Calibri"/>
              </a:rPr>
              <a:t>a missing seq is a deletion, and the chain says so</a:t>
            </a:r>
          </a:p>
        </p:txBody>
      </p:sp>
      <p:sp>
        <p:nvSpPr>
          <p:cNvPr id="13" name="Rectangle 12"/>
          <p:cNvSpPr/>
          <p:nvPr/>
        </p:nvSpPr>
        <p:spPr>
          <a:xfrm>
            <a:off x="3482263"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prev_hash</a:t>
            </a:r>
          </a:p>
          <a:p>
            <a:pPr>
              <a:lnSpc>
                <a:spcPct val="115000"/>
              </a:lnSpc>
              <a:spcBef>
                <a:spcPts val="0"/>
              </a:spcBef>
              <a:spcAft>
                <a:spcPts val="600"/>
              </a:spcAft>
            </a:pPr>
            <a:r>
              <a:rPr sz="850" b="0" i="0">
                <a:solidFill>
                  <a:srgbClr val="4A4F57"/>
                </a:solidFill>
                <a:latin typeface="Calibri"/>
              </a:rPr>
              <a:t>each node links the one before it</a:t>
            </a:r>
          </a:p>
        </p:txBody>
      </p:sp>
      <p:sp>
        <p:nvSpPr>
          <p:cNvPr id="16" name="Rectangle 15"/>
          <p:cNvSpPr/>
          <p:nvPr/>
        </p:nvSpPr>
        <p:spPr>
          <a:xfrm>
            <a:off x="6187287"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RE-DERIVED content_hash</a:t>
            </a:r>
          </a:p>
          <a:p>
            <a:pPr>
              <a:lnSpc>
                <a:spcPct val="115000"/>
              </a:lnSpc>
              <a:spcBef>
                <a:spcPts val="0"/>
              </a:spcBef>
              <a:spcAft>
                <a:spcPts val="600"/>
              </a:spcAft>
            </a:pPr>
            <a:r>
              <a:rPr sz="850" b="0" i="0">
                <a:solidFill>
                  <a:srgbClr val="4A4F57"/>
                </a:solidFill>
                <a:latin typeface="Calibri"/>
              </a:rPr>
              <a:t>recomputed from the node's own kind, subject, payload and parents</a:t>
            </a:r>
          </a:p>
        </p:txBody>
      </p:sp>
      <p:sp>
        <p:nvSpPr>
          <p:cNvPr id="19" name="Rectangle 18"/>
          <p:cNvSpPr/>
          <p:nvPr/>
        </p:nvSpPr>
        <p:spPr>
          <a:xfrm>
            <a:off x="8892311"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chain_hash</a:t>
            </a:r>
          </a:p>
          <a:p>
            <a:pPr>
              <a:lnSpc>
                <a:spcPct val="115000"/>
              </a:lnSpc>
              <a:spcBef>
                <a:spcPts val="0"/>
              </a:spcBef>
              <a:spcAft>
                <a:spcPts val="600"/>
              </a:spcAft>
            </a:pPr>
            <a:r>
              <a:rPr sz="850" b="0" i="0">
                <a:solidFill>
                  <a:srgbClr val="4A4F57"/>
                </a:solidFill>
                <a:latin typeface="Calibri"/>
              </a:rPr>
              <a:t>the link over all three</a:t>
            </a:r>
          </a:p>
        </p:txBody>
      </p:sp>
      <p:sp>
        <p:nvSpPr>
          <p:cNvPr id="22" name="Rectangle 21"/>
          <p:cNvSpPr/>
          <p:nvPr/>
        </p:nvSpPr>
        <p:spPr>
          <a:xfrm>
            <a:off x="777240" y="3182112"/>
            <a:ext cx="10637215" cy="16916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182112"/>
            <a:ext cx="41148" cy="1691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14983" y="3300984"/>
            <a:ext cx="10180015" cy="14721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third step is where a real defect lived. </a:t>
            </a:r>
            <a:r>
              <a:rPr sz="1050" b="0" i="0">
                <a:solidFill>
                  <a:srgbClr val="1C1C1E"/>
                </a:solidFill>
                <a:latin typeface="Calibri"/>
              </a:rPr>
              <a:t>Verification used to re-link the STORED content hash — which proves the links are intact and says nothing about whether the thing linked is still what was recorded. An edited payload left a chain that verified and a record that lied. The scale suite found it. The unit test that should have found it years earlier was named for payload tampering while actually altering the stored hash: a test passing for a reason other than its name, which is the failure mode a green suite is worst at showing you.</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SEMIRINGS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traversal, six questions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37</a:t>
            </a:r>
          </a:p>
        </p:txBody>
      </p:sp>
      <p:graphicFrame>
        <p:nvGraphicFramePr>
          <p:cNvPr id="10" name="Table 9"/>
          <p:cNvGraphicFramePr>
            <a:graphicFrameLocks noGrp="1"/>
          </p:cNvGraphicFramePr>
          <p:nvPr/>
        </p:nvGraphicFramePr>
        <p:xfrm>
          <a:off x="777240" y="1353312"/>
          <a:ext cx="10637213" cy="2229612"/>
        </p:xfrm>
        <a:graphic>
          <a:graphicData uri="http://schemas.openxmlformats.org/drawingml/2006/table">
            <a:tbl>
              <a:tblPr firstRow="1">
                <a:tableStyleId>{5C22544A-7EE6-4342-B048-85BDC9FD1C3A}</a:tableStyleId>
              </a:tblPr>
              <a:tblGrid>
                <a:gridCol w="1554346"/>
                <a:gridCol w="2194371"/>
                <a:gridCol w="1828642"/>
                <a:gridCol w="5059854"/>
              </a:tblGrid>
              <a:tr h="329184">
                <a:tc>
                  <a:txBody>
                    <a:bodyPr wrap="square"/>
                    <a:lstStyle/>
                    <a:p>
                      <a:pPr algn="l"/>
                      <a:r>
                        <a:rPr sz="1000" b="1">
                          <a:solidFill>
                            <a:srgbClr val="FFFFFF"/>
                          </a:solidFill>
                          <a:latin typeface="Calibri"/>
                        </a:rPr>
                        <a:t>Semiring</a:t>
                      </a:r>
                    </a:p>
                  </a:txBody>
                  <a:tcPr marL="82296" marR="64008" marT="32004" marB="32004" anchor="ctr">
                    <a:solidFill>
                      <a:srgbClr val="A51C30"/>
                    </a:solidFill>
                  </a:tcPr>
                </a:tc>
                <a:tc>
                  <a:txBody>
                    <a:bodyPr wrap="square"/>
                    <a:lstStyle/>
                    <a:p>
                      <a:pPr algn="l"/>
                      <a:r>
                        <a:rPr sz="1000" b="1">
                          <a:solidFill>
                            <a:srgbClr val="FFFFFF"/>
                          </a:solidFill>
                          <a:latin typeface="Calibri"/>
                        </a:rPr>
                        <a:t>plus</a:t>
                      </a:r>
                    </a:p>
                  </a:txBody>
                  <a:tcPr marL="82296" marR="64008" marT="32004" marB="32004" anchor="ctr">
                    <a:solidFill>
                      <a:srgbClr val="A51C30"/>
                    </a:solidFill>
                  </a:tcPr>
                </a:tc>
                <a:tc>
                  <a:txBody>
                    <a:bodyPr wrap="square"/>
                    <a:lstStyle/>
                    <a:p>
                      <a:pPr algn="l"/>
                      <a:r>
                        <a:rPr sz="1000" b="1">
                          <a:solidFill>
                            <a:srgbClr val="FFFFFF"/>
                          </a:solidFill>
                          <a:latin typeface="Calibri"/>
                        </a:rPr>
                        <a:t>times</a:t>
                      </a:r>
                    </a:p>
                  </a:txBody>
                  <a:tcPr marL="82296" marR="64008" marT="32004" marB="32004" anchor="ctr">
                    <a:solidFill>
                      <a:srgbClr val="A51C30"/>
                    </a:solidFill>
                  </a:tcPr>
                </a:tc>
                <a:tc>
                  <a:txBody>
                    <a:bodyPr wrap="square"/>
                    <a:lstStyle/>
                    <a:p>
                      <a:pPr algn="l"/>
                      <a:r>
                        <a:rPr sz="1000" b="1">
                          <a:solidFill>
                            <a:srgbClr val="FFFFFF"/>
                          </a:solidFill>
                          <a:latin typeface="Calibri"/>
                        </a:rPr>
                        <a:t>Answers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boolean</a:t>
                      </a:r>
                    </a:p>
                  </a:txBody>
                  <a:tcPr marL="82296" marR="64008" marT="32004" marB="32004" anchor="ctr">
                    <a:solidFill>
                      <a:srgbClr val="FFFFFF"/>
                    </a:solidFill>
                  </a:tcPr>
                </a:tc>
                <a:tc>
                  <a:txBody>
                    <a:bodyPr wrap="square"/>
                    <a:lstStyle/>
                    <a:p>
                      <a:pPr algn="l"/>
                      <a:r>
                        <a:rPr sz="1000" b="0">
                          <a:solidFill>
                            <a:srgbClr val="1C1C1E"/>
                          </a:solidFill>
                          <a:latin typeface="Calibri"/>
                        </a:rPr>
                        <a:t>or</a:t>
                      </a:r>
                    </a:p>
                  </a:txBody>
                  <a:tcPr marL="82296" marR="64008" marT="32004" marB="32004" anchor="ctr">
                    <a:solidFill>
                      <a:srgbClr val="FFFFFF"/>
                    </a:solidFill>
                  </a:tcPr>
                </a:tc>
                <a:tc>
                  <a:txBody>
                    <a:bodyPr wrap="square"/>
                    <a:lstStyle/>
                    <a:p>
                      <a:pPr algn="l"/>
                      <a:r>
                        <a:rPr sz="1000" b="0">
                          <a:solidFill>
                            <a:srgbClr val="1C1C1E"/>
                          </a:solidFill>
                          <a:latin typeface="Calibri"/>
                        </a:rPr>
                        <a:t>and</a:t>
                      </a:r>
                    </a:p>
                  </a:txBody>
                  <a:tcPr marL="82296" marR="64008" marT="32004" marB="32004" anchor="ctr">
                    <a:solidFill>
                      <a:srgbClr val="FFFFFF"/>
                    </a:solidFill>
                  </a:tcPr>
                </a:tc>
                <a:tc>
                  <a:txBody>
                    <a:bodyPr wrap="square"/>
                    <a:lstStyle/>
                    <a:p>
                      <a:pPr algn="l"/>
                      <a:r>
                        <a:rPr sz="1000" b="0">
                          <a:solidFill>
                            <a:srgbClr val="1C1C1E"/>
                          </a:solidFill>
                          <a:latin typeface="Calibri"/>
                        </a:rPr>
                        <a:t>is this claim supported at all?</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why</a:t>
                      </a:r>
                    </a:p>
                  </a:txBody>
                  <a:tcPr marL="82296" marR="64008" marT="32004" marB="32004" anchor="ctr">
                    <a:solidFill>
                      <a:srgbClr val="F6F3EF"/>
                    </a:solidFill>
                  </a:tcPr>
                </a:tc>
                <a:tc>
                  <a:txBody>
                    <a:bodyPr wrap="square"/>
                    <a:lstStyle/>
                    <a:p>
                      <a:pPr algn="l"/>
                      <a:r>
                        <a:rPr sz="1000" b="0">
                          <a:solidFill>
                            <a:srgbClr val="1C1C1E"/>
                          </a:solidFill>
                          <a:latin typeface="Calibri"/>
                        </a:rPr>
                        <a:t>union, then absorption</a:t>
                      </a:r>
                    </a:p>
                  </a:txBody>
                  <a:tcPr marL="82296" marR="64008" marT="32004" marB="32004" anchor="ctr">
                    <a:solidFill>
                      <a:srgbClr val="F6F3EF"/>
                    </a:solidFill>
                  </a:tcPr>
                </a:tc>
                <a:tc>
                  <a:txBody>
                    <a:bodyPr wrap="square"/>
                    <a:lstStyle/>
                    <a:p>
                      <a:pPr algn="l"/>
                      <a:r>
                        <a:rPr sz="1000" b="0">
                          <a:solidFill>
                            <a:srgbClr val="1C1C1E"/>
                          </a:solidFill>
                          <a:latin typeface="Calibri"/>
                        </a:rPr>
                        <a:t>pairwise union</a:t>
                      </a:r>
                    </a:p>
                  </a:txBody>
                  <a:tcPr marL="82296" marR="64008" marT="32004" marB="32004" anchor="ctr">
                    <a:solidFill>
                      <a:srgbClr val="F6F3EF"/>
                    </a:solidFill>
                  </a:tcPr>
                </a:tc>
                <a:tc>
                  <a:txBody>
                    <a:bodyPr wrap="square"/>
                    <a:lstStyle/>
                    <a:p>
                      <a:pPr algn="l"/>
                      <a:r>
                        <a:rPr sz="1000" b="0">
                          <a:solidFill>
                            <a:srgbClr val="1C1C1E"/>
                          </a:solidFill>
                          <a:latin typeface="Calibri"/>
                        </a:rPr>
                        <a:t>what is the MINIMAL set of facts that supports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counting</a:t>
                      </a:r>
                    </a:p>
                  </a:txBody>
                  <a:tcPr marL="82296" marR="64008" marT="32004" marB="32004" anchor="ctr">
                    <a:solidFill>
                      <a:srgbClr val="FFFFFF"/>
                    </a:solidFill>
                  </a:tcPr>
                </a:tc>
                <a:tc>
                  <a:txBody>
                    <a:bodyPr wrap="square"/>
                    <a:lstStyle/>
                    <a:p>
                      <a:pPr algn="l"/>
                      <a:r>
                        <a:rPr sz="1000" b="0">
                          <a:solidFill>
                            <a:srgbClr val="1C1C1E"/>
                          </a:solidFill>
                          <a:latin typeface="Calibri"/>
                        </a:rPr>
                        <a:t>+</a:t>
                      </a:r>
                    </a:p>
                  </a:txBody>
                  <a:tcPr marL="82296" marR="64008" marT="32004" marB="32004" anchor="ctr">
                    <a:solidFill>
                      <a:srgbClr val="FFFFFF"/>
                    </a:solidFill>
                  </a:tcPr>
                </a:tc>
                <a:tc>
                  <a:txBody>
                    <a:bodyPr wrap="square"/>
                    <a:lstStyle/>
                    <a:p>
                      <a:pPr algn="l"/>
                      <a:r>
                        <a:rPr sz="1000" b="0">
                          <a:solidFill>
                            <a:srgbClr val="1C1C1E"/>
                          </a:solidFill>
                          <a:latin typeface="Calibri"/>
                        </a:rPr>
                        <a:t>×</a:t>
                      </a:r>
                    </a:p>
                  </a:txBody>
                  <a:tcPr marL="82296" marR="64008" marT="32004" marB="32004" anchor="ctr">
                    <a:solidFill>
                      <a:srgbClr val="FFFFFF"/>
                    </a:solidFill>
                  </a:tcPr>
                </a:tc>
                <a:tc>
                  <a:txBody>
                    <a:bodyPr wrap="square"/>
                    <a:lstStyle/>
                    <a:p>
                      <a:pPr algn="l"/>
                      <a:r>
                        <a:rPr sz="1000" b="0">
                          <a:solidFill>
                            <a:srgbClr val="1C1C1E"/>
                          </a:solidFill>
                          <a:latin typeface="Calibri"/>
                        </a:rPr>
                        <a:t>how many independent derivations support it?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trust</a:t>
                      </a:r>
                    </a:p>
                  </a:txBody>
                  <a:tcPr marL="82296" marR="64008" marT="32004" marB="32004" anchor="ctr">
                    <a:solidFill>
                      <a:srgbClr val="F6F3EF"/>
                    </a:solidFill>
                  </a:tcPr>
                </a:tc>
                <a:tc>
                  <a:txBody>
                    <a:bodyPr wrap="square"/>
                    <a:lstStyle/>
                    <a:p>
                      <a:pPr algn="l"/>
                      <a:r>
                        <a:rPr sz="1000" b="0">
                          <a:solidFill>
                            <a:srgbClr val="1C1C1E"/>
                          </a:solidFill>
                          <a:latin typeface="Calibri"/>
                        </a:rPr>
                        <a:t>max</a:t>
                      </a:r>
                    </a:p>
                  </a:txBody>
                  <a:tcPr marL="82296" marR="64008" marT="32004" marB="32004" anchor="ctr">
                    <a:solidFill>
                      <a:srgbClr val="F6F3EF"/>
                    </a:solidFill>
                  </a:tcPr>
                </a:tc>
                <a:tc>
                  <a:txBody>
                    <a:bodyPr wrap="square"/>
                    <a:lstStyle/>
                    <a:p>
                      <a:pPr algn="l"/>
                      <a:r>
                        <a:rPr sz="1000" b="0">
                          <a:solidFill>
                            <a:srgbClr val="1C1C1E"/>
                          </a:solidFill>
                          <a:latin typeface="Calibri"/>
                        </a:rPr>
                        <a:t>×</a:t>
                      </a:r>
                    </a:p>
                  </a:txBody>
                  <a:tcPr marL="82296" marR="64008" marT="32004" marB="32004" anchor="ctr">
                    <a:solidFill>
                      <a:srgbClr val="F6F3EF"/>
                    </a:solidFill>
                  </a:tcPr>
                </a:tc>
                <a:tc>
                  <a:txBody>
                    <a:bodyPr wrap="square"/>
                    <a:lstStyle/>
                    <a:p>
                      <a:pPr algn="l"/>
                      <a:r>
                        <a:rPr sz="1000" b="0">
                          <a:solidFill>
                            <a:srgbClr val="1C1C1E"/>
                          </a:solidFill>
                          <a:latin typeface="Calibri"/>
                        </a:rPr>
                        <a:t>how far do we trust the best route to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cost</a:t>
                      </a:r>
                    </a:p>
                  </a:txBody>
                  <a:tcPr marL="82296" marR="64008" marT="32004" marB="32004" anchor="ctr">
                    <a:solidFill>
                      <a:srgbClr val="FFFFFF"/>
                    </a:solidFill>
                  </a:tcPr>
                </a:tc>
                <a:tc>
                  <a:txBody>
                    <a:bodyPr wrap="square"/>
                    <a:lstStyle/>
                    <a:p>
                      <a:pPr algn="l"/>
                      <a:r>
                        <a:rPr sz="1000" b="0">
                          <a:solidFill>
                            <a:srgbClr val="1C1C1E"/>
                          </a:solidFill>
                          <a:latin typeface="Calibri"/>
                        </a:rPr>
                        <a:t>min</a:t>
                      </a:r>
                    </a:p>
                  </a:txBody>
                  <a:tcPr marL="82296" marR="64008" marT="32004" marB="32004" anchor="ctr">
                    <a:solidFill>
                      <a:srgbClr val="FFFFFF"/>
                    </a:solidFill>
                  </a:tcPr>
                </a:tc>
                <a:tc>
                  <a:txBody>
                    <a:bodyPr wrap="square"/>
                    <a:lstStyle/>
                    <a:p>
                      <a:pPr algn="l"/>
                      <a:r>
                        <a:rPr sz="1000" b="0">
                          <a:solidFill>
                            <a:srgbClr val="1C1C1E"/>
                          </a:solidFill>
                          <a:latin typeface="Calibri"/>
                        </a:rPr>
                        <a:t>+</a:t>
                      </a:r>
                    </a:p>
                  </a:txBody>
                  <a:tcPr marL="82296" marR="64008" marT="32004" marB="32004" anchor="ctr">
                    <a:solidFill>
                      <a:srgbClr val="FFFFFF"/>
                    </a:solidFill>
                  </a:tcPr>
                </a:tc>
                <a:tc>
                  <a:txBody>
                    <a:bodyPr wrap="square"/>
                    <a:lstStyle/>
                    <a:p>
                      <a:pPr algn="l"/>
                      <a:r>
                        <a:rPr sz="1000" b="0">
                          <a:solidFill>
                            <a:srgbClr val="1C1C1E"/>
                          </a:solidFill>
                          <a:latin typeface="Calibri"/>
                        </a:rPr>
                        <a:t>what is the cheapest way to establish it?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freshness</a:t>
                      </a:r>
                    </a:p>
                  </a:txBody>
                  <a:tcPr marL="82296" marR="64008" marT="32004" marB="32004" anchor="ctr">
                    <a:solidFill>
                      <a:srgbClr val="F6F3EF"/>
                    </a:solidFill>
                  </a:tcPr>
                </a:tc>
                <a:tc>
                  <a:txBody>
                    <a:bodyPr wrap="square"/>
                    <a:lstStyle/>
                    <a:p>
                      <a:pPr algn="l"/>
                      <a:r>
                        <a:rPr sz="1000" b="0">
                          <a:solidFill>
                            <a:srgbClr val="1C1C1E"/>
                          </a:solidFill>
                          <a:latin typeface="Calibri"/>
                        </a:rPr>
                        <a:t>max</a:t>
                      </a:r>
                    </a:p>
                  </a:txBody>
                  <a:tcPr marL="82296" marR="64008" marT="32004" marB="32004" anchor="ctr">
                    <a:solidFill>
                      <a:srgbClr val="F6F3EF"/>
                    </a:solidFill>
                  </a:tcPr>
                </a:tc>
                <a:tc>
                  <a:txBody>
                    <a:bodyPr wrap="square"/>
                    <a:lstStyle/>
                    <a:p>
                      <a:pPr algn="l"/>
                      <a:r>
                        <a:rPr sz="1000" b="0">
                          <a:solidFill>
                            <a:srgbClr val="1C1C1E"/>
                          </a:solidFill>
                          <a:latin typeface="Calibri"/>
                        </a:rPr>
                        <a:t>max</a:t>
                      </a:r>
                    </a:p>
                  </a:txBody>
                  <a:tcPr marL="82296" marR="64008" marT="32004" marB="32004" anchor="ctr">
                    <a:solidFill>
                      <a:srgbClr val="F6F3EF"/>
                    </a:solidFill>
                  </a:tcPr>
                </a:tc>
                <a:tc>
                  <a:txBody>
                    <a:bodyPr wrap="square"/>
                    <a:lstStyle/>
                    <a:p>
                      <a:pPr algn="l"/>
                      <a:r>
                        <a:rPr sz="1000" b="0">
                          <a:solidFill>
                            <a:srgbClr val="1C1C1E"/>
                          </a:solidFill>
                          <a:latin typeface="Calibri"/>
                        </a:rPr>
                        <a:t>how recent is the evidence behind it?</a:t>
                      </a:r>
                    </a:p>
                  </a:txBody>
                  <a:tcPr marL="82296" marR="64008" marT="32004" marB="32004" anchor="ctr">
                    <a:solidFill>
                      <a:srgbClr val="F6F3EF"/>
                    </a:solidFill>
                  </a:tcPr>
                </a:tc>
              </a:tr>
            </a:tbl>
          </a:graphicData>
        </a:graphic>
      </p:graphicFrame>
      <p:sp>
        <p:nvSpPr>
          <p:cNvPr id="11" name="Rectangle 10"/>
          <p:cNvSpPr/>
          <p:nvPr/>
        </p:nvSpPr>
        <p:spPr>
          <a:xfrm>
            <a:off x="777240" y="3838956"/>
            <a:ext cx="10637215"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838956"/>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957828"/>
            <a:ext cx="10180015" cy="10149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last row is not a semiring, and the platform now says so. </a:t>
            </a:r>
            <a:r>
              <a:rPr sz="1050" b="0" i="0">
                <a:solidFill>
                  <a:srgbClr val="1C1C1E"/>
                </a:solidFill>
                <a:latin typeface="Calibri"/>
              </a:rPr>
              <a:t>(max, max) has no annihilating zero — max(0, 5) is 5, not 0 — so it is a commutative idempotent monoid used twice. The practical consequence is worth knowing: a claim resting on a MISSING fact reports the freshness of the facts that are present rather than reporting that it has none. Found by writing the law test, and kept as a test so it is not quietly re-included.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EVIDENCE · THE UNIVERSAL ONE</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ℕ[X] — the object the other five are pushed forward from</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7 · Evidence, and Six Questions from One Traversal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38</a:t>
            </a:r>
          </a:p>
        </p:txBody>
      </p:sp>
      <p:sp>
        <p:nvSpPr>
          <p:cNvPr id="10" name="Rectangle 9"/>
          <p:cNvSpPr/>
          <p:nvPr/>
        </p:nvSpPr>
        <p:spPr>
          <a:xfrm>
            <a:off x="777240" y="1764792"/>
            <a:ext cx="5744096"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4002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56231"/>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core/evidence/semirings.py</a:t>
            </a:r>
          </a:p>
        </p:txBody>
      </p:sp>
      <p:sp>
        <p:nvSpPr>
          <p:cNvPr id="13" name="TextBox 12"/>
          <p:cNvSpPr txBox="1"/>
          <p:nvPr/>
        </p:nvSpPr>
        <p:spPr>
          <a:xfrm>
            <a:off x="978408" y="2157984"/>
            <a:ext cx="5378336"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7A7F87"/>
                </a:solidFill>
                <a:latin typeface="Consolas"/>
              </a:rPr>
              <a:t># evaluate the derivation ONCE, in the free commutative semiring</a:t>
            </a:r>
          </a:p>
          <a:p>
            <a:pPr>
              <a:lnSpc>
                <a:spcPct val="134000"/>
              </a:lnSpc>
              <a:spcBef>
                <a:spcPts val="0"/>
              </a:spcBef>
              <a:spcAft>
                <a:spcPts val="0"/>
              </a:spcAft>
            </a:pPr>
            <a:r>
              <a:rPr sz="950" b="0" i="0">
                <a:solidFill>
                  <a:srgbClr val="1C1C1E"/>
                </a:solidFill>
                <a:latin typeface="Consolas"/>
              </a:rPr>
              <a:t>poly = evaluate(claim, derivations, POLYNOMIAL, variable)</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every other answer is a substitution into that result</a:t>
            </a:r>
          </a:p>
          <a:p>
            <a:pPr>
              <a:lnSpc>
                <a:spcPct val="134000"/>
              </a:lnSpc>
              <a:spcBef>
                <a:spcPts val="0"/>
              </a:spcBef>
              <a:spcAft>
                <a:spcPts val="0"/>
              </a:spcAft>
            </a:pPr>
            <a:r>
              <a:rPr sz="950" b="0" i="0">
                <a:solidFill>
                  <a:srgbClr val="1C1C1E"/>
                </a:solidFill>
                <a:latin typeface="Consolas"/>
              </a:rPr>
              <a:t>boolean  = pushforward(poly, is_present,  BOOLEAN)</a:t>
            </a:r>
          </a:p>
          <a:p>
            <a:pPr>
              <a:lnSpc>
                <a:spcPct val="134000"/>
              </a:lnSpc>
              <a:spcBef>
                <a:spcPts val="0"/>
              </a:spcBef>
              <a:spcAft>
                <a:spcPts val="0"/>
              </a:spcAft>
            </a:pPr>
            <a:r>
              <a:rPr sz="950" b="0" i="0">
                <a:solidFill>
                  <a:srgbClr val="1C1C1E"/>
                </a:solidFill>
                <a:latin typeface="Consolas"/>
              </a:rPr>
              <a:t>trust    = pushforward(poly, trust_of,    TRUST)</a:t>
            </a:r>
          </a:p>
          <a:p>
            <a:pPr>
              <a:lnSpc>
                <a:spcPct val="134000"/>
              </a:lnSpc>
              <a:spcBef>
                <a:spcPts val="0"/>
              </a:spcBef>
              <a:spcAft>
                <a:spcPts val="0"/>
              </a:spcAft>
            </a:pPr>
            <a:r>
              <a:rPr sz="950" b="0" i="0">
                <a:solidFill>
                  <a:srgbClr val="1C1C1E"/>
                </a:solidFill>
                <a:latin typeface="Consolas"/>
              </a:rPr>
              <a:t>cost     = pushforward(poly, cost_of,     COST)</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L-9 :  eval_K(claim)  ==  h( eval_ℕ[X](claim) )</a:t>
            </a:r>
          </a:p>
        </p:txBody>
      </p:sp>
      <p:sp>
        <p:nvSpPr>
          <p:cNvPr id="14" name="Rectangle 13"/>
          <p:cNvSpPr/>
          <p:nvPr/>
        </p:nvSpPr>
        <p:spPr>
          <a:xfrm>
            <a:off x="777240" y="4421101"/>
            <a:ext cx="5744096" cy="13716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4421101"/>
            <a:ext cx="41148" cy="13716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4539973"/>
            <a:ext cx="5286896" cy="11521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Checked over 200 random derivation DAGs against five semirings. </a:t>
            </a:r>
            <a:r>
              <a:rPr sz="1050" b="0" i="0">
                <a:solidFill>
                  <a:srgbClr val="1C1C1E"/>
                </a:solidFill>
                <a:latin typeface="Calibri"/>
              </a:rPr>
              <a:t>That turns the claim “the same traversal answers a different question for each” from a design intention into a theorem the suite runs — and L-9 was listed as VACUOUS until ℕ[X] existed to push forward from.</a:t>
            </a:r>
          </a:p>
        </p:txBody>
      </p:sp>
      <p:sp>
        <p:nvSpPr>
          <p:cNvPr id="17" name="TextBox 16"/>
          <p:cNvSpPr txBox="1"/>
          <p:nvPr/>
        </p:nvSpPr>
        <p:spPr>
          <a:xfrm>
            <a:off x="6946824" y="1764792"/>
            <a:ext cx="4467630" cy="32918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What the polynomial keeps that Boolean throws away</a:t>
            </a:r>
          </a:p>
          <a:p>
            <a:pPr>
              <a:lnSpc>
                <a:spcPct val="126000"/>
              </a:lnSpc>
              <a:spcBef>
                <a:spcPts val="0"/>
              </a:spcBef>
              <a:spcAft>
                <a:spcPts val="800"/>
              </a:spcAft>
            </a:pPr>
            <a:r>
              <a:rPr sz="1100" b="0" i="0">
                <a:solidFill>
                  <a:srgbClr val="1C1C1E"/>
                </a:solidFill>
                <a:latin typeface="Calibri"/>
              </a:rPr>
              <a:t>COEFFICIENTS count how many distinct derivations produce the same combination of facts. EXPONENTS count how many times one fact is used within a single derivation.</a:t>
            </a:r>
          </a:p>
          <a:p>
            <a:pPr>
              <a:lnSpc>
                <a:spcPct val="126000"/>
              </a:lnSpc>
              <a:spcBef>
                <a:spcPts val="0"/>
              </a:spcBef>
              <a:spcAft>
                <a:spcPts val="800"/>
              </a:spcAft>
            </a:pPr>
            <a:r>
              <a:rPr sz="1100" b="0" i="0">
                <a:solidFill>
                  <a:srgbClr val="4A4F57"/>
                </a:solidFill>
                <a:latin typeface="Calibri"/>
              </a:rPr>
              <a:t>Boolean provenance loses both, which is why it cannot tell a claim resting on one document from a claim resting on four — and “how corroborated is this” is exactly what a reviewer is asking.</a:t>
            </a:r>
          </a:p>
          <a:p>
            <a:pPr>
              <a:lnSpc>
                <a:spcPct val="126000"/>
              </a:lnSpc>
              <a:spcBef>
                <a:spcPts val="0"/>
              </a:spcBef>
              <a:spcAft>
                <a:spcPts val="0"/>
              </a:spcAft>
            </a:pPr>
            <a:r>
              <a:rPr sz="1100" b="0" i="0">
                <a:solidFill>
                  <a:srgbClr val="1C1C1E"/>
                </a:solidFill>
                <a:latin typeface="Calibri"/>
              </a:rPr>
              <a:t>The same construction now annotates DERIVED FEATURES, where the ingest clock turns out to be a homomorphism into (max, max) rather than a rule somebody could forget.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8</a:t>
            </a:r>
          </a:p>
        </p:txBody>
      </p:sp>
      <p:sp>
        <p:nvSpPr>
          <p:cNvPr id="5" name="TextBox 4"/>
          <p:cNvSpPr txBox="1"/>
          <p:nvPr/>
        </p:nvSpPr>
        <p:spPr>
          <a:xfrm>
            <a:off x="1005840" y="2478024"/>
            <a:ext cx="6169584" cy="1188720"/>
          </a:xfrm>
          <a:prstGeom prst="rect">
            <a:avLst/>
          </a:prstGeom>
          <a:noFill/>
        </p:spPr>
        <p:txBody>
          <a:bodyPr wrap="square" lIns="0" rIns="0" tIns="0" bIns="0" anchor="t">
            <a:spAutoFit/>
          </a:bodyPr>
          <a:lstStyle/>
          <a:p>
            <a:pPr algn="l">
              <a:spcBef>
                <a:spcPts val="0"/>
              </a:spcBef>
              <a:spcAft>
                <a:spcPts val="0"/>
              </a:spcAft>
            </a:pPr>
            <a:r>
              <a:rPr sz="2600" b="0" i="0">
                <a:solidFill>
                  <a:srgbClr val="FFFFFF"/>
                </a:solidFill>
                <a:latin typeface="Georgia"/>
              </a:rPr>
              <a:t>The Laws, and Which of Them Run</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Twenty-one stated, fifteen executable, six not — and the six are named with the reason.</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Why a law rather than a test</a:t>
            </a:r>
          </a:p>
          <a:p>
            <a:pPr>
              <a:lnSpc>
                <a:spcPct val="115000"/>
              </a:lnSpc>
              <a:spcBef>
                <a:spcPts val="0"/>
              </a:spcBef>
              <a:spcAft>
                <a:spcPts val="700"/>
              </a:spcAft>
            </a:pPr>
            <a:r>
              <a:rPr sz="1150" b="0" i="0">
                <a:solidFill>
                  <a:srgbClr val="F6E6E9"/>
                </a:solidFill>
                <a:latin typeface="Calibri"/>
              </a:rPr>
              <a:t>What runs today</a:t>
            </a:r>
          </a:p>
          <a:p>
            <a:pPr>
              <a:lnSpc>
                <a:spcPct val="115000"/>
              </a:lnSpc>
              <a:spcBef>
                <a:spcPts val="0"/>
              </a:spcBef>
              <a:spcAft>
                <a:spcPts val="700"/>
              </a:spcAft>
            </a:pPr>
            <a:r>
              <a:rPr sz="1150" b="0" i="0">
                <a:solidFill>
                  <a:srgbClr val="F6E6E9"/>
                </a:solidFill>
                <a:latin typeface="Calibri"/>
              </a:rPr>
              <a:t>What writing them found</a:t>
            </a:r>
          </a:p>
          <a:p>
            <a:pPr>
              <a:lnSpc>
                <a:spcPct val="115000"/>
              </a:lnSpc>
              <a:spcBef>
                <a:spcPts val="0"/>
              </a:spcBef>
              <a:spcAft>
                <a:spcPts val="700"/>
              </a:spcAft>
            </a:pPr>
            <a:r>
              <a:rPr sz="1150" b="0" i="0">
                <a:solidFill>
                  <a:srgbClr val="F6E6E9"/>
                </a:solidFill>
                <a:latin typeface="Calibri"/>
              </a:rPr>
              <a:t>What does not run, and why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LAWS · WHY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law is a claim about the system, not about a function</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8 · The Laws, and Which of Them Run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40</a:t>
            </a:r>
          </a:p>
        </p:txBody>
      </p:sp>
      <p:sp>
        <p:nvSpPr>
          <p:cNvPr id="10" name="TextBox 9"/>
          <p:cNvSpPr txBox="1"/>
          <p:nvPr/>
        </p:nvSpPr>
        <p:spPr>
          <a:xfrm>
            <a:off x="777240" y="1764792"/>
            <a:ext cx="5744096" cy="274320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The difference matters when something changes.</a:t>
            </a:r>
          </a:p>
          <a:p>
            <a:pPr>
              <a:lnSpc>
                <a:spcPct val="128000"/>
              </a:lnSpc>
              <a:spcBef>
                <a:spcPts val="0"/>
              </a:spcBef>
              <a:spcAft>
                <a:spcPts val="800"/>
              </a:spcAft>
            </a:pPr>
            <a:r>
              <a:rPr sz="1150" b="0" i="0">
                <a:solidFill>
                  <a:srgbClr val="1C1C1E"/>
                </a:solidFill>
                <a:latin typeface="Calibri"/>
              </a:rPr>
              <a:t>A unit test says “this function returns 4”. Somebody who changes the function updates the test, and both are consistent and both may be wrong.</a:t>
            </a:r>
          </a:p>
          <a:p>
            <a:pPr>
              <a:lnSpc>
                <a:spcPct val="128000"/>
              </a:lnSpc>
              <a:spcBef>
                <a:spcPts val="0"/>
              </a:spcBef>
              <a:spcAft>
                <a:spcPts val="800"/>
              </a:spcAft>
            </a:pPr>
            <a:r>
              <a:rPr sz="1150" b="0" i="0">
                <a:solidFill>
                  <a:srgbClr val="1C1C1E"/>
                </a:solidFill>
                <a:latin typeface="Calibri"/>
              </a:rPr>
              <a:t>A law says “no state is reachable except along declared transitions”. Somebody who adds an edge does not get to update that sentence — the sentence is the requirement, and the test computes whether it still holds.</a:t>
            </a:r>
          </a:p>
          <a:p>
            <a:pPr>
              <a:lnSpc>
                <a:spcPct val="128000"/>
              </a:lnSpc>
              <a:spcBef>
                <a:spcPts val="0"/>
              </a:spcBef>
              <a:spcAft>
                <a:spcPts val="0"/>
              </a:spcAft>
            </a:pPr>
            <a:r>
              <a:rPr sz="1150" b="1" i="0">
                <a:solidFill>
                  <a:srgbClr val="A51C30"/>
                </a:solidFill>
                <a:latin typeface="Calibri"/>
              </a:rPr>
              <a:t>So a law is tested as it is STATED, not as the implementation happens to behave. A test written from the code proves only that the code agrees with itself.</a:t>
            </a:r>
          </a:p>
        </p:txBody>
      </p:sp>
      <p:graphicFrame>
        <p:nvGraphicFramePr>
          <p:cNvPr id="11" name="Table 10"/>
          <p:cNvGraphicFramePr>
            <a:graphicFrameLocks noGrp="1"/>
          </p:cNvGraphicFramePr>
          <p:nvPr/>
        </p:nvGraphicFramePr>
        <p:xfrm>
          <a:off x="6946824" y="1764792"/>
          <a:ext cx="4467629" cy="1666798"/>
        </p:xfrm>
        <a:graphic>
          <a:graphicData uri="http://schemas.openxmlformats.org/drawingml/2006/table">
            <a:tbl>
              <a:tblPr firstRow="1">
                <a:tableStyleId>{5C22544A-7EE6-4342-B048-85BDC9FD1C3A}</a:tableStyleId>
              </a:tblPr>
              <a:tblGrid>
                <a:gridCol w="1254952"/>
                <a:gridCol w="1589606"/>
                <a:gridCol w="1623071"/>
              </a:tblGrid>
              <a:tr h="504215">
                <a:tc>
                  <a:txBody>
                    <a:bodyPr wrap="square"/>
                    <a:lstStyle/>
                    <a:p>
                      <a:pPr algn="l"/>
                      <a:r>
                        <a:rPr sz="1050" b="1">
                          <a:solidFill>
                            <a:srgbClr val="FFFFFF"/>
                          </a:solidFill>
                          <a:latin typeface="Calibri"/>
                        </a:rPr>
                        <a:t/>
                      </a:r>
                    </a:p>
                  </a:txBody>
                  <a:tcPr marL="82296" marR="64008" marT="32004" marB="32004" anchor="ctr">
                    <a:solidFill>
                      <a:srgbClr val="A51C30"/>
                    </a:solidFill>
                  </a:tcPr>
                </a:tc>
                <a:tc>
                  <a:txBody>
                    <a:bodyPr wrap="square"/>
                    <a:lstStyle/>
                    <a:p>
                      <a:pPr algn="l"/>
                      <a:r>
                        <a:rPr sz="1050" b="1">
                          <a:solidFill>
                            <a:srgbClr val="FFFFFF"/>
                          </a:solidFill>
                          <a:latin typeface="Calibri"/>
                        </a:rPr>
                        <a:t>Foundational</a:t>
                      </a:r>
                    </a:p>
                  </a:txBody>
                  <a:tcPr marL="82296" marR="64008" marT="32004" marB="32004" anchor="ctr">
                    <a:solidFill>
                      <a:srgbClr val="A51C30"/>
                    </a:solidFill>
                  </a:tcPr>
                </a:tc>
                <a:tc>
                  <a:txBody>
                    <a:bodyPr wrap="square"/>
                    <a:lstStyle/>
                    <a:p>
                      <a:pPr algn="l"/>
                      <a:r>
                        <a:rPr sz="1050" b="1">
                          <a:solidFill>
                            <a:srgbClr val="FFFFFF"/>
                          </a:solidFill>
                          <a:latin typeface="Calibri"/>
                        </a:rPr>
                        <a:t>Warrant admissibility</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Stated</a:t>
                      </a:r>
                    </a:p>
                  </a:txBody>
                  <a:tcPr marL="82296" marR="64008" marT="32004" marB="32004" anchor="ctr">
                    <a:solidFill>
                      <a:srgbClr val="FFFFFF"/>
                    </a:solidFill>
                  </a:tcPr>
                </a:tc>
                <a:tc>
                  <a:txBody>
                    <a:bodyPr wrap="square"/>
                    <a:lstStyle/>
                    <a:p>
                      <a:pPr algn="l"/>
                      <a:r>
                        <a:rPr sz="1050" b="0">
                          <a:solidFill>
                            <a:srgbClr val="1C1C1E"/>
                          </a:solidFill>
                          <a:latin typeface="Calibri"/>
                        </a:rPr>
                        <a:t>21</a:t>
                      </a:r>
                    </a:p>
                  </a:txBody>
                  <a:tcPr marL="82296" marR="64008" marT="32004" marB="32004" anchor="ctr">
                    <a:solidFill>
                      <a:srgbClr val="FFFFFF"/>
                    </a:solidFill>
                  </a:tcPr>
                </a:tc>
                <a:tc>
                  <a:txBody>
                    <a:bodyPr wrap="square"/>
                    <a:lstStyle/>
                    <a:p>
                      <a:pPr algn="l"/>
                      <a:r>
                        <a:rPr sz="1050" b="0">
                          <a:solidFill>
                            <a:srgbClr val="1C1C1E"/>
                          </a:solidFill>
                          <a:latin typeface="Calibri"/>
                        </a:rPr>
                        <a:t>14</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Executable</a:t>
                      </a:r>
                    </a:p>
                  </a:txBody>
                  <a:tcPr marL="82296" marR="64008" marT="32004" marB="32004" anchor="ctr">
                    <a:solidFill>
                      <a:srgbClr val="F6F3EF"/>
                    </a:solidFill>
                  </a:tcPr>
                </a:tc>
                <a:tc>
                  <a:txBody>
                    <a:bodyPr wrap="square"/>
                    <a:lstStyle/>
                    <a:p>
                      <a:pPr algn="l"/>
                      <a:r>
                        <a:rPr sz="1050" b="0">
                          <a:solidFill>
                            <a:srgbClr val="1C1C1E"/>
                          </a:solidFill>
                          <a:latin typeface="Calibri"/>
                        </a:rPr>
                        <a:t>15</a:t>
                      </a:r>
                    </a:p>
                  </a:txBody>
                  <a:tcPr marL="82296" marR="64008" marT="32004" marB="32004" anchor="ctr">
                    <a:solidFill>
                      <a:srgbClr val="F6F3EF"/>
                    </a:solidFill>
                  </a:tcPr>
                </a:tc>
                <a:tc>
                  <a:txBody>
                    <a:bodyPr wrap="square"/>
                    <a:lstStyle/>
                    <a:p>
                      <a:pPr algn="l"/>
                      <a:r>
                        <a:rPr sz="1050" b="0">
                          <a:solidFill>
                            <a:srgbClr val="1C1C1E"/>
                          </a:solidFill>
                          <a:latin typeface="Calibri"/>
                        </a:rPr>
                        <a:t>14</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Enforcing</a:t>
                      </a:r>
                    </a:p>
                  </a:txBody>
                  <a:tcPr marL="82296" marR="64008" marT="32004" marB="32004" anchor="ctr">
                    <a:solidFill>
                      <a:srgbClr val="FFFFFF"/>
                    </a:solidFill>
                  </a:tcPr>
                </a:tc>
                <a:tc>
                  <a:txBody>
                    <a:bodyPr wrap="square"/>
                    <a:lstStyle/>
                    <a:p>
                      <a:pPr algn="l"/>
                      <a:r>
                        <a:rPr sz="1050" b="0">
                          <a:solidFill>
                            <a:srgbClr val="1C1C1E"/>
                          </a:solidFill>
                          <a:latin typeface="Calibri"/>
                        </a:rPr>
                        <a:t>yes, where applicable</a:t>
                      </a:r>
                    </a:p>
                  </a:txBody>
                  <a:tcPr marL="82296" marR="64008" marT="32004" marB="32004" anchor="ctr">
                    <a:solidFill>
                      <a:srgbClr val="FFFFFF"/>
                    </a:solidFill>
                  </a:tcPr>
                </a:tc>
                <a:tc>
                  <a:txBody>
                    <a:bodyPr wrap="square"/>
                    <a:lstStyle/>
                    <a:p>
                      <a:pPr algn="l"/>
                      <a:r>
                        <a:rPr sz="1050" b="0">
                          <a:solidFill>
                            <a:srgbClr val="1C1C1E"/>
                          </a:solidFill>
                          <a:latin typeface="Calibri"/>
                        </a:rPr>
                        <a:t>all, before the signature</a:t>
                      </a:r>
                    </a:p>
                  </a:txBody>
                  <a:tcPr marL="82296" marR="64008" marT="32004" marB="32004" anchor="ctr">
                    <a:solidFill>
                      <a:srgbClr val="FFFFFF"/>
                    </a:solidFill>
                  </a:tcPr>
                </a:tc>
              </a:tr>
            </a:tbl>
          </a:graphicData>
        </a:graphic>
      </p:graphicFrame>
      <p:sp>
        <p:nvSpPr>
          <p:cNvPr id="12" name="Rectangle 11"/>
          <p:cNvSpPr/>
          <p:nvPr/>
        </p:nvSpPr>
        <p:spPr>
          <a:xfrm>
            <a:off x="6946824" y="3687622"/>
            <a:ext cx="4467630" cy="17373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6946824" y="3687622"/>
            <a:ext cx="41148" cy="17373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7184568" y="3806494"/>
            <a:ext cx="4010430" cy="151790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It was seven of nineteen. </a:t>
            </a:r>
            <a:r>
              <a:rPr sz="1050" b="0" i="0">
                <a:solidFill>
                  <a:srgbClr val="1C1C1E"/>
                </a:solidFill>
                <a:latin typeface="Calibri"/>
              </a:rPr>
              <a:t>The strongest claim this design makes is that the laws are the acceptance criteria, and a claim that is 37% true reads as 100% true to everybody who does not check. The count is now derived from the table's own rows by a test, so it cannot drift the way every other count in the repository has.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LAWS · WHAT IS ENFORCED</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fifteen that run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8 · The Laws, and Which of Them Run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41</a:t>
            </a:r>
          </a:p>
        </p:txBody>
      </p:sp>
      <p:graphicFrame>
        <p:nvGraphicFramePr>
          <p:cNvPr id="10" name="Table 9"/>
          <p:cNvGraphicFramePr>
            <a:graphicFrameLocks noGrp="1"/>
          </p:cNvGraphicFramePr>
          <p:nvPr/>
        </p:nvGraphicFramePr>
        <p:xfrm>
          <a:off x="777240" y="1353312"/>
          <a:ext cx="10637214" cy="4952424"/>
        </p:xfrm>
        <a:graphic>
          <a:graphicData uri="http://schemas.openxmlformats.org/drawingml/2006/table">
            <a:tbl>
              <a:tblPr firstRow="1">
                <a:tableStyleId>{5C22544A-7EE6-4342-B048-85BDC9FD1C3A}</a:tableStyleId>
              </a:tblPr>
              <a:tblGrid>
                <a:gridCol w="822889"/>
                <a:gridCol w="7497435"/>
                <a:gridCol w="2316890"/>
              </a:tblGrid>
              <a:tr h="329184">
                <a:tc>
                  <a:txBody>
                    <a:bodyPr wrap="square"/>
                    <a:lstStyle/>
                    <a:p>
                      <a:pPr algn="l"/>
                      <a:r>
                        <a:rPr sz="950" b="1">
                          <a:solidFill>
                            <a:srgbClr val="FFFFFF"/>
                          </a:solidFill>
                          <a:latin typeface="Calibri"/>
                        </a:rPr>
                        <a:t>Law</a:t>
                      </a:r>
                    </a:p>
                  </a:txBody>
                  <a:tcPr marL="82296" marR="64008" marT="32004" marB="32004" anchor="ctr">
                    <a:solidFill>
                      <a:srgbClr val="A51C30"/>
                    </a:solidFill>
                  </a:tcPr>
                </a:tc>
                <a:tc>
                  <a:txBody>
                    <a:bodyPr wrap="square"/>
                    <a:lstStyle/>
                    <a:p>
                      <a:pPr algn="l"/>
                      <a:r>
                        <a:rPr sz="950" b="1">
                          <a:solidFill>
                            <a:srgbClr val="FFFFFF"/>
                          </a:solidFill>
                          <a:latin typeface="Calibri"/>
                        </a:rPr>
                        <a:t>Says</a:t>
                      </a:r>
                    </a:p>
                  </a:txBody>
                  <a:tcPr marL="82296" marR="64008" marT="32004" marB="32004" anchor="ctr">
                    <a:solidFill>
                      <a:srgbClr val="A51C30"/>
                    </a:solidFill>
                  </a:tcPr>
                </a:tc>
                <a:tc>
                  <a:txBody>
                    <a:bodyPr wrap="square"/>
                    <a:lstStyle/>
                    <a:p>
                      <a:pPr algn="l"/>
                      <a:r>
                        <a:rPr sz="950" b="1">
                          <a:solidFill>
                            <a:srgbClr val="FFFFFF"/>
                          </a:solidFill>
                          <a:latin typeface="Calibri"/>
                        </a:rPr>
                        <a:t>Where</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L-1</a:t>
                      </a:r>
                    </a:p>
                  </a:txBody>
                  <a:tcPr marL="82296" marR="64008" marT="32004" marB="32004" anchor="ctr">
                    <a:solidFill>
                      <a:srgbClr val="FFFFFF"/>
                    </a:solidFill>
                  </a:tcPr>
                </a:tc>
                <a:tc>
                  <a:txBody>
                    <a:bodyPr wrap="square"/>
                    <a:lstStyle/>
                    <a:p>
                      <a:pPr algn="l"/>
                      <a:r>
                        <a:rPr sz="950" b="0">
                          <a:solidFill>
                            <a:srgbClr val="1C1C1E"/>
                          </a:solidFill>
                          <a:latin typeface="Calibri"/>
                        </a:rPr>
                        <a:t>no state is reachable except along declared transitions, from two initial ones</a:t>
                      </a:r>
                    </a:p>
                  </a:txBody>
                  <a:tcPr marL="82296" marR="64008" marT="32004" marB="32004" anchor="ctr">
                    <a:solidFill>
                      <a:srgbClr val="FFFFFF"/>
                    </a:solidFill>
                  </a:tcPr>
                </a:tc>
                <a:tc>
                  <a:txBody>
                    <a:bodyPr wrap="square"/>
                    <a:lstStyle/>
                    <a:p>
                      <a:pPr algn="l"/>
                      <a:r>
                        <a:rPr sz="950" b="0">
                          <a:solidFill>
                            <a:srgbClr val="1C1C1E"/>
                          </a:solidFill>
                          <a:latin typeface="Calibri"/>
                        </a:rPr>
                        <a:t>test_laws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L-2</a:t>
                      </a:r>
                    </a:p>
                  </a:txBody>
                  <a:tcPr marL="82296" marR="64008" marT="32004" marB="32004" anchor="ctr">
                    <a:solidFill>
                      <a:srgbClr val="F6F3EF"/>
                    </a:solidFill>
                  </a:tcPr>
                </a:tc>
                <a:tc>
                  <a:txBody>
                    <a:bodyPr wrap="square"/>
                    <a:lstStyle/>
                    <a:p>
                      <a:pPr algn="l"/>
                      <a:r>
                        <a:rPr sz="950" b="0">
                          <a:solidFill>
                            <a:srgbClr val="1C1C1E"/>
                          </a:solidFill>
                          <a:latin typeface="Calibri"/>
                        </a:rPr>
                        <a:t>hash(manifest(v)) is constant over a version's lifetime</a:t>
                      </a:r>
                    </a:p>
                  </a:txBody>
                  <a:tcPr marL="82296" marR="64008" marT="32004" marB="32004" anchor="ctr">
                    <a:solidFill>
                      <a:srgbClr val="F6F3EF"/>
                    </a:solidFill>
                  </a:tcPr>
                </a:tc>
                <a:tc>
                  <a:txBody>
                    <a:bodyPr wrap="square"/>
                    <a:lstStyle/>
                    <a:p>
                      <a:pPr algn="l"/>
                      <a:r>
                        <a:rPr sz="950" b="0">
                          <a:solidFill>
                            <a:srgbClr val="1C1C1E"/>
                          </a:solidFill>
                          <a:latin typeface="Calibri"/>
                        </a:rPr>
                        <a:t>test_laws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L-3</a:t>
                      </a:r>
                    </a:p>
                  </a:txBody>
                  <a:tcPr marL="82296" marR="64008" marT="32004" marB="32004" anchor="ctr">
                    <a:solidFill>
                      <a:srgbClr val="FFFFFF"/>
                    </a:solidFill>
                  </a:tcPr>
                </a:tc>
                <a:tc>
                  <a:txBody>
                    <a:bodyPr wrap="square"/>
                    <a:lstStyle/>
                    <a:p>
                      <a:pPr algn="l"/>
                      <a:r>
                        <a:rPr sz="950" b="0">
                          <a:solidFill>
                            <a:srgbClr val="1C1C1E"/>
                          </a:solidFill>
                          <a:latin typeface="Calibri"/>
                        </a:rPr>
                        <a:t>a determinism claim is checked by executing twice</a:t>
                      </a:r>
                    </a:p>
                  </a:txBody>
                  <a:tcPr marL="82296" marR="64008" marT="32004" marB="32004" anchor="ctr">
                    <a:solidFill>
                      <a:srgbClr val="FFFFFF"/>
                    </a:solidFill>
                  </a:tcPr>
                </a:tc>
                <a:tc>
                  <a:txBody>
                    <a:bodyPr wrap="square"/>
                    <a:lstStyle/>
                    <a:p>
                      <a:pPr algn="l"/>
                      <a:r>
                        <a:rPr sz="950" b="0">
                          <a:solidFill>
                            <a:srgbClr val="1C1C1E"/>
                          </a:solidFill>
                          <a:latin typeface="Calibri"/>
                        </a:rPr>
                        <a:t>test_laws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L-4</a:t>
                      </a:r>
                    </a:p>
                  </a:txBody>
                  <a:tcPr marL="82296" marR="64008" marT="32004" marB="32004" anchor="ctr">
                    <a:solidFill>
                      <a:srgbClr val="F6F3EF"/>
                    </a:solidFill>
                  </a:tcPr>
                </a:tc>
                <a:tc>
                  <a:txBody>
                    <a:bodyPr wrap="square"/>
                    <a:lstStyle/>
                    <a:p>
                      <a:pPr algn="l"/>
                      <a:r>
                        <a:rPr sz="950" b="0">
                          <a:solidFill>
                            <a:srgbClr val="1C1C1E"/>
                          </a:solidFill>
                          <a:latin typeface="Calibri"/>
                        </a:rPr>
                        <a:t>tiering is monotone in materiality and complexity</a:t>
                      </a:r>
                    </a:p>
                  </a:txBody>
                  <a:tcPr marL="82296" marR="64008" marT="32004" marB="32004" anchor="ctr">
                    <a:solidFill>
                      <a:srgbClr val="F6F3EF"/>
                    </a:solidFill>
                  </a:tcPr>
                </a:tc>
                <a:tc>
                  <a:txBody>
                    <a:bodyPr wrap="square"/>
                    <a:lstStyle/>
                    <a:p>
                      <a:pPr algn="l"/>
                      <a:r>
                        <a:rPr sz="950" b="0">
                          <a:solidFill>
                            <a:srgbClr val="1C1C1E"/>
                          </a:solidFill>
                          <a:latin typeface="Calibri"/>
                        </a:rPr>
                        <a:t>test_risk</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L-5</a:t>
                      </a:r>
                    </a:p>
                  </a:txBody>
                  <a:tcPr marL="82296" marR="64008" marT="32004" marB="32004" anchor="ctr">
                    <a:solidFill>
                      <a:srgbClr val="FFFFFF"/>
                    </a:solidFill>
                  </a:tcPr>
                </a:tc>
                <a:tc>
                  <a:txBody>
                    <a:bodyPr wrap="square"/>
                    <a:lstStyle/>
                    <a:p>
                      <a:pPr algn="l"/>
                      <a:r>
                        <a:rPr sz="950" b="0">
                          <a:solidFill>
                            <a:srgbClr val="1C1C1E"/>
                          </a:solidFill>
                          <a:latin typeface="Calibri"/>
                        </a:rPr>
                        <a:t>the control set is a Galois adjoint of the tier</a:t>
                      </a:r>
                    </a:p>
                  </a:txBody>
                  <a:tcPr marL="82296" marR="64008" marT="32004" marB="32004" anchor="ctr">
                    <a:solidFill>
                      <a:srgbClr val="FFFFFF"/>
                    </a:solidFill>
                  </a:tcPr>
                </a:tc>
                <a:tc>
                  <a:txBody>
                    <a:bodyPr wrap="square"/>
                    <a:lstStyle/>
                    <a:p>
                      <a:pPr algn="l"/>
                      <a:r>
                        <a:rPr sz="950" b="0">
                          <a:solidFill>
                            <a:srgbClr val="1C1C1E"/>
                          </a:solidFill>
                          <a:latin typeface="Calibri"/>
                        </a:rPr>
                        <a:t>test_risk</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L-7</a:t>
                      </a:r>
                    </a:p>
                  </a:txBody>
                  <a:tcPr marL="82296" marR="64008" marT="32004" marB="32004" anchor="ctr">
                    <a:solidFill>
                      <a:srgbClr val="F6F3EF"/>
                    </a:solidFill>
                  </a:tcPr>
                </a:tc>
                <a:tc>
                  <a:txBody>
                    <a:bodyPr wrap="square"/>
                    <a:lstStyle/>
                    <a:p>
                      <a:pPr algn="l"/>
                      <a:r>
                        <a:rPr sz="950" b="0">
                          <a:solidFill>
                            <a:srgbClr val="1C1C1E"/>
                          </a:solidFill>
                          <a:latin typeface="Calibri"/>
                        </a:rPr>
                        <a:t>an alias move requires contract refinement</a:t>
                      </a:r>
                    </a:p>
                  </a:txBody>
                  <a:tcPr marL="82296" marR="64008" marT="32004" marB="32004" anchor="ctr">
                    <a:solidFill>
                      <a:srgbClr val="F6F3EF"/>
                    </a:solidFill>
                  </a:tcPr>
                </a:tc>
                <a:tc>
                  <a:txBody>
                    <a:bodyPr wrap="square"/>
                    <a:lstStyle/>
                    <a:p>
                      <a:pPr algn="l"/>
                      <a:r>
                        <a:rPr sz="950" b="0">
                          <a:solidFill>
                            <a:srgbClr val="1C1C1E"/>
                          </a:solidFill>
                          <a:latin typeface="Calibri"/>
                        </a:rPr>
                        <a:t>aliases.py</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L-8</a:t>
                      </a:r>
                    </a:p>
                  </a:txBody>
                  <a:tcPr marL="82296" marR="64008" marT="32004" marB="32004" anchor="ctr">
                    <a:solidFill>
                      <a:srgbClr val="FFFFFF"/>
                    </a:solidFill>
                  </a:tcPr>
                </a:tc>
                <a:tc>
                  <a:txBody>
                    <a:bodyPr wrap="square"/>
                    <a:lstStyle/>
                    <a:p>
                      <a:pPr algn="l"/>
                      <a:r>
                        <a:rPr sz="950" b="0">
                          <a:solidFill>
                            <a:srgbClr val="1C1C1E"/>
                          </a:solidFill>
                          <a:latin typeface="Calibri"/>
                        </a:rPr>
                        <a:t>a regime's translation preserves truth</a:t>
                      </a:r>
                    </a:p>
                  </a:txBody>
                  <a:tcPr marL="82296" marR="64008" marT="32004" marB="32004" anchor="ctr">
                    <a:solidFill>
                      <a:srgbClr val="FFFFFF"/>
                    </a:solidFill>
                  </a:tcPr>
                </a:tc>
                <a:tc>
                  <a:txBody>
                    <a:bodyPr wrap="square"/>
                    <a:lstStyle/>
                    <a:p>
                      <a:pPr algn="l"/>
                      <a:r>
                        <a:rPr sz="950" b="0">
                          <a:solidFill>
                            <a:srgbClr val="1C1C1E"/>
                          </a:solidFill>
                          <a:latin typeface="Calibri"/>
                        </a:rPr>
                        <a:t>regimes/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L-9</a:t>
                      </a:r>
                    </a:p>
                  </a:txBody>
                  <a:tcPr marL="82296" marR="64008" marT="32004" marB="32004" anchor="ctr">
                    <a:solidFill>
                      <a:srgbClr val="F6F3EF"/>
                    </a:solidFill>
                  </a:tcPr>
                </a:tc>
                <a:tc>
                  <a:txBody>
                    <a:bodyPr wrap="square"/>
                    <a:lstStyle/>
                    <a:p>
                      <a:pPr algn="l"/>
                      <a:r>
                        <a:rPr sz="950" b="0">
                          <a:solidFill>
                            <a:srgbClr val="1C1C1E"/>
                          </a:solidFill>
                          <a:latin typeface="Calibri"/>
                        </a:rPr>
                        <a:t>the provenance polynomial is universal</a:t>
                      </a:r>
                    </a:p>
                  </a:txBody>
                  <a:tcPr marL="82296" marR="64008" marT="32004" marB="32004" anchor="ctr">
                    <a:solidFill>
                      <a:srgbClr val="F6F3EF"/>
                    </a:solidFill>
                  </a:tcPr>
                </a:tc>
                <a:tc>
                  <a:txBody>
                    <a:bodyPr wrap="square"/>
                    <a:lstStyle/>
                    <a:p>
                      <a:pPr algn="l"/>
                      <a:r>
                        <a:rPr sz="950" b="0">
                          <a:solidFill>
                            <a:srgbClr val="1C1C1E"/>
                          </a:solidFill>
                          <a:latin typeface="Calibri"/>
                        </a:rPr>
                        <a:t>test_laws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L-10</a:t>
                      </a:r>
                    </a:p>
                  </a:txBody>
                  <a:tcPr marL="82296" marR="64008" marT="32004" marB="32004" anchor="ctr">
                    <a:solidFill>
                      <a:srgbClr val="FFFFFF"/>
                    </a:solidFill>
                  </a:tcPr>
                </a:tc>
                <a:tc>
                  <a:txBody>
                    <a:bodyPr wrap="square"/>
                    <a:lstStyle/>
                    <a:p>
                      <a:pPr algn="l"/>
                      <a:r>
                        <a:rPr sz="950" b="0">
                          <a:solidFill>
                            <a:srgbClr val="1C1C1E"/>
                          </a:solidFill>
                          <a:latin typeface="Calibri"/>
                        </a:rPr>
                        <a:t>the as-of read saturates at the label</a:t>
                      </a:r>
                    </a:p>
                  </a:txBody>
                  <a:tcPr marL="82296" marR="64008" marT="32004" marB="32004" anchor="ctr">
                    <a:solidFill>
                      <a:srgbClr val="FFFFFF"/>
                    </a:solidFill>
                  </a:tcPr>
                </a:tc>
                <a:tc>
                  <a:txBody>
                    <a:bodyPr wrap="square"/>
                    <a:lstStyle/>
                    <a:p>
                      <a:pPr algn="l"/>
                      <a:r>
                        <a:rPr sz="950" b="0">
                          <a:solidFill>
                            <a:srgbClr val="1C1C1E"/>
                          </a:solidFill>
                          <a:latin typeface="Calibri"/>
                        </a:rPr>
                        <a:t>test_laws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L-12</a:t>
                      </a:r>
                    </a:p>
                  </a:txBody>
                  <a:tcPr marL="82296" marR="64008" marT="32004" marB="32004" anchor="ctr">
                    <a:solidFill>
                      <a:srgbClr val="F6F3EF"/>
                    </a:solidFill>
                  </a:tcPr>
                </a:tc>
                <a:tc>
                  <a:txBody>
                    <a:bodyPr wrap="square"/>
                    <a:lstStyle/>
                    <a:p>
                      <a:pPr algn="l"/>
                      <a:r>
                        <a:rPr sz="950" b="0">
                          <a:solidFill>
                            <a:srgbClr val="1C1C1E"/>
                          </a:solidFill>
                          <a:latin typeface="Calibri"/>
                        </a:rPr>
                        <a:t>schema variance: contravariant in, covariant out</a:t>
                      </a:r>
                    </a:p>
                  </a:txBody>
                  <a:tcPr marL="82296" marR="64008" marT="32004" marB="32004" anchor="ctr">
                    <a:solidFill>
                      <a:srgbClr val="F6F3EF"/>
                    </a:solidFill>
                  </a:tcPr>
                </a:tc>
                <a:tc>
                  <a:txBody>
                    <a:bodyPr wrap="square"/>
                    <a:lstStyle/>
                    <a:p>
                      <a:pPr algn="l"/>
                      <a:r>
                        <a:rPr sz="950" b="0">
                          <a:solidFill>
                            <a:srgbClr val="1C1C1E"/>
                          </a:solidFill>
                          <a:latin typeface="Calibri"/>
                        </a:rPr>
                        <a:t>schemas.py</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L-16</a:t>
                      </a:r>
                    </a:p>
                  </a:txBody>
                  <a:tcPr marL="82296" marR="64008" marT="32004" marB="32004" anchor="ctr">
                    <a:solidFill>
                      <a:srgbClr val="FFFFFF"/>
                    </a:solidFill>
                  </a:tcPr>
                </a:tc>
                <a:tc>
                  <a:txBody>
                    <a:bodyPr wrap="square"/>
                    <a:lstStyle/>
                    <a:p>
                      <a:pPr algn="l"/>
                      <a:r>
                        <a:rPr sz="950" b="0">
                          <a:solidFill>
                            <a:srgbClr val="1C1C1E"/>
                          </a:solidFill>
                          <a:latin typeface="Calibri"/>
                        </a:rPr>
                        <a:t>no regime obliges and forbids the same term</a:t>
                      </a:r>
                    </a:p>
                  </a:txBody>
                  <a:tcPr marL="82296" marR="64008" marT="32004" marB="32004" anchor="ctr">
                    <a:solidFill>
                      <a:srgbClr val="FFFFFF"/>
                    </a:solidFill>
                  </a:tcPr>
                </a:tc>
                <a:tc>
                  <a:txBody>
                    <a:bodyPr wrap="square"/>
                    <a:lstStyle/>
                    <a:p>
                      <a:pPr algn="l"/>
                      <a:r>
                        <a:rPr sz="950" b="0">
                          <a:solidFill>
                            <a:srgbClr val="1C1C1E"/>
                          </a:solidFill>
                          <a:latin typeface="Calibri"/>
                        </a:rPr>
                        <a:t>regimes/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L-18</a:t>
                      </a:r>
                    </a:p>
                  </a:txBody>
                  <a:tcPr marL="82296" marR="64008" marT="32004" marB="32004" anchor="ctr">
                    <a:solidFill>
                      <a:srgbClr val="F6F3EF"/>
                    </a:solidFill>
                  </a:tcPr>
                </a:tc>
                <a:tc>
                  <a:txBody>
                    <a:bodyPr wrap="square"/>
                    <a:lstStyle/>
                    <a:p>
                      <a:pPr algn="l"/>
                      <a:r>
                        <a:rPr sz="950" b="0">
                          <a:solidFill>
                            <a:srgbClr val="1C1C1E"/>
                          </a:solidFill>
                          <a:latin typeface="Calibri"/>
                        </a:rPr>
                        <a:t>no personal data inline in an evidence node</a:t>
                      </a:r>
                    </a:p>
                  </a:txBody>
                  <a:tcPr marL="82296" marR="64008" marT="32004" marB="32004" anchor="ctr">
                    <a:solidFill>
                      <a:srgbClr val="F6F3EF"/>
                    </a:solidFill>
                  </a:tcPr>
                </a:tc>
                <a:tc>
                  <a:txBody>
                    <a:bodyPr wrap="square"/>
                    <a:lstStyle/>
                    <a:p>
                      <a:pPr algn="l"/>
                      <a:r>
                        <a:rPr sz="950" b="0">
                          <a:solidFill>
                            <a:srgbClr val="1C1C1E"/>
                          </a:solidFill>
                          <a:latin typeface="Calibri"/>
                        </a:rPr>
                        <a:t>evidence/</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L-19</a:t>
                      </a:r>
                    </a:p>
                  </a:txBody>
                  <a:tcPr marL="82296" marR="64008" marT="32004" marB="32004" anchor="ctr">
                    <a:solidFill>
                      <a:srgbClr val="FFFFFF"/>
                    </a:solidFill>
                  </a:tcPr>
                </a:tc>
                <a:tc>
                  <a:txBody>
                    <a:bodyPr wrap="square"/>
                    <a:lstStyle/>
                    <a:p>
                      <a:pPr algn="l"/>
                      <a:r>
                        <a:rPr sz="950" b="0">
                          <a:solidFill>
                            <a:srgbClr val="1C1C1E"/>
                          </a:solidFill>
                          <a:latin typeface="Calibri"/>
                        </a:rPr>
                        <a:t>composition is a monoid</a:t>
                      </a:r>
                    </a:p>
                  </a:txBody>
                  <a:tcPr marL="82296" marR="64008" marT="32004" marB="32004" anchor="ctr">
                    <a:solidFill>
                      <a:srgbClr val="FFFFFF"/>
                    </a:solidFill>
                  </a:tcPr>
                </a:tc>
                <a:tc>
                  <a:txBody>
                    <a:bodyPr wrap="square"/>
                    <a:lstStyle/>
                    <a:p>
                      <a:pPr algn="l"/>
                      <a:r>
                        <a:rPr sz="950" b="0">
                          <a:solidFill>
                            <a:srgbClr val="1C1C1E"/>
                          </a:solidFill>
                          <a:latin typeface="Calibri"/>
                        </a:rPr>
                        <a:t>test_composition</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L-20</a:t>
                      </a:r>
                    </a:p>
                  </a:txBody>
                  <a:tcPr marL="82296" marR="64008" marT="32004" marB="32004" anchor="ctr">
                    <a:solidFill>
                      <a:srgbClr val="F6F3EF"/>
                    </a:solidFill>
                  </a:tcPr>
                </a:tc>
                <a:tc>
                  <a:txBody>
                    <a:bodyPr wrap="square"/>
                    <a:lstStyle/>
                    <a:p>
                      <a:pPr algn="l"/>
                      <a:r>
                        <a:rPr sz="950" b="0">
                          <a:solidFill>
                            <a:srgbClr val="1C1C1E"/>
                          </a:solidFill>
                          <a:latin typeface="Calibri"/>
                        </a:rPr>
                        <a:t>schemas form a lattice; independent edits commute</a:t>
                      </a:r>
                    </a:p>
                  </a:txBody>
                  <a:tcPr marL="82296" marR="64008" marT="32004" marB="32004" anchor="ctr">
                    <a:solidFill>
                      <a:srgbClr val="F6F3EF"/>
                    </a:solidFill>
                  </a:tcPr>
                </a:tc>
                <a:tc>
                  <a:txBody>
                    <a:bodyPr wrap="square"/>
                    <a:lstStyle/>
                    <a:p>
                      <a:pPr algn="l"/>
                      <a:r>
                        <a:rPr sz="950" b="0">
                          <a:solidFill>
                            <a:srgbClr val="1C1C1E"/>
                          </a:solidFill>
                          <a:latin typeface="Calibri"/>
                        </a:rPr>
                        <a:t>test_laws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L-21</a:t>
                      </a:r>
                    </a:p>
                  </a:txBody>
                  <a:tcPr marL="82296" marR="64008" marT="32004" marB="32004" anchor="ctr">
                    <a:solidFill>
                      <a:srgbClr val="FFFFFF"/>
                    </a:solidFill>
                  </a:tcPr>
                </a:tc>
                <a:tc>
                  <a:txBody>
                    <a:bodyPr wrap="square"/>
                    <a:lstStyle/>
                    <a:p>
                      <a:pPr algn="l"/>
                      <a:r>
                        <a:rPr sz="950" b="0">
                          <a:solidFill>
                            <a:srgbClr val="1C1C1E"/>
                          </a:solidFill>
                          <a:latin typeface="Calibri"/>
                        </a:rPr>
                        <a:t>an input_to edge type-checks or does not exist</a:t>
                      </a:r>
                    </a:p>
                  </a:txBody>
                  <a:tcPr marL="82296" marR="64008" marT="32004" marB="32004" anchor="ctr">
                    <a:solidFill>
                      <a:srgbClr val="FFFFFF"/>
                    </a:solidFill>
                  </a:tcPr>
                </a:tc>
                <a:tc>
                  <a:txBody>
                    <a:bodyPr wrap="square"/>
                    <a:lstStyle/>
                    <a:p>
                      <a:pPr algn="l"/>
                      <a:r>
                        <a:rPr sz="950" b="0">
                          <a:solidFill>
                            <a:srgbClr val="1C1C1E"/>
                          </a:solidFill>
                          <a:latin typeface="Calibri"/>
                        </a:rPr>
                        <a:t>test_laws</a:t>
                      </a:r>
                    </a:p>
                  </a:txBody>
                  <a:tcPr marL="82296" marR="64008" marT="32004" marB="32004"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LAWS · THE RETURN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writing them found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8 · The Laws, and Which of Them Run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42</a:t>
            </a:r>
          </a:p>
        </p:txBody>
      </p:sp>
      <p:sp>
        <p:nvSpPr>
          <p:cNvPr id="10" name="Rectangle 9"/>
          <p:cNvSpPr/>
          <p:nvPr/>
        </p:nvSpPr>
        <p:spPr>
          <a:xfrm>
            <a:off x="777240"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L-W8 · a shipped example was wrong</a:t>
            </a:r>
          </a:p>
        </p:txBody>
      </p:sp>
      <p:sp>
        <p:nvSpPr>
          <p:cNvPr id="14" name="TextBox 13"/>
          <p:cNvSpPr txBox="1"/>
          <p:nvPr/>
        </p:nvSpPr>
        <p:spPr>
          <a:xfrm>
            <a:off x="996695"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00" b="0" i="0">
                <a:solidFill>
                  <a:srgbClr val="4A4F57"/>
                </a:solidFill>
                <a:latin typeface="Calibri"/>
              </a:rPr>
              <a:t>The Hull–White calibration warrant declared its parameters came from an artifact while its verb produced them. Two more examples were wrong the same way. Found on the day the law was written.</a:t>
            </a:r>
          </a:p>
        </p:txBody>
      </p:sp>
      <p:sp>
        <p:nvSpPr>
          <p:cNvPr id="15" name="Rectangle 14"/>
          <p:cNvSpPr/>
          <p:nvPr/>
        </p:nvSpPr>
        <p:spPr>
          <a:xfrm>
            <a:off x="4414418"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14418"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33874"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4633874"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L-W11 and L-W13 · two more, the same day</a:t>
            </a:r>
          </a:p>
        </p:txBody>
      </p:sp>
      <p:sp>
        <p:nvSpPr>
          <p:cNvPr id="19" name="TextBox 18"/>
          <p:cNvSpPr txBox="1"/>
          <p:nvPr/>
        </p:nvSpPr>
        <p:spPr>
          <a:xfrm>
            <a:off x="4633874"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A VaR backtest that never said what it was calibrated as of, and both LLM examples naming a model family rather than a build. Three of thirteen shipped warrants were quietly under-specified.</a:t>
            </a:r>
          </a:p>
        </p:txBody>
      </p:sp>
      <p:sp>
        <p:nvSpPr>
          <p:cNvPr id="20" name="Rectangle 19"/>
          <p:cNvSpPr/>
          <p:nvPr/>
        </p:nvSpPr>
        <p:spPr>
          <a:xfrm>
            <a:off x="8051596"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51596"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71052"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8271052"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L-1 · baselined was reachable by no edge</a:t>
            </a:r>
          </a:p>
        </p:txBody>
      </p:sp>
      <p:sp>
        <p:nvSpPr>
          <p:cNvPr id="24" name="TextBox 23"/>
          <p:cNvSpPr txBox="1"/>
          <p:nvPr/>
        </p:nvSpPr>
        <p:spPr>
          <a:xfrm>
            <a:off x="8271052"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Which looked like a violation and was not: it is a second INITIAL object, because an imported record must not enter through draft or the register would imply evidence was asserted when it was not.</a:t>
            </a:r>
          </a:p>
        </p:txBody>
      </p:sp>
      <p:sp>
        <p:nvSpPr>
          <p:cNvPr id="25" name="Rectangle 24"/>
          <p:cNvSpPr/>
          <p:nvPr/>
        </p:nvSpPr>
        <p:spPr>
          <a:xfrm>
            <a:off x="777240"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96695"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996695"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L-9 · freshness is not a semiring</a:t>
            </a:r>
          </a:p>
        </p:txBody>
      </p:sp>
      <p:sp>
        <p:nvSpPr>
          <p:cNvPr id="29" name="TextBox 28"/>
          <p:cNvSpPr txBox="1"/>
          <p:nvPr/>
        </p:nvSpPr>
        <p:spPr>
          <a:xfrm>
            <a:off x="996695"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(max, max) has no annihilating zero. So the universal property does not reach it, and a claim resting on a missing fact reports the freshness of the facts that are present.</a:t>
            </a:r>
          </a:p>
        </p:txBody>
      </p:sp>
      <p:sp>
        <p:nvSpPr>
          <p:cNvPr id="30" name="Rectangle 29"/>
          <p:cNvSpPr/>
          <p:nvPr/>
        </p:nvSpPr>
        <p:spPr>
          <a:xfrm>
            <a:off x="4414418"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4414418"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4633874"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05</a:t>
            </a:r>
          </a:p>
        </p:txBody>
      </p:sp>
      <p:sp>
        <p:nvSpPr>
          <p:cNvPr id="33" name="TextBox 32"/>
          <p:cNvSpPr txBox="1"/>
          <p:nvPr/>
        </p:nvSpPr>
        <p:spPr>
          <a:xfrm>
            <a:off x="4633874"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L-20 · the design note was backwards</a:t>
            </a:r>
          </a:p>
        </p:txBody>
      </p:sp>
      <p:sp>
        <p:nvSpPr>
          <p:cNvPr id="34" name="TextBox 33"/>
          <p:cNvSpPr txBox="1"/>
          <p:nvPr/>
        </p:nvSpPr>
        <p:spPr>
          <a:xfrm>
            <a:off x="4633874"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4A4F57"/>
                </a:solidFill>
                <a:latin typeface="Calibri"/>
              </a:rPr>
              <a:t>It said a refinement is “at a type no wider”. Standing in for something requires accepting AT LEAST what it accepted. The code had it right; the prose did not.</a:t>
            </a:r>
          </a:p>
        </p:txBody>
      </p:sp>
      <p:sp>
        <p:nvSpPr>
          <p:cNvPr id="35" name="Rectangle 34"/>
          <p:cNvSpPr/>
          <p:nvPr/>
        </p:nvSpPr>
        <p:spPr>
          <a:xfrm>
            <a:off x="8051596"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8051596"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8271052"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06</a:t>
            </a:r>
          </a:p>
        </p:txBody>
      </p:sp>
      <p:sp>
        <p:nvSpPr>
          <p:cNvPr id="38" name="TextBox 37"/>
          <p:cNvSpPr txBox="1"/>
          <p:nvPr/>
        </p:nvSpPr>
        <p:spPr>
          <a:xfrm>
            <a:off x="8271052"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L-10 · a per-model document quoted a global count</a:t>
            </a:r>
          </a:p>
        </p:txBody>
      </p:sp>
      <p:sp>
        <p:nvSpPr>
          <p:cNvPr id="39" name="TextBox 38"/>
          <p:cNvSpPr txBox="1"/>
          <p:nvPr/>
        </p:nvSpPr>
        <p:spPr>
          <a:xfrm>
            <a:off x="8271052"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provenance lens reported the PLATFORM-WIDE chain length inside each model's document, so every model's document changed whenever anything happened anywhere.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LAWS · THE HONEST GAP</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six that do not run, and why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8 · The Laws, and Which of Them Run</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43</a:t>
            </a:r>
          </a:p>
        </p:txBody>
      </p:sp>
      <p:graphicFrame>
        <p:nvGraphicFramePr>
          <p:cNvPr id="10" name="Table 9"/>
          <p:cNvGraphicFramePr>
            <a:graphicFrameLocks noGrp="1"/>
          </p:cNvGraphicFramePr>
          <p:nvPr/>
        </p:nvGraphicFramePr>
        <p:xfrm>
          <a:off x="777240" y="1353312"/>
          <a:ext cx="10637214" cy="2693416"/>
        </p:xfrm>
        <a:graphic>
          <a:graphicData uri="http://schemas.openxmlformats.org/drawingml/2006/table">
            <a:tbl>
              <a:tblPr firstRow="1">
                <a:tableStyleId>{5C22544A-7EE6-4342-B048-85BDC9FD1C3A}</a:tableStyleId>
              </a:tblPr>
              <a:tblGrid>
                <a:gridCol w="2925828"/>
                <a:gridCol w="7711386"/>
              </a:tblGrid>
              <a:tr h="329184">
                <a:tc>
                  <a:txBody>
                    <a:bodyPr wrap="square"/>
                    <a:lstStyle/>
                    <a:p>
                      <a:pPr algn="l"/>
                      <a:r>
                        <a:rPr sz="1000" b="1">
                          <a:solidFill>
                            <a:srgbClr val="FFFFFF"/>
                          </a:solidFill>
                          <a:latin typeface="Calibri"/>
                        </a:rPr>
                        <a:t>Law</a:t>
                      </a:r>
                    </a:p>
                  </a:txBody>
                  <a:tcPr marL="82296" marR="64008" marT="32004" marB="32004" anchor="ctr">
                    <a:solidFill>
                      <a:srgbClr val="A51C30"/>
                    </a:solidFill>
                  </a:tcPr>
                </a:tc>
                <a:tc>
                  <a:txBody>
                    <a:bodyPr wrap="square"/>
                    <a:lstStyle/>
                    <a:p>
                      <a:pPr algn="l"/>
                      <a:r>
                        <a:rPr sz="1000" b="1">
                          <a:solidFill>
                            <a:srgbClr val="FFFFFF"/>
                          </a:solidFill>
                          <a:latin typeface="Calibri"/>
                        </a:rPr>
                        <a:t>Why not</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L-6  abstraction soundness</a:t>
                      </a:r>
                    </a:p>
                  </a:txBody>
                  <a:tcPr marL="82296" marR="64008" marT="32004" marB="32004" anchor="ctr">
                    <a:solidFill>
                      <a:srgbClr val="FFFFFF"/>
                    </a:solidFill>
                  </a:tcPr>
                </a:tc>
                <a:tc>
                  <a:txBody>
                    <a:bodyPr wrap="square"/>
                    <a:lstStyle/>
                    <a:p>
                      <a:pPr algn="l"/>
                      <a:r>
                        <a:rPr sz="1000" b="0">
                          <a:solidFill>
                            <a:srgbClr val="1C1C1E"/>
                          </a:solidFill>
                          <a:latin typeface="Calibri"/>
                        </a:rPr>
                        <a:t>needs a replay that checks a document's quantitative claims against the register; the replay exists for validation episodes, not documents</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L-11  lens laws</a:t>
                      </a:r>
                    </a:p>
                  </a:txBody>
                  <a:tcPr marL="82296" marR="64008" marT="32004" marB="32004" anchor="ctr">
                    <a:solidFill>
                      <a:srgbClr val="F6F3EF"/>
                    </a:solidFill>
                  </a:tcPr>
                </a:tc>
                <a:tc>
                  <a:txBody>
                    <a:bodyPr wrap="square"/>
                    <a:lstStyle/>
                    <a:p>
                      <a:pPr algn="l"/>
                      <a:r>
                        <a:rPr sz="1000" b="0">
                          <a:solidFill>
                            <a:srgbClr val="1C1C1E"/>
                          </a:solidFill>
                          <a:latin typeface="Calibri"/>
                        </a:rPr>
                        <a:t>needs a `put`. The compiler regenerates whole documents, so there is no round trip — and building one to satisfy a law would be building the wrong thing</a:t>
                      </a:r>
                    </a:p>
                  </a:txBody>
                  <a:tcPr marL="82296" marR="64008" marT="32004" marB="32004" anchor="ctr">
                    <a:solidFill>
                      <a:srgbClr val="F6F3EF"/>
                    </a:solidFill>
                  </a:tcPr>
                </a:tc>
              </a:tr>
              <a:tr h="347472">
                <a:tc>
                  <a:txBody>
                    <a:bodyPr wrap="square"/>
                    <a:lstStyle/>
                    <a:p>
                      <a:pPr algn="l"/>
                      <a:r>
                        <a:rPr sz="1000" b="1">
                          <a:solidFill>
                            <a:srgbClr val="A51C30"/>
                          </a:solidFill>
                          <a:latin typeface="Calibri"/>
                        </a:rPr>
                        <a:t>L-13  evidence gluing</a:t>
                      </a:r>
                    </a:p>
                  </a:txBody>
                  <a:tcPr marL="82296" marR="64008" marT="32004" marB="32004" anchor="ctr">
                    <a:solidFill>
                      <a:srgbClr val="FFFFFF"/>
                    </a:solidFill>
                  </a:tcPr>
                </a:tc>
                <a:tc>
                  <a:txBody>
                    <a:bodyPr wrap="square"/>
                    <a:lstStyle/>
                    <a:p>
                      <a:pPr algn="l"/>
                      <a:r>
                        <a:rPr sz="1000" b="0">
                          <a:solidFill>
                            <a:srgbClr val="1C1C1E"/>
                          </a:solidFill>
                          <a:latin typeface="Calibri"/>
                        </a:rPr>
                        <a:t>no consistency radius is computed anywhere</a:t>
                      </a:r>
                    </a:p>
                  </a:txBody>
                  <a:tcPr marL="82296" marR="64008" marT="32004" marB="32004" anchor="ctr">
                    <a:solidFill>
                      <a:srgbClr val="FFFFFF"/>
                    </a:solidFill>
                  </a:tcPr>
                </a:tc>
              </a:tr>
              <a:tr h="347472">
                <a:tc>
                  <a:txBody>
                    <a:bodyPr wrap="square"/>
                    <a:lstStyle/>
                    <a:p>
                      <a:pPr algn="l"/>
                      <a:r>
                        <a:rPr sz="1000" b="1">
                          <a:solidFill>
                            <a:srgbClr val="A51C30"/>
                          </a:solidFill>
                          <a:latin typeface="Calibri"/>
                        </a:rPr>
                        <a:t>L-14  lax monoidality of risk</a:t>
                      </a:r>
                    </a:p>
                  </a:txBody>
                  <a:tcPr marL="82296" marR="64008" marT="32004" marB="32004" anchor="ctr">
                    <a:solidFill>
                      <a:srgbClr val="F6F3EF"/>
                    </a:solidFill>
                  </a:tcPr>
                </a:tc>
                <a:tc>
                  <a:txBody>
                    <a:bodyPr wrap="square"/>
                    <a:lstStyle/>
                    <a:p>
                      <a:pPr algn="l"/>
                      <a:r>
                        <a:rPr sz="1000" b="0">
                          <a:solidFill>
                            <a:srgbClr val="1C1C1E"/>
                          </a:solidFill>
                          <a:latin typeface="Calibri"/>
                        </a:rPr>
                        <a:t>typed composition gives it something to quantify over; the aggregate ρ and composite warrants are not built</a:t>
                      </a:r>
                    </a:p>
                  </a:txBody>
                  <a:tcPr marL="82296" marR="64008" marT="32004" marB="32004" anchor="ctr">
                    <a:solidFill>
                      <a:srgbClr val="F6F3EF"/>
                    </a:solidFill>
                  </a:tcPr>
                </a:tc>
              </a:tr>
              <a:tr h="347472">
                <a:tc>
                  <a:txBody>
                    <a:bodyPr wrap="square"/>
                    <a:lstStyle/>
                    <a:p>
                      <a:pPr algn="l"/>
                      <a:r>
                        <a:rPr sz="1000" b="1">
                          <a:solidFill>
                            <a:srgbClr val="A51C30"/>
                          </a:solidFill>
                          <a:latin typeface="Calibri"/>
                        </a:rPr>
                        <a:t>L-15  fibration completeness</a:t>
                      </a:r>
                    </a:p>
                  </a:txBody>
                  <a:tcPr marL="82296" marR="64008" marT="32004" marB="32004" anchor="ctr">
                    <a:solidFill>
                      <a:srgbClr val="FFFFFF"/>
                    </a:solidFill>
                  </a:tcPr>
                </a:tc>
                <a:tc>
                  <a:txBody>
                    <a:bodyPr wrap="square"/>
                    <a:lstStyle/>
                    <a:p>
                      <a:pPr algn="l"/>
                      <a:r>
                        <a:rPr sz="1000" b="0">
                          <a:solidFill>
                            <a:srgbClr val="1C1C1E"/>
                          </a:solidFill>
                          <a:latin typeface="Calibri"/>
                        </a:rPr>
                        <a:t>needs a plugin loader that refuses to boot on a partial fibre; model classes are strings on the register today</a:t>
                      </a:r>
                    </a:p>
                  </a:txBody>
                  <a:tcPr marL="82296" marR="64008" marT="32004" marB="32004" anchor="ctr">
                    <a:solidFill>
                      <a:srgbClr val="FFFFFF"/>
                    </a:solidFill>
                  </a:tcPr>
                </a:tc>
              </a:tr>
              <a:tr h="347472">
                <a:tc>
                  <a:txBody>
                    <a:bodyPr wrap="square"/>
                    <a:lstStyle/>
                    <a:p>
                      <a:pPr algn="l"/>
                      <a:r>
                        <a:rPr sz="1000" b="1">
                          <a:solidFill>
                            <a:srgbClr val="A51C30"/>
                          </a:solidFill>
                          <a:latin typeface="Calibri"/>
                        </a:rPr>
                        <a:t>L-17  contract–serving agreement</a:t>
                      </a:r>
                    </a:p>
                  </a:txBody>
                  <a:tcPr marL="82296" marR="64008" marT="32004" marB="32004" anchor="ctr">
                    <a:solidFill>
                      <a:srgbClr val="F6F3EF"/>
                    </a:solidFill>
                  </a:tcPr>
                </a:tc>
                <a:tc>
                  <a:txBody>
                    <a:bodyPr wrap="square"/>
                    <a:lstStyle/>
                    <a:p>
                      <a:pPr algn="l"/>
                      <a:r>
                        <a:rPr sz="1000" b="0">
                          <a:solidFill>
                            <a:srgbClr val="1C1C1E"/>
                          </a:solidFill>
                          <a:latin typeface="Calibri"/>
                        </a:rPr>
                        <a:t>needs an online store to compare against. Half exists: serving_namespaces computes what serving MUST read</a:t>
                      </a:r>
                    </a:p>
                  </a:txBody>
                  <a:tcPr marL="82296" marR="64008" marT="32004" marB="32004" anchor="ctr">
                    <a:solidFill>
                      <a:srgbClr val="F6F3EF"/>
                    </a:solidFill>
                  </a:tcPr>
                </a:tc>
              </a:tr>
            </a:tbl>
          </a:graphicData>
        </a:graphic>
      </p:graphicFrame>
      <p:sp>
        <p:nvSpPr>
          <p:cNvPr id="11" name="Rectangle 10"/>
          <p:cNvSpPr/>
          <p:nvPr/>
        </p:nvSpPr>
        <p:spPr>
          <a:xfrm>
            <a:off x="777240" y="4302760"/>
            <a:ext cx="10637215" cy="9601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302760"/>
            <a:ext cx="41148" cy="9601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421632"/>
            <a:ext cx="10180015" cy="7406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law that is stated but not executed did not prevent anything. </a:t>
            </a:r>
            <a:r>
              <a:rPr sz="1050" b="0" i="0">
                <a:solidFill>
                  <a:srgbClr val="1C1C1E"/>
                </a:solidFill>
                <a:latin typeface="Calibri"/>
              </a:rPr>
              <a:t>Which is why they are listed here rather than only in a table nobody opens — and why the test file that runs the other fifteen carries this same list, so the gap is visible where somebody is already looking.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III</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Concepts</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The objects a practitioner works with, each with a worked example small enough to hold in your head.</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9 · The shape of the whole thing</a:t>
            </a:r>
          </a:p>
          <a:p>
            <a:pPr>
              <a:lnSpc>
                <a:spcPct val="115000"/>
              </a:lnSpc>
              <a:spcBef>
                <a:spcPts val="0"/>
              </a:spcBef>
              <a:spcAft>
                <a:spcPts val="800"/>
              </a:spcAft>
            </a:pPr>
            <a:r>
              <a:rPr sz="1150" b="0" i="0">
                <a:solidFill>
                  <a:srgbClr val="E4DED6"/>
                </a:solidFill>
                <a:latin typeface="Calibri"/>
              </a:rPr>
              <a:t>10 · What a feature is</a:t>
            </a:r>
          </a:p>
          <a:p>
            <a:pPr>
              <a:lnSpc>
                <a:spcPct val="115000"/>
              </a:lnSpc>
              <a:spcBef>
                <a:spcPts val="0"/>
              </a:spcBef>
              <a:spcAft>
                <a:spcPts val="800"/>
              </a:spcAft>
            </a:pPr>
            <a:r>
              <a:rPr sz="1150" b="0" i="0">
                <a:solidFill>
                  <a:srgbClr val="E4DED6"/>
                </a:solidFill>
                <a:latin typeface="Calibri"/>
              </a:rPr>
              <a:t>11 · What a featureset is</a:t>
            </a:r>
          </a:p>
          <a:p>
            <a:pPr>
              <a:lnSpc>
                <a:spcPct val="115000"/>
              </a:lnSpc>
              <a:spcBef>
                <a:spcPts val="0"/>
              </a:spcBef>
              <a:spcAft>
                <a:spcPts val="800"/>
              </a:spcAft>
            </a:pPr>
            <a:r>
              <a:rPr sz="1150" b="0" i="0">
                <a:solidFill>
                  <a:srgbClr val="E4DED6"/>
                </a:solidFill>
                <a:latin typeface="Calibri"/>
              </a:rPr>
              <a:t>12 · Warrants, and what comes back</a:t>
            </a:r>
          </a:p>
          <a:p>
            <a:pPr>
              <a:lnSpc>
                <a:spcPct val="115000"/>
              </a:lnSpc>
              <a:spcBef>
                <a:spcPts val="0"/>
              </a:spcBef>
              <a:spcAft>
                <a:spcPts val="800"/>
              </a:spcAft>
            </a:pPr>
            <a:r>
              <a:rPr sz="1150" b="0" i="0">
                <a:solidFill>
                  <a:srgbClr val="E4DED6"/>
                </a:solidFill>
                <a:latin typeface="Calibri"/>
              </a:rPr>
              <a:t>13 · How things compose</a:t>
            </a:r>
          </a:p>
          <a:p>
            <a:pPr>
              <a:lnSpc>
                <a:spcPct val="115000"/>
              </a:lnSpc>
              <a:spcBef>
                <a:spcPts val="0"/>
              </a:spcBef>
              <a:spcAft>
                <a:spcPts val="800"/>
              </a:spcAft>
            </a:pPr>
            <a:r>
              <a:rPr sz="1150" b="0" i="0">
                <a:solidFill>
                  <a:srgbClr val="E4DED6"/>
                </a:solidFill>
                <a:latin typeface="Calibri"/>
              </a:rPr>
              <a:t>14 · Documentation, as a graph</a:t>
            </a:r>
          </a:p>
          <a:p>
            <a:pPr>
              <a:lnSpc>
                <a:spcPct val="115000"/>
              </a:lnSpc>
              <a:spcBef>
                <a:spcPts val="0"/>
              </a:spcBef>
              <a:spcAft>
                <a:spcPts val="800"/>
              </a:spcAft>
            </a:pPr>
            <a:r>
              <a:rPr sz="1150" b="0" i="0">
                <a:solidFill>
                  <a:srgbClr val="E4DED6"/>
                </a:solidFill>
                <a:latin typeface="Calibri"/>
              </a:rPr>
              <a:t>15 · What MAYA refuses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9</a:t>
            </a:r>
          </a:p>
        </p:txBody>
      </p:sp>
      <p:sp>
        <p:nvSpPr>
          <p:cNvPr id="5" name="TextBox 4"/>
          <p:cNvSpPr txBox="1"/>
          <p:nvPr/>
        </p:nvSpPr>
        <p:spPr>
          <a:xfrm>
            <a:off x="1005840" y="2463393"/>
            <a:ext cx="6169584" cy="1188720"/>
          </a:xfrm>
          <a:prstGeom prst="rect">
            <a:avLst/>
          </a:prstGeom>
          <a:noFill/>
        </p:spPr>
        <p:txBody>
          <a:bodyPr wrap="square" lIns="0" rIns="0" tIns="0" bIns="0" anchor="t">
            <a:spAutoFit/>
          </a:bodyPr>
          <a:lstStyle/>
          <a:p>
            <a:pPr algn="l">
              <a:spcBef>
                <a:spcPts val="0"/>
              </a:spcBef>
              <a:spcAft>
                <a:spcPts val="0"/>
              </a:spcAft>
            </a:pPr>
            <a:r>
              <a:rPr sz="2800" b="0" i="0">
                <a:solidFill>
                  <a:srgbClr val="FFFFFF"/>
                </a:solidFill>
                <a:latin typeface="Georgia"/>
              </a:rPr>
              <a:t>The Shape of the Whole Thing</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The objects have been defined. This is how they MEET — and where the pins are that stop any of them moving underneath the others.</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process, end to end</a:t>
            </a:r>
          </a:p>
          <a:p>
            <a:pPr>
              <a:lnSpc>
                <a:spcPct val="115000"/>
              </a:lnSpc>
              <a:spcBef>
                <a:spcPts val="0"/>
              </a:spcBef>
              <a:spcAft>
                <a:spcPts val="700"/>
              </a:spcAft>
            </a:pPr>
            <a:r>
              <a:rPr sz="1150" b="0" i="0">
                <a:solidFill>
                  <a:srgbClr val="F6E6E9"/>
                </a:solidFill>
                <a:latin typeface="Calibri"/>
              </a:rPr>
              <a:t>What each object is for</a:t>
            </a:r>
          </a:p>
          <a:p>
            <a:pPr>
              <a:lnSpc>
                <a:spcPct val="115000"/>
              </a:lnSpc>
              <a:spcBef>
                <a:spcPts val="0"/>
              </a:spcBef>
              <a:spcAft>
                <a:spcPts val="700"/>
              </a:spcAft>
            </a:pPr>
            <a:r>
              <a:rPr sz="1150" b="0" i="0">
                <a:solidFill>
                  <a:srgbClr val="F6E6E9"/>
                </a:solidFill>
                <a:latin typeface="Calibri"/>
              </a:rPr>
              <a:t>Where the pins are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Model, feature and warrant management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9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46</a:t>
            </a:r>
          </a:p>
        </p:txBody>
      </p:sp>
      <p:sp>
        <p:nvSpPr>
          <p:cNvPr id="10" name="Rectangle 9"/>
          <p:cNvSpPr/>
          <p:nvPr/>
        </p:nvSpPr>
        <p:spPr>
          <a:xfrm>
            <a:off x="777240" y="1408176"/>
            <a:ext cx="10637215" cy="969264"/>
          </a:xfrm>
          <a:prstGeom prst="rect">
            <a:avLst/>
          </a:prstGeom>
          <a:solidFill>
            <a:srgbClr val="FA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408176"/>
            <a:ext cx="45720" cy="96926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536192"/>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A51C30"/>
                </a:solidFill>
                <a:latin typeface="Georgia"/>
              </a:rPr>
              <a:t>Feature</a:t>
            </a:r>
          </a:p>
          <a:p>
            <a:pPr>
              <a:lnSpc>
                <a:spcPct val="112000"/>
              </a:lnSpc>
              <a:spcBef>
                <a:spcPts val="0"/>
              </a:spcBef>
              <a:spcAft>
                <a:spcPts val="0"/>
              </a:spcAft>
            </a:pPr>
            <a:r>
              <a:rPr sz="760" b="0" i="0">
                <a:solidFill>
                  <a:srgbClr val="4A4F57"/>
                </a:solidFill>
                <a:latin typeface="Calibri"/>
              </a:rPr>
              <a:t>what the model reads</a:t>
            </a:r>
          </a:p>
        </p:txBody>
      </p:sp>
      <p:sp>
        <p:nvSpPr>
          <p:cNvPr id="13" name="Chevron 12"/>
          <p:cNvSpPr/>
          <p:nvPr/>
        </p:nvSpPr>
        <p:spPr>
          <a:xfrm>
            <a:off x="1965960"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Define</a:t>
            </a:r>
          </a:p>
          <a:p>
            <a:pPr>
              <a:lnSpc>
                <a:spcPct val="110000"/>
              </a:lnSpc>
              <a:spcBef>
                <a:spcPts val="0"/>
              </a:spcBef>
              <a:spcAft>
                <a:spcPts val="0"/>
              </a:spcAft>
            </a:pPr>
            <a:r>
              <a:rPr sz="740" b="0" i="0">
                <a:solidFill>
                  <a:srgbClr val="4A4F57"/>
                </a:solidFill>
                <a:latin typeface="Calibri"/>
              </a:rPr>
              <a:t>a meaning: entity, shape, owner</a:t>
            </a:r>
          </a:p>
        </p:txBody>
      </p:sp>
      <p:sp>
        <p:nvSpPr>
          <p:cNvPr id="14" name="Chevron 13"/>
          <p:cNvSpPr/>
          <p:nvPr/>
        </p:nvSpPr>
        <p:spPr>
          <a:xfrm>
            <a:off x="3841028"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Derive</a:t>
            </a:r>
          </a:p>
          <a:p>
            <a:pPr>
              <a:lnSpc>
                <a:spcPct val="110000"/>
              </a:lnSpc>
              <a:spcBef>
                <a:spcPts val="0"/>
              </a:spcBef>
              <a:spcAft>
                <a:spcPts val="0"/>
              </a:spcAft>
            </a:pPr>
            <a:r>
              <a:rPr sz="740" b="0" i="0">
                <a:solidFill>
                  <a:srgbClr val="4A4F57"/>
                </a:solidFill>
                <a:latin typeface="Calibri"/>
              </a:rPr>
              <a:t>Z = f(X, Y), lineage recorded</a:t>
            </a:r>
          </a:p>
        </p:txBody>
      </p:sp>
      <p:sp>
        <p:nvSpPr>
          <p:cNvPr id="15" name="Chevron 14"/>
          <p:cNvSpPr/>
          <p:nvPr/>
        </p:nvSpPr>
        <p:spPr>
          <a:xfrm>
            <a:off x="5716097"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Materialise</a:t>
            </a:r>
          </a:p>
          <a:p>
            <a:pPr>
              <a:lnSpc>
                <a:spcPct val="110000"/>
              </a:lnSpc>
              <a:spcBef>
                <a:spcPts val="0"/>
              </a:spcBef>
              <a:spcAft>
                <a:spcPts val="0"/>
              </a:spcAft>
            </a:pPr>
            <a:r>
              <a:rPr sz="740" b="0" i="0">
                <a:solidFill>
                  <a:srgbClr val="4A4F57"/>
                </a:solidFill>
                <a:latin typeface="Calibri"/>
              </a:rPr>
              <a:t>values into a pinned Delta version</a:t>
            </a:r>
          </a:p>
        </p:txBody>
      </p:sp>
      <p:sp>
        <p:nvSpPr>
          <p:cNvPr id="16" name="Chevron 15"/>
          <p:cNvSpPr/>
          <p:nvPr/>
        </p:nvSpPr>
        <p:spPr>
          <a:xfrm>
            <a:off x="7591165" y="1490472"/>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Declare a set</a:t>
            </a:r>
          </a:p>
          <a:p>
            <a:pPr>
              <a:lnSpc>
                <a:spcPct val="110000"/>
              </a:lnSpc>
              <a:spcBef>
                <a:spcPts val="0"/>
              </a:spcBef>
              <a:spcAft>
                <a:spcPts val="0"/>
              </a:spcAft>
            </a:pPr>
            <a:r>
              <a:rPr sz="740" b="0" i="0">
                <a:solidFill>
                  <a:srgbClr val="4A4F57"/>
                </a:solidFill>
                <a:latin typeface="Calibri"/>
              </a:rPr>
              <a:t>a SCHEMA of named slots</a:t>
            </a:r>
          </a:p>
        </p:txBody>
      </p:sp>
      <p:sp>
        <p:nvSpPr>
          <p:cNvPr id="17" name="Chevron 16"/>
          <p:cNvSpPr/>
          <p:nvPr/>
        </p:nvSpPr>
        <p:spPr>
          <a:xfrm>
            <a:off x="9466234" y="1490472"/>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Publish v1</a:t>
            </a:r>
          </a:p>
          <a:p>
            <a:pPr>
              <a:lnSpc>
                <a:spcPct val="110000"/>
              </a:lnSpc>
              <a:spcBef>
                <a:spcPts val="0"/>
              </a:spcBef>
              <a:spcAft>
                <a:spcPts val="0"/>
              </a:spcAft>
            </a:pPr>
            <a:r>
              <a:rPr sz="740" b="0" i="0">
                <a:solidFill>
                  <a:srgbClr val="4A4F57"/>
                </a:solidFill>
                <a:latin typeface="Calibri"/>
              </a:rPr>
              <a:t>slots filled, every binding pinned</a:t>
            </a:r>
          </a:p>
        </p:txBody>
      </p:sp>
      <p:sp>
        <p:nvSpPr>
          <p:cNvPr id="18" name="Rectangle 17"/>
          <p:cNvSpPr/>
          <p:nvPr/>
        </p:nvSpPr>
        <p:spPr>
          <a:xfrm>
            <a:off x="777240" y="2798064"/>
            <a:ext cx="10637215" cy="96926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2798064"/>
            <a:ext cx="45720" cy="96926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923544" y="2926080"/>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A51C30"/>
                </a:solidFill>
                <a:latin typeface="Georgia"/>
              </a:rPr>
              <a:t>Model</a:t>
            </a:r>
          </a:p>
          <a:p>
            <a:pPr>
              <a:lnSpc>
                <a:spcPct val="112000"/>
              </a:lnSpc>
              <a:spcBef>
                <a:spcPts val="0"/>
              </a:spcBef>
              <a:spcAft>
                <a:spcPts val="0"/>
              </a:spcAft>
            </a:pPr>
            <a:r>
              <a:rPr sz="760" b="0" i="0">
                <a:solidFill>
                  <a:srgbClr val="4A4F57"/>
                </a:solidFill>
                <a:latin typeface="Calibri"/>
              </a:rPr>
              <a:t>what will run</a:t>
            </a:r>
          </a:p>
        </p:txBody>
      </p:sp>
      <p:sp>
        <p:nvSpPr>
          <p:cNvPr id="21" name="Chevron 20"/>
          <p:cNvSpPr/>
          <p:nvPr/>
        </p:nvSpPr>
        <p:spPr>
          <a:xfrm>
            <a:off x="1965960"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Register</a:t>
            </a:r>
          </a:p>
          <a:p>
            <a:pPr>
              <a:lnSpc>
                <a:spcPct val="110000"/>
              </a:lnSpc>
              <a:spcBef>
                <a:spcPts val="0"/>
              </a:spcBef>
              <a:spcAft>
                <a:spcPts val="0"/>
              </a:spcAft>
            </a:pPr>
            <a:r>
              <a:rPr sz="740" b="0" i="0">
                <a:solidFill>
                  <a:srgbClr val="4A4F57"/>
                </a:solidFill>
                <a:latin typeface="Calibri"/>
              </a:rPr>
              <a:t>owner, purpose, legal entity</a:t>
            </a:r>
          </a:p>
        </p:txBody>
      </p:sp>
      <p:sp>
        <p:nvSpPr>
          <p:cNvPr id="22" name="Chevron 21"/>
          <p:cNvSpPr/>
          <p:nvPr/>
        </p:nvSpPr>
        <p:spPr>
          <a:xfrm>
            <a:off x="3841028"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Assess</a:t>
            </a:r>
          </a:p>
          <a:p>
            <a:pPr>
              <a:lnSpc>
                <a:spcPct val="110000"/>
              </a:lnSpc>
              <a:spcBef>
                <a:spcPts val="0"/>
              </a:spcBef>
              <a:spcAft>
                <a:spcPts val="0"/>
              </a:spcAft>
            </a:pPr>
            <a:r>
              <a:rPr sz="740" b="0" i="0">
                <a:solidFill>
                  <a:srgbClr val="4A4F57"/>
                </a:solidFill>
                <a:latin typeface="Calibri"/>
              </a:rPr>
              <a:t>the tier, which sets the control depth</a:t>
            </a:r>
          </a:p>
        </p:txBody>
      </p:sp>
      <p:sp>
        <p:nvSpPr>
          <p:cNvPr id="23" name="Chevron 22"/>
          <p:cNvSpPr/>
          <p:nvPr/>
        </p:nvSpPr>
        <p:spPr>
          <a:xfrm>
            <a:off x="5716097" y="2880360"/>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Create version</a:t>
            </a:r>
          </a:p>
          <a:p>
            <a:pPr>
              <a:lnSpc>
                <a:spcPct val="110000"/>
              </a:lnSpc>
              <a:spcBef>
                <a:spcPts val="0"/>
              </a:spcBef>
              <a:spcAft>
                <a:spcPts val="0"/>
              </a:spcAft>
            </a:pPr>
            <a:r>
              <a:rPr sz="740" b="0" i="0">
                <a:solidFill>
                  <a:srgbClr val="4A4F57"/>
                </a:solidFill>
                <a:latin typeface="Calibri"/>
              </a:rPr>
              <a:t>the kernel f : P × X → D(Y)</a:t>
            </a:r>
          </a:p>
        </p:txBody>
      </p:sp>
      <p:sp>
        <p:nvSpPr>
          <p:cNvPr id="24" name="Chevron 23"/>
          <p:cNvSpPr/>
          <p:nvPr/>
        </p:nvSpPr>
        <p:spPr>
          <a:xfrm>
            <a:off x="7591165"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Approve</a:t>
            </a:r>
          </a:p>
          <a:p>
            <a:pPr>
              <a:lnSpc>
                <a:spcPct val="110000"/>
              </a:lnSpc>
              <a:spcBef>
                <a:spcPts val="0"/>
              </a:spcBef>
              <a:spcAft>
                <a:spcPts val="0"/>
              </a:spcAft>
            </a:pPr>
            <a:r>
              <a:rPr sz="740" b="0" i="0">
                <a:solidFill>
                  <a:srgbClr val="4A4F57"/>
                </a:solidFill>
                <a:latin typeface="Calibri"/>
              </a:rPr>
              <a:t>a quorum whose size follows the tier</a:t>
            </a:r>
          </a:p>
        </p:txBody>
      </p:sp>
      <p:sp>
        <p:nvSpPr>
          <p:cNvPr id="25" name="Chevron 24"/>
          <p:cNvSpPr/>
          <p:nvPr/>
        </p:nvSpPr>
        <p:spPr>
          <a:xfrm>
            <a:off x="9466234" y="2880360"/>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Point an alias</a:t>
            </a:r>
          </a:p>
          <a:p>
            <a:pPr>
              <a:lnSpc>
                <a:spcPct val="110000"/>
              </a:lnSpc>
              <a:spcBef>
                <a:spcPts val="0"/>
              </a:spcBef>
              <a:spcAft>
                <a:spcPts val="0"/>
              </a:spcAft>
            </a:pPr>
            <a:r>
              <a:rPr sz="740" b="0" i="0">
                <a:solidFill>
                  <a:srgbClr val="4A4F57"/>
                </a:solidFill>
                <a:latin typeface="Calibri"/>
              </a:rPr>
              <a:t>refused unless the contract refines</a:t>
            </a:r>
          </a:p>
        </p:txBody>
      </p:sp>
      <p:sp>
        <p:nvSpPr>
          <p:cNvPr id="26" name="Rectangle 25"/>
          <p:cNvSpPr/>
          <p:nvPr/>
        </p:nvSpPr>
        <p:spPr>
          <a:xfrm>
            <a:off x="777240" y="4187952"/>
            <a:ext cx="10637215" cy="969264"/>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4187952"/>
            <a:ext cx="45720" cy="96926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23544" y="4315968"/>
            <a:ext cx="932688" cy="713232"/>
          </a:xfrm>
          <a:prstGeom prst="rect">
            <a:avLst/>
          </a:prstGeom>
          <a:noFill/>
        </p:spPr>
        <p:txBody>
          <a:bodyPr wrap="square" lIns="0" rIns="0" tIns="0" bIns="0" anchor="t">
            <a:spAutoFit/>
          </a:bodyPr>
          <a:lstStyle/>
          <a:p>
            <a:pPr algn="l">
              <a:spcBef>
                <a:spcPts val="0"/>
              </a:spcBef>
              <a:spcAft>
                <a:spcPts val="200"/>
              </a:spcAft>
            </a:pPr>
            <a:r>
              <a:rPr sz="1050" b="1" i="0">
                <a:solidFill>
                  <a:srgbClr val="4A4F57"/>
                </a:solidFill>
                <a:latin typeface="Georgia"/>
              </a:rPr>
              <a:t>Execution</a:t>
            </a:r>
          </a:p>
          <a:p>
            <a:pPr>
              <a:lnSpc>
                <a:spcPct val="112000"/>
              </a:lnSpc>
              <a:spcBef>
                <a:spcPts val="0"/>
              </a:spcBef>
              <a:spcAft>
                <a:spcPts val="0"/>
              </a:spcAft>
            </a:pPr>
            <a:r>
              <a:rPr sz="760" b="0" i="0">
                <a:solidFill>
                  <a:srgbClr val="4A4F57"/>
                </a:solidFill>
                <a:latin typeface="Calibri"/>
              </a:rPr>
              <a:t>outside MAYA</a:t>
            </a:r>
          </a:p>
        </p:txBody>
      </p:sp>
      <p:sp>
        <p:nvSpPr>
          <p:cNvPr id="29" name="Chevron 28"/>
          <p:cNvSpPr/>
          <p:nvPr/>
        </p:nvSpPr>
        <p:spPr>
          <a:xfrm>
            <a:off x="1965960" y="4270248"/>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Fit warrant</a:t>
            </a:r>
          </a:p>
          <a:p>
            <a:pPr>
              <a:lnSpc>
                <a:spcPct val="110000"/>
              </a:lnSpc>
              <a:spcBef>
                <a:spcPts val="0"/>
              </a:spcBef>
              <a:spcAft>
                <a:spcPts val="0"/>
              </a:spcAft>
            </a:pPr>
            <a:r>
              <a:rPr sz="740" b="0" i="0">
                <a:solidFill>
                  <a:srgbClr val="4A4F57"/>
                </a:solidFill>
                <a:latin typeface="Calibri"/>
              </a:rPr>
              <a:t>model version × featureset version × window</a:t>
            </a:r>
          </a:p>
        </p:txBody>
      </p:sp>
      <p:sp>
        <p:nvSpPr>
          <p:cNvPr id="30" name="Chevron 29"/>
          <p:cNvSpPr/>
          <p:nvPr/>
        </p:nvSpPr>
        <p:spPr>
          <a:xfrm>
            <a:off x="3841028"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Engine runs</a:t>
            </a:r>
          </a:p>
          <a:p>
            <a:pPr>
              <a:lnSpc>
                <a:spcPct val="110000"/>
              </a:lnSpc>
              <a:spcBef>
                <a:spcPts val="0"/>
              </a:spcBef>
              <a:spcAft>
                <a:spcPts val="0"/>
              </a:spcAft>
            </a:pPr>
            <a:r>
              <a:rPr sz="740" b="0" i="0">
                <a:solidFill>
                  <a:srgbClr val="4A4F57"/>
                </a:solidFill>
                <a:latin typeface="Calibri"/>
              </a:rPr>
              <a:t>MAYA signs it and waits</a:t>
            </a:r>
          </a:p>
        </p:txBody>
      </p:sp>
      <p:sp>
        <p:nvSpPr>
          <p:cNvPr id="31" name="Chevron 30"/>
          <p:cNvSpPr/>
          <p:nvPr/>
        </p:nvSpPr>
        <p:spPr>
          <a:xfrm>
            <a:off x="5716097"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Parameter set</a:t>
            </a:r>
          </a:p>
          <a:p>
            <a:pPr>
              <a:lnSpc>
                <a:spcPct val="110000"/>
              </a:lnSpc>
              <a:spcBef>
                <a:spcPts val="0"/>
              </a:spcBef>
              <a:spcAft>
                <a:spcPts val="0"/>
              </a:spcAft>
            </a:pPr>
            <a:r>
              <a:rPr sz="740" b="0" i="0">
                <a:solidFill>
                  <a:srgbClr val="4A4F57"/>
                </a:solidFill>
                <a:latin typeface="Calibri"/>
              </a:rPr>
              <a:t>an inhabitant of P comes back</a:t>
            </a:r>
          </a:p>
        </p:txBody>
      </p:sp>
      <p:sp>
        <p:nvSpPr>
          <p:cNvPr id="32" name="Chevron 31"/>
          <p:cNvSpPr/>
          <p:nvPr/>
        </p:nvSpPr>
        <p:spPr>
          <a:xfrm>
            <a:off x="7591165" y="4270248"/>
            <a:ext cx="1783628" cy="804672"/>
          </a:xfrm>
          <a:prstGeom prst="chevron">
            <a:avLst>
              <a:gd name="adj" fmla="val 16000"/>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Approve it</a:t>
            </a:r>
          </a:p>
          <a:p>
            <a:pPr>
              <a:lnSpc>
                <a:spcPct val="110000"/>
              </a:lnSpc>
              <a:spcBef>
                <a:spcPts val="0"/>
              </a:spcBef>
              <a:spcAft>
                <a:spcPts val="0"/>
              </a:spcAft>
            </a:pPr>
            <a:r>
              <a:rPr sz="740" b="0" i="0">
                <a:solidFill>
                  <a:srgbClr val="4A4F57"/>
                </a:solidFill>
                <a:latin typeface="Calibri"/>
              </a:rPr>
              <a:t>by somebody other than who recorded it</a:t>
            </a:r>
          </a:p>
        </p:txBody>
      </p:sp>
      <p:sp>
        <p:nvSpPr>
          <p:cNvPr id="33" name="Chevron 32"/>
          <p:cNvSpPr/>
          <p:nvPr/>
        </p:nvSpPr>
        <p:spPr>
          <a:xfrm>
            <a:off x="9466234" y="4270248"/>
            <a:ext cx="1783628" cy="804672"/>
          </a:xfrm>
          <a:prstGeom prst="chevron">
            <a:avLst>
              <a:gd name="adj" fmla="val 16000"/>
            </a:avLst>
          </a:prstGeom>
          <a:solidFill>
            <a:srgbClr val="EAE4DC"/>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spcBef>
                <a:spcPts val="0"/>
              </a:spcBef>
              <a:spcAft>
                <a:spcPts val="100"/>
              </a:spcAft>
            </a:pPr>
            <a:r>
              <a:rPr sz="950" b="1" i="0">
                <a:solidFill>
                  <a:srgbClr val="1C1C1E"/>
                </a:solidFill>
                <a:latin typeface="Georgia"/>
              </a:rPr>
              <a:t>Score warrant</a:t>
            </a:r>
          </a:p>
          <a:p>
            <a:pPr>
              <a:lnSpc>
                <a:spcPct val="110000"/>
              </a:lnSpc>
              <a:spcBef>
                <a:spcPts val="0"/>
              </a:spcBef>
              <a:spcAft>
                <a:spcPts val="0"/>
              </a:spcAft>
            </a:pPr>
            <a:r>
              <a:rPr sz="740" b="0" i="0">
                <a:solidFill>
                  <a:srgbClr val="4A4F57"/>
                </a:solidFill>
                <a:latin typeface="Calibri"/>
              </a:rPr>
              <a:t>names the model AND the parameter set</a:t>
            </a:r>
          </a:p>
        </p:txBody>
      </p:sp>
      <p:sp>
        <p:nvSpPr>
          <p:cNvPr id="34" name="Down Arrow 33"/>
          <p:cNvSpPr/>
          <p:nvPr/>
        </p:nvSpPr>
        <p:spPr>
          <a:xfrm>
            <a:off x="10215358" y="2423160"/>
            <a:ext cx="201168" cy="329184"/>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965960" y="2478024"/>
            <a:ext cx="8121382" cy="237744"/>
          </a:xfrm>
          <a:prstGeom prst="rect">
            <a:avLst/>
          </a:prstGeom>
          <a:noFill/>
        </p:spPr>
        <p:txBody>
          <a:bodyPr wrap="square" lIns="0" rIns="0" tIns="0" bIns="0" anchor="t">
            <a:spAutoFit/>
          </a:bodyPr>
          <a:lstStyle/>
          <a:p>
            <a:pPr algn="r">
              <a:spcBef>
                <a:spcPts val="0"/>
              </a:spcBef>
              <a:spcAft>
                <a:spcPts val="0"/>
              </a:spcAft>
            </a:pPr>
            <a:r>
              <a:rPr sz="800" b="0" i="1">
                <a:solidFill>
                  <a:srgbClr val="A51C30"/>
                </a:solidFill>
                <a:latin typeface="Calibri"/>
              </a:rPr>
              <a:t>the featureset version a fit will read  →</a:t>
            </a:r>
          </a:p>
        </p:txBody>
      </p:sp>
      <p:sp>
        <p:nvSpPr>
          <p:cNvPr id="36" name="Down Arrow 35"/>
          <p:cNvSpPr/>
          <p:nvPr/>
        </p:nvSpPr>
        <p:spPr>
          <a:xfrm>
            <a:off x="6465221" y="3813048"/>
            <a:ext cx="201168" cy="329184"/>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65960" y="3867912"/>
            <a:ext cx="4371245" cy="237744"/>
          </a:xfrm>
          <a:prstGeom prst="rect">
            <a:avLst/>
          </a:prstGeom>
          <a:noFill/>
        </p:spPr>
        <p:txBody>
          <a:bodyPr wrap="square" lIns="0" rIns="0" tIns="0" bIns="0" anchor="t">
            <a:spAutoFit/>
          </a:bodyPr>
          <a:lstStyle/>
          <a:p>
            <a:pPr algn="r">
              <a:spcBef>
                <a:spcPts val="0"/>
              </a:spcBef>
              <a:spcAft>
                <a:spcPts val="0"/>
              </a:spcAft>
            </a:pPr>
            <a:r>
              <a:rPr sz="800" b="0" i="1">
                <a:solidFill>
                  <a:srgbClr val="A51C30"/>
                </a:solidFill>
                <a:latin typeface="Calibri"/>
              </a:rPr>
              <a:t>the model version it is issued against  →</a:t>
            </a:r>
          </a:p>
        </p:txBody>
      </p:sp>
      <p:sp>
        <p:nvSpPr>
          <p:cNvPr id="38" name="Rectangle 37"/>
          <p:cNvSpPr/>
          <p:nvPr/>
        </p:nvSpPr>
        <p:spPr>
          <a:xfrm>
            <a:off x="777240" y="5340096"/>
            <a:ext cx="10637215" cy="4023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960120" y="5422392"/>
            <a:ext cx="10271455" cy="274320"/>
          </a:xfrm>
          <a:prstGeom prst="rect">
            <a:avLst/>
          </a:prstGeom>
          <a:noFill/>
        </p:spPr>
        <p:txBody>
          <a:bodyPr wrap="square" lIns="0" rIns="0" tIns="0" bIns="0" anchor="t">
            <a:spAutoFit/>
          </a:bodyPr>
          <a:lstStyle/>
          <a:p>
            <a:pPr algn="l">
              <a:spcBef>
                <a:spcPts val="0"/>
              </a:spcBef>
              <a:spcAft>
                <a:spcPts val="0"/>
              </a:spcAft>
            </a:pPr>
            <a:r>
              <a:rPr sz="950" b="1" i="0">
                <a:solidFill>
                  <a:srgbClr val="FFFFFF"/>
                </a:solidFill>
                <a:latin typeface="Calibri"/>
              </a:rPr>
              <a:t>Evidence chain   </a:t>
            </a:r>
            <a:r>
              <a:rPr sz="950" b="0" i="0">
                <a:solidFill>
                  <a:srgbClr val="F4DFE3"/>
                </a:solidFill>
                <a:latin typeface="Calibri"/>
              </a:rPr>
              <a:t>every act above appends a node — append-only, hash-linked, and verified by re-deriving each node rather than re-reading it</a:t>
            </a:r>
          </a:p>
        </p:txBody>
      </p:sp>
      <p:sp>
        <p:nvSpPr>
          <p:cNvPr id="40" name="TextBox 39"/>
          <p:cNvSpPr txBox="1"/>
          <p:nvPr/>
        </p:nvSpPr>
        <p:spPr>
          <a:xfrm>
            <a:off x="777240" y="5870448"/>
            <a:ext cx="10637215" cy="384048"/>
          </a:xfrm>
          <a:prstGeom prst="rect">
            <a:avLst/>
          </a:prstGeom>
          <a:noFill/>
        </p:spPr>
        <p:txBody>
          <a:bodyPr wrap="square" lIns="0" rIns="0" tIns="0" bIns="0" anchor="t">
            <a:spAutoFit/>
          </a:bodyPr>
          <a:lstStyle/>
          <a:p>
            <a:pPr algn="l">
              <a:lnSpc>
                <a:spcPct val="120000"/>
              </a:lnSpc>
              <a:spcBef>
                <a:spcPts val="0"/>
              </a:spcBef>
              <a:spcAft>
                <a:spcPts val="0"/>
              </a:spcAft>
            </a:pPr>
            <a:r>
              <a:rPr sz="950" b="1" i="0">
                <a:solidFill>
                  <a:srgbClr val="A51C30"/>
                </a:solidFill>
                <a:latin typeface="Calibri"/>
              </a:rPr>
              <a:t>Left to right within a lane; downward where one lane hands something to the next. </a:t>
            </a:r>
            <a:r>
              <a:rPr sz="950" b="0" i="0">
                <a:solidFill>
                  <a:srgbClr val="4A4F57"/>
                </a:solidFill>
                <a:latin typeface="Calibri"/>
              </a:rPr>
              <a:t>The two vertical arrows are the whole design: a featureset version and a model version meet in a fit warrant, and the parameter set that comes back is what the next warrant names.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THE SHAPE OF THE WHOLE THING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each object is for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9 · The Shape of the Whole Thing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47</a:t>
            </a:r>
          </a:p>
        </p:txBody>
      </p:sp>
      <p:graphicFrame>
        <p:nvGraphicFramePr>
          <p:cNvPr id="10" name="Table 9"/>
          <p:cNvGraphicFramePr>
            <a:graphicFrameLocks noGrp="1"/>
          </p:cNvGraphicFramePr>
          <p:nvPr/>
        </p:nvGraphicFramePr>
        <p:xfrm>
          <a:off x="777240" y="1353312"/>
          <a:ext cx="10637214" cy="2546350"/>
        </p:xfrm>
        <a:graphic>
          <a:graphicData uri="http://schemas.openxmlformats.org/drawingml/2006/table">
            <a:tbl>
              <a:tblPr firstRow="1">
                <a:tableStyleId>{5C22544A-7EE6-4342-B048-85BDC9FD1C3A}</a:tableStyleId>
              </a:tblPr>
              <a:tblGrid>
                <a:gridCol w="1834002"/>
                <a:gridCol w="5226907"/>
                <a:gridCol w="3576305"/>
              </a:tblGrid>
              <a:tr h="329184">
                <a:tc>
                  <a:txBody>
                    <a:bodyPr wrap="square"/>
                    <a:lstStyle/>
                    <a:p>
                      <a:pPr algn="l"/>
                      <a:r>
                        <a:rPr sz="1000" b="1">
                          <a:solidFill>
                            <a:srgbClr val="FFFFFF"/>
                          </a:solidFill>
                          <a:latin typeface="Calibri"/>
                        </a:rPr>
                        <a:t>Object</a:t>
                      </a:r>
                    </a:p>
                  </a:txBody>
                  <a:tcPr marL="82296" marR="64008" marT="32004" marB="32004" anchor="ctr">
                    <a:solidFill>
                      <a:srgbClr val="A51C30"/>
                    </a:solidFill>
                  </a:tcPr>
                </a:tc>
                <a:tc>
                  <a:txBody>
                    <a:bodyPr wrap="square"/>
                    <a:lstStyle/>
                    <a:p>
                      <a:pPr algn="l"/>
                      <a:r>
                        <a:rPr sz="1000" b="1">
                          <a:solidFill>
                            <a:srgbClr val="FFFFFF"/>
                          </a:solidFill>
                          <a:latin typeface="Calibri"/>
                        </a:rPr>
                        <a:t>Answers</a:t>
                      </a:r>
                    </a:p>
                  </a:txBody>
                  <a:tcPr marL="82296" marR="64008" marT="32004" marB="32004" anchor="ctr">
                    <a:solidFill>
                      <a:srgbClr val="A51C30"/>
                    </a:solidFill>
                  </a:tcPr>
                </a:tc>
                <a:tc>
                  <a:txBody>
                    <a:bodyPr wrap="square"/>
                    <a:lstStyle/>
                    <a:p>
                      <a:pPr algn="l"/>
                      <a:r>
                        <a:rPr sz="1000" b="1">
                          <a:solidFill>
                            <a:srgbClr val="FFFFFF"/>
                          </a:solidFill>
                          <a:latin typeface="Calibri"/>
                        </a:rPr>
                        <a:t>Pinned by</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Feature</a:t>
                      </a:r>
                    </a:p>
                  </a:txBody>
                  <a:tcPr marL="82296" marR="64008" marT="32004" marB="32004" anchor="ctr">
                    <a:solidFill>
                      <a:srgbClr val="FFFFFF"/>
                    </a:solidFill>
                  </a:tcPr>
                </a:tc>
                <a:tc>
                  <a:txBody>
                    <a:bodyPr wrap="square"/>
                    <a:lstStyle/>
                    <a:p>
                      <a:pPr algn="l"/>
                      <a:r>
                        <a:rPr sz="1000" b="0">
                          <a:solidFill>
                            <a:srgbClr val="1C1C1E"/>
                          </a:solidFill>
                          <a:latin typeface="Calibri"/>
                        </a:rPr>
                        <a:t>what this signal MEANS — entity, shape, owner, definition</a:t>
                      </a:r>
                    </a:p>
                  </a:txBody>
                  <a:tcPr marL="82296" marR="64008" marT="32004" marB="32004" anchor="ctr">
                    <a:solidFill>
                      <a:srgbClr val="FFFFFF"/>
                    </a:solidFill>
                  </a:tcPr>
                </a:tc>
                <a:tc>
                  <a:txBody>
                    <a:bodyPr wrap="square"/>
                    <a:lstStyle/>
                    <a:p>
                      <a:pPr algn="l"/>
                      <a:r>
                        <a:rPr sz="1000" b="0">
                          <a:solidFill>
                            <a:srgbClr val="1C1C1E"/>
                          </a:solidFill>
                          <a:latin typeface="Calibri"/>
                        </a:rPr>
                        <a:t>nothing; it is a declaration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 view version</a:t>
                      </a:r>
                    </a:p>
                  </a:txBody>
                  <a:tcPr marL="82296" marR="64008" marT="32004" marB="32004" anchor="ctr">
                    <a:solidFill>
                      <a:srgbClr val="F6F3EF"/>
                    </a:solidFill>
                  </a:tcPr>
                </a:tc>
                <a:tc>
                  <a:txBody>
                    <a:bodyPr wrap="square"/>
                    <a:lstStyle/>
                    <a:p>
                      <a:pPr algn="l"/>
                      <a:r>
                        <a:rPr sz="1000" b="0">
                          <a:solidFill>
                            <a:srgbClr val="1C1C1E"/>
                          </a:solidFill>
                          <a:latin typeface="Calibri"/>
                        </a:rPr>
                        <a:t>where the values ARE, at a Delta version that does not move</a:t>
                      </a:r>
                    </a:p>
                  </a:txBody>
                  <a:tcPr marL="82296" marR="64008" marT="32004" marB="32004" anchor="ctr">
                    <a:solidFill>
                      <a:srgbClr val="F6F3EF"/>
                    </a:solidFill>
                  </a:tcPr>
                </a:tc>
                <a:tc>
                  <a:txBody>
                    <a:bodyPr wrap="square"/>
                    <a:lstStyle/>
                    <a:p>
                      <a:pPr algn="l"/>
                      <a:r>
                        <a:rPr sz="1000" b="0">
                          <a:solidFill>
                            <a:srgbClr val="1C1C1E"/>
                          </a:solidFill>
                          <a:latin typeface="Calibri"/>
                        </a:rPr>
                        <a:t>a featureset version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Featureset</a:t>
                      </a:r>
                    </a:p>
                  </a:txBody>
                  <a:tcPr marL="82296" marR="64008" marT="32004" marB="32004" anchor="ctr">
                    <a:solidFill>
                      <a:srgbClr val="FFFFFF"/>
                    </a:solidFill>
                  </a:tcPr>
                </a:tc>
                <a:tc>
                  <a:txBody>
                    <a:bodyPr wrap="square"/>
                    <a:lstStyle/>
                    <a:p>
                      <a:pPr algn="l"/>
                      <a:r>
                        <a:rPr sz="1000" b="0">
                          <a:solidFill>
                            <a:srgbClr val="1C1C1E"/>
                          </a:solidFill>
                          <a:latin typeface="Calibri"/>
                        </a:rPr>
                        <a:t>what X IS: a schema of named slots a kernel is defined over</a:t>
                      </a:r>
                    </a:p>
                  </a:txBody>
                  <a:tcPr marL="82296" marR="64008" marT="32004" marB="32004" anchor="ctr">
                    <a:solidFill>
                      <a:srgbClr val="FFFFFF"/>
                    </a:solidFill>
                  </a:tcPr>
                </a:tc>
                <a:tc>
                  <a:txBody>
                    <a:bodyPr wrap="square"/>
                    <a:lstStyle/>
                    <a:p>
                      <a:pPr algn="l"/>
                      <a:r>
                        <a:rPr sz="1000" b="0">
                          <a:solidFill>
                            <a:srgbClr val="1C1C1E"/>
                          </a:solidFill>
                          <a:latin typeface="Calibri"/>
                        </a:rPr>
                        <a:t>a model version's contract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Featureset version</a:t>
                      </a:r>
                    </a:p>
                  </a:txBody>
                  <a:tcPr marL="82296" marR="64008" marT="32004" marB="32004" anchor="ctr">
                    <a:solidFill>
                      <a:srgbClr val="F6F3EF"/>
                    </a:solidFill>
                  </a:tcPr>
                </a:tc>
                <a:tc>
                  <a:txBody>
                    <a:bodyPr wrap="square"/>
                    <a:lstStyle/>
                    <a:p>
                      <a:pPr algn="l"/>
                      <a:r>
                        <a:rPr sz="1000" b="0">
                          <a:solidFill>
                            <a:srgbClr val="1C1C1E"/>
                          </a:solidFill>
                          <a:latin typeface="Calibri"/>
                        </a:rPr>
                        <a:t>which features fill that schema, and from which exact bytes</a:t>
                      </a:r>
                    </a:p>
                  </a:txBody>
                  <a:tcPr marL="82296" marR="64008" marT="32004" marB="32004" anchor="ctr">
                    <a:solidFill>
                      <a:srgbClr val="F6F3EF"/>
                    </a:solidFill>
                  </a:tcPr>
                </a:tc>
                <a:tc>
                  <a:txBody>
                    <a:bodyPr wrap="square"/>
                    <a:lstStyle/>
                    <a:p>
                      <a:pPr algn="l"/>
                      <a:r>
                        <a:rPr sz="1000" b="0">
                          <a:solidFill>
                            <a:srgbClr val="1C1C1E"/>
                          </a:solidFill>
                          <a:latin typeface="Calibri"/>
                        </a:rPr>
                        <a:t>a warrant, a snapshot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Model version</a:t>
                      </a:r>
                    </a:p>
                  </a:txBody>
                  <a:tcPr marL="82296" marR="64008" marT="32004" marB="32004" anchor="ctr">
                    <a:solidFill>
                      <a:srgbClr val="FFFFFF"/>
                    </a:solidFill>
                  </a:tcPr>
                </a:tc>
                <a:tc>
                  <a:txBody>
                    <a:bodyPr wrap="square"/>
                    <a:lstStyle/>
                    <a:p>
                      <a:pPr algn="l"/>
                      <a:r>
                        <a:rPr sz="1000" b="0">
                          <a:solidFill>
                            <a:srgbClr val="1C1C1E"/>
                          </a:solidFill>
                          <a:latin typeface="Calibri"/>
                        </a:rPr>
                        <a:t>the kernel f : P × X → D(Y) — immutable once approved</a:t>
                      </a:r>
                    </a:p>
                  </a:txBody>
                  <a:tcPr marL="82296" marR="64008" marT="32004" marB="32004" anchor="ctr">
                    <a:solidFill>
                      <a:srgbClr val="FFFFFF"/>
                    </a:solidFill>
                  </a:tcPr>
                </a:tc>
                <a:tc>
                  <a:txBody>
                    <a:bodyPr wrap="square"/>
                    <a:lstStyle/>
                    <a:p>
                      <a:pPr algn="l"/>
                      <a:r>
                        <a:rPr sz="1000" b="0">
                          <a:solidFill>
                            <a:srgbClr val="1C1C1E"/>
                          </a:solidFill>
                          <a:latin typeface="Calibri"/>
                        </a:rPr>
                        <a:t>a warrant, an alias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Warrant</a:t>
                      </a:r>
                    </a:p>
                  </a:txBody>
                  <a:tcPr marL="82296" marR="64008" marT="32004" marB="32004" anchor="ctr">
                    <a:solidFill>
                      <a:srgbClr val="F6F3EF"/>
                    </a:solidFill>
                  </a:tcPr>
                </a:tc>
                <a:tc>
                  <a:txBody>
                    <a:bodyPr wrap="square"/>
                    <a:lstStyle/>
                    <a:p>
                      <a:pPr algn="l"/>
                      <a:r>
                        <a:rPr sz="1000" b="0">
                          <a:solidFill>
                            <a:srgbClr val="1C1C1E"/>
                          </a:solidFill>
                          <a:latin typeface="Calibri"/>
                        </a:rPr>
                        <a:t>what may be run, by whom, until when, on what data</a:t>
                      </a:r>
                    </a:p>
                  </a:txBody>
                  <a:tcPr marL="82296" marR="64008" marT="32004" marB="32004" anchor="ctr">
                    <a:solidFill>
                      <a:srgbClr val="F6F3EF"/>
                    </a:solidFill>
                  </a:tcPr>
                </a:tc>
                <a:tc>
                  <a:txBody>
                    <a:bodyPr wrap="square"/>
                    <a:lstStyle/>
                    <a:p>
                      <a:pPr algn="l"/>
                      <a:r>
                        <a:rPr sz="1000" b="0">
                          <a:solidFill>
                            <a:srgbClr val="1C1C1E"/>
                          </a:solidFill>
                          <a:latin typeface="Calibri"/>
                        </a:rPr>
                        <a:t>signed; nothing pins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an inhabitant of P: the numbers a fit produced</a:t>
                      </a:r>
                    </a:p>
                  </a:txBody>
                  <a:tcPr marL="82296" marR="64008" marT="32004" marB="32004" anchor="ctr">
                    <a:solidFill>
                      <a:srgbClr val="FFFFFF"/>
                    </a:solidFill>
                  </a:tcPr>
                </a:tc>
                <a:tc>
                  <a:txBody>
                    <a:bodyPr wrap="square"/>
                    <a:lstStyle/>
                    <a:p>
                      <a:pPr algn="l"/>
                      <a:r>
                        <a:rPr sz="1000" b="0">
                          <a:solidFill>
                            <a:srgbClr val="1C1C1E"/>
                          </a:solidFill>
                          <a:latin typeface="Calibri"/>
                        </a:rPr>
                        <a:t>a scoring warrant</a:t>
                      </a:r>
                    </a:p>
                  </a:txBody>
                  <a:tcPr marL="82296" marR="64008" marT="32004" marB="32004" anchor="ctr">
                    <a:solidFill>
                      <a:srgbClr val="FFFFFF"/>
                    </a:solidFill>
                  </a:tcPr>
                </a:tc>
              </a:tr>
            </a:tbl>
          </a:graphicData>
        </a:graphic>
      </p:graphicFrame>
      <p:sp>
        <p:nvSpPr>
          <p:cNvPr id="11" name="Rectangle 10"/>
          <p:cNvSpPr/>
          <p:nvPr/>
        </p:nvSpPr>
        <p:spPr>
          <a:xfrm>
            <a:off x="777240" y="4119118"/>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119118"/>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237990"/>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Read the third column. </a:t>
            </a:r>
            <a:r>
              <a:rPr sz="1050" b="0" i="0">
                <a:solidFill>
                  <a:srgbClr val="1C1C1E"/>
                </a:solidFill>
                <a:latin typeface="Calibri"/>
              </a:rPr>
              <a:t>Every object above is pinned by something further down, and a pin is always to a version rather than to a name. That is the single structural decision this platform makes over and over, and it is why </a:t>
            </a:r>
            <a:r>
              <a:rPr sz="1050" b="1" i="0">
                <a:solidFill>
                  <a:srgbClr val="1C1C1E"/>
                </a:solidFill>
                <a:latin typeface="Calibri"/>
              </a:rPr>
              <a:t>the same identifier resolves to the same bytes a year later.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10</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What a Feature Is</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Five things it is not, and what each one costs when you assume otherwise.</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Not always a number</a:t>
            </a:r>
          </a:p>
          <a:p>
            <a:pPr>
              <a:lnSpc>
                <a:spcPct val="115000"/>
              </a:lnSpc>
              <a:spcBef>
                <a:spcPts val="0"/>
              </a:spcBef>
              <a:spcAft>
                <a:spcPts val="700"/>
              </a:spcAft>
            </a:pPr>
            <a:r>
              <a:rPr sz="1150" b="0" i="0">
                <a:solidFill>
                  <a:srgbClr val="F6E6E9"/>
                </a:solidFill>
                <a:latin typeface="Calibri"/>
              </a:rPr>
              <a:t>Derived features</a:t>
            </a:r>
          </a:p>
          <a:p>
            <a:pPr>
              <a:lnSpc>
                <a:spcPct val="115000"/>
              </a:lnSpc>
              <a:spcBef>
                <a:spcPts val="0"/>
              </a:spcBef>
              <a:spcAft>
                <a:spcPts val="700"/>
              </a:spcAft>
            </a:pPr>
            <a:r>
              <a:rPr sz="1150" b="0" i="0">
                <a:solidFill>
                  <a:srgbClr val="F6E6E9"/>
                </a:solidFill>
                <a:latin typeface="Calibri"/>
              </a:rPr>
              <a:t>The leakage rules</a:t>
            </a:r>
          </a:p>
          <a:p>
            <a:pPr>
              <a:lnSpc>
                <a:spcPct val="115000"/>
              </a:lnSpc>
              <a:spcBef>
                <a:spcPts val="0"/>
              </a:spcBef>
              <a:spcAft>
                <a:spcPts val="700"/>
              </a:spcAft>
            </a:pPr>
            <a:r>
              <a:rPr sz="1150" b="0" i="0">
                <a:solidFill>
                  <a:srgbClr val="F6E6E9"/>
                </a:solidFill>
                <a:latin typeface="Calibri"/>
              </a:rPr>
              <a:t>Sealing and ownership</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feature is not always a number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49</a:t>
            </a:r>
          </a:p>
        </p:txBody>
      </p:sp>
      <p:sp>
        <p:nvSpPr>
          <p:cNvPr id="10" name="Rectangle 9"/>
          <p:cNvSpPr/>
          <p:nvPr/>
        </p:nvSpPr>
        <p:spPr>
          <a:xfrm>
            <a:off x="777240" y="1353312"/>
            <a:ext cx="5531351" cy="129284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29284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165591" cy="1109967"/>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{"name": "usd_curve", "entity": "book_id",</a:t>
            </a:r>
          </a:p>
          <a:p>
            <a:pPr>
              <a:lnSpc>
                <a:spcPct val="134000"/>
              </a:lnSpc>
              <a:spcBef>
                <a:spcPts val="0"/>
              </a:spcBef>
              <a:spcAft>
                <a:spcPts val="0"/>
              </a:spcAft>
            </a:pPr>
            <a:r>
              <a:rPr sz="950" b="0" i="0">
                <a:solidFill>
                  <a:srgbClr val="1C1C1E"/>
                </a:solidFill>
                <a:latin typeface="Consolas"/>
              </a:rPr>
              <a:t> "dtype": "numeric",</a:t>
            </a:r>
          </a:p>
          <a:p>
            <a:pPr>
              <a:lnSpc>
                <a:spcPct val="134000"/>
              </a:lnSpc>
              <a:spcBef>
                <a:spcPts val="0"/>
              </a:spcBef>
              <a:spcAft>
                <a:spcPts val="0"/>
              </a:spcAft>
            </a:pPr>
            <a:r>
              <a:rPr sz="950" b="0" i="0">
                <a:solidFill>
                  <a:srgbClr val="1C1C1E"/>
                </a:solidFill>
                <a:latin typeface="Consolas"/>
              </a:rPr>
              <a:t> "shape": [10],</a:t>
            </a:r>
          </a:p>
          <a:p>
            <a:pPr>
              <a:lnSpc>
                <a:spcPct val="134000"/>
              </a:lnSpc>
              <a:spcBef>
                <a:spcPts val="0"/>
              </a:spcBef>
              <a:spcAft>
                <a:spcPts val="0"/>
              </a:spcAft>
            </a:pPr>
            <a:r>
              <a:rPr sz="950" b="0" i="0">
                <a:solidFill>
                  <a:srgbClr val="1C1C1E"/>
                </a:solidFill>
                <a:latin typeface="Consolas"/>
              </a:rPr>
              <a:t> "components": ["1m","3m","6m","1y","2y",</a:t>
            </a:r>
          </a:p>
          <a:p>
            <a:pPr>
              <a:lnSpc>
                <a:spcPct val="134000"/>
              </a:lnSpc>
              <a:spcBef>
                <a:spcPts val="0"/>
              </a:spcBef>
              <a:spcAft>
                <a:spcPts val="0"/>
              </a:spcAft>
            </a:pPr>
            <a:r>
              <a:rPr sz="950" b="0" i="0">
                <a:solidFill>
                  <a:srgbClr val="1C1C1E"/>
                </a:solidFill>
                <a:latin typeface="Consolas"/>
              </a:rPr>
              <a:t>                "3y","5y","7y","10y","30y"]}</a:t>
            </a:r>
          </a:p>
        </p:txBody>
      </p:sp>
      <p:graphicFrame>
        <p:nvGraphicFramePr>
          <p:cNvPr id="13" name="Table 12"/>
          <p:cNvGraphicFramePr>
            <a:graphicFrameLocks noGrp="1"/>
          </p:cNvGraphicFramePr>
          <p:nvPr/>
        </p:nvGraphicFramePr>
        <p:xfrm>
          <a:off x="777240" y="2902191"/>
          <a:ext cx="5531350" cy="1562048"/>
        </p:xfrm>
        <a:graphic>
          <a:graphicData uri="http://schemas.openxmlformats.org/drawingml/2006/table">
            <a:tbl>
              <a:tblPr firstRow="1">
                <a:tableStyleId>{5C22544A-7EE6-4342-B048-85BDC9FD1C3A}</a:tableStyleId>
              </a:tblPr>
              <a:tblGrid>
                <a:gridCol w="1042138"/>
                <a:gridCol w="961974"/>
                <a:gridCol w="3527238"/>
              </a:tblGrid>
              <a:tr h="329184">
                <a:tc>
                  <a:txBody>
                    <a:bodyPr wrap="square"/>
                    <a:lstStyle/>
                    <a:p>
                      <a:pPr algn="l"/>
                      <a:r>
                        <a:rPr sz="950" b="1">
                          <a:solidFill>
                            <a:srgbClr val="FFFFFF"/>
                          </a:solidFill>
                          <a:latin typeface="Calibri"/>
                        </a:rPr>
                        <a:t>Shape</a:t>
                      </a:r>
                    </a:p>
                  </a:txBody>
                  <a:tcPr marL="82296" marR="64008" marT="32004" marB="32004" anchor="ctr">
                    <a:solidFill>
                      <a:srgbClr val="A51C30"/>
                    </a:solidFill>
                  </a:tcPr>
                </a:tc>
                <a:tc>
                  <a:txBody>
                    <a:bodyPr wrap="square"/>
                    <a:lstStyle/>
                    <a:p>
                      <a:pPr algn="l"/>
                      <a:r>
                        <a:rPr sz="950" b="1">
                          <a:solidFill>
                            <a:srgbClr val="FFFFFF"/>
                          </a:solidFill>
                          <a:latin typeface="Calibri"/>
                        </a:rPr>
                        <a:t>Kind</a:t>
                      </a:r>
                    </a:p>
                  </a:txBody>
                  <a:tcPr marL="82296" marR="64008" marT="32004" marB="32004" anchor="ctr">
                    <a:solidFill>
                      <a:srgbClr val="A51C30"/>
                    </a:solidFill>
                  </a:tcPr>
                </a:tc>
                <a:tc>
                  <a:txBody>
                    <a:bodyPr wrap="square"/>
                    <a:lstStyle/>
                    <a:p>
                      <a:pPr algn="l"/>
                      <a:r>
                        <a:rPr sz="950" b="1">
                          <a:solidFill>
                            <a:srgbClr val="FFFFFF"/>
                          </a:solidFill>
                          <a:latin typeface="Calibri"/>
                        </a:rPr>
                        <a:t>Example</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a:t>
                      </a:r>
                    </a:p>
                  </a:txBody>
                  <a:tcPr marL="82296" marR="64008" marT="32004" marB="32004" anchor="ctr">
                    <a:solidFill>
                      <a:srgbClr val="FFFFFF"/>
                    </a:solidFill>
                  </a:tcPr>
                </a:tc>
                <a:tc>
                  <a:txBody>
                    <a:bodyPr wrap="square"/>
                    <a:lstStyle/>
                    <a:p>
                      <a:pPr algn="l"/>
                      <a:r>
                        <a:rPr sz="950" b="0">
                          <a:solidFill>
                            <a:srgbClr val="1C1C1E"/>
                          </a:solidFill>
                          <a:latin typeface="Calibri"/>
                        </a:rPr>
                        <a:t>scalar</a:t>
                      </a:r>
                    </a:p>
                  </a:txBody>
                  <a:tcPr marL="82296" marR="64008" marT="32004" marB="32004" anchor="ctr">
                    <a:solidFill>
                      <a:srgbClr val="FFFFFF"/>
                    </a:solidFill>
                  </a:tcPr>
                </a:tc>
                <a:tc>
                  <a:txBody>
                    <a:bodyPr wrap="square"/>
                    <a:lstStyle/>
                    <a:p>
                      <a:pPr algn="l"/>
                      <a:r>
                        <a:rPr sz="950" b="0">
                          <a:solidFill>
                            <a:srgbClr val="1C1C1E"/>
                          </a:solidFill>
                          <a:latin typeface="Calibri"/>
                        </a:rPr>
                        <a:t>debt service coverage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[10]</a:t>
                      </a:r>
                    </a:p>
                  </a:txBody>
                  <a:tcPr marL="82296" marR="64008" marT="32004" marB="32004" anchor="ctr">
                    <a:solidFill>
                      <a:srgbClr val="F6F3EF"/>
                    </a:solidFill>
                  </a:tcPr>
                </a:tc>
                <a:tc>
                  <a:txBody>
                    <a:bodyPr wrap="square"/>
                    <a:lstStyle/>
                    <a:p>
                      <a:pPr algn="l"/>
                      <a:r>
                        <a:rPr sz="950" b="0">
                          <a:solidFill>
                            <a:srgbClr val="1C1C1E"/>
                          </a:solidFill>
                          <a:latin typeface="Calibri"/>
                        </a:rPr>
                        <a:t>vector</a:t>
                      </a:r>
                    </a:p>
                  </a:txBody>
                  <a:tcPr marL="82296" marR="64008" marT="32004" marB="32004" anchor="ctr">
                    <a:solidFill>
                      <a:srgbClr val="F6F3EF"/>
                    </a:solidFill>
                  </a:tcPr>
                </a:tc>
                <a:tc>
                  <a:txBody>
                    <a:bodyPr wrap="square"/>
                    <a:lstStyle/>
                    <a:p>
                      <a:pPr algn="l"/>
                      <a:r>
                        <a:rPr sz="950" b="0">
                          <a:solidFill>
                            <a:srgbClr val="1C1C1E"/>
                          </a:solidFill>
                          <a:latin typeface="Calibri"/>
                        </a:rPr>
                        <a:t>a curve at ten tenors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[10, 10]</a:t>
                      </a:r>
                    </a:p>
                  </a:txBody>
                  <a:tcPr marL="82296" marR="64008" marT="32004" marB="32004" anchor="ctr">
                    <a:solidFill>
                      <a:srgbClr val="FFFFFF"/>
                    </a:solidFill>
                  </a:tcPr>
                </a:tc>
                <a:tc>
                  <a:txBody>
                    <a:bodyPr wrap="square"/>
                    <a:lstStyle/>
                    <a:p>
                      <a:pPr algn="l"/>
                      <a:r>
                        <a:rPr sz="950" b="0">
                          <a:solidFill>
                            <a:srgbClr val="1C1C1E"/>
                          </a:solidFill>
                          <a:latin typeface="Calibri"/>
                        </a:rPr>
                        <a:t>matrix</a:t>
                      </a:r>
                    </a:p>
                  </a:txBody>
                  <a:tcPr marL="82296" marR="64008" marT="32004" marB="32004" anchor="ctr">
                    <a:solidFill>
                      <a:srgbClr val="FFFFFF"/>
                    </a:solidFill>
                  </a:tcPr>
                </a:tc>
                <a:tc>
                  <a:txBody>
                    <a:bodyPr wrap="square"/>
                    <a:lstStyle/>
                    <a:p>
                      <a:pPr algn="l"/>
                      <a:r>
                        <a:rPr sz="950" b="0">
                          <a:solidFill>
                            <a:srgbClr val="1C1C1E"/>
                          </a:solidFill>
                          <a:latin typeface="Calibri"/>
                        </a:rPr>
                        <a:t>the correlation between them</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[5, 10, 10]</a:t>
                      </a:r>
                    </a:p>
                  </a:txBody>
                  <a:tcPr marL="82296" marR="64008" marT="32004" marB="32004" anchor="ctr">
                    <a:solidFill>
                      <a:srgbClr val="F6F3EF"/>
                    </a:solidFill>
                  </a:tcPr>
                </a:tc>
                <a:tc>
                  <a:txBody>
                    <a:bodyPr wrap="square"/>
                    <a:lstStyle/>
                    <a:p>
                      <a:pPr algn="l"/>
                      <a:r>
                        <a:rPr sz="950" b="0">
                          <a:solidFill>
                            <a:srgbClr val="1C1C1E"/>
                          </a:solidFill>
                          <a:latin typeface="Calibri"/>
                        </a:rPr>
                        <a:t>tensor</a:t>
                      </a:r>
                    </a:p>
                  </a:txBody>
                  <a:tcPr marL="82296" marR="64008" marT="32004" marB="32004" anchor="ctr">
                    <a:solidFill>
                      <a:srgbClr val="F6F3EF"/>
                    </a:solidFill>
                  </a:tcPr>
                </a:tc>
                <a:tc>
                  <a:txBody>
                    <a:bodyPr wrap="square"/>
                    <a:lstStyle/>
                    <a:p>
                      <a:pPr algn="l"/>
                      <a:r>
                        <a:rPr sz="950" b="0">
                          <a:solidFill>
                            <a:srgbClr val="1C1C1E"/>
                          </a:solidFill>
                          <a:latin typeface="Calibri"/>
                        </a:rPr>
                        <a:t>that matrix under five scenarios</a:t>
                      </a:r>
                    </a:p>
                  </a:txBody>
                  <a:tcPr marL="82296" marR="64008" marT="32004" marB="32004" anchor="ctr">
                    <a:solidFill>
                      <a:srgbClr val="F6F3EF"/>
                    </a:solidFill>
                  </a:tcPr>
                </a:tc>
              </a:tr>
            </a:tbl>
          </a:graphicData>
        </a:graphic>
      </p:graphicFrame>
      <p:sp>
        <p:nvSpPr>
          <p:cNvPr id="14" name="TextBox 13"/>
          <p:cNvSpPr txBox="1"/>
          <p:nvPr/>
        </p:nvSpPr>
        <p:spPr>
          <a:xfrm>
            <a:off x="6734080" y="1353312"/>
            <a:ext cx="4680374" cy="310896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The component order IS the axis order</a:t>
            </a:r>
          </a:p>
          <a:p>
            <a:pPr>
              <a:lnSpc>
                <a:spcPct val="125000"/>
              </a:lnSpc>
              <a:spcBef>
                <a:spcPts val="0"/>
              </a:spcBef>
              <a:spcAft>
                <a:spcPts val="1000"/>
              </a:spcAft>
            </a:pPr>
            <a:r>
              <a:rPr sz="1100" b="0" i="0">
                <a:solidFill>
                  <a:srgbClr val="1C1C1E"/>
                </a:solidFill>
                <a:latin typeface="Calibri"/>
              </a:rPr>
              <a:t>A curve whose tenors came back alphabetically would be a different curve — and one nobody would notice was wrong. Resolution preserves insertion order and never sorts.</a:t>
            </a:r>
          </a:p>
          <a:p>
            <a:pPr>
              <a:lnSpc>
                <a:spcPct val="125000"/>
              </a:lnSpc>
              <a:spcBef>
                <a:spcPts val="0"/>
              </a:spcBef>
              <a:spcAft>
                <a:spcPts val="1000"/>
              </a:spcAft>
            </a:pPr>
            <a:r>
              <a:rPr sz="1100" b="0" i="0">
                <a:solidFill>
                  <a:srgbClr val="4A4F57"/>
                </a:solidFill>
                <a:latin typeface="Calibri"/>
              </a:rPr>
              <a:t>The names are what make composition mean something. “Drop the 50-year point” is an operation on a name; on an anonymous array it is an operation on an index, and an index is not a meaning.</a:t>
            </a:r>
          </a:p>
          <a:p>
            <a:pPr>
              <a:lnSpc>
                <a:spcPct val="125000"/>
              </a:lnSpc>
              <a:spcBef>
                <a:spcPts val="0"/>
              </a:spcBef>
              <a:spcAft>
                <a:spcPts val="0"/>
              </a:spcAft>
            </a:pPr>
            <a:r>
              <a:rPr sz="1100" b="0" i="0">
                <a:solidFill>
                  <a:srgbClr val="4A4F57"/>
                </a:solidFill>
                <a:latin typeface="Calibri"/>
              </a:rPr>
              <a:t>A declared shape is checked against the values that arrive. A shape nobody verifies is a comment, and a model given ten tenors where it expected eleven produces an answer rather than an error.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Derived features, and the four rules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50</a:t>
            </a:r>
          </a:p>
        </p:txBody>
      </p:sp>
      <p:sp>
        <p:nvSpPr>
          <p:cNvPr id="10" name="Rectangle 9"/>
          <p:cNvSpPr/>
          <p:nvPr/>
        </p:nvSpPr>
        <p:spPr>
          <a:xfrm>
            <a:off x="777240" y="1353312"/>
            <a:ext cx="5318607" cy="162520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2520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952847"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lot_to_living_ratio = lot_size_sqft / living_area_sqft</a:t>
            </a:r>
          </a:p>
          <a:p>
            <a:pPr>
              <a:lnSpc>
                <a:spcPct val="134000"/>
              </a:lnSpc>
              <a:spcBef>
                <a:spcPts val="0"/>
              </a:spcBef>
              <a:spcAft>
                <a:spcPts val="0"/>
              </a:spcAft>
            </a:pPr>
            <a:r>
              <a:rPr sz="900" b="0" i="0">
                <a:solidFill>
                  <a:srgbClr val="1C1C1E"/>
                </a:solidFill>
                <a:latin typeface="Consolas"/>
              </a:rPr>
              <a:t>property_age        = year(event_ts) - year_built</a:t>
            </a:r>
          </a:p>
          <a:p>
            <a:pPr>
              <a:lnSpc>
                <a:spcPct val="134000"/>
              </a:lnSpc>
              <a:spcBef>
                <a:spcPts val="0"/>
              </a:spcBef>
              <a:spcAft>
                <a:spcPts val="0"/>
              </a:spcAft>
            </a:pPr>
            <a:r>
              <a:rPr sz="900" b="0" i="0">
                <a:solidFill>
                  <a:srgbClr val="1C1C1E"/>
                </a:solidFill>
                <a:latin typeface="Consolas"/>
              </a:rPr>
              <a:t>log_living_area     = log(living_area_sqft)</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arithmetic, comparison, nine total functions,</a:t>
            </a:r>
          </a:p>
          <a:p>
            <a:pPr>
              <a:lnSpc>
                <a:spcPct val="134000"/>
              </a:lnSpc>
              <a:spcBef>
                <a:spcPts val="0"/>
              </a:spcBef>
              <a:spcAft>
                <a:spcPts val="0"/>
              </a:spcAft>
            </a:pPr>
            <a:r>
              <a:rPr sz="900" b="0" i="0">
                <a:solidFill>
                  <a:srgbClr val="7A7F87"/>
                </a:solidFill>
                <a:latin typeface="Consolas"/>
              </a:rPr>
              <a:t># the row's own clock. whitelisted at the AST,</a:t>
            </a:r>
          </a:p>
          <a:p>
            <a:pPr>
              <a:lnSpc>
                <a:spcPct val="134000"/>
              </a:lnSpc>
              <a:spcBef>
                <a:spcPts val="0"/>
              </a:spcBef>
              <a:spcAft>
                <a:spcPts val="0"/>
              </a:spcAft>
            </a:pPr>
            <a:r>
              <a:rPr sz="900" b="0" i="0">
                <a:solidFill>
                  <a:srgbClr val="7A7F87"/>
                </a:solidFill>
                <a:latin typeface="Consolas"/>
              </a:rPr>
              <a:t># so what cannot be expressed cannot be smuggled in.</a:t>
            </a:r>
          </a:p>
        </p:txBody>
      </p:sp>
      <p:sp>
        <p:nvSpPr>
          <p:cNvPr id="13" name="Rectangle 12"/>
          <p:cNvSpPr/>
          <p:nvPr/>
        </p:nvSpPr>
        <p:spPr>
          <a:xfrm>
            <a:off x="777240" y="3216264"/>
            <a:ext cx="5318607" cy="1042415"/>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777240" y="3216264"/>
            <a:ext cx="41148" cy="1042415"/>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1014983" y="3335136"/>
            <a:ext cx="4861407" cy="822959"/>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MAYA transforms features it holds; </a:t>
            </a:r>
            <a:r>
              <a:rPr sz="1050" b="0" i="0">
                <a:solidFill>
                  <a:srgbClr val="1C1C1E"/>
                </a:solidFill>
                <a:latin typeface="Calibri"/>
              </a:rPr>
              <a:t>it does not run models. Computing x / y over a stored column is the same class of act as the null rate it already reports for every materialisation. </a:t>
            </a:r>
            <a:r>
              <a:rPr sz="1050" b="1" i="0">
                <a:solidFill>
                  <a:srgbClr val="1C1C1E"/>
                </a:solidFill>
                <a:latin typeface="Calibri"/>
              </a:rPr>
              <a:t>Running a kernel is not.</a:t>
            </a:r>
          </a:p>
        </p:txBody>
      </p:sp>
      <p:sp>
        <p:nvSpPr>
          <p:cNvPr id="16" name="TextBox 15"/>
          <p:cNvSpPr txBox="1"/>
          <p:nvPr/>
        </p:nvSpPr>
        <p:spPr>
          <a:xfrm>
            <a:off x="6521336" y="1353312"/>
            <a:ext cx="4893118" cy="292608"/>
          </a:xfrm>
          <a:prstGeom prst="rect">
            <a:avLst/>
          </a:prstGeom>
          <a:noFill/>
        </p:spPr>
        <p:txBody>
          <a:bodyPr wrap="square" lIns="0" rIns="0" tIns="0" bIns="0" anchor="t">
            <a:spAutoFit/>
          </a:bodyPr>
          <a:lstStyle/>
          <a:p>
            <a:pPr algn="l">
              <a:spcBef>
                <a:spcPts val="0"/>
              </a:spcBef>
              <a:spcAft>
                <a:spcPts val="0"/>
              </a:spcAft>
            </a:pPr>
            <a:r>
              <a:rPr sz="1200" b="1" i="0">
                <a:solidFill>
                  <a:srgbClr val="A51C30"/>
                </a:solidFill>
                <a:latin typeface="Georgia"/>
              </a:rPr>
              <a:t>Four rules, each because the alternative fails quietly</a:t>
            </a:r>
          </a:p>
        </p:txBody>
      </p:sp>
      <p:graphicFrame>
        <p:nvGraphicFramePr>
          <p:cNvPr id="17" name="Table 16"/>
          <p:cNvGraphicFramePr>
            <a:graphicFrameLocks noGrp="1"/>
          </p:cNvGraphicFramePr>
          <p:nvPr/>
        </p:nvGraphicFramePr>
        <p:xfrm>
          <a:off x="6521336" y="1719072"/>
          <a:ext cx="4893118" cy="2141524"/>
        </p:xfrm>
        <a:graphic>
          <a:graphicData uri="http://schemas.openxmlformats.org/drawingml/2006/table">
            <a:tbl>
              <a:tblPr firstRow="1">
                <a:tableStyleId>{5C22544A-7EE6-4342-B048-85BDC9FD1C3A}</a:tableStyleId>
              </a:tblPr>
              <a:tblGrid>
                <a:gridCol w="2084106"/>
                <a:gridCol w="2809012"/>
              </a:tblGrid>
              <a:tr h="329184">
                <a:tc>
                  <a:txBody>
                    <a:bodyPr wrap="square"/>
                    <a:lstStyle/>
                    <a:p>
                      <a:pPr algn="l"/>
                      <a:r>
                        <a:rPr sz="900" b="1">
                          <a:solidFill>
                            <a:srgbClr val="FFFFFF"/>
                          </a:solidFill>
                          <a:latin typeface="Calibri"/>
                        </a:rPr>
                        <a:t>Rule</a:t>
                      </a:r>
                    </a:p>
                  </a:txBody>
                  <a:tcPr marL="82296" marR="64008" marT="32004" marB="32004" anchor="ctr">
                    <a:solidFill>
                      <a:srgbClr val="A51C30"/>
                    </a:solidFill>
                  </a:tcPr>
                </a:tc>
                <a:tc>
                  <a:txBody>
                    <a:bodyPr wrap="square"/>
                    <a:lstStyle/>
                    <a:p>
                      <a:pPr algn="l"/>
                      <a:r>
                        <a:rPr sz="900" b="1">
                          <a:solidFill>
                            <a:srgbClr val="FFFFFF"/>
                          </a:solidFill>
                          <a:latin typeface="Calibri"/>
                        </a:rPr>
                        <a:t>What it prevents</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Lineage is the transitive closure</a:t>
                      </a:r>
                    </a:p>
                  </a:txBody>
                  <a:tcPr marL="82296" marR="64008" marT="32004" marB="32004" anchor="ctr">
                    <a:solidFill>
                      <a:srgbClr val="FFFFFF"/>
                    </a:solidFill>
                  </a:tcPr>
                </a:tc>
                <a:tc>
                  <a:txBody>
                    <a:bodyPr wrap="square"/>
                    <a:lstStyle/>
                    <a:p>
                      <a:pPr algn="l"/>
                      <a:r>
                        <a:rPr sz="900" b="0">
                          <a:solidFill>
                            <a:srgbClr val="1C1C1E"/>
                          </a:solidFill>
                          <a:latin typeface="Calibri"/>
                        </a:rPr>
                        <a:t>a primitive retired under something deriving from it</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ingest_ts(Z) = max(inputs)</a:t>
                      </a:r>
                    </a:p>
                  </a:txBody>
                  <a:tcPr marL="82296" marR="64008" marT="32004" marB="32004" anchor="ctr">
                    <a:solidFill>
                      <a:srgbClr val="F6F3EF"/>
                    </a:solidFill>
                  </a:tcPr>
                </a:tc>
                <a:tc>
                  <a:txBody>
                    <a:bodyPr wrap="square"/>
                    <a:lstStyle/>
                    <a:p>
                      <a:pPr algn="l"/>
                      <a:r>
                        <a:rPr sz="900" b="0">
                          <a:solidFill>
                            <a:srgbClr val="1C1C1E"/>
                          </a:solidFill>
                          <a:latin typeface="Calibri"/>
                        </a:rPr>
                        <a:t>the easiest way to leak the future: a value appearing knowable before its inputs were</a:t>
                      </a:r>
                    </a:p>
                  </a:txBody>
                  <a:tcPr marL="82296" marR="64008" marT="32004" marB="32004" anchor="ctr">
                    <a:solidFill>
                      <a:srgbClr val="F6F3EF"/>
                    </a:solidFill>
                  </a:tcPr>
                </a:tc>
              </a:tr>
              <a:tr h="453085">
                <a:tc>
                  <a:txBody>
                    <a:bodyPr wrap="square"/>
                    <a:lstStyle/>
                    <a:p>
                      <a:pPr algn="l"/>
                      <a:r>
                        <a:rPr sz="900" b="1">
                          <a:solidFill>
                            <a:srgbClr val="A51C30"/>
                          </a:solidFill>
                          <a:latin typeface="Calibri"/>
                        </a:rPr>
                        <a:t>No slot may derive from the label</a:t>
                      </a:r>
                    </a:p>
                  </a:txBody>
                  <a:tcPr marL="82296" marR="64008" marT="32004" marB="32004" anchor="ctr">
                    <a:solidFill>
                      <a:srgbClr val="FFFFFF"/>
                    </a:solidFill>
                  </a:tcPr>
                </a:tc>
                <a:tc>
                  <a:txBody>
                    <a:bodyPr wrap="square"/>
                    <a:lstStyle/>
                    <a:p>
                      <a:pPr algn="l"/>
                      <a:r>
                        <a:rPr sz="900" b="0">
                          <a:solidFill>
                            <a:srgbClr val="1C1C1E"/>
                          </a:solidFill>
                          <a:latin typeface="Calibri"/>
                        </a:rPr>
                        <a:t>leakage with a division sign in front of it</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Certification is the meet</a:t>
                      </a:r>
                    </a:p>
                  </a:txBody>
                  <a:tcPr marL="82296" marR="64008" marT="32004" marB="32004" anchor="ctr">
                    <a:solidFill>
                      <a:srgbClr val="F6F3EF"/>
                    </a:solidFill>
                  </a:tcPr>
                </a:tc>
                <a:tc>
                  <a:txBody>
                    <a:bodyPr wrap="square"/>
                    <a:lstStyle/>
                    <a:p>
                      <a:pPr algn="l"/>
                      <a:r>
                        <a:rPr sz="900" b="0">
                          <a:solidFill>
                            <a:srgbClr val="1C1C1E"/>
                          </a:solidFill>
                          <a:latin typeface="Calibri"/>
                        </a:rPr>
                        <a:t>deriving from an uncertified feature to launder it</a:t>
                      </a:r>
                    </a:p>
                  </a:txBody>
                  <a:tcPr marL="82296" marR="64008" marT="32004" marB="32004" anchor="ctr">
                    <a:solidFill>
                      <a:srgbClr val="F6F3EF"/>
                    </a:solidFill>
                  </a:tcPr>
                </a:tc>
              </a:tr>
            </a:tbl>
          </a:graphicData>
        </a:graphic>
      </p:graphicFrame>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one that gets refused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51</a:t>
            </a:r>
          </a:p>
        </p:txBody>
      </p:sp>
      <p:sp>
        <p:nvSpPr>
          <p:cNvPr id="10" name="Rectangle 9"/>
          <p:cNvSpPr/>
          <p:nvPr/>
        </p:nvSpPr>
        <p:spPr>
          <a:xfrm>
            <a:off x="777240" y="1353312"/>
            <a:ext cx="5744096" cy="181819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81819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feature: price_per_sqft</a:t>
            </a:r>
          </a:p>
          <a:p>
            <a:pPr>
              <a:lnSpc>
                <a:spcPct val="134000"/>
              </a:lnSpc>
              <a:spcBef>
                <a:spcPts val="0"/>
              </a:spcBef>
              <a:spcAft>
                <a:spcPts val="0"/>
              </a:spcAft>
            </a:pPr>
            <a:r>
              <a:rPr sz="900" b="0" i="0">
                <a:solidFill>
                  <a:srgbClr val="1C1C1E"/>
                </a:solidFill>
                <a:latin typeface="Consolas"/>
              </a:rPr>
              <a:t>inputs:  [sale_price, living_area_sqft]</a:t>
            </a:r>
          </a:p>
          <a:p>
            <a:pPr>
              <a:lnSpc>
                <a:spcPct val="134000"/>
              </a:lnSpc>
              <a:spcBef>
                <a:spcPts val="0"/>
              </a:spcBef>
              <a:spcAft>
                <a:spcPts val="0"/>
              </a:spcAft>
            </a:pPr>
            <a:r>
              <a:rPr sz="900" b="0" i="0">
                <a:solidFill>
                  <a:srgbClr val="7A7F87"/>
                </a:solidFill>
                <a:latin typeface="Consolas"/>
              </a:rPr>
              <a:t>         # sale_price is the featureset's LABEL</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409  'price_per_sqft' is computed from 'sale_price',</a:t>
            </a:r>
          </a:p>
          <a:p>
            <a:pPr>
              <a:lnSpc>
                <a:spcPct val="134000"/>
              </a:lnSpc>
              <a:spcBef>
                <a:spcPts val="0"/>
              </a:spcBef>
              <a:spcAft>
                <a:spcPts val="0"/>
              </a:spcAft>
            </a:pPr>
            <a:r>
              <a:rPr sz="900" b="0" i="0">
                <a:solidFill>
                  <a:srgbClr val="1C1C1E"/>
                </a:solidFill>
                <a:latin typeface="Consolas"/>
              </a:rPr>
              <a:t>     which this featureset declares as its label — a</a:t>
            </a:r>
          </a:p>
          <a:p>
            <a:pPr>
              <a:lnSpc>
                <a:spcPct val="134000"/>
              </a:lnSpc>
              <a:spcBef>
                <a:spcPts val="0"/>
              </a:spcBef>
              <a:spcAft>
                <a:spcPts val="0"/>
              </a:spcAft>
            </a:pPr>
            <a:r>
              <a:rPr sz="900" b="0" i="0">
                <a:solidFill>
                  <a:srgbClr val="1C1C1E"/>
                </a:solidFill>
                <a:latin typeface="Consolas"/>
              </a:rPr>
              <a:t>     feature derived from the label leaks the answer</a:t>
            </a:r>
          </a:p>
          <a:p>
            <a:pPr>
              <a:lnSpc>
                <a:spcPct val="134000"/>
              </a:lnSpc>
              <a:spcBef>
                <a:spcPts val="0"/>
              </a:spcBef>
              <a:spcAft>
                <a:spcPts val="0"/>
              </a:spcAft>
            </a:pPr>
            <a:r>
              <a:rPr sz="900" b="0" i="0">
                <a:solidFill>
                  <a:srgbClr val="1C1C1E"/>
                </a:solidFill>
                <a:latin typeface="Consolas"/>
              </a:rPr>
              <a:t>     into the training set.</a:t>
            </a:r>
          </a:p>
        </p:txBody>
      </p:sp>
      <p:sp>
        <p:nvSpPr>
          <p:cNvPr id="13" name="TextBox 12"/>
          <p:cNvSpPr txBox="1"/>
          <p:nvPr/>
        </p:nvSpPr>
        <p:spPr>
          <a:xfrm>
            <a:off x="777240" y="3427536"/>
            <a:ext cx="5744096" cy="137160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The check walks the WHOLE lineage, not the immediate inputs: a derivation of a derivation of the label is still the label.</a:t>
            </a:r>
          </a:p>
          <a:p>
            <a:pPr>
              <a:lnSpc>
                <a:spcPct val="125000"/>
              </a:lnSpc>
              <a:spcBef>
                <a:spcPts val="0"/>
              </a:spcBef>
              <a:spcAft>
                <a:spcPts val="0"/>
              </a:spcAft>
            </a:pPr>
            <a:r>
              <a:rPr sz="1100" b="0" i="0">
                <a:solidFill>
                  <a:srgbClr val="4A4F57"/>
                </a:solidFill>
                <a:latin typeface="Calibri"/>
              </a:rPr>
              <a:t>And it runs before the view is resolved, so the message is “you cannot train on the answer” rather than “no view supplies that”.</a:t>
            </a:r>
          </a:p>
        </p:txBody>
      </p:sp>
      <p:sp>
        <p:nvSpPr>
          <p:cNvPr id="14" name="TextBox 13"/>
          <p:cNvSpPr txBox="1"/>
          <p:nvPr/>
        </p:nvSpPr>
        <p:spPr>
          <a:xfrm>
            <a:off x="6946824" y="1353312"/>
            <a:ext cx="4467630" cy="3291840"/>
          </a:xfrm>
          <a:prstGeom prst="rect">
            <a:avLst/>
          </a:prstGeom>
          <a:noFill/>
        </p:spPr>
        <p:txBody>
          <a:bodyPr wrap="square" lIns="0" rIns="0" tIns="0" bIns="0" anchor="t">
            <a:spAutoFit/>
          </a:bodyPr>
          <a:lstStyle/>
          <a:p>
            <a:pPr algn="l">
              <a:spcBef>
                <a:spcPts val="0"/>
              </a:spcBef>
              <a:spcAft>
                <a:spcPts val="800"/>
              </a:spcAft>
            </a:pPr>
            <a:r>
              <a:rPr sz="1250" b="1" i="0">
                <a:solidFill>
                  <a:srgbClr val="A51C30"/>
                </a:solidFill>
                <a:latin typeface="Georgia"/>
              </a:rPr>
              <a:t>Why this one matters more than it looks</a:t>
            </a:r>
          </a:p>
          <a:p>
            <a:pPr>
              <a:lnSpc>
                <a:spcPct val="125000"/>
              </a:lnSpc>
              <a:spcBef>
                <a:spcPts val="0"/>
              </a:spcBef>
              <a:spcAft>
                <a:spcPts val="1000"/>
              </a:spcAft>
            </a:pPr>
            <a:r>
              <a:rPr sz="1100" b="0" i="0">
                <a:solidFill>
                  <a:srgbClr val="1C1C1E"/>
                </a:solidFill>
                <a:latin typeface="Calibri"/>
              </a:rPr>
              <a:t>A model trained on a feature derived from its own label performs extraordinarily in validation and fails on the first case it has not already seen.</a:t>
            </a:r>
          </a:p>
          <a:p>
            <a:pPr>
              <a:lnSpc>
                <a:spcPct val="125000"/>
              </a:lnSpc>
              <a:spcBef>
                <a:spcPts val="0"/>
              </a:spcBef>
              <a:spcAft>
                <a:spcPts val="1000"/>
              </a:spcAft>
            </a:pPr>
            <a:r>
              <a:rPr sz="1100" b="0" i="0">
                <a:solidFill>
                  <a:srgbClr val="4A4F57"/>
                </a:solidFill>
                <a:latin typeface="Calibri"/>
              </a:rPr>
              <a:t>It is not caught by any metric, because every metric agrees the model is excellent. It is caught by knowing what the column was made from — which is why the lineage is recorded rather than inferred.</a:t>
            </a:r>
          </a:p>
          <a:p>
            <a:pPr>
              <a:lnSpc>
                <a:spcPct val="125000"/>
              </a:lnSpc>
              <a:spcBef>
                <a:spcPts val="0"/>
              </a:spcBef>
              <a:spcAft>
                <a:spcPts val="0"/>
              </a:spcAft>
            </a:pPr>
            <a:r>
              <a:rPr sz="1100" b="0" i="0">
                <a:solidFill>
                  <a:srgbClr val="4A4F57"/>
                </a:solidFill>
                <a:latin typeface="Calibri"/>
              </a:rPr>
              <a:t>The same argument produces the ingest-clock rule, the point-in-time assembly rule, and the refusal to normalise without an as_of. They are one idea applied four times.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ENGINEERING A FEATURE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Sealed, ephemeral, owned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10 · What a Feature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52</a:t>
            </a:r>
          </a:p>
        </p:txBody>
      </p:sp>
      <p:sp>
        <p:nvSpPr>
          <p:cNvPr id="10" name="Rectangle 9"/>
          <p:cNvSpPr/>
          <p:nvPr/>
        </p:nvSpPr>
        <p:spPr>
          <a:xfrm>
            <a:off x="777240" y="1353312"/>
            <a:ext cx="3350722"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Sealed</a:t>
            </a:r>
          </a:p>
        </p:txBody>
      </p:sp>
      <p:sp>
        <p:nvSpPr>
          <p:cNvPr id="14" name="TextBox 13"/>
          <p:cNvSpPr txBox="1"/>
          <p:nvPr/>
        </p:nvSpPr>
        <p:spPr>
          <a:xfrm>
            <a:off x="996695" y="2157984"/>
            <a:ext cx="2911810"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Final: no amendment, no further versions, no change of owner — and still composable. That combination is the point. A parent that cannot move is a parent worth building on, and evolution moves to a child where it stays visible.</a:t>
            </a:r>
          </a:p>
        </p:txBody>
      </p:sp>
      <p:sp>
        <p:nvSpPr>
          <p:cNvPr id="15" name="Rectangle 14"/>
          <p:cNvSpPr/>
          <p:nvPr/>
        </p:nvSpPr>
        <p:spPr>
          <a:xfrm>
            <a:off x="4425804" y="1353312"/>
            <a:ext cx="3350722"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25804"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45260"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4645260"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Ephemeral</a:t>
            </a:r>
          </a:p>
        </p:txBody>
      </p:sp>
      <p:sp>
        <p:nvSpPr>
          <p:cNvPr id="19" name="TextBox 18"/>
          <p:cNvSpPr txBox="1"/>
          <p:nvPr/>
        </p:nvSpPr>
        <p:spPr>
          <a:xfrm>
            <a:off x="4645260" y="2157984"/>
            <a:ext cx="2911810"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 time to live, then destroyed. Cannot be sealed — permanent and temporary are not two flags that happen to be set. Cannot be composed from: a child that resolves today and dangles tomorrow. Its rows go; its evidence stays.</a:t>
            </a:r>
          </a:p>
        </p:txBody>
      </p:sp>
      <p:sp>
        <p:nvSpPr>
          <p:cNvPr id="20" name="Rectangle 19"/>
          <p:cNvSpPr/>
          <p:nvPr/>
        </p:nvSpPr>
        <p:spPr>
          <a:xfrm>
            <a:off x="8074369" y="1353312"/>
            <a:ext cx="3340085" cy="228600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74369" y="1353312"/>
            <a:ext cx="334008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93825" y="1572768"/>
            <a:ext cx="290117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8293825" y="1847088"/>
            <a:ext cx="290117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Owned</a:t>
            </a:r>
          </a:p>
        </p:txBody>
      </p:sp>
      <p:sp>
        <p:nvSpPr>
          <p:cNvPr id="24" name="TextBox 23"/>
          <p:cNvSpPr txBox="1"/>
          <p:nvPr/>
        </p:nvSpPr>
        <p:spPr>
          <a:xfrm>
            <a:off x="8293825" y="2157984"/>
            <a:ext cx="2901173" cy="129844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Two facts kept apart. The CREATOR is history and never moves. The OWNER is a responsibility, transferred by name with the handover witnessed. An owner field that quietly becomes a leaver's username is how a model ends up accountable to nobody.</a:t>
            </a:r>
          </a:p>
        </p:txBody>
      </p:sp>
      <p:sp>
        <p:nvSpPr>
          <p:cNvPr id="25" name="Rectangle 24"/>
          <p:cNvSpPr/>
          <p:nvPr/>
        </p:nvSpPr>
        <p:spPr>
          <a:xfrm>
            <a:off x="777240" y="384048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84048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1014983" y="395935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Sealing is its own permission. </a:t>
            </a:r>
            <a:r>
              <a:rPr sz="1050" b="0" i="0">
                <a:solidFill>
                  <a:srgbClr val="1C1C1E"/>
                </a:solidFill>
                <a:latin typeface="Calibri"/>
              </a:rPr>
              <a:t>Whoever may define a thing is not automatically who may end it, so it sits with the second line. Breaking a seal is administrators-only and needs a reason — </a:t>
            </a:r>
            <a:r>
              <a:rPr sz="1050" b="1" i="0">
                <a:solidFill>
                  <a:srgbClr val="1C1C1E"/>
                </a:solidFill>
                <a:latin typeface="Calibri"/>
              </a:rPr>
              <a:t>a seal anybody could lift would not be a seal.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11</a:t>
            </a:r>
          </a:p>
        </p:txBody>
      </p:sp>
      <p:sp>
        <p:nvSpPr>
          <p:cNvPr id="5" name="TextBox 4"/>
          <p:cNvSpPr txBox="1"/>
          <p:nvPr/>
        </p:nvSpPr>
        <p:spPr>
          <a:xfrm>
            <a:off x="1005840" y="2375611"/>
            <a:ext cx="6169584" cy="1188720"/>
          </a:xfrm>
          <a:prstGeom prst="rect">
            <a:avLst/>
          </a:prstGeom>
          <a:noFill/>
        </p:spPr>
        <p:txBody>
          <a:bodyPr wrap="square" lIns="0" rIns="0" tIns="0" bIns="0" anchor="t">
            <a:spAutoFit/>
          </a:bodyPr>
          <a:lstStyle/>
          <a:p>
            <a:pPr algn="l">
              <a:spcBef>
                <a:spcPts val="0"/>
              </a:spcBef>
              <a:spcAft>
                <a:spcPts val="0"/>
              </a:spcAft>
            </a:pPr>
            <a:r>
              <a:rPr sz="4000" b="0" i="0">
                <a:solidFill>
                  <a:srgbClr val="FFFFFF"/>
                </a:solidFill>
                <a:latin typeface="Georgia"/>
              </a:rPr>
              <a:t>What a Featureset Is</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A schema, versions that fill it, and one fold that does both.</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Schema and constituents</a:t>
            </a:r>
          </a:p>
          <a:p>
            <a:pPr>
              <a:lnSpc>
                <a:spcPct val="115000"/>
              </a:lnSpc>
              <a:spcBef>
                <a:spcPts val="0"/>
              </a:spcBef>
              <a:spcAft>
                <a:spcPts val="700"/>
              </a:spcAft>
            </a:pPr>
            <a:r>
              <a:rPr sz="1150" b="0" i="0">
                <a:solidFill>
                  <a:srgbClr val="F6E6E9"/>
                </a:solidFill>
                <a:latin typeface="Calibri"/>
              </a:rPr>
              <a:t>The composition monoid</a:t>
            </a:r>
          </a:p>
          <a:p>
            <a:pPr>
              <a:lnSpc>
                <a:spcPct val="115000"/>
              </a:lnSpc>
              <a:spcBef>
                <a:spcPts val="0"/>
              </a:spcBef>
              <a:spcAft>
                <a:spcPts val="700"/>
              </a:spcAft>
            </a:pPr>
            <a:r>
              <a:rPr sz="1150" b="0" i="0">
                <a:solidFill>
                  <a:srgbClr val="F6E6E9"/>
                </a:solidFill>
                <a:latin typeface="Calibri"/>
              </a:rPr>
              <a:t>Rolling forward</a:t>
            </a:r>
          </a:p>
          <a:p>
            <a:pPr>
              <a:lnSpc>
                <a:spcPct val="115000"/>
              </a:lnSpc>
              <a:spcBef>
                <a:spcPts val="0"/>
              </a:spcBef>
              <a:spcAft>
                <a:spcPts val="700"/>
              </a:spcAft>
            </a:pPr>
            <a:r>
              <a:rPr sz="1150" b="0" i="0">
                <a:solidFill>
                  <a:srgbClr val="F6E6E9"/>
                </a:solidFill>
                <a:latin typeface="Calibri"/>
              </a:rPr>
              <a:t>Retrieval policy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featureset declares a schema; a version fills it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54</a:t>
            </a:r>
          </a:p>
        </p:txBody>
      </p:sp>
      <p:sp>
        <p:nvSpPr>
          <p:cNvPr id="10" name="Rectangle 9"/>
          <p:cNvSpPr/>
          <p:nvPr/>
        </p:nvSpPr>
        <p:spPr>
          <a:xfrm>
            <a:off x="777240" y="1353312"/>
            <a:ext cx="5956840" cy="170025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70025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591080"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featureset: inflation</a:t>
            </a:r>
          </a:p>
          <a:p>
            <a:pPr>
              <a:lnSpc>
                <a:spcPct val="134000"/>
              </a:lnSpc>
              <a:spcBef>
                <a:spcPts val="0"/>
              </a:spcBef>
              <a:spcAft>
                <a:spcPts val="0"/>
              </a:spcAft>
            </a:pPr>
            <a:r>
              <a:rPr sz="950" b="0" i="0">
                <a:solidFill>
                  <a:srgbClr val="1C1C1E"/>
                </a:solidFill>
                <a:latin typeface="Consolas"/>
              </a:rPr>
              <a:t>schema:  gb_index: numeric</a:t>
            </a:r>
          </a:p>
          <a:p>
            <a:pPr>
              <a:lnSpc>
                <a:spcPct val="134000"/>
              </a:lnSpc>
              <a:spcBef>
                <a:spcPts val="0"/>
              </a:spcBef>
              <a:spcAft>
                <a:spcPts val="0"/>
              </a:spcAft>
            </a:pPr>
            <a:r>
              <a:rPr sz="950" b="0" i="0">
                <a:solidFill>
                  <a:srgbClr val="1C1C1E"/>
                </a:solidFill>
                <a:latin typeface="Consolas"/>
              </a:rPr>
              <a:t>         us_index: numeric</a:t>
            </a:r>
          </a:p>
          <a:p>
            <a:pPr>
              <a:lnSpc>
                <a:spcPct val="134000"/>
              </a:lnSpc>
              <a:spcBef>
                <a:spcPts val="0"/>
              </a:spcBef>
              <a:spcAft>
                <a:spcPts val="0"/>
              </a:spcAft>
            </a:pPr>
            <a:r>
              <a:rPr sz="950" b="0" i="0">
                <a:solidFill>
                  <a:srgbClr val="1C1C1E"/>
                </a:solidFill>
                <a:latin typeface="Consolas"/>
              </a:rPr>
              <a:t>         daily_index: numeric</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@v1   gb_index→UKRPI  us_index→USCPI  daily→DAILY_INFL</a:t>
            </a:r>
          </a:p>
          <a:p>
            <a:pPr>
              <a:lnSpc>
                <a:spcPct val="134000"/>
              </a:lnSpc>
              <a:spcBef>
                <a:spcPts val="0"/>
              </a:spcBef>
              <a:spcAft>
                <a:spcPts val="0"/>
              </a:spcAft>
            </a:pPr>
            <a:r>
              <a:rPr sz="950" b="0" i="0">
                <a:solidFill>
                  <a:srgbClr val="1C1C1E"/>
                </a:solidFill>
                <a:latin typeface="Consolas"/>
              </a:rPr>
              <a:t>@v2   gb_index→UKRPI  us_index→USCPI  daily→EUHICP</a:t>
            </a:r>
          </a:p>
        </p:txBody>
      </p:sp>
      <p:sp>
        <p:nvSpPr>
          <p:cNvPr id="13" name="TextBox 12"/>
          <p:cNvSpPr txBox="1"/>
          <p:nvPr/>
        </p:nvSpPr>
        <p:spPr>
          <a:xfrm>
            <a:off x="777240" y="3309602"/>
            <a:ext cx="5956840" cy="1645920"/>
          </a:xfrm>
          <a:prstGeom prst="rect">
            <a:avLst/>
          </a:prstGeom>
          <a:noFill/>
        </p:spPr>
        <p:txBody>
          <a:bodyPr wrap="square" lIns="0" rIns="0" tIns="0" bIns="0" anchor="t">
            <a:spAutoFit/>
          </a:bodyPr>
          <a:lstStyle/>
          <a:p>
            <a:pPr algn="l">
              <a:lnSpc>
                <a:spcPct val="125000"/>
              </a:lnSpc>
              <a:spcBef>
                <a:spcPts val="0"/>
              </a:spcBef>
              <a:spcAft>
                <a:spcPts val="900"/>
              </a:spcAft>
            </a:pPr>
            <a:r>
              <a:rPr sz="1150" b="0" i="0">
                <a:solidFill>
                  <a:srgbClr val="1C1C1E"/>
                </a:solidFill>
                <a:latin typeface="Calibri"/>
              </a:rPr>
              <a:t>@v2 draws on a different feature entirely, and a model defined over inflation does not change: it reads daily_index, and always did.</a:t>
            </a:r>
          </a:p>
          <a:p>
            <a:pPr>
              <a:lnSpc>
                <a:spcPct val="125000"/>
              </a:lnSpc>
              <a:spcBef>
                <a:spcPts val="0"/>
              </a:spcBef>
              <a:spcAft>
                <a:spcPts val="0"/>
              </a:spcAft>
            </a:pPr>
            <a:r>
              <a:rPr sz="1100" b="0" i="0">
                <a:solidFill>
                  <a:srgbClr val="4A4F57"/>
                </a:solidFill>
                <a:latin typeface="Calibri"/>
              </a:rPr>
              <a:t>A version that CANNOT fill the schema is refused. It is not a version of this featureset — it is a different one, or it is a model change, and the register decides which so nobody has to remember.</a:t>
            </a:r>
          </a:p>
        </p:txBody>
      </p:sp>
      <p:sp>
        <p:nvSpPr>
          <p:cNvPr id="14" name="TextBox 13"/>
          <p:cNvSpPr txBox="1"/>
          <p:nvPr/>
        </p:nvSpPr>
        <p:spPr>
          <a:xfrm>
            <a:off x="7159569" y="1353312"/>
            <a:ext cx="4254886"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Every binding pins exactly</a:t>
            </a:r>
          </a:p>
        </p:txBody>
      </p:sp>
      <p:graphicFrame>
        <p:nvGraphicFramePr>
          <p:cNvPr id="15" name="Table 14"/>
          <p:cNvGraphicFramePr>
            <a:graphicFrameLocks noGrp="1"/>
          </p:cNvGraphicFramePr>
          <p:nvPr/>
        </p:nvGraphicFramePr>
        <p:xfrm>
          <a:off x="7159569" y="1719072"/>
          <a:ext cx="4254885" cy="1849296"/>
        </p:xfrm>
        <a:graphic>
          <a:graphicData uri="http://schemas.openxmlformats.org/drawingml/2006/table">
            <a:tbl>
              <a:tblPr>
                <a:tableStyleId>{5C22544A-7EE6-4342-B048-85BDC9FD1C3A}</a:tableStyleId>
              </a:tblPr>
              <a:tblGrid>
                <a:gridCol w="1302516"/>
                <a:gridCol w="2952369"/>
              </a:tblGrid>
              <a:tr h="308216">
                <a:tc>
                  <a:txBody>
                    <a:bodyPr wrap="square"/>
                    <a:lstStyle/>
                    <a:p>
                      <a:pPr algn="l"/>
                      <a:r>
                        <a:rPr sz="950" b="1">
                          <a:solidFill>
                            <a:srgbClr val="A51C30"/>
                          </a:solidFill>
                          <a:latin typeface="Calibri"/>
                        </a:rPr>
                        <a:t/>
                      </a:r>
                    </a:p>
                  </a:txBody>
                  <a:tcPr marL="82296" marR="64008" marT="32004" marB="32004" anchor="ctr">
                    <a:solidFill>
                      <a:srgbClr val="F6F3EF"/>
                    </a:solidFill>
                  </a:tcPr>
                </a:tc>
                <a:tc>
                  <a:txBody>
                    <a:bodyPr wrap="square"/>
                    <a:lstStyle/>
                    <a:p>
                      <a:pPr algn="l"/>
                      <a:r>
                        <a:rPr sz="950" b="0">
                          <a:solidFill>
                            <a:srgbClr val="1C1C1E"/>
                          </a:solidFill>
                          <a:latin typeface="Calibri"/>
                        </a:rPr>
                        <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feature</a:t>
                      </a:r>
                    </a:p>
                  </a:txBody>
                  <a:tcPr marL="82296" marR="64008" marT="32004" marB="32004" anchor="ctr">
                    <a:solidFill>
                      <a:srgbClr val="FFFFFF"/>
                    </a:solidFill>
                  </a:tcPr>
                </a:tc>
                <a:tc>
                  <a:txBody>
                    <a:bodyPr wrap="square"/>
                    <a:lstStyle/>
                    <a:p>
                      <a:pPr algn="l"/>
                      <a:r>
                        <a:rPr sz="950" b="0">
                          <a:solidFill>
                            <a:srgbClr val="1C1C1E"/>
                          </a:solidFill>
                          <a:latin typeface="Calibri"/>
                        </a:rPr>
                        <a:t>which signal fills the slot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view</a:t>
                      </a:r>
                    </a:p>
                  </a:txBody>
                  <a:tcPr marL="82296" marR="64008" marT="32004" marB="32004" anchor="ctr">
                    <a:solidFill>
                      <a:srgbClr val="F6F3EF"/>
                    </a:solidFill>
                  </a:tcPr>
                </a:tc>
                <a:tc>
                  <a:txBody>
                    <a:bodyPr wrap="square"/>
                    <a:lstStyle/>
                    <a:p>
                      <a:pPr algn="l"/>
                      <a:r>
                        <a:rPr sz="950" b="0">
                          <a:solidFill>
                            <a:srgbClr val="1C1C1E"/>
                          </a:solidFill>
                          <a:latin typeface="Calibri"/>
                        </a:rPr>
                        <a:t>which view supplies its values</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view_version</a:t>
                      </a:r>
                    </a:p>
                  </a:txBody>
                  <a:tcPr marL="82296" marR="64008" marT="32004" marB="32004" anchor="ctr">
                    <a:solidFill>
                      <a:srgbClr val="FFFFFF"/>
                    </a:solidFill>
                  </a:tcPr>
                </a:tc>
                <a:tc>
                  <a:txBody>
                    <a:bodyPr wrap="square"/>
                    <a:lstStyle/>
                    <a:p>
                      <a:pPr algn="l"/>
                      <a:r>
                        <a:rPr sz="950" b="0">
                          <a:solidFill>
                            <a:srgbClr val="1C1C1E"/>
                          </a:solidFill>
                          <a:latin typeface="Calibri"/>
                        </a:rPr>
                        <a:t>which version of that view</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delta_version</a:t>
                      </a:r>
                    </a:p>
                  </a:txBody>
                  <a:tcPr marL="82296" marR="64008" marT="32004" marB="32004" anchor="ctr">
                    <a:solidFill>
                      <a:srgbClr val="F6F3EF"/>
                    </a:solidFill>
                  </a:tcPr>
                </a:tc>
                <a:tc>
                  <a:txBody>
                    <a:bodyPr wrap="square"/>
                    <a:lstStyle/>
                    <a:p>
                      <a:pPr algn="l"/>
                      <a:r>
                        <a:rPr sz="950" b="0">
                          <a:solidFill>
                            <a:srgbClr val="1C1C1E"/>
                          </a:solidFill>
                          <a:latin typeface="Calibri"/>
                        </a:rPr>
                        <a:t>which write to that path</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namespace</a:t>
                      </a:r>
                    </a:p>
                  </a:txBody>
                  <a:tcPr marL="82296" marR="64008" marT="32004" marB="32004" anchor="ctr">
                    <a:solidFill>
                      <a:srgbClr val="FFFFFF"/>
                    </a:solidFill>
                  </a:tcPr>
                </a:tc>
                <a:tc>
                  <a:txBody>
                    <a:bodyPr wrap="square"/>
                    <a:lstStyle/>
                    <a:p>
                      <a:pPr algn="l"/>
                      <a:r>
                        <a:rPr sz="950" b="0">
                          <a:solidFill>
                            <a:srgbClr val="1C1C1E"/>
                          </a:solidFill>
                          <a:latin typeface="Calibri"/>
                        </a:rPr>
                        <a:t>the resolved Delta location</a:t>
                      </a:r>
                    </a:p>
                  </a:txBody>
                  <a:tcPr marL="82296" marR="64008" marT="32004" marB="32004" anchor="ctr">
                    <a:solidFill>
                      <a:srgbClr val="FFFFFF"/>
                    </a:solidFill>
                  </a:tcPr>
                </a:tc>
              </a:tr>
            </a:tbl>
          </a:graphicData>
        </a:graphic>
      </p:graphicFrame>
      <p:sp>
        <p:nvSpPr>
          <p:cNvPr id="16" name="Rectangle 15"/>
          <p:cNvSpPr/>
          <p:nvPr/>
        </p:nvSpPr>
        <p:spPr>
          <a:xfrm>
            <a:off x="7159569" y="3732961"/>
            <a:ext cx="4254886" cy="11887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159569" y="3732961"/>
            <a:ext cx="41148" cy="1188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7397313" y="3851833"/>
            <a:ext cx="3797686" cy="9692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path is mutable. </a:t>
            </a:r>
            <a:r>
              <a:rPr sz="1050" b="0" i="0">
                <a:solidFill>
                  <a:srgbClr val="1C1C1E"/>
                </a:solidFill>
                <a:latin typeface="Calibri"/>
              </a:rPr>
              <a:t>A set that named views without pinning them would resolve to different bytes next month with its digest unchanged — which is adversarial finding C-2, </a:t>
            </a:r>
            <a:r>
              <a:rPr sz="1050" b="1" i="0">
                <a:solidFill>
                  <a:srgbClr val="1C1C1E"/>
                </a:solidFill>
                <a:latin typeface="Calibri"/>
              </a:rPr>
              <a:t>one level out from the view.</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Inheriting a feature: a curve with a tenor added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55</a:t>
            </a:r>
          </a:p>
        </p:txBody>
      </p:sp>
      <p:sp>
        <p:nvSpPr>
          <p:cNvPr id="10" name="Rectangle 9"/>
          <p:cNvSpPr/>
          <p:nvPr/>
        </p:nvSpPr>
        <p:spPr>
          <a:xfrm>
            <a:off x="777240" y="1353312"/>
            <a:ext cx="3149498" cy="1659635"/>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149498" cy="457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05256"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usd_curve</a:t>
            </a:r>
          </a:p>
        </p:txBody>
      </p:sp>
      <p:sp>
        <p:nvSpPr>
          <p:cNvPr id="13" name="TextBox 12"/>
          <p:cNvSpPr txBox="1"/>
          <p:nvPr/>
        </p:nvSpPr>
        <p:spPr>
          <a:xfrm>
            <a:off x="905256"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the parent — sealed, so it cannot move</a:t>
            </a:r>
          </a:p>
        </p:txBody>
      </p:sp>
      <p:sp>
        <p:nvSpPr>
          <p:cNvPr id="14" name="TextBox 13"/>
          <p:cNvSpPr txBox="1"/>
          <p:nvPr/>
        </p:nvSpPr>
        <p:spPr>
          <a:xfrm>
            <a:off x="905256" y="1901952"/>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1m</a:t>
            </a:r>
          </a:p>
        </p:txBody>
      </p:sp>
      <p:sp>
        <p:nvSpPr>
          <p:cNvPr id="15" name="TextBox 14"/>
          <p:cNvSpPr txBox="1"/>
          <p:nvPr/>
        </p:nvSpPr>
        <p:spPr>
          <a:xfrm>
            <a:off x="905256" y="2116836"/>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3m</a:t>
            </a:r>
          </a:p>
        </p:txBody>
      </p:sp>
      <p:sp>
        <p:nvSpPr>
          <p:cNvPr id="16" name="TextBox 15"/>
          <p:cNvSpPr txBox="1"/>
          <p:nvPr/>
        </p:nvSpPr>
        <p:spPr>
          <a:xfrm>
            <a:off x="905256" y="2331720"/>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1y</a:t>
            </a:r>
          </a:p>
        </p:txBody>
      </p:sp>
      <p:sp>
        <p:nvSpPr>
          <p:cNvPr id="17" name="TextBox 16"/>
          <p:cNvSpPr txBox="1"/>
          <p:nvPr/>
        </p:nvSpPr>
        <p:spPr>
          <a:xfrm>
            <a:off x="905256" y="2546603"/>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5y</a:t>
            </a:r>
          </a:p>
        </p:txBody>
      </p:sp>
      <p:sp>
        <p:nvSpPr>
          <p:cNvPr id="18" name="TextBox 17"/>
          <p:cNvSpPr txBox="1"/>
          <p:nvPr/>
        </p:nvSpPr>
        <p:spPr>
          <a:xfrm>
            <a:off x="905256" y="2761487"/>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10y</a:t>
            </a:r>
          </a:p>
        </p:txBody>
      </p:sp>
      <p:sp>
        <p:nvSpPr>
          <p:cNvPr id="19" name="Rectangle 18"/>
          <p:cNvSpPr/>
          <p:nvPr/>
        </p:nvSpPr>
        <p:spPr>
          <a:xfrm>
            <a:off x="4521098" y="1353312"/>
            <a:ext cx="3149498" cy="1879091"/>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4521098" y="1353312"/>
            <a:ext cx="314949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4649114"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its own operations</a:t>
            </a:r>
          </a:p>
        </p:txBody>
      </p:sp>
      <p:sp>
        <p:nvSpPr>
          <p:cNvPr id="22" name="TextBox 21"/>
          <p:cNvSpPr txBox="1"/>
          <p:nvPr/>
        </p:nvSpPr>
        <p:spPr>
          <a:xfrm>
            <a:off x="4649114"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applied last, so they beat everything above</a:t>
            </a:r>
          </a:p>
        </p:txBody>
      </p:sp>
      <p:sp>
        <p:nvSpPr>
          <p:cNvPr id="23" name="TextBox 22"/>
          <p:cNvSpPr txBox="1"/>
          <p:nvPr/>
        </p:nvSpPr>
        <p:spPr>
          <a:xfrm>
            <a:off x="4649114" y="197510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add  </a:t>
            </a:r>
            <a:r>
              <a:rPr sz="950" b="1" i="0">
                <a:solidFill>
                  <a:srgbClr val="1C1C1E"/>
                </a:solidFill>
                <a:latin typeface="Calibri"/>
              </a:rPr>
              <a:t>30y</a:t>
            </a:r>
          </a:p>
          <a:p>
            <a:pPr>
              <a:spcBef>
                <a:spcPts val="0"/>
              </a:spcBef>
              <a:spcAft>
                <a:spcPts val="0"/>
              </a:spcAft>
            </a:pPr>
            <a:r>
              <a:rPr sz="760" b="0" i="0">
                <a:solidFill>
                  <a:srgbClr val="4A4F57"/>
                </a:solidFill>
                <a:latin typeface="Calibri"/>
              </a:rPr>
              <a:t>the curve goes further out</a:t>
            </a:r>
          </a:p>
        </p:txBody>
      </p:sp>
      <p:sp>
        <p:nvSpPr>
          <p:cNvPr id="24" name="TextBox 23"/>
          <p:cNvSpPr txBox="1"/>
          <p:nvPr/>
        </p:nvSpPr>
        <p:spPr>
          <a:xfrm>
            <a:off x="4649114" y="234086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drop  </a:t>
            </a:r>
            <a:r>
              <a:rPr sz="950" b="1" i="0">
                <a:solidFill>
                  <a:srgbClr val="1C1C1E"/>
                </a:solidFill>
                <a:latin typeface="Calibri"/>
              </a:rPr>
              <a:t>1m</a:t>
            </a:r>
          </a:p>
          <a:p>
            <a:pPr>
              <a:spcBef>
                <a:spcPts val="0"/>
              </a:spcBef>
              <a:spcAft>
                <a:spcPts val="0"/>
              </a:spcAft>
            </a:pPr>
            <a:r>
              <a:rPr sz="760" b="0" i="0">
                <a:solidFill>
                  <a:srgbClr val="4A4F57"/>
                </a:solidFill>
                <a:latin typeface="Calibri"/>
              </a:rPr>
              <a:t>no longer quoted</a:t>
            </a:r>
          </a:p>
        </p:txBody>
      </p:sp>
      <p:sp>
        <p:nvSpPr>
          <p:cNvPr id="25" name="TextBox 24"/>
          <p:cNvSpPr txBox="1"/>
          <p:nvPr/>
        </p:nvSpPr>
        <p:spPr>
          <a:xfrm>
            <a:off x="4649114" y="2706624"/>
            <a:ext cx="2893466" cy="347472"/>
          </a:xfrm>
          <a:prstGeom prst="rect">
            <a:avLst/>
          </a:prstGeom>
          <a:noFill/>
        </p:spPr>
        <p:txBody>
          <a:bodyPr wrap="square" lIns="0" rIns="0" tIns="0" bIns="0" anchor="t">
            <a:spAutoFit/>
          </a:bodyPr>
          <a:lstStyle/>
          <a:p>
            <a:pPr algn="l">
              <a:spcBef>
                <a:spcPts val="0"/>
              </a:spcBef>
              <a:spcAft>
                <a:spcPts val="100"/>
              </a:spcAft>
            </a:pPr>
            <a:r>
              <a:rPr sz="950" b="1" i="0">
                <a:solidFill>
                  <a:srgbClr val="A51C30"/>
                </a:solidFill>
                <a:latin typeface="Calibri"/>
              </a:rPr>
              <a:t>override  </a:t>
            </a:r>
            <a:r>
              <a:rPr sz="950" b="1" i="0">
                <a:solidFill>
                  <a:srgbClr val="1C1C1E"/>
                </a:solidFill>
                <a:latin typeface="Calibri"/>
              </a:rPr>
              <a:t>3m</a:t>
            </a:r>
          </a:p>
          <a:p>
            <a:pPr>
              <a:spcBef>
                <a:spcPts val="0"/>
              </a:spcBef>
              <a:spcAft>
                <a:spcPts val="0"/>
              </a:spcAft>
            </a:pPr>
            <a:r>
              <a:rPr sz="760" b="0" i="0">
                <a:solidFill>
                  <a:srgbClr val="4A4F57"/>
                </a:solidFill>
                <a:latin typeface="Calibri"/>
              </a:rPr>
              <a:t>an OIS-based fixing</a:t>
            </a:r>
          </a:p>
        </p:txBody>
      </p:sp>
      <p:sp>
        <p:nvSpPr>
          <p:cNvPr id="26" name="Rectangle 25"/>
          <p:cNvSpPr/>
          <p:nvPr/>
        </p:nvSpPr>
        <p:spPr>
          <a:xfrm>
            <a:off x="8264956" y="1353312"/>
            <a:ext cx="3149498" cy="1659635"/>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8264956" y="1353312"/>
            <a:ext cx="3149498"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8392972" y="1472184"/>
            <a:ext cx="2893466"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usd_curve_plus</a:t>
            </a:r>
          </a:p>
        </p:txBody>
      </p:sp>
      <p:sp>
        <p:nvSpPr>
          <p:cNvPr id="29" name="TextBox 28"/>
          <p:cNvSpPr txBox="1"/>
          <p:nvPr/>
        </p:nvSpPr>
        <p:spPr>
          <a:xfrm>
            <a:off x="8392972" y="1719072"/>
            <a:ext cx="2893466"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1m is gone; the shape follows the components</a:t>
            </a:r>
          </a:p>
        </p:txBody>
      </p:sp>
      <p:sp>
        <p:nvSpPr>
          <p:cNvPr id="30" name="TextBox 29"/>
          <p:cNvSpPr txBox="1"/>
          <p:nvPr/>
        </p:nvSpPr>
        <p:spPr>
          <a:xfrm>
            <a:off x="8392972" y="1901952"/>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3m</a:t>
            </a:r>
            <a:r>
              <a:rPr sz="880" b="0" i="0">
                <a:solidFill>
                  <a:srgbClr val="A51C30"/>
                </a:solidFill>
                <a:latin typeface="Calibri"/>
              </a:rPr>
              <a:t>   overridden here</a:t>
            </a:r>
          </a:p>
        </p:txBody>
      </p:sp>
      <p:sp>
        <p:nvSpPr>
          <p:cNvPr id="31" name="TextBox 30"/>
          <p:cNvSpPr txBox="1"/>
          <p:nvPr/>
        </p:nvSpPr>
        <p:spPr>
          <a:xfrm>
            <a:off x="8392972" y="2116836"/>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1y</a:t>
            </a:r>
          </a:p>
        </p:txBody>
      </p:sp>
      <p:sp>
        <p:nvSpPr>
          <p:cNvPr id="32" name="TextBox 31"/>
          <p:cNvSpPr txBox="1"/>
          <p:nvPr/>
        </p:nvSpPr>
        <p:spPr>
          <a:xfrm>
            <a:off x="8392972" y="2331720"/>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5y</a:t>
            </a:r>
          </a:p>
        </p:txBody>
      </p:sp>
      <p:sp>
        <p:nvSpPr>
          <p:cNvPr id="33" name="TextBox 32"/>
          <p:cNvSpPr txBox="1"/>
          <p:nvPr/>
        </p:nvSpPr>
        <p:spPr>
          <a:xfrm>
            <a:off x="8392972" y="2546603"/>
            <a:ext cx="2893466"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10y</a:t>
            </a:r>
          </a:p>
        </p:txBody>
      </p:sp>
      <p:sp>
        <p:nvSpPr>
          <p:cNvPr id="34" name="TextBox 33"/>
          <p:cNvSpPr txBox="1"/>
          <p:nvPr/>
        </p:nvSpPr>
        <p:spPr>
          <a:xfrm>
            <a:off x="8392972" y="2761487"/>
            <a:ext cx="2893466"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30y</a:t>
            </a:r>
            <a:r>
              <a:rPr sz="880" b="0" i="0">
                <a:solidFill>
                  <a:srgbClr val="A51C30"/>
                </a:solidFill>
                <a:latin typeface="Calibri"/>
              </a:rPr>
              <a:t>   added here</a:t>
            </a:r>
          </a:p>
        </p:txBody>
      </p:sp>
      <p:sp>
        <p:nvSpPr>
          <p:cNvPr id="35" name="Down Arrow 34"/>
          <p:cNvSpPr/>
          <p:nvPr/>
        </p:nvSpPr>
        <p:spPr>
          <a:xfrm>
            <a:off x="4109618" y="2050359"/>
            <a:ext cx="219456" cy="219456"/>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Down Arrow 35"/>
          <p:cNvSpPr/>
          <p:nvPr/>
        </p:nvSpPr>
        <p:spPr>
          <a:xfrm>
            <a:off x="7853476" y="2050359"/>
            <a:ext cx="219456" cy="219456"/>
          </a:xfrm>
          <a:prstGeom prst="downArrow">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77240" y="326898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8" name="Rectangle 37"/>
          <p:cNvSpPr/>
          <p:nvPr/>
        </p:nvSpPr>
        <p:spPr>
          <a:xfrm>
            <a:off x="777240" y="326898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1014983" y="338785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Ask the platform, not the row. </a:t>
            </a:r>
            <a:r>
              <a:rPr sz="1050" b="0" i="0">
                <a:solidFill>
                  <a:srgbClr val="1C1C1E"/>
                </a:solidFill>
                <a:latin typeface="Calibri"/>
              </a:rPr>
              <a:t>GET /features/usd_curve_plus/resolved returns the components above AND where each came from — 3m says it overrode usd_curve. </a:t>
            </a:r>
            <a:r>
              <a:rPr sz="1050" b="1" i="0">
                <a:solidFill>
                  <a:srgbClr val="1C1C1E"/>
                </a:solidFill>
                <a:latin typeface="Calibri"/>
              </a:rPr>
              <a:t>The row stores what this feature declares; resolving it is MAYA’s job.</a:t>
            </a:r>
          </a:p>
        </p:txBody>
      </p:sp>
      <p:sp>
        <p:nvSpPr>
          <p:cNvPr id="40" name="TextBox 39"/>
          <p:cNvSpPr txBox="1"/>
          <p:nvPr/>
        </p:nvSpPr>
        <p:spPr>
          <a:xfrm>
            <a:off x="777240" y="4219956"/>
            <a:ext cx="10637215" cy="402336"/>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The parent is sealed, and that is the point. </a:t>
            </a:r>
            <a:r>
              <a:rPr sz="1000" b="0" i="0">
                <a:solidFill>
                  <a:srgbClr val="4A4F57"/>
                </a:solidFill>
                <a:latin typeface="Calibri"/>
              </a:rPr>
              <a:t>A sealed feature takes no amendment and can still be composed from, so a parent that cannot move is a parent worth building on — and the change lives in the child, where a reviewer sees it.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Combining two featuresets: the rightmost wins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56</a:t>
            </a:r>
          </a:p>
        </p:txBody>
      </p:sp>
      <p:sp>
        <p:nvSpPr>
          <p:cNvPr id="10" name="Rectangle 9"/>
          <p:cNvSpPr/>
          <p:nvPr/>
        </p:nvSpPr>
        <p:spPr>
          <a:xfrm>
            <a:off x="777240" y="1353312"/>
            <a:ext cx="5044287" cy="1229868"/>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5044287" cy="4572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05256" y="147218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retail_core</a:t>
            </a:r>
          </a:p>
        </p:txBody>
      </p:sp>
      <p:sp>
        <p:nvSpPr>
          <p:cNvPr id="13" name="TextBox 12"/>
          <p:cNvSpPr txBox="1"/>
          <p:nvPr/>
        </p:nvSpPr>
        <p:spPr>
          <a:xfrm>
            <a:off x="905256" y="171907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first parent — least prominent</a:t>
            </a:r>
          </a:p>
        </p:txBody>
      </p:sp>
      <p:sp>
        <p:nvSpPr>
          <p:cNvPr id="14" name="TextBox 13"/>
          <p:cNvSpPr txBox="1"/>
          <p:nvPr/>
        </p:nvSpPr>
        <p:spPr>
          <a:xfrm>
            <a:off x="905256" y="190195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dscr</a:t>
            </a:r>
          </a:p>
        </p:txBody>
      </p:sp>
      <p:sp>
        <p:nvSpPr>
          <p:cNvPr id="15" name="TextBox 14"/>
          <p:cNvSpPr txBox="1"/>
          <p:nvPr/>
        </p:nvSpPr>
        <p:spPr>
          <a:xfrm>
            <a:off x="905256" y="211683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p>
        </p:txBody>
      </p:sp>
      <p:sp>
        <p:nvSpPr>
          <p:cNvPr id="16" name="TextBox 15"/>
          <p:cNvSpPr txBox="1"/>
          <p:nvPr/>
        </p:nvSpPr>
        <p:spPr>
          <a:xfrm>
            <a:off x="905256" y="2331720"/>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months_on_book</a:t>
            </a:r>
          </a:p>
        </p:txBody>
      </p:sp>
      <p:sp>
        <p:nvSpPr>
          <p:cNvPr id="17" name="Rectangle 16"/>
          <p:cNvSpPr/>
          <p:nvPr/>
        </p:nvSpPr>
        <p:spPr>
          <a:xfrm>
            <a:off x="6370167" y="1353312"/>
            <a:ext cx="5044287" cy="1229868"/>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370167" y="1353312"/>
            <a:ext cx="504428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498183" y="147218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sme_core</a:t>
            </a:r>
          </a:p>
        </p:txBody>
      </p:sp>
      <p:sp>
        <p:nvSpPr>
          <p:cNvPr id="20" name="TextBox 19"/>
          <p:cNvSpPr txBox="1"/>
          <p:nvPr/>
        </p:nvSpPr>
        <p:spPr>
          <a:xfrm>
            <a:off x="6498183" y="171907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second parent — wins any clash</a:t>
            </a:r>
          </a:p>
        </p:txBody>
      </p:sp>
      <p:sp>
        <p:nvSpPr>
          <p:cNvPr id="21" name="TextBox 20"/>
          <p:cNvSpPr txBox="1"/>
          <p:nvPr/>
        </p:nvSpPr>
        <p:spPr>
          <a:xfrm>
            <a:off x="6498183" y="190195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r>
              <a:rPr sz="880" b="0" i="0">
                <a:solidFill>
                  <a:srgbClr val="A51C30"/>
                </a:solidFill>
                <a:latin typeface="Calibri"/>
              </a:rPr>
              <a:t>   3-year average</a:t>
            </a:r>
          </a:p>
        </p:txBody>
      </p:sp>
      <p:sp>
        <p:nvSpPr>
          <p:cNvPr id="22" name="TextBox 21"/>
          <p:cNvSpPr txBox="1"/>
          <p:nvPr/>
        </p:nvSpPr>
        <p:spPr>
          <a:xfrm>
            <a:off x="6498183" y="211683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sector</a:t>
            </a:r>
          </a:p>
        </p:txBody>
      </p:sp>
      <p:sp>
        <p:nvSpPr>
          <p:cNvPr id="23" name="TextBox 22"/>
          <p:cNvSpPr txBox="1"/>
          <p:nvPr/>
        </p:nvSpPr>
        <p:spPr>
          <a:xfrm>
            <a:off x="6498183" y="2331720"/>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directors</a:t>
            </a:r>
          </a:p>
        </p:txBody>
      </p:sp>
      <p:sp>
        <p:nvSpPr>
          <p:cNvPr id="24" name="Rectangle 23"/>
          <p:cNvSpPr/>
          <p:nvPr/>
        </p:nvSpPr>
        <p:spPr>
          <a:xfrm>
            <a:off x="777240" y="2820924"/>
            <a:ext cx="10637215" cy="3657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960120" y="2894076"/>
            <a:ext cx="10271455" cy="237744"/>
          </a:xfrm>
          <a:prstGeom prst="rect">
            <a:avLst/>
          </a:prstGeom>
          <a:noFill/>
        </p:spPr>
        <p:txBody>
          <a:bodyPr wrap="square" lIns="0" rIns="0" tIns="0" bIns="0" anchor="t">
            <a:spAutoFit/>
          </a:bodyPr>
          <a:lstStyle/>
          <a:p>
            <a:pPr algn="l">
              <a:spcBef>
                <a:spcPts val="0"/>
              </a:spcBef>
              <a:spcAft>
                <a:spcPts val="0"/>
              </a:spcAft>
            </a:pPr>
            <a:r>
              <a:rPr sz="1000" b="1" i="0">
                <a:solidFill>
                  <a:srgbClr val="FFFFFF"/>
                </a:solidFill>
                <a:latin typeface="Calibri"/>
              </a:rPr>
              <a:t>compose: [retail_core, sme_core]</a:t>
            </a:r>
            <a:r>
              <a:rPr sz="1000" b="0" i="0">
                <a:solidFill>
                  <a:srgbClr val="F4DFE3"/>
                </a:solidFill>
                <a:latin typeface="Calibri"/>
              </a:rPr>
              <a:t>     folded left to right, later wins     </a:t>
            </a:r>
            <a:r>
              <a:rPr sz="1000" b="0" i="0">
                <a:solidFill>
                  <a:srgbClr val="F4DFE3"/>
                </a:solidFill>
                <a:latin typeface="Calibri"/>
              </a:rPr>
              <a:t>then this set’s own operations, last of all</a:t>
            </a:r>
          </a:p>
        </p:txBody>
      </p:sp>
      <p:sp>
        <p:nvSpPr>
          <p:cNvPr id="26" name="Rectangle 25"/>
          <p:cNvSpPr/>
          <p:nvPr/>
        </p:nvSpPr>
        <p:spPr>
          <a:xfrm>
            <a:off x="777240" y="3387852"/>
            <a:ext cx="5044287" cy="1874519"/>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3387852"/>
            <a:ext cx="504428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905256" y="3506724"/>
            <a:ext cx="4788255" cy="237744"/>
          </a:xfrm>
          <a:prstGeom prst="rect">
            <a:avLst/>
          </a:prstGeom>
          <a:noFill/>
        </p:spPr>
        <p:txBody>
          <a:bodyPr wrap="square" lIns="0" rIns="0" tIns="0" bIns="0" anchor="t">
            <a:spAutoFit/>
          </a:bodyPr>
          <a:lstStyle/>
          <a:p>
            <a:pPr algn="l">
              <a:spcBef>
                <a:spcPts val="0"/>
              </a:spcBef>
              <a:spcAft>
                <a:spcPts val="0"/>
              </a:spcAft>
            </a:pPr>
            <a:r>
              <a:rPr sz="1100" b="1" i="0">
                <a:solidFill>
                  <a:srgbClr val="1C1C1E"/>
                </a:solidFill>
                <a:latin typeface="Georgia"/>
              </a:rPr>
              <a:t>sme_retail</a:t>
            </a:r>
          </a:p>
        </p:txBody>
      </p:sp>
      <p:sp>
        <p:nvSpPr>
          <p:cNvPr id="29" name="TextBox 28"/>
          <p:cNvSpPr txBox="1"/>
          <p:nvPr/>
        </p:nvSpPr>
        <p:spPr>
          <a:xfrm>
            <a:off x="905256" y="3753612"/>
            <a:ext cx="4788255" cy="182880"/>
          </a:xfrm>
          <a:prstGeom prst="rect">
            <a:avLst/>
          </a:prstGeom>
          <a:noFill/>
        </p:spPr>
        <p:txBody>
          <a:bodyPr wrap="square" lIns="0" rIns="0" tIns="0" bIns="0" anchor="t">
            <a:spAutoFit/>
          </a:bodyPr>
          <a:lstStyle/>
          <a:p>
            <a:pPr algn="l">
              <a:spcBef>
                <a:spcPts val="0"/>
              </a:spcBef>
              <a:spcAft>
                <a:spcPts val="0"/>
              </a:spcAft>
            </a:pPr>
            <a:r>
              <a:rPr sz="780" b="0" i="1">
                <a:solidFill>
                  <a:srgbClr val="4A4F57"/>
                </a:solidFill>
                <a:latin typeface="Calibri"/>
              </a:rPr>
              <a:t>what a kernel defined over it actually reads</a:t>
            </a:r>
          </a:p>
        </p:txBody>
      </p:sp>
      <p:sp>
        <p:nvSpPr>
          <p:cNvPr id="30" name="TextBox 29"/>
          <p:cNvSpPr txBox="1"/>
          <p:nvPr/>
        </p:nvSpPr>
        <p:spPr>
          <a:xfrm>
            <a:off x="905256" y="3936492"/>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dscr</a:t>
            </a:r>
            <a:r>
              <a:rPr sz="880" b="0" i="0">
                <a:solidFill>
                  <a:srgbClr val="A51C30"/>
                </a:solidFill>
                <a:latin typeface="Calibri"/>
              </a:rPr>
              <a:t>   from retail_core</a:t>
            </a:r>
          </a:p>
        </p:txBody>
      </p:sp>
      <p:sp>
        <p:nvSpPr>
          <p:cNvPr id="31" name="TextBox 30"/>
          <p:cNvSpPr txBox="1"/>
          <p:nvPr/>
        </p:nvSpPr>
        <p:spPr>
          <a:xfrm>
            <a:off x="905256" y="4151376"/>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turnover</a:t>
            </a:r>
            <a:r>
              <a:rPr sz="880" b="0" i="0">
                <a:solidFill>
                  <a:srgbClr val="A51C30"/>
                </a:solidFill>
                <a:latin typeface="Calibri"/>
              </a:rPr>
              <a:t>   from sme_core — it overrode retail’s</a:t>
            </a:r>
          </a:p>
        </p:txBody>
      </p:sp>
      <p:sp>
        <p:nvSpPr>
          <p:cNvPr id="32" name="TextBox 31"/>
          <p:cNvSpPr txBox="1"/>
          <p:nvPr/>
        </p:nvSpPr>
        <p:spPr>
          <a:xfrm>
            <a:off x="905256" y="4366260"/>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months_on_book</a:t>
            </a:r>
            <a:r>
              <a:rPr sz="880" b="0" i="0">
                <a:solidFill>
                  <a:srgbClr val="A51C30"/>
                </a:solidFill>
                <a:latin typeface="Calibri"/>
              </a:rPr>
              <a:t>   from retail_core</a:t>
            </a:r>
          </a:p>
        </p:txBody>
      </p:sp>
      <p:sp>
        <p:nvSpPr>
          <p:cNvPr id="33" name="TextBox 32"/>
          <p:cNvSpPr txBox="1"/>
          <p:nvPr/>
        </p:nvSpPr>
        <p:spPr>
          <a:xfrm>
            <a:off x="905256" y="4581144"/>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sector</a:t>
            </a:r>
            <a:r>
              <a:rPr sz="880" b="0" i="0">
                <a:solidFill>
                  <a:srgbClr val="A51C30"/>
                </a:solidFill>
                <a:latin typeface="Calibri"/>
              </a:rPr>
              <a:t>   from sme_core</a:t>
            </a:r>
          </a:p>
        </p:txBody>
      </p:sp>
      <p:sp>
        <p:nvSpPr>
          <p:cNvPr id="34" name="TextBox 33"/>
          <p:cNvSpPr txBox="1"/>
          <p:nvPr/>
        </p:nvSpPr>
        <p:spPr>
          <a:xfrm>
            <a:off x="905256" y="4796028"/>
            <a:ext cx="4788255" cy="214884"/>
          </a:xfrm>
          <a:prstGeom prst="rect">
            <a:avLst/>
          </a:prstGeom>
          <a:noFill/>
        </p:spPr>
        <p:txBody>
          <a:bodyPr wrap="square" lIns="0" rIns="0" tIns="0" bIns="0" anchor="t">
            <a:spAutoFit/>
          </a:bodyPr>
          <a:lstStyle/>
          <a:p>
            <a:pPr algn="l">
              <a:spcBef>
                <a:spcPts val="0"/>
              </a:spcBef>
              <a:spcAft>
                <a:spcPts val="0"/>
              </a:spcAft>
            </a:pPr>
            <a:r>
              <a:rPr sz="880" b="0" i="0">
                <a:solidFill>
                  <a:srgbClr val="4A4F57"/>
                </a:solidFill>
                <a:latin typeface="Calibri"/>
              </a:rPr>
              <a:t>directors</a:t>
            </a:r>
            <a:r>
              <a:rPr sz="880" b="0" i="0">
                <a:solidFill>
                  <a:srgbClr val="A51C30"/>
                </a:solidFill>
                <a:latin typeface="Calibri"/>
              </a:rPr>
              <a:t>   from sme_core</a:t>
            </a:r>
          </a:p>
        </p:txBody>
      </p:sp>
      <p:sp>
        <p:nvSpPr>
          <p:cNvPr id="35" name="TextBox 34"/>
          <p:cNvSpPr txBox="1"/>
          <p:nvPr/>
        </p:nvSpPr>
        <p:spPr>
          <a:xfrm>
            <a:off x="905256" y="5010912"/>
            <a:ext cx="4788255" cy="214884"/>
          </a:xfrm>
          <a:prstGeom prst="rect">
            <a:avLst/>
          </a:prstGeom>
          <a:noFill/>
        </p:spPr>
        <p:txBody>
          <a:bodyPr wrap="square" lIns="0" rIns="0" tIns="0" bIns="0" anchor="t">
            <a:spAutoFit/>
          </a:bodyPr>
          <a:lstStyle/>
          <a:p>
            <a:pPr algn="l">
              <a:spcBef>
                <a:spcPts val="0"/>
              </a:spcBef>
              <a:spcAft>
                <a:spcPts val="0"/>
              </a:spcAft>
            </a:pPr>
            <a:r>
              <a:rPr sz="880" b="1" i="0">
                <a:solidFill>
                  <a:srgbClr val="1C1C1E"/>
                </a:solidFill>
                <a:latin typeface="Calibri"/>
              </a:rPr>
              <a:t>guarantee_cover</a:t>
            </a:r>
            <a:r>
              <a:rPr sz="880" b="0" i="0">
                <a:solidFill>
                  <a:srgbClr val="A51C30"/>
                </a:solidFill>
                <a:latin typeface="Calibri"/>
              </a:rPr>
              <a:t>   added by this set</a:t>
            </a:r>
          </a:p>
        </p:txBody>
      </p:sp>
      <p:sp>
        <p:nvSpPr>
          <p:cNvPr id="36" name="TextBox 35"/>
          <p:cNvSpPr txBox="1"/>
          <p:nvPr/>
        </p:nvSpPr>
        <p:spPr>
          <a:xfrm>
            <a:off x="6370167" y="3387852"/>
            <a:ext cx="5044287" cy="2194560"/>
          </a:xfrm>
          <a:prstGeom prst="rect">
            <a:avLst/>
          </a:prstGeom>
          <a:noFill/>
        </p:spPr>
        <p:txBody>
          <a:bodyPr wrap="square" lIns="0" rIns="0" tIns="0" bIns="0" anchor="t">
            <a:spAutoFit/>
          </a:bodyPr>
          <a:lstStyle/>
          <a:p>
            <a:pPr algn="l">
              <a:spcBef>
                <a:spcPts val="0"/>
              </a:spcBef>
              <a:spcAft>
                <a:spcPts val="800"/>
              </a:spcAft>
            </a:pPr>
            <a:r>
              <a:rPr sz="1200" b="1" i="0">
                <a:solidFill>
                  <a:srgbClr val="A51C30"/>
                </a:solidFill>
                <a:latin typeface="Georgia"/>
              </a:rPr>
              <a:t>Only one slot clashed</a:t>
            </a:r>
          </a:p>
          <a:p>
            <a:pPr>
              <a:lnSpc>
                <a:spcPct val="124000"/>
              </a:lnSpc>
              <a:spcBef>
                <a:spcPts val="0"/>
              </a:spcBef>
              <a:spcAft>
                <a:spcPts val="1000"/>
              </a:spcAft>
            </a:pPr>
            <a:r>
              <a:rPr sz="1000" b="0" i="0">
                <a:solidFill>
                  <a:srgbClr val="1C1C1E"/>
                </a:solidFill>
                <a:latin typeface="Calibri"/>
              </a:rPr>
              <a:t>Both parents declare turnover. sme_core is named second, so its 3-year average is what the set holds — and the resolved set SAYS SO, slot by slot.</a:t>
            </a:r>
          </a:p>
          <a:p>
            <a:pPr>
              <a:lnSpc>
                <a:spcPct val="124000"/>
              </a:lnSpc>
              <a:spcBef>
                <a:spcPts val="0"/>
              </a:spcBef>
              <a:spcAft>
                <a:spcPts val="1000"/>
              </a:spcAft>
            </a:pPr>
            <a:r>
              <a:rPr sz="1000" b="0" i="0">
                <a:solidFill>
                  <a:srgbClr val="4A4F57"/>
                </a:solidFill>
                <a:latin typeface="Calibri"/>
              </a:rPr>
              <a:t>That is the only rule there is. If a parent could beat a child, naming a parent would be an act of surrender; if the order did not matter, ‘combine these two’ would be ambiguous whenever they disagreed.</a:t>
            </a:r>
          </a:p>
          <a:p>
            <a:pPr>
              <a:lnSpc>
                <a:spcPct val="124000"/>
              </a:lnSpc>
              <a:spcBef>
                <a:spcPts val="0"/>
              </a:spcBef>
              <a:spcAft>
                <a:spcPts val="0"/>
              </a:spcAft>
            </a:pPr>
            <a:r>
              <a:rPr sz="1000" b="1" i="0">
                <a:solidFill>
                  <a:srgbClr val="A51C30"/>
                </a:solidFill>
                <a:latin typeface="Calibri"/>
              </a:rPr>
              <a:t>A child inherits the parents’ retrieval policy the same way</a:t>
            </a:r>
            <a:r>
              <a:rPr sz="1000" b="0" i="0">
                <a:solidFill>
                  <a:srgbClr val="4A4F57"/>
                </a:solidFill>
                <a:latin typeface="Calibri"/>
              </a:rPr>
              <a:t> — one fold, applied to slots, to components and to policy.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Modifying something other things are built 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57</a:t>
            </a:r>
          </a:p>
        </p:txBody>
      </p:sp>
      <p:sp>
        <p:nvSpPr>
          <p:cNvPr id="10" name="Rectangle 9"/>
          <p:cNvSpPr/>
          <p:nvPr/>
        </p:nvSpPr>
        <p:spPr>
          <a:xfrm>
            <a:off x="777240"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Amend it</a:t>
            </a:r>
          </a:p>
        </p:txBody>
      </p:sp>
      <p:sp>
        <p:nvSpPr>
          <p:cNvPr id="14" name="TextBox 13"/>
          <p:cNvSpPr txBox="1"/>
          <p:nvPr/>
        </p:nvSpPr>
        <p:spPr>
          <a:xfrm>
            <a:off x="996695"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4A4F57"/>
                </a:solidFill>
                <a:latin typeface="Calibri"/>
              </a:rPr>
              <a:t>Changes the definition and advances its version. Allowed while the feature is open, and every child records which version it composed against.</a:t>
            </a:r>
          </a:p>
        </p:txBody>
      </p:sp>
      <p:sp>
        <p:nvSpPr>
          <p:cNvPr id="15" name="Rectangle 14"/>
          <p:cNvSpPr/>
          <p:nvPr/>
        </p:nvSpPr>
        <p:spPr>
          <a:xfrm>
            <a:off x="3486835"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3486835"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3706291"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3706291"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Seal it</a:t>
            </a:r>
          </a:p>
        </p:txBody>
      </p:sp>
      <p:sp>
        <p:nvSpPr>
          <p:cNvPr id="19" name="TextBox 18"/>
          <p:cNvSpPr txBox="1"/>
          <p:nvPr/>
        </p:nvSpPr>
        <p:spPr>
          <a:xfrm>
            <a:off x="3706291"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amendment, no further versions, no change of owner — and still composable. A parent that cannot move is a parent worth building on.</a:t>
            </a:r>
          </a:p>
        </p:txBody>
      </p:sp>
      <p:sp>
        <p:nvSpPr>
          <p:cNvPr id="20" name="Rectangle 19"/>
          <p:cNvSpPr/>
          <p:nvPr/>
        </p:nvSpPr>
        <p:spPr>
          <a:xfrm>
            <a:off x="6196431"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6196431"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6415887"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6415887"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Compose a child</a:t>
            </a:r>
          </a:p>
        </p:txBody>
      </p:sp>
      <p:sp>
        <p:nvSpPr>
          <p:cNvPr id="24" name="TextBox 23"/>
          <p:cNvSpPr txBox="1"/>
          <p:nvPr/>
        </p:nvSpPr>
        <p:spPr>
          <a:xfrm>
            <a:off x="6415887"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The way to change a sealed thing. The change lives where a reviewer sees it, beside the parent it departs from.</a:t>
            </a:r>
          </a:p>
        </p:txBody>
      </p:sp>
      <p:sp>
        <p:nvSpPr>
          <p:cNvPr id="25" name="Rectangle 24"/>
          <p:cNvSpPr/>
          <p:nvPr/>
        </p:nvSpPr>
        <p:spPr>
          <a:xfrm>
            <a:off x="8906027" y="1353312"/>
            <a:ext cx="2508427"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8906027" y="1353312"/>
            <a:ext cx="2508427"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125483" y="1572768"/>
            <a:ext cx="2069515"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4</a:t>
            </a:r>
          </a:p>
        </p:txBody>
      </p:sp>
      <p:sp>
        <p:nvSpPr>
          <p:cNvPr id="28" name="TextBox 27"/>
          <p:cNvSpPr txBox="1"/>
          <p:nvPr/>
        </p:nvSpPr>
        <p:spPr>
          <a:xfrm>
            <a:off x="9125483" y="1847088"/>
            <a:ext cx="2069515"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Roll forward</a:t>
            </a:r>
          </a:p>
        </p:txBody>
      </p:sp>
      <p:sp>
        <p:nvSpPr>
          <p:cNvPr id="29" name="TextBox 28"/>
          <p:cNvSpPr txBox="1"/>
          <p:nvPr/>
        </p:nvSpPr>
        <p:spPr>
          <a:xfrm>
            <a:off x="9125483" y="2157984"/>
            <a:ext cx="2069515"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For a featureset: mint a version re-resolved to the newest view versions, with a diff naming every slot that moved.</a:t>
            </a:r>
          </a:p>
        </p:txBody>
      </p:sp>
      <p:sp>
        <p:nvSpPr>
          <p:cNvPr id="30" name="Rectangle 29"/>
          <p:cNvSpPr/>
          <p:nvPr/>
        </p:nvSpPr>
        <p:spPr>
          <a:xfrm>
            <a:off x="777240" y="3529584"/>
            <a:ext cx="10637215" cy="9326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777240" y="3529584"/>
            <a:ext cx="45720" cy="93268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1014983" y="3648456"/>
            <a:ext cx="10180015" cy="731520"/>
          </a:xfrm>
          <a:prstGeom prst="rect">
            <a:avLst/>
          </a:prstGeom>
          <a:noFill/>
        </p:spPr>
        <p:txBody>
          <a:bodyPr wrap="square" lIns="0" rIns="0" tIns="0" bIns="0" anchor="t">
            <a:spAutoFit/>
          </a:bodyPr>
          <a:lstStyle/>
          <a:p>
            <a:pPr algn="l">
              <a:spcBef>
                <a:spcPts val="0"/>
              </a:spcBef>
              <a:spcAft>
                <a:spcPts val="500"/>
              </a:spcAft>
            </a:pPr>
            <a:r>
              <a:rPr sz="1150" b="1" i="0">
                <a:solidFill>
                  <a:srgbClr val="A51C30"/>
                </a:solidFill>
                <a:latin typeface="Georgia"/>
              </a:rPr>
              <a:t>And if a parent is amended anyway?</a:t>
            </a:r>
          </a:p>
          <a:p>
            <a:pPr>
              <a:lnSpc>
                <a:spcPct val="122000"/>
              </a:lnSpc>
              <a:spcBef>
                <a:spcPts val="0"/>
              </a:spcBef>
              <a:spcAft>
                <a:spcPts val="0"/>
              </a:spcAft>
            </a:pPr>
            <a:r>
              <a:rPr sz="980" b="1" i="0">
                <a:solidFill>
                  <a:srgbClr val="1C1C1E"/>
                </a:solidFill>
                <a:latin typeface="Calibri"/>
              </a:rPr>
              <a:t>The child says so. </a:t>
            </a:r>
            <a:r>
              <a:rPr sz="980" b="0" i="0">
                <a:solidFill>
                  <a:srgbClr val="1C1C1E"/>
                </a:solidFill>
                <a:latin typeface="Calibri"/>
              </a:rPr>
              <a:t>A composition records the parent’s definition version at the moment it resolved, so a parent that has moved since shows up as drift on every child that reads it — </a:t>
            </a:r>
            <a:r>
              <a:rPr sz="980" b="1" i="0">
                <a:solidFill>
                  <a:srgbClr val="A51C30"/>
                </a:solidFill>
                <a:latin typeface="Calibri"/>
              </a:rPr>
              <a:t>composed against v1, now at v3.</a:t>
            </a:r>
            <a:r>
              <a:rPr sz="980" b="0" i="0">
                <a:solidFill>
                  <a:srgbClr val="4A4F57"/>
                </a:solidFill>
                <a:latin typeface="Calibri"/>
              </a:rPr>
              <a:t>  Not a failed read: a child whose parent has moved is something to be told about, not something that should stop working. But it is never silent, because a stable name over moving contents is the failure this platform was built around.</a:t>
            </a:r>
          </a:p>
        </p:txBody>
      </p:sp>
      <p:sp>
        <p:nvSpPr>
          <p:cNvPr id="33" name="TextBox 32"/>
          <p:cNvSpPr txBox="1"/>
          <p:nvPr/>
        </p:nvSpPr>
        <p:spPr>
          <a:xfrm>
            <a:off x="777240" y="4626864"/>
            <a:ext cx="10637215" cy="3657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Which is why sealing and composing are the same idea from two sides. </a:t>
            </a:r>
            <a:r>
              <a:rPr sz="1000" b="0" i="0">
                <a:solidFill>
                  <a:srgbClr val="4A4F57"/>
                </a:solidFill>
                <a:latin typeface="Calibri"/>
              </a:rPr>
              <a:t>A sealed parent cannot drift, because the amendment that would move it is refused — so sealing turns a promise about stability into a property of the object.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Composition: one fold, two objects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58</a:t>
            </a:r>
          </a:p>
        </p:txBody>
      </p:sp>
      <p:sp>
        <p:nvSpPr>
          <p:cNvPr id="10" name="Rectangle 9"/>
          <p:cNvSpPr/>
          <p:nvPr/>
        </p:nvSpPr>
        <p:spPr>
          <a:xfrm>
            <a:off x="777240" y="1353312"/>
            <a:ext cx="5744096" cy="170025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70025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compose([a, b, c])  =  merge(merge(a, b), c)</a:t>
            </a:r>
          </a:p>
          <a:p>
            <a:pPr>
              <a:lnSpc>
                <a:spcPct val="134000"/>
              </a:lnSpc>
              <a:spcBef>
                <a:spcPts val="0"/>
              </a:spcBef>
              <a:spcAft>
                <a:spcPts val="0"/>
              </a:spcAft>
            </a:pPr>
            <a:r>
              <a:rPr sz="950" b="0" i="0">
                <a:solidFill>
                  <a:srgbClr val="1C1C1E"/>
                </a:solidFill>
                <a:latin typeface="Consolas"/>
              </a:rPr>
              <a:t>                       then the object's OWN operations</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merge is associative;  {} is its identity</a:t>
            </a:r>
          </a:p>
          <a:p>
            <a:pPr>
              <a:lnSpc>
                <a:spcPct val="134000"/>
              </a:lnSpc>
              <a:spcBef>
                <a:spcPts val="0"/>
              </a:spcBef>
              <a:spcAft>
                <a:spcPts val="0"/>
              </a:spcAft>
            </a:pPr>
            <a:r>
              <a:rPr sz="950" b="0" i="0">
                <a:solidFill>
                  <a:srgbClr val="1C1C1E"/>
                </a:solidFill>
                <a:latin typeface="Consolas"/>
              </a:rPr>
              <a:t>  ⇒ composition is a MONOID</a:t>
            </a:r>
          </a:p>
          <a:p>
            <a:pPr>
              <a:lnSpc>
                <a:spcPct val="134000"/>
              </a:lnSpc>
              <a:spcBef>
                <a:spcPts val="0"/>
              </a:spcBef>
              <a:spcAft>
                <a:spcPts val="0"/>
              </a:spcAft>
            </a:pPr>
            <a:r>
              <a:rPr sz="950" b="0" i="0">
                <a:solidFill>
                  <a:srgbClr val="1C1C1E"/>
                </a:solidFill>
                <a:latin typeface="Consolas"/>
              </a:rPr>
              <a:t>  ⇒ 'a combination of features is a feature'</a:t>
            </a:r>
          </a:p>
          <a:p>
            <a:pPr>
              <a:lnSpc>
                <a:spcPct val="134000"/>
              </a:lnSpc>
              <a:spcBef>
                <a:spcPts val="0"/>
              </a:spcBef>
              <a:spcAft>
                <a:spcPts val="0"/>
              </a:spcAft>
            </a:pPr>
            <a:r>
              <a:rPr sz="950" b="0" i="0">
                <a:solidFill>
                  <a:srgbClr val="1C1C1E"/>
                </a:solidFill>
                <a:latin typeface="Consolas"/>
              </a:rPr>
              <a:t>     is a statement, not an aspiration</a:t>
            </a:r>
          </a:p>
        </p:txBody>
      </p:sp>
      <p:sp>
        <p:nvSpPr>
          <p:cNvPr id="13" name="TextBox 12"/>
          <p:cNvSpPr txBox="1"/>
          <p:nvPr/>
        </p:nvSpPr>
        <p:spPr>
          <a:xfrm>
            <a:off x="777240" y="3291314"/>
            <a:ext cx="5744096" cy="137160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Left to right, the rightmost wins, and an object’s own operations are applied last — because if a parent could override a child, naming a parent would be an act of surrender.</a:t>
            </a:r>
          </a:p>
          <a:p>
            <a:pPr>
              <a:lnSpc>
                <a:spcPct val="125000"/>
              </a:lnSpc>
              <a:spcBef>
                <a:spcPts val="0"/>
              </a:spcBef>
              <a:spcAft>
                <a:spcPts val="0"/>
              </a:spcAft>
            </a:pPr>
            <a:r>
              <a:rPr sz="1100" b="0" i="0">
                <a:solidFill>
                  <a:srgbClr val="4A4F57"/>
                </a:solidFill>
                <a:latin typeface="Calibri"/>
              </a:rPr>
              <a:t>Inheriting from one parent and combining several are the same operation at different arities, so there is one mechanism and inheritance is the one-parent case.</a:t>
            </a:r>
          </a:p>
        </p:txBody>
      </p:sp>
      <p:sp>
        <p:nvSpPr>
          <p:cNvPr id="14" name="TextBox 13"/>
          <p:cNvSpPr txBox="1"/>
          <p:nvPr/>
        </p:nvSpPr>
        <p:spPr>
          <a:xfrm>
            <a:off x="6946824" y="1353312"/>
            <a:ext cx="4467630"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Every operation is total</a:t>
            </a:r>
          </a:p>
        </p:txBody>
      </p:sp>
      <p:graphicFrame>
        <p:nvGraphicFramePr>
          <p:cNvPr id="15" name="Table 14"/>
          <p:cNvGraphicFramePr>
            <a:graphicFrameLocks noGrp="1"/>
          </p:cNvGraphicFramePr>
          <p:nvPr/>
        </p:nvGraphicFramePr>
        <p:xfrm>
          <a:off x="6946824" y="1719072"/>
          <a:ext cx="4467629" cy="2287827"/>
        </p:xfrm>
        <a:graphic>
          <a:graphicData uri="http://schemas.openxmlformats.org/drawingml/2006/table">
            <a:tbl>
              <a:tblPr firstRow="1">
                <a:tableStyleId>{5C22544A-7EE6-4342-B048-85BDC9FD1C3A}</a:tableStyleId>
              </a:tblPr>
              <a:tblGrid>
                <a:gridCol w="1624592"/>
                <a:gridCol w="2843037"/>
              </a:tblGrid>
              <a:tr h="329184">
                <a:tc>
                  <a:txBody>
                    <a:bodyPr wrap="square"/>
                    <a:lstStyle/>
                    <a:p>
                      <a:pPr algn="l"/>
                      <a:r>
                        <a:rPr sz="900" b="1">
                          <a:solidFill>
                            <a:srgbClr val="FFFFFF"/>
                          </a:solidFill>
                          <a:latin typeface="Calibri"/>
                        </a:rPr>
                        <a:t>Refused</a:t>
                      </a:r>
                    </a:p>
                  </a:txBody>
                  <a:tcPr marL="82296" marR="64008" marT="32004" marB="32004" anchor="ctr">
                    <a:solidFill>
                      <a:srgbClr val="A51C30"/>
                    </a:solidFill>
                  </a:tcPr>
                </a:tc>
                <a:tc>
                  <a:txBody>
                    <a:bodyPr wrap="square"/>
                    <a:lstStyle/>
                    <a:p>
                      <a:pPr algn="l"/>
                      <a:r>
                        <a:rPr sz="900" b="1">
                          <a:solidFill>
                            <a:srgbClr val="FFFFFF"/>
                          </a:solidFill>
                          <a:latin typeface="Calibri"/>
                        </a:rPr>
                        <a:t>Because</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drop of something absent</a:t>
                      </a:r>
                    </a:p>
                  </a:txBody>
                  <a:tcPr marL="82296" marR="64008" marT="32004" marB="32004" anchor="ctr">
                    <a:solidFill>
                      <a:srgbClr val="FFFFFF"/>
                    </a:solidFill>
                  </a:tcPr>
                </a:tc>
                <a:tc>
                  <a:txBody>
                    <a:bodyPr wrap="square"/>
                    <a:lstStyle/>
                    <a:p>
                      <a:pPr algn="l"/>
                      <a:r>
                        <a:rPr sz="900" b="0">
                          <a:solidFill>
                            <a:srgbClr val="1C1C1E"/>
                          </a:solidFill>
                          <a:latin typeface="Calibri"/>
                        </a:rPr>
                        <a:t>a drop that quietly does nothing leaves a child differing from what its author wrote</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add of something present</a:t>
                      </a:r>
                    </a:p>
                  </a:txBody>
                  <a:tcPr marL="82296" marR="64008" marT="32004" marB="32004" anchor="ctr">
                    <a:solidFill>
                      <a:srgbClr val="F6F3EF"/>
                    </a:solidFill>
                  </a:tcPr>
                </a:tc>
                <a:tc>
                  <a:txBody>
                    <a:bodyPr wrap="square"/>
                    <a:lstStyle/>
                    <a:p>
                      <a:pPr algn="l"/>
                      <a:r>
                        <a:rPr sz="900" b="0">
                          <a:solidFill>
                            <a:srgbClr val="1C1C1E"/>
                          </a:solidFill>
                          <a:latin typeface="Calibri"/>
                        </a:rPr>
                        <a:t>say override — the two read differently to a reviewer and should</a:t>
                      </a:r>
                    </a:p>
                  </a:txBody>
                  <a:tcPr marL="82296" marR="64008" marT="32004" marB="32004" anchor="ctr">
                    <a:solidFill>
                      <a:srgbClr val="F6F3EF"/>
                    </a:solidFill>
                  </a:tcPr>
                </a:tc>
              </a:tr>
              <a:tr h="453085">
                <a:tc>
                  <a:txBody>
                    <a:bodyPr wrap="square"/>
                    <a:lstStyle/>
                    <a:p>
                      <a:pPr algn="l"/>
                      <a:r>
                        <a:rPr sz="900" b="1">
                          <a:solidFill>
                            <a:srgbClr val="A51C30"/>
                          </a:solidFill>
                          <a:latin typeface="Calibri"/>
                        </a:rPr>
                        <a:t>override of something absent</a:t>
                      </a:r>
                    </a:p>
                  </a:txBody>
                  <a:tcPr marL="82296" marR="64008" marT="32004" marB="32004" anchor="ctr">
                    <a:solidFill>
                      <a:srgbClr val="FFFFFF"/>
                    </a:solidFill>
                  </a:tcPr>
                </a:tc>
                <a:tc>
                  <a:txBody>
                    <a:bodyPr wrap="square"/>
                    <a:lstStyle/>
                    <a:p>
                      <a:pPr algn="l"/>
                      <a:r>
                        <a:rPr sz="900" b="0">
                          <a:solidFill>
                            <a:srgbClr val="1C1C1E"/>
                          </a:solidFill>
                          <a:latin typeface="Calibri"/>
                        </a:rPr>
                        <a:t>say add</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a cycle</a:t>
                      </a:r>
                    </a:p>
                  </a:txBody>
                  <a:tcPr marL="82296" marR="64008" marT="32004" marB="32004" anchor="ctr">
                    <a:solidFill>
                      <a:srgbClr val="F6F3EF"/>
                    </a:solidFill>
                  </a:tcPr>
                </a:tc>
                <a:tc>
                  <a:txBody>
                    <a:bodyPr wrap="square"/>
                    <a:lstStyle/>
                    <a:p>
                      <a:pPr algn="l"/>
                      <a:r>
                        <a:rPr sz="900" b="0">
                          <a:solidFill>
                            <a:srgbClr val="1C1C1E"/>
                          </a:solidFill>
                          <a:latin typeface="Calibri"/>
                        </a:rPr>
                        <a:t>there is no fixed point to resolve to</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an ephemeral parent</a:t>
                      </a:r>
                    </a:p>
                  </a:txBody>
                  <a:tcPr marL="82296" marR="64008" marT="32004" marB="32004" anchor="ctr">
                    <a:solidFill>
                      <a:srgbClr val="FFFFFF"/>
                    </a:solidFill>
                  </a:tcPr>
                </a:tc>
                <a:tc>
                  <a:txBody>
                    <a:bodyPr wrap="square"/>
                    <a:lstStyle/>
                    <a:p>
                      <a:pPr algn="l"/>
                      <a:r>
                        <a:rPr sz="900" b="0">
                          <a:solidFill>
                            <a:srgbClr val="1C1C1E"/>
                          </a:solidFill>
                          <a:latin typeface="Calibri"/>
                        </a:rPr>
                        <a:t>it resolves today and dangles tomorrow</a:t>
                      </a:r>
                    </a:p>
                  </a:txBody>
                  <a:tcPr marL="82296" marR="64008" marT="32004" marB="32004" anchor="ctr">
                    <a:solidFill>
                      <a:srgbClr val="FFFFFF"/>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MAYA does to values on the way out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59</a:t>
            </a:r>
          </a:p>
        </p:txBody>
      </p:sp>
      <p:sp>
        <p:nvSpPr>
          <p:cNvPr id="10" name="Rectangle 9"/>
          <p:cNvSpPr/>
          <p:nvPr/>
        </p:nvSpPr>
        <p:spPr>
          <a:xfrm>
            <a:off x="777240"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1</a:t>
            </a:r>
          </a:p>
          <a:p>
            <a:pPr>
              <a:spcBef>
                <a:spcPts val="0"/>
              </a:spcBef>
              <a:spcAft>
                <a:spcPts val="400"/>
              </a:spcAft>
            </a:pPr>
            <a:r>
              <a:rPr sz="1100" b="1" i="0">
                <a:solidFill>
                  <a:srgbClr val="1C1C1E"/>
                </a:solidFill>
                <a:latin typeface="Calibri"/>
              </a:rPr>
              <a:t>Align</a:t>
            </a:r>
          </a:p>
          <a:p>
            <a:pPr>
              <a:lnSpc>
                <a:spcPct val="115000"/>
              </a:lnSpc>
              <a:spcBef>
                <a:spcPts val="0"/>
              </a:spcBef>
              <a:spcAft>
                <a:spcPts val="600"/>
              </a:spcAft>
            </a:pPr>
            <a:r>
              <a:rPr sz="850" b="0" i="0">
                <a:solidFill>
                  <a:srgbClr val="4A4F57"/>
                </a:solidFill>
                <a:latin typeface="Calibri"/>
              </a:rPr>
              <a:t>onto a chosen axis, filling gaps by a stated rule</a:t>
            </a:r>
          </a:p>
        </p:txBody>
      </p:sp>
      <p:sp>
        <p:nvSpPr>
          <p:cNvPr id="13" name="Rectangle 12"/>
          <p:cNvSpPr/>
          <p:nvPr/>
        </p:nvSpPr>
        <p:spPr>
          <a:xfrm>
            <a:off x="3482263"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2</a:t>
            </a:r>
          </a:p>
          <a:p>
            <a:pPr>
              <a:spcBef>
                <a:spcPts val="0"/>
              </a:spcBef>
              <a:spcAft>
                <a:spcPts val="400"/>
              </a:spcAft>
            </a:pPr>
            <a:r>
              <a:rPr sz="1100" b="1" i="0">
                <a:solidFill>
                  <a:srgbClr val="1C1C1E"/>
                </a:solidFill>
                <a:latin typeface="Calibri"/>
              </a:rPr>
              <a:t>Fit</a:t>
            </a:r>
          </a:p>
          <a:p>
            <a:pPr>
              <a:lnSpc>
                <a:spcPct val="115000"/>
              </a:lnSpc>
              <a:spcBef>
                <a:spcPts val="0"/>
              </a:spcBef>
              <a:spcAft>
                <a:spcPts val="600"/>
              </a:spcAft>
            </a:pPr>
            <a:r>
              <a:rPr sz="850" b="0" i="0">
                <a:solidFill>
                  <a:srgbClr val="4A4F57"/>
                </a:solidFill>
                <a:latin typeface="Calibri"/>
              </a:rPr>
              <a:t>statistics from what was knowable at the as_of — on OBSERVED values, before anything is filled</a:t>
            </a:r>
          </a:p>
        </p:txBody>
      </p:sp>
      <p:sp>
        <p:nvSpPr>
          <p:cNvPr id="16" name="Rectangle 15"/>
          <p:cNvSpPr/>
          <p:nvPr/>
        </p:nvSpPr>
        <p:spPr>
          <a:xfrm>
            <a:off x="6187287"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3</a:t>
            </a:r>
          </a:p>
          <a:p>
            <a:pPr>
              <a:spcBef>
                <a:spcPts val="0"/>
              </a:spcBef>
              <a:spcAft>
                <a:spcPts val="400"/>
              </a:spcAft>
            </a:pPr>
            <a:r>
              <a:rPr sz="1100" b="1" i="0">
                <a:solidFill>
                  <a:srgbClr val="1C1C1E"/>
                </a:solidFill>
                <a:latin typeface="Calibri"/>
              </a:rPr>
              <a:t>Fill</a:t>
            </a:r>
          </a:p>
          <a:p>
            <a:pPr>
              <a:lnSpc>
                <a:spcPct val="115000"/>
              </a:lnSpc>
              <a:spcBef>
                <a:spcPts val="0"/>
              </a:spcBef>
              <a:spcAft>
                <a:spcPts val="600"/>
              </a:spcAft>
            </a:pPr>
            <a:r>
              <a:rPr sz="850" b="0" i="0">
                <a:solidFill>
                  <a:srgbClr val="4A4F57"/>
                </a:solidFill>
                <a:latin typeface="Calibri"/>
              </a:rPr>
              <a:t>the gaps, reporting how much of each column was invented</a:t>
            </a:r>
          </a:p>
        </p:txBody>
      </p:sp>
      <p:sp>
        <p:nvSpPr>
          <p:cNvPr id="19" name="Rectangle 18"/>
          <p:cNvSpPr/>
          <p:nvPr/>
        </p:nvSpPr>
        <p:spPr>
          <a:xfrm>
            <a:off x="8892311" y="1353312"/>
            <a:ext cx="2522143" cy="129844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024127"/>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4</a:t>
            </a:r>
          </a:p>
          <a:p>
            <a:pPr>
              <a:spcBef>
                <a:spcPts val="0"/>
              </a:spcBef>
              <a:spcAft>
                <a:spcPts val="400"/>
              </a:spcAft>
            </a:pPr>
            <a:r>
              <a:rPr sz="1100" b="1" i="0">
                <a:solidFill>
                  <a:srgbClr val="1C1C1E"/>
                </a:solidFill>
                <a:latin typeface="Calibri"/>
              </a:rPr>
              <a:t>Normalise</a:t>
            </a:r>
          </a:p>
          <a:p>
            <a:pPr>
              <a:lnSpc>
                <a:spcPct val="115000"/>
              </a:lnSpc>
              <a:spcBef>
                <a:spcPts val="0"/>
              </a:spcBef>
              <a:spcAft>
                <a:spcPts val="600"/>
              </a:spcAft>
            </a:pPr>
            <a:r>
              <a:rPr sz="850" b="0" i="0">
                <a:solidFill>
                  <a:srgbClr val="4A4F57"/>
                </a:solidFill>
                <a:latin typeface="Calibri"/>
              </a:rPr>
              <a:t>everything, including what was filled, and return the statistics with the data</a:t>
            </a:r>
          </a:p>
        </p:txBody>
      </p:sp>
      <p:sp>
        <p:nvSpPr>
          <p:cNvPr id="22" name="TextBox 21"/>
          <p:cNvSpPr txBox="1"/>
          <p:nvPr/>
        </p:nvSpPr>
        <p:spPr>
          <a:xfrm>
            <a:off x="777240" y="2834640"/>
            <a:ext cx="5531351" cy="1463040"/>
          </a:xfrm>
          <a:prstGeom prst="rect">
            <a:avLst/>
          </a:prstGeom>
          <a:noFill/>
        </p:spPr>
        <p:txBody>
          <a:bodyPr wrap="square" lIns="0" rIns="0" tIns="0" bIns="0" anchor="t">
            <a:spAutoFit/>
          </a:bodyPr>
          <a:lstStyle/>
          <a:p>
            <a:pPr algn="l">
              <a:spcBef>
                <a:spcPts val="0"/>
              </a:spcBef>
              <a:spcAft>
                <a:spcPts val="600"/>
              </a:spcAft>
            </a:pPr>
            <a:r>
              <a:rPr sz="1200" b="1" i="0">
                <a:solidFill>
                  <a:srgbClr val="A51C30"/>
                </a:solidFill>
                <a:latin typeface="Georgia"/>
              </a:rPr>
              <a:t>The order is the point.</a:t>
            </a:r>
          </a:p>
          <a:p>
            <a:pPr>
              <a:lnSpc>
                <a:spcPct val="125000"/>
              </a:lnSpc>
              <a:spcBef>
                <a:spcPts val="0"/>
              </a:spcBef>
              <a:spcAft>
                <a:spcPts val="0"/>
              </a:spcAft>
            </a:pPr>
            <a:r>
              <a:rPr sz="1100" b="0" i="0">
                <a:solidFill>
                  <a:srgbClr val="1C1C1E"/>
                </a:solidFill>
                <a:latin typeface="Calibri"/>
              </a:rPr>
              <a:t>Fitting the normalisation AFTER filling would shrink the spread by exactly the amount that was invented, because every filled cell sits at the centre and pulls the variance down.</a:t>
            </a:r>
          </a:p>
        </p:txBody>
      </p:sp>
      <p:sp>
        <p:nvSpPr>
          <p:cNvPr id="23" name="TextBox 22"/>
          <p:cNvSpPr txBox="1"/>
          <p:nvPr/>
        </p:nvSpPr>
        <p:spPr>
          <a:xfrm>
            <a:off x="6734080" y="2834640"/>
            <a:ext cx="4680374" cy="1463040"/>
          </a:xfrm>
          <a:prstGeom prst="rect">
            <a:avLst/>
          </a:prstGeom>
          <a:noFill/>
        </p:spPr>
        <p:txBody>
          <a:bodyPr wrap="square" lIns="0" rIns="0" tIns="0" bIns="0" anchor="t">
            <a:spAutoFit/>
          </a:bodyPr>
          <a:lstStyle/>
          <a:p>
            <a:pPr algn="l">
              <a:spcBef>
                <a:spcPts val="0"/>
              </a:spcBef>
              <a:spcAft>
                <a:spcPts val="600"/>
              </a:spcAft>
            </a:pPr>
            <a:r>
              <a:rPr sz="1200" b="1" i="0">
                <a:solidFill>
                  <a:srgbClr val="A51C30"/>
                </a:solidFill>
                <a:latin typeface="Georgia"/>
              </a:rPr>
              <a:t>And the as_of is not optional.</a:t>
            </a:r>
          </a:p>
          <a:p>
            <a:pPr>
              <a:lnSpc>
                <a:spcPct val="125000"/>
              </a:lnSpc>
              <a:spcBef>
                <a:spcPts val="0"/>
              </a:spcBef>
              <a:spcAft>
                <a:spcPts val="0"/>
              </a:spcAft>
            </a:pPr>
            <a:r>
              <a:rPr sz="1100" b="0" i="0">
                <a:solidFill>
                  <a:srgbClr val="1C1C1E"/>
                </a:solidFill>
                <a:latin typeface="Calibri"/>
              </a:rPr>
              <a:t>A z-score fitted over the whole column encodes what the mean turned out to be, including the part that had not happened when the row was scored. The leaky answer is the one somebody would get by accident, so it is the one that must not be the default.</a:t>
            </a:r>
          </a:p>
        </p:txBody>
      </p:sp>
      <p:sp>
        <p:nvSpPr>
          <p:cNvPr id="24" name="Rectangle 23"/>
          <p:cNvSpPr/>
          <p:nvPr/>
        </p:nvSpPr>
        <p:spPr>
          <a:xfrm>
            <a:off x="777240" y="4480560"/>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Rectangle 24"/>
          <p:cNvSpPr/>
          <p:nvPr/>
        </p:nvSpPr>
        <p:spPr>
          <a:xfrm>
            <a:off x="777240" y="4480560"/>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TextBox 25"/>
          <p:cNvSpPr txBox="1"/>
          <p:nvPr/>
        </p:nvSpPr>
        <p:spPr>
          <a:xfrm>
            <a:off x="1014983" y="4599432"/>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Attached as default behaviour, overridden by the request. </a:t>
            </a:r>
            <a:r>
              <a:rPr sz="1050" b="0" i="0">
                <a:solidFill>
                  <a:srgbClr val="1C1C1E"/>
                </a:solidFill>
                <a:latin typeface="Calibri"/>
              </a:rPr>
              <a:t>Parents, then the object, then the caller — the same left-to-right fold, merged column by column, so a parent that fills three columns and a child that normalises one </a:t>
            </a:r>
            <a:r>
              <a:rPr sz="1050" b="1" i="0">
                <a:solidFill>
                  <a:srgbClr val="1C1C1E"/>
                </a:solidFill>
                <a:latin typeface="Calibri"/>
              </a:rPr>
              <a:t>end up doing both.</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COMPOSING A FEATURESET</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Aligning onto an axis, and the leakage that cannot hide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11 · What a Featureset Is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60</a:t>
            </a:r>
          </a:p>
        </p:txBody>
      </p:sp>
      <p:graphicFrame>
        <p:nvGraphicFramePr>
          <p:cNvPr id="10" name="Table 9"/>
          <p:cNvGraphicFramePr>
            <a:graphicFrameLocks noGrp="1"/>
          </p:cNvGraphicFramePr>
          <p:nvPr/>
        </p:nvGraphicFramePr>
        <p:xfrm>
          <a:off x="777240" y="1764792"/>
          <a:ext cx="5318606" cy="1596136"/>
        </p:xfrm>
        <a:graphic>
          <a:graphicData uri="http://schemas.openxmlformats.org/drawingml/2006/table">
            <a:tbl>
              <a:tblPr firstRow="1">
                <a:tableStyleId>{5C22544A-7EE6-4342-B048-85BDC9FD1C3A}</a:tableStyleId>
              </a:tblPr>
              <a:tblGrid>
                <a:gridCol w="1270115"/>
                <a:gridCol w="2302083"/>
                <a:gridCol w="1746408"/>
              </a:tblGrid>
              <a:tr h="329184">
                <a:tc>
                  <a:txBody>
                    <a:bodyPr wrap="square"/>
                    <a:lstStyle/>
                    <a:p>
                      <a:pPr algn="l"/>
                      <a:r>
                        <a:rPr sz="1000" b="1">
                          <a:solidFill>
                            <a:srgbClr val="FFFFFF"/>
                          </a:solidFill>
                          <a:latin typeface="Calibri"/>
                        </a:rPr>
                        <a:t>Rule</a:t>
                      </a:r>
                    </a:p>
                  </a:txBody>
                  <a:tcPr marL="82296" marR="64008" marT="32004" marB="32004" anchor="ctr">
                    <a:solidFill>
                      <a:srgbClr val="A51C30"/>
                    </a:solidFill>
                  </a:tcPr>
                </a:tc>
                <a:tc>
                  <a:txBody>
                    <a:bodyPr wrap="square"/>
                    <a:lstStyle/>
                    <a:p>
                      <a:pPr algn="l"/>
                      <a:r>
                        <a:rPr sz="1000" b="1">
                          <a:solidFill>
                            <a:srgbClr val="FFFFFF"/>
                          </a:solidFill>
                          <a:latin typeface="Calibri"/>
                        </a:rPr>
                        <a:t>Fills from</a:t>
                      </a:r>
                    </a:p>
                  </a:txBody>
                  <a:tcPr marL="82296" marR="64008" marT="32004" marB="32004" anchor="ctr">
                    <a:solidFill>
                      <a:srgbClr val="A51C30"/>
                    </a:solidFill>
                  </a:tcPr>
                </a:tc>
                <a:tc>
                  <a:txBody>
                    <a:bodyPr wrap="square"/>
                    <a:lstStyle/>
                    <a:p>
                      <a:pPr algn="l"/>
                      <a:r>
                        <a:rPr sz="1000" b="1">
                          <a:solidFill>
                            <a:srgbClr val="FFFFFF"/>
                          </a:solidFill>
                          <a:latin typeface="Calibri"/>
                        </a:rPr>
                        <a:t>Safe for training</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flat_forward</a:t>
                      </a:r>
                    </a:p>
                  </a:txBody>
                  <a:tcPr marL="82296" marR="64008" marT="32004" marB="32004" anchor="ctr">
                    <a:solidFill>
                      <a:srgbClr val="FFFFFF"/>
                    </a:solidFill>
                  </a:tcPr>
                </a:tc>
                <a:tc>
                  <a:txBody>
                    <a:bodyPr wrap="square"/>
                    <a:lstStyle/>
                    <a:p>
                      <a:pPr algn="l"/>
                      <a:r>
                        <a:rPr sz="1000" b="0">
                          <a:solidFill>
                            <a:srgbClr val="1C1C1E"/>
                          </a:solidFill>
                          <a:latin typeface="Calibri"/>
                        </a:rPr>
                        <a:t>the last observation</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flat_backward</a:t>
                      </a:r>
                    </a:p>
                  </a:txBody>
                  <a:tcPr marL="82296" marR="64008" marT="32004" marB="32004" anchor="ctr">
                    <a:solidFill>
                      <a:srgbClr val="F6F3EF"/>
                    </a:solidFill>
                  </a:tcPr>
                </a:tc>
                <a:tc>
                  <a:txBody>
                    <a:bodyPr wrap="square"/>
                    <a:lstStyle/>
                    <a:p>
                      <a:pPr algn="l"/>
                      <a:r>
                        <a:rPr sz="1000" b="0">
                          <a:solidFill>
                            <a:srgbClr val="1C1C1E"/>
                          </a:solidFill>
                          <a:latin typeface="Calibri"/>
                        </a:rPr>
                        <a:t>the next observation</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linear</a:t>
                      </a:r>
                    </a:p>
                  </a:txBody>
                  <a:tcPr marL="82296" marR="64008" marT="32004" marB="32004" anchor="ctr">
                    <a:solidFill>
                      <a:srgbClr val="FFFFFF"/>
                    </a:solidFill>
                  </a:tcPr>
                </a:tc>
                <a:tc>
                  <a:txBody>
                    <a:bodyPr wrap="square"/>
                    <a:lstStyle/>
                    <a:p>
                      <a:pPr algn="l"/>
                      <a:r>
                        <a:rPr sz="1000" b="0">
                          <a:solidFill>
                            <a:srgbClr val="1C1C1E"/>
                          </a:solidFill>
                          <a:latin typeface="Calibri"/>
                        </a:rPr>
                        <a:t>both neighbours</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nearest</a:t>
                      </a:r>
                    </a:p>
                  </a:txBody>
                  <a:tcPr marL="82296" marR="64008" marT="32004" marB="32004" anchor="ctr">
                    <a:solidFill>
                      <a:srgbClr val="F6F3EF"/>
                    </a:solidFill>
                  </a:tcPr>
                </a:tc>
                <a:tc>
                  <a:txBody>
                    <a:bodyPr wrap="square"/>
                    <a:lstStyle/>
                    <a:p>
                      <a:pPr algn="l"/>
                      <a:r>
                        <a:rPr sz="1000" b="0">
                          <a:solidFill>
                            <a:srgbClr val="1C1C1E"/>
                          </a:solidFill>
                          <a:latin typeface="Calibri"/>
                        </a:rPr>
                        <a:t>whichever is closer</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bl>
          </a:graphicData>
        </a:graphic>
      </p:graphicFrame>
      <p:sp>
        <p:nvSpPr>
          <p:cNvPr id="11" name="TextBox 10"/>
          <p:cNvSpPr txBox="1"/>
          <p:nvPr/>
        </p:nvSpPr>
        <p:spPr>
          <a:xfrm>
            <a:off x="777240" y="3598671"/>
            <a:ext cx="5318607" cy="164592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The last three reach into the future. They are right for drawing a curve or for an explicitly retrospective backtest, and wrong for training.</a:t>
            </a:r>
          </a:p>
          <a:p>
            <a:pPr>
              <a:lnSpc>
                <a:spcPct val="125000"/>
              </a:lnSpc>
              <a:spcBef>
                <a:spcPts val="0"/>
              </a:spcBef>
              <a:spcAft>
                <a:spcPts val="0"/>
              </a:spcAft>
            </a:pPr>
            <a:r>
              <a:rPr sz="1150" b="1" i="0">
                <a:solidFill>
                  <a:srgbClr val="A51C30"/>
                </a:solidFill>
                <a:latin typeface="Calibri"/>
              </a:rPr>
              <a:t>They are not refused. They are stamped honestly.</a:t>
            </a:r>
          </a:p>
        </p:txBody>
      </p:sp>
      <p:sp>
        <p:nvSpPr>
          <p:cNvPr id="12" name="Rectangle 11"/>
          <p:cNvSpPr/>
          <p:nvPr/>
        </p:nvSpPr>
        <p:spPr>
          <a:xfrm>
            <a:off x="6521336" y="1764792"/>
            <a:ext cx="4893118" cy="162520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6521336" y="1764792"/>
            <a:ext cx="41148" cy="162520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6722504" y="1865376"/>
            <a:ext cx="4527358"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grid  t=0   100.0   ingest_ts 0.0</a:t>
            </a:r>
          </a:p>
          <a:p>
            <a:pPr>
              <a:lnSpc>
                <a:spcPct val="134000"/>
              </a:lnSpc>
              <a:spcBef>
                <a:spcPts val="0"/>
              </a:spcBef>
              <a:spcAft>
                <a:spcPts val="0"/>
              </a:spcAft>
            </a:pPr>
            <a:r>
              <a:rPr sz="900" b="0" i="0">
                <a:solidFill>
                  <a:srgbClr val="1C1C1E"/>
                </a:solidFill>
                <a:latin typeface="Consolas"/>
              </a:rPr>
              <a:t>grid  t=1   400.0   ingest_ts 3.0   ← filled from t=3</a:t>
            </a:r>
          </a:p>
          <a:p>
            <a:pPr>
              <a:lnSpc>
                <a:spcPct val="134000"/>
              </a:lnSpc>
              <a:spcBef>
                <a:spcPts val="0"/>
              </a:spcBef>
              <a:spcAft>
                <a:spcPts val="0"/>
              </a:spcAft>
            </a:pPr>
            <a:r>
              <a:rPr sz="900" b="0" i="0">
                <a:solidFill>
                  <a:srgbClr val="1C1C1E"/>
                </a:solidFill>
                <a:latin typeface="Consolas"/>
              </a:rPr>
              <a:t>grid  t=2   400.0   ingest_ts 3.0</a:t>
            </a:r>
          </a:p>
          <a:p>
            <a:pPr>
              <a:lnSpc>
                <a:spcPct val="134000"/>
              </a:lnSpc>
              <a:spcBef>
                <a:spcPts val="0"/>
              </a:spcBef>
              <a:spcAft>
                <a:spcPts val="0"/>
              </a:spcAft>
            </a:pPr>
            <a:r>
              <a:rPr sz="900" b="0" i="0">
                <a:solidFill>
                  <a:srgbClr val="1C1C1E"/>
                </a:solidFill>
                <a:latin typeface="Consolas"/>
              </a:rPr>
              <a:t>grid  t=3   400.0   ingest_ts 3.0</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a point-in-time read at as_of = 1</a:t>
            </a:r>
          </a:p>
          <a:p>
            <a:pPr>
              <a:lnSpc>
                <a:spcPct val="134000"/>
              </a:lnSpc>
              <a:spcBef>
                <a:spcPts val="0"/>
              </a:spcBef>
              <a:spcAft>
                <a:spcPts val="0"/>
              </a:spcAft>
            </a:pPr>
            <a:r>
              <a:rPr sz="900" b="0" i="0">
                <a:solidFill>
                  <a:srgbClr val="7A7F87"/>
                </a:solidFill>
                <a:latin typeface="Consolas"/>
              </a:rPr>
              <a:t># excludes rows 2 and 3 by the ORDINARY rule</a:t>
            </a:r>
          </a:p>
        </p:txBody>
      </p:sp>
      <p:sp>
        <p:nvSpPr>
          <p:cNvPr id="15" name="TextBox 14"/>
          <p:cNvSpPr txBox="1"/>
          <p:nvPr/>
        </p:nvSpPr>
        <p:spPr>
          <a:xfrm>
            <a:off x="6521336" y="3627744"/>
            <a:ext cx="4893118" cy="1463040"/>
          </a:xfrm>
          <a:prstGeom prst="rect">
            <a:avLst/>
          </a:prstGeom>
          <a:noFill/>
        </p:spPr>
        <p:txBody>
          <a:bodyPr wrap="square" lIns="0" rIns="0" tIns="0" bIns="0" anchor="t">
            <a:spAutoFit/>
          </a:bodyPr>
          <a:lstStyle/>
          <a:p>
            <a:pPr algn="l">
              <a:lnSpc>
                <a:spcPct val="125000"/>
              </a:lnSpc>
              <a:spcBef>
                <a:spcPts val="0"/>
              </a:spcBef>
              <a:spcAft>
                <a:spcPts val="800"/>
              </a:spcAft>
            </a:pPr>
            <a:r>
              <a:rPr sz="1100" b="0" i="0">
                <a:solidFill>
                  <a:srgbClr val="1C1C1E"/>
                </a:solidFill>
                <a:latin typeface="Calibri"/>
              </a:rPr>
              <a:t>A value derived from a later observation inherits that observation’s ingest clock, because that is genuinely when it became knowable.</a:t>
            </a:r>
          </a:p>
          <a:p>
            <a:pPr>
              <a:lnSpc>
                <a:spcPct val="125000"/>
              </a:lnSpc>
              <a:spcBef>
                <a:spcPts val="0"/>
              </a:spcBef>
              <a:spcAft>
                <a:spcPts val="0"/>
              </a:spcAft>
            </a:pPr>
            <a:r>
              <a:rPr sz="1100" b="0" i="0">
                <a:solidFill>
                  <a:srgbClr val="4A4F57"/>
                </a:solidFill>
                <a:latin typeface="Calibri"/>
              </a:rPr>
              <a:t>The leakage is not caught by a check. It is made arithmetically impossible to hide, by the bitemporal machinery already here.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12</a:t>
            </a:r>
          </a:p>
        </p:txBody>
      </p:sp>
      <p:sp>
        <p:nvSpPr>
          <p:cNvPr id="5" name="TextBox 4"/>
          <p:cNvSpPr txBox="1"/>
          <p:nvPr/>
        </p:nvSpPr>
        <p:spPr>
          <a:xfrm>
            <a:off x="1005840" y="2463393"/>
            <a:ext cx="6169584" cy="1188720"/>
          </a:xfrm>
          <a:prstGeom prst="rect">
            <a:avLst/>
          </a:prstGeom>
          <a:noFill/>
        </p:spPr>
        <p:txBody>
          <a:bodyPr wrap="square" lIns="0" rIns="0" tIns="0" bIns="0" anchor="t">
            <a:spAutoFit/>
          </a:bodyPr>
          <a:lstStyle/>
          <a:p>
            <a:pPr algn="l">
              <a:spcBef>
                <a:spcPts val="0"/>
              </a:spcBef>
              <a:spcAft>
                <a:spcPts val="0"/>
              </a:spcAft>
            </a:pPr>
            <a:r>
              <a:rPr sz="2800" b="0" i="0">
                <a:solidFill>
                  <a:srgbClr val="FFFFFF"/>
                </a:solidFill>
                <a:latin typeface="Georgia"/>
              </a:rPr>
              <a:t>Warrants, and What Comes Back</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A featureset version and a model version meet; a parameter set returns.</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fit warrant</a:t>
            </a:r>
          </a:p>
          <a:p>
            <a:pPr>
              <a:lnSpc>
                <a:spcPct val="115000"/>
              </a:lnSpc>
              <a:spcBef>
                <a:spcPts val="0"/>
              </a:spcBef>
              <a:spcAft>
                <a:spcPts val="700"/>
              </a:spcAft>
            </a:pPr>
            <a:r>
              <a:rPr sz="1150" b="0" i="0">
                <a:solidFill>
                  <a:srgbClr val="F6E6E9"/>
                </a:solidFill>
                <a:latin typeface="Calibri"/>
              </a:rPr>
              <a:t>The parameter object</a:t>
            </a:r>
          </a:p>
          <a:p>
            <a:pPr>
              <a:lnSpc>
                <a:spcPct val="115000"/>
              </a:lnSpc>
              <a:spcBef>
                <a:spcPts val="0"/>
              </a:spcBef>
              <a:spcAft>
                <a:spcPts val="700"/>
              </a:spcAft>
            </a:pPr>
            <a:r>
              <a:rPr sz="1150" b="0" i="0">
                <a:solidFill>
                  <a:srgbClr val="F6E6E9"/>
                </a:solidFill>
                <a:latin typeface="Calibri"/>
              </a:rPr>
              <a:t>The scoring warrant</a:t>
            </a:r>
          </a:p>
          <a:p>
            <a:pPr>
              <a:lnSpc>
                <a:spcPct val="115000"/>
              </a:lnSpc>
              <a:spcBef>
                <a:spcPts val="0"/>
              </a:spcBef>
              <a:spcAft>
                <a:spcPts val="700"/>
              </a:spcAft>
            </a:pPr>
            <a:r>
              <a:rPr sz="1150" b="0" i="0">
                <a:solidFill>
                  <a:srgbClr val="F6E6E9"/>
                </a:solidFill>
                <a:latin typeface="Calibri"/>
              </a:rPr>
              <a:t>Three routes to P</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fit warrant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62</a:t>
            </a:r>
          </a:p>
        </p:txBody>
      </p:sp>
      <p:sp>
        <p:nvSpPr>
          <p:cNvPr id="10" name="Rectangle 9"/>
          <p:cNvSpPr/>
          <p:nvPr/>
        </p:nvSpPr>
        <p:spPr>
          <a:xfrm>
            <a:off x="777240" y="1353312"/>
            <a:ext cx="5744096" cy="220416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20416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378336" cy="2021281"/>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"operation":  {"verb": "fit"},</a:t>
            </a:r>
          </a:p>
          <a:p>
            <a:pPr>
              <a:lnSpc>
                <a:spcPct val="134000"/>
              </a:lnSpc>
              <a:spcBef>
                <a:spcPts val="0"/>
              </a:spcBef>
              <a:spcAft>
                <a:spcPts val="0"/>
              </a:spcAft>
            </a:pPr>
            <a:r>
              <a:rPr sz="900" b="0" i="0">
                <a:solidFill>
                  <a:srgbClr val="1C1C1E"/>
                </a:solidFill>
                <a:latin typeface="Consolas"/>
              </a:rPr>
              <a:t>"parameters": {"kind": "estimated_coefficients",</a:t>
            </a:r>
          </a:p>
          <a:p>
            <a:pPr>
              <a:lnSpc>
                <a:spcPct val="134000"/>
              </a:lnSpc>
              <a:spcBef>
                <a:spcPts val="0"/>
              </a:spcBef>
              <a:spcAft>
                <a:spcPts val="0"/>
              </a:spcAft>
            </a:pPr>
            <a:r>
              <a:rPr sz="900" b="0" i="0">
                <a:solidFill>
                  <a:srgbClr val="1C1C1E"/>
                </a:solidFill>
                <a:latin typeface="Consolas"/>
              </a:rPr>
              <a:t>               "source": {"binding": "to_be_fitted"}},</a:t>
            </a:r>
          </a:p>
          <a:p>
            <a:pPr>
              <a:lnSpc>
                <a:spcPct val="134000"/>
              </a:lnSpc>
              <a:spcBef>
                <a:spcPts val="0"/>
              </a:spcBef>
              <a:spcAft>
                <a:spcPts val="0"/>
              </a:spcAft>
            </a:pPr>
            <a:r>
              <a:rPr sz="900" b="0" i="0">
                <a:solidFill>
                  <a:srgbClr val="1C1C1E"/>
                </a:solidFill>
                <a:latin typeface="Consolas"/>
              </a:rPr>
              <a:t>"data": {</a:t>
            </a:r>
          </a:p>
          <a:p>
            <a:pPr>
              <a:lnSpc>
                <a:spcPct val="134000"/>
              </a:lnSpc>
              <a:spcBef>
                <a:spcPts val="0"/>
              </a:spcBef>
              <a:spcAft>
                <a:spcPts val="0"/>
              </a:spcAft>
            </a:pPr>
            <a:r>
              <a:rPr sz="900" b="0" i="0">
                <a:solidFill>
                  <a:srgbClr val="1C1C1E"/>
                </a:solidFill>
                <a:latin typeface="Consolas"/>
              </a:rPr>
              <a:t>  "inputs":  [{"binding":   "featureset",</a:t>
            </a:r>
          </a:p>
          <a:p>
            <a:pPr>
              <a:lnSpc>
                <a:spcPct val="134000"/>
              </a:lnSpc>
              <a:spcBef>
                <a:spcPts val="0"/>
              </a:spcBef>
              <a:spcAft>
                <a:spcPts val="0"/>
              </a:spcAft>
            </a:pPr>
            <a:r>
              <a:rPr sz="900" b="0" i="0">
                <a:solidFill>
                  <a:srgbClr val="1C1C1E"/>
                </a:solidFill>
                <a:latin typeface="Consolas"/>
              </a:rPr>
              <a:t>               "featureset": "nj_home_core", "version": 1,</a:t>
            </a:r>
          </a:p>
          <a:p>
            <a:pPr>
              <a:lnSpc>
                <a:spcPct val="134000"/>
              </a:lnSpc>
              <a:spcBef>
                <a:spcPts val="0"/>
              </a:spcBef>
              <a:spcAft>
                <a:spcPts val="0"/>
              </a:spcAft>
            </a:pPr>
            <a:r>
              <a:rPr sz="900" b="0" i="0">
                <a:solidFill>
                  <a:srgbClr val="1C1C1E"/>
                </a:solidFill>
                <a:latin typeface="Consolas"/>
              </a:rPr>
              <a:t>               "window": {"from": "2019-01-01",</a:t>
            </a:r>
          </a:p>
          <a:p>
            <a:pPr>
              <a:lnSpc>
                <a:spcPct val="134000"/>
              </a:lnSpc>
              <a:spcBef>
                <a:spcPts val="0"/>
              </a:spcBef>
              <a:spcAft>
                <a:spcPts val="0"/>
              </a:spcAft>
            </a:pPr>
            <a:r>
              <a:rPr sz="900" b="0" i="0">
                <a:solidFill>
                  <a:srgbClr val="1C1C1E"/>
                </a:solidFill>
                <a:latin typeface="Consolas"/>
              </a:rPr>
              <a:t>                          "to":   "2024-12-31"},</a:t>
            </a:r>
          </a:p>
          <a:p>
            <a:pPr>
              <a:lnSpc>
                <a:spcPct val="134000"/>
              </a:lnSpc>
              <a:spcBef>
                <a:spcPts val="0"/>
              </a:spcBef>
              <a:spcAft>
                <a:spcPts val="0"/>
              </a:spcAft>
            </a:pPr>
            <a:r>
              <a:rPr sz="900" b="0" i="0">
                <a:solidFill>
                  <a:srgbClr val="1C1C1E"/>
                </a:solidFill>
                <a:latin typeface="Consolas"/>
              </a:rPr>
              <a:t>               "as_of":  "2025-01-15"}],</a:t>
            </a:r>
          </a:p>
          <a:p>
            <a:pPr>
              <a:lnSpc>
                <a:spcPct val="134000"/>
              </a:lnSpc>
              <a:spcBef>
                <a:spcPts val="0"/>
              </a:spcBef>
              <a:spcAft>
                <a:spcPts val="0"/>
              </a:spcAft>
            </a:pPr>
            <a:r>
              <a:rPr sz="900" b="0" i="0">
                <a:solidFill>
                  <a:srgbClr val="1C1C1E"/>
                </a:solidFill>
                <a:latin typeface="Consolas"/>
              </a:rPr>
              <a:t>  "outputs": [{"sink": "parameter_object"}]}</a:t>
            </a:r>
          </a:p>
        </p:txBody>
      </p:sp>
      <p:sp>
        <p:nvSpPr>
          <p:cNvPr id="13" name="Rectangle 12"/>
          <p:cNvSpPr/>
          <p:nvPr/>
        </p:nvSpPr>
        <p:spPr>
          <a:xfrm>
            <a:off x="777240" y="3776929"/>
            <a:ext cx="5744096" cy="9144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777240" y="3776929"/>
            <a:ext cx="41148" cy="9144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1014983" y="3895801"/>
            <a:ext cx="5286896" cy="6949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set fixes the columns; the warrant fixes the period. </a:t>
            </a:r>
            <a:r>
              <a:rPr sz="1050" b="0" i="0">
                <a:solidFill>
                  <a:srgbClr val="1C1C1E"/>
                </a:solidFill>
                <a:latin typeface="Calibri"/>
              </a:rPr>
              <a:t>That is why window and as_of are here and not in the featureset — </a:t>
            </a:r>
            <a:r>
              <a:rPr sz="1050" b="1" i="0">
                <a:solidFill>
                  <a:srgbClr val="1C1C1E"/>
                </a:solidFill>
                <a:latin typeface="Calibri"/>
              </a:rPr>
              <a:t>one set trains 2019–23 and 2020–24 without becoming two sets.</a:t>
            </a:r>
          </a:p>
        </p:txBody>
      </p:sp>
      <p:sp>
        <p:nvSpPr>
          <p:cNvPr id="16" name="TextBox 15"/>
          <p:cNvSpPr txBox="1"/>
          <p:nvPr/>
        </p:nvSpPr>
        <p:spPr>
          <a:xfrm>
            <a:off x="6946824" y="1353312"/>
            <a:ext cx="4467630"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Five checks before it is signed</a:t>
            </a:r>
          </a:p>
        </p:txBody>
      </p:sp>
      <p:graphicFrame>
        <p:nvGraphicFramePr>
          <p:cNvPr id="17" name="Table 16"/>
          <p:cNvGraphicFramePr>
            <a:graphicFrameLocks noGrp="1"/>
          </p:cNvGraphicFramePr>
          <p:nvPr/>
        </p:nvGraphicFramePr>
        <p:xfrm>
          <a:off x="6946824" y="1719072"/>
          <a:ext cx="4467629" cy="2134436"/>
        </p:xfrm>
        <a:graphic>
          <a:graphicData uri="http://schemas.openxmlformats.org/drawingml/2006/table">
            <a:tbl>
              <a:tblPr firstRow="1">
                <a:tableStyleId>{5C22544A-7EE6-4342-B048-85BDC9FD1C3A}</a:tableStyleId>
              </a:tblPr>
              <a:tblGrid>
                <a:gridCol w="771681"/>
                <a:gridCol w="3695948"/>
              </a:tblGrid>
              <a:tr h="329184">
                <a:tc>
                  <a:txBody>
                    <a:bodyPr wrap="square"/>
                    <a:lstStyle/>
                    <a:p>
                      <a:pPr algn="l"/>
                      <a:r>
                        <a:rPr sz="900" b="1">
                          <a:solidFill>
                            <a:srgbClr val="FFFFFF"/>
                          </a:solidFill>
                          <a:latin typeface="Calibri"/>
                        </a:rPr>
                        <a:t>Law</a:t>
                      </a:r>
                    </a:p>
                  </a:txBody>
                  <a:tcPr marL="82296" marR="64008" marT="32004" marB="32004" anchor="ctr">
                    <a:solidFill>
                      <a:srgbClr val="A51C30"/>
                    </a:solidFill>
                  </a:tcPr>
                </a:tc>
                <a:tc>
                  <a:txBody>
                    <a:bodyPr wrap="square"/>
                    <a:lstStyle/>
                    <a:p>
                      <a:pPr algn="l"/>
                      <a:r>
                        <a:rPr sz="900" b="1">
                          <a:solidFill>
                            <a:srgbClr val="FFFFFF"/>
                          </a:solidFill>
                          <a:latin typeface="Calibri"/>
                        </a:rPr>
                        <a:t>Asks</a:t>
                      </a:r>
                    </a:p>
                  </a:txBody>
                  <a:tcPr marL="82296" marR="64008" marT="32004" marB="32004" anchor="ctr">
                    <a:solidFill>
                      <a:srgbClr val="A51C30"/>
                    </a:solidFill>
                  </a:tcPr>
                </a:tc>
              </a:tr>
              <a:tr h="453085">
                <a:tc>
                  <a:txBody>
                    <a:bodyPr wrap="square"/>
                    <a:lstStyle/>
                    <a:p>
                      <a:pPr algn="l"/>
                      <a:r>
                        <a:rPr sz="900" b="1">
                          <a:solidFill>
                            <a:srgbClr val="A51C30"/>
                          </a:solidFill>
                          <a:latin typeface="Calibri"/>
                        </a:rPr>
                        <a:t>L-W1</a:t>
                      </a:r>
                    </a:p>
                  </a:txBody>
                  <a:tcPr marL="82296" marR="64008" marT="32004" marB="32004" anchor="ctr">
                    <a:solidFill>
                      <a:srgbClr val="FFFFFF"/>
                    </a:solidFill>
                  </a:tcPr>
                </a:tc>
                <a:tc>
                  <a:txBody>
                    <a:bodyPr wrap="square"/>
                    <a:lstStyle/>
                    <a:p>
                      <a:pPr algn="l"/>
                      <a:r>
                        <a:rPr sz="900" b="0">
                          <a:solidFill>
                            <a:srgbClr val="1C1C1E"/>
                          </a:solidFill>
                          <a:latin typeface="Calibri"/>
                        </a:rPr>
                        <a:t>is 'fit' meaningful for this class? T0 has nothing to fit, and the refusal says so</a:t>
                      </a:r>
                    </a:p>
                  </a:txBody>
                  <a:tcPr marL="82296" marR="64008" marT="32004" marB="32004" anchor="ctr">
                    <a:solidFill>
                      <a:srgbClr val="FFFFFF"/>
                    </a:solidFill>
                  </a:tcPr>
                </a:tc>
              </a:tr>
              <a:tr h="453085">
                <a:tc>
                  <a:txBody>
                    <a:bodyPr wrap="square"/>
                    <a:lstStyle/>
                    <a:p>
                      <a:pPr algn="l"/>
                      <a:r>
                        <a:rPr sz="900" b="1">
                          <a:solidFill>
                            <a:srgbClr val="A51C30"/>
                          </a:solidFill>
                          <a:latin typeface="Calibri"/>
                        </a:rPr>
                        <a:t>L-W10</a:t>
                      </a:r>
                    </a:p>
                  </a:txBody>
                  <a:tcPr marL="82296" marR="64008" marT="32004" marB="32004" anchor="ctr">
                    <a:solidFill>
                      <a:srgbClr val="F6F3EF"/>
                    </a:solidFill>
                  </a:tcPr>
                </a:tc>
                <a:tc>
                  <a:txBody>
                    <a:bodyPr wrap="square"/>
                    <a:lstStyle/>
                    <a:p>
                      <a:pPr algn="l"/>
                      <a:r>
                        <a:rPr sz="900" b="0">
                          <a:solidFill>
                            <a:srgbClr val="1C1C1E"/>
                          </a:solidFill>
                          <a:latin typeface="Calibri"/>
                        </a:rPr>
                        <a:t>does the featureset provide what the kernel declares it reads?</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L-W3</a:t>
                      </a:r>
                    </a:p>
                  </a:txBody>
                  <a:tcPr marL="82296" marR="64008" marT="32004" marB="32004" anchor="ctr">
                    <a:solidFill>
                      <a:srgbClr val="FFFFFF"/>
                    </a:solidFill>
                  </a:tcPr>
                </a:tc>
                <a:tc>
                  <a:txBody>
                    <a:bodyPr wrap="square"/>
                    <a:lstStyle/>
                    <a:p>
                      <a:pPr algn="l"/>
                      <a:r>
                        <a:rPr sz="900" b="0">
                          <a:solidFill>
                            <a:srgbClr val="1C1C1E"/>
                          </a:solidFill>
                          <a:latin typeface="Calibri"/>
                        </a:rPr>
                        <a:t>is the binding one that can answer 'what was known at t'?</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L-W9</a:t>
                      </a:r>
                    </a:p>
                  </a:txBody>
                  <a:tcPr marL="82296" marR="64008" marT="32004" marB="32004" anchor="ctr">
                    <a:solidFill>
                      <a:srgbClr val="F6F3EF"/>
                    </a:solidFill>
                  </a:tcPr>
                </a:tc>
                <a:tc>
                  <a:txBody>
                    <a:bodyPr wrap="square"/>
                    <a:lstStyle/>
                    <a:p>
                      <a:pPr algn="l"/>
                      <a:r>
                        <a:rPr sz="900" b="0">
                          <a:solidFill>
                            <a:srgbClr val="1C1C1E"/>
                          </a:solidFill>
                          <a:latin typeface="Calibri"/>
                        </a:rPr>
                        <a:t>is the read bounded in BOTH clocks?</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L-W4</a:t>
                      </a:r>
                    </a:p>
                  </a:txBody>
                  <a:tcPr marL="82296" marR="64008" marT="32004" marB="32004" anchor="ctr">
                    <a:solidFill>
                      <a:srgbClr val="FFFFFF"/>
                    </a:solidFill>
                  </a:tcPr>
                </a:tc>
                <a:tc>
                  <a:txBody>
                    <a:bodyPr wrap="square"/>
                    <a:lstStyle/>
                    <a:p>
                      <a:pPr algn="l"/>
                      <a:r>
                        <a:rPr sz="900" b="0">
                          <a:solidFill>
                            <a:srgbClr val="1C1C1E"/>
                          </a:solidFill>
                          <a:latin typeface="Calibri"/>
                        </a:rPr>
                        <a:t>does it say where the parameters go?</a:t>
                      </a:r>
                    </a:p>
                  </a:txBody>
                  <a:tcPr marL="82296" marR="64008" marT="32004" marB="32004" anchor="ctr">
                    <a:solidFill>
                      <a:srgbClr val="FFFFFF"/>
                    </a:solidFill>
                  </a:tcPr>
                </a:tc>
              </a:tr>
            </a:tbl>
          </a:graphicData>
        </a:graphic>
      </p:graphicFrame>
      <p:sp>
        <p:nvSpPr>
          <p:cNvPr id="18" name="TextBox 17"/>
          <p:cNvSpPr txBox="1"/>
          <p:nvPr/>
        </p:nvSpPr>
        <p:spPr>
          <a:xfrm>
            <a:off x="6946824" y="4036390"/>
            <a:ext cx="4467630" cy="1005840"/>
          </a:xfrm>
          <a:prstGeom prst="rect">
            <a:avLst/>
          </a:prstGeom>
          <a:noFill/>
        </p:spPr>
        <p:txBody>
          <a:bodyPr wrap="square" lIns="0" rIns="0" tIns="0" bIns="0" anchor="t">
            <a:spAutoFit/>
          </a:bodyPr>
          <a:lstStyle/>
          <a:p>
            <a:pPr algn="l">
              <a:lnSpc>
                <a:spcPct val="124000"/>
              </a:lnSpc>
              <a:spcBef>
                <a:spcPts val="0"/>
              </a:spcBef>
              <a:spcAft>
                <a:spcPts val="600"/>
              </a:spcAft>
            </a:pPr>
            <a:r>
              <a:rPr sz="1150" b="1" i="0">
                <a:solidFill>
                  <a:srgbClr val="1C1C1E"/>
                </a:solidFill>
                <a:latin typeface="Calibri"/>
              </a:rPr>
              <a:t>MAYA does not fit anything. It signs this and waits.</a:t>
            </a:r>
          </a:p>
          <a:p>
            <a:pPr>
              <a:lnSpc>
                <a:spcPct val="124000"/>
              </a:lnSpc>
              <a:spcBef>
                <a:spcPts val="0"/>
              </a:spcBef>
              <a:spcAft>
                <a:spcPts val="0"/>
              </a:spcAft>
            </a:pPr>
            <a:r>
              <a:rPr sz="1050" b="0" i="0">
                <a:solidFill>
                  <a:srgbClr val="4A4F57"/>
                </a:solidFill>
                <a:latin typeface="Calibri"/>
              </a:rPr>
              <a:t>The estimation happens in an execution engine — the same boundary drawn everywhere else here.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fit produces a parameter set, not a model version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63</a:t>
            </a:r>
          </a:p>
        </p:txBody>
      </p:sp>
      <p:sp>
        <p:nvSpPr>
          <p:cNvPr id="10" name="Rectangle 9"/>
          <p:cNvSpPr/>
          <p:nvPr/>
        </p:nvSpPr>
        <p:spPr>
          <a:xfrm>
            <a:off x="777240" y="1353312"/>
            <a:ext cx="5531351" cy="149655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9655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165591"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 : P ⊗ X → D(Y)     the kernel</a:t>
            </a:r>
          </a:p>
          <a:p>
            <a:pPr>
              <a:lnSpc>
                <a:spcPct val="134000"/>
              </a:lnSpc>
              <a:spcBef>
                <a:spcPts val="0"/>
              </a:spcBef>
              <a:spcAft>
                <a:spcPts val="0"/>
              </a:spcAft>
            </a:pPr>
            <a:r>
              <a:rPr sz="950" b="0" i="0">
                <a:solidFill>
                  <a:srgbClr val="1C1C1E"/>
                </a:solidFill>
                <a:latin typeface="Consolas"/>
              </a:rPr>
              <a:t>fit                 picks a point in P</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the kernel did not change.</a:t>
            </a:r>
          </a:p>
          <a:p>
            <a:pPr>
              <a:lnSpc>
                <a:spcPct val="134000"/>
              </a:lnSpc>
              <a:spcBef>
                <a:spcPts val="0"/>
              </a:spcBef>
              <a:spcAft>
                <a:spcPts val="0"/>
              </a:spcAft>
            </a:pPr>
            <a:r>
              <a:rPr sz="950" b="0" i="0">
                <a:solidFill>
                  <a:srgbClr val="1C1C1E"/>
                </a:solidFill>
                <a:latin typeface="Consolas"/>
              </a:rPr>
              <a:t>⇒ minting a model version per retrain would make</a:t>
            </a:r>
          </a:p>
          <a:p>
            <a:pPr>
              <a:lnSpc>
                <a:spcPct val="134000"/>
              </a:lnSpc>
              <a:spcBef>
                <a:spcPts val="0"/>
              </a:spcBef>
              <a:spcAft>
                <a:spcPts val="0"/>
              </a:spcAft>
            </a:pPr>
            <a:r>
              <a:rPr sz="950" b="0" i="0">
                <a:solidFill>
                  <a:srgbClr val="1C1C1E"/>
                </a:solidFill>
                <a:latin typeface="Consolas"/>
              </a:rPr>
              <a:t>  'the model changed' mean two different things.</a:t>
            </a:r>
          </a:p>
        </p:txBody>
      </p:sp>
      <p:sp>
        <p:nvSpPr>
          <p:cNvPr id="13" name="TextBox 12"/>
          <p:cNvSpPr txBox="1"/>
          <p:nvPr/>
        </p:nvSpPr>
        <p:spPr>
          <a:xfrm>
            <a:off x="777240" y="3087608"/>
            <a:ext cx="5531351" cy="1737360"/>
          </a:xfrm>
          <a:prstGeom prst="rect">
            <a:avLst/>
          </a:prstGeom>
          <a:noFill/>
        </p:spPr>
        <p:txBody>
          <a:bodyPr wrap="square" lIns="0" rIns="0" tIns="0" bIns="0" anchor="t">
            <a:spAutoFit/>
          </a:bodyPr>
          <a:lstStyle/>
          <a:p>
            <a:pPr algn="l">
              <a:lnSpc>
                <a:spcPct val="125000"/>
              </a:lnSpc>
              <a:spcBef>
                <a:spcPts val="0"/>
              </a:spcBef>
              <a:spcAft>
                <a:spcPts val="900"/>
              </a:spcAft>
            </a:pPr>
            <a:r>
              <a:rPr sz="1100" b="0" i="0">
                <a:solidFill>
                  <a:srgbClr val="1C1C1E"/>
                </a:solidFill>
                <a:latin typeface="Calibri"/>
              </a:rPr>
              <a:t>But a parameter set does change behaviour — so it is immutable, versioned, and an alias cannot point at it until somebody other than whoever recorded it has approved.</a:t>
            </a:r>
          </a:p>
          <a:p>
            <a:pPr>
              <a:lnSpc>
                <a:spcPct val="125000"/>
              </a:lnSpc>
              <a:spcBef>
                <a:spcPts val="0"/>
              </a:spcBef>
              <a:spcAft>
                <a:spcPts val="0"/>
              </a:spcAft>
            </a:pPr>
            <a:r>
              <a:rPr sz="1100" b="0" i="0">
                <a:solidFill>
                  <a:srgbClr val="4A4F57"/>
                </a:solidFill>
                <a:latin typeface="Calibri"/>
              </a:rPr>
              <a:t>Accepted ONLY against a warrant MAYA issued, and only when it names the featureset version that produced it. Without that, “which data produced these numbers” has no answer.</a:t>
            </a:r>
          </a:p>
        </p:txBody>
      </p:sp>
      <p:sp>
        <p:nvSpPr>
          <p:cNvPr id="14" name="TextBox 13"/>
          <p:cNvSpPr txBox="1"/>
          <p:nvPr/>
        </p:nvSpPr>
        <p:spPr>
          <a:xfrm>
            <a:off x="6734080" y="1353312"/>
            <a:ext cx="4680374" cy="292608"/>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Three routes to P, governed to three depths</a:t>
            </a:r>
          </a:p>
        </p:txBody>
      </p:sp>
      <p:graphicFrame>
        <p:nvGraphicFramePr>
          <p:cNvPr id="15" name="Table 14"/>
          <p:cNvGraphicFramePr>
            <a:graphicFrameLocks noGrp="1"/>
          </p:cNvGraphicFramePr>
          <p:nvPr/>
        </p:nvGraphicFramePr>
        <p:xfrm>
          <a:off x="6734080" y="1719072"/>
          <a:ext cx="4680374" cy="1253832"/>
        </p:xfrm>
        <a:graphic>
          <a:graphicData uri="http://schemas.openxmlformats.org/drawingml/2006/table">
            <a:tbl>
              <a:tblPr firstRow="1">
                <a:tableStyleId>{5C22544A-7EE6-4342-B048-85BDC9FD1C3A}</a:tableStyleId>
              </a:tblPr>
              <a:tblGrid>
                <a:gridCol w="1191368"/>
                <a:gridCol w="2127443"/>
                <a:gridCol w="1361563"/>
              </a:tblGrid>
              <a:tr h="329184">
                <a:tc>
                  <a:txBody>
                    <a:bodyPr wrap="square"/>
                    <a:lstStyle/>
                    <a:p>
                      <a:pPr algn="l"/>
                      <a:r>
                        <a:rPr sz="950" b="1">
                          <a:solidFill>
                            <a:srgbClr val="FFFFFF"/>
                          </a:solidFill>
                          <a:latin typeface="Calibri"/>
                        </a:rPr>
                        <a:t>Route</a:t>
                      </a:r>
                    </a:p>
                  </a:txBody>
                  <a:tcPr marL="82296" marR="64008" marT="32004" marB="32004" anchor="ctr">
                    <a:solidFill>
                      <a:srgbClr val="A51C30"/>
                    </a:solidFill>
                  </a:tcPr>
                </a:tc>
                <a:tc>
                  <a:txBody>
                    <a:bodyPr wrap="square"/>
                    <a:lstStyle/>
                    <a:p>
                      <a:pPr algn="l"/>
                      <a:r>
                        <a:rPr sz="950" b="1">
                          <a:solidFill>
                            <a:srgbClr val="FFFFFF"/>
                          </a:solidFill>
                          <a:latin typeface="Calibri"/>
                        </a:rPr>
                        <a:t>Evidence</a:t>
                      </a:r>
                    </a:p>
                  </a:txBody>
                  <a:tcPr marL="82296" marR="64008" marT="32004" marB="32004" anchor="ctr">
                    <a:solidFill>
                      <a:srgbClr val="A51C30"/>
                    </a:solidFill>
                  </a:tcPr>
                </a:tc>
                <a:tc>
                  <a:txBody>
                    <a:bodyPr wrap="square"/>
                    <a:lstStyle/>
                    <a:p>
                      <a:pPr algn="l"/>
                      <a:r>
                        <a:rPr sz="950" b="1">
                          <a:solidFill>
                            <a:srgbClr val="FFFFFF"/>
                          </a:solidFill>
                          <a:latin typeface="Calibri"/>
                        </a:rPr>
                        <a:t>Governed</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fitted</a:t>
                      </a:r>
                    </a:p>
                  </a:txBody>
                  <a:tcPr marL="82296" marR="64008" marT="32004" marB="32004" anchor="ctr">
                    <a:solidFill>
                      <a:srgbClr val="FFFFFF"/>
                    </a:solidFill>
                  </a:tcPr>
                </a:tc>
                <a:tc>
                  <a:txBody>
                    <a:bodyPr wrap="square"/>
                    <a:lstStyle/>
                    <a:p>
                      <a:pPr algn="l"/>
                      <a:r>
                        <a:rPr sz="950" b="0">
                          <a:solidFill>
                            <a:srgbClr val="1C1C1E"/>
                          </a:solidFill>
                          <a:latin typeface="Calibri"/>
                        </a:rPr>
                        <a:t>a warrant MAYA issued</a:t>
                      </a:r>
                    </a:p>
                  </a:txBody>
                  <a:tcPr marL="82296" marR="64008" marT="32004" marB="32004" anchor="ctr">
                    <a:solidFill>
                      <a:srgbClr val="FFFFFF"/>
                    </a:solidFill>
                  </a:tcPr>
                </a:tc>
                <a:tc>
                  <a:txBody>
                    <a:bodyPr wrap="square"/>
                    <a:lstStyle/>
                    <a:p>
                      <a:pPr algn="l"/>
                      <a:r>
                        <a:rPr sz="950" b="0">
                          <a:solidFill>
                            <a:srgbClr val="1C1C1E"/>
                          </a:solidFill>
                          <a:latin typeface="Calibri"/>
                        </a:rPr>
                        <a:t>each set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calibrated</a:t>
                      </a:r>
                    </a:p>
                  </a:txBody>
                  <a:tcPr marL="82296" marR="64008" marT="32004" marB="32004" anchor="ctr">
                    <a:solidFill>
                      <a:srgbClr val="F6F3EF"/>
                    </a:solidFill>
                  </a:tcPr>
                </a:tc>
                <a:tc>
                  <a:txBody>
                    <a:bodyPr wrap="square"/>
                    <a:lstStyle/>
                    <a:p>
                      <a:pPr algn="l"/>
                      <a:r>
                        <a:rPr sz="950" b="0">
                          <a:solidFill>
                            <a:srgbClr val="1C1C1E"/>
                          </a:solidFill>
                          <a:latin typeface="Calibri"/>
                        </a:rPr>
                        <a:t>market data, often daily</a:t>
                      </a:r>
                    </a:p>
                  </a:txBody>
                  <a:tcPr marL="82296" marR="64008" marT="32004" marB="32004" anchor="ctr">
                    <a:solidFill>
                      <a:srgbClr val="F6F3EF"/>
                    </a:solidFill>
                  </a:tcPr>
                </a:tc>
                <a:tc>
                  <a:txBody>
                    <a:bodyPr wrap="square"/>
                    <a:lstStyle/>
                    <a:p>
                      <a:pPr algn="l"/>
                      <a:r>
                        <a:rPr sz="950" b="0">
                          <a:solidFill>
                            <a:srgbClr val="1C1C1E"/>
                          </a:solidFill>
                          <a:latin typeface="Calibri"/>
                        </a:rPr>
                        <a:t>the procedure</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declared</a:t>
                      </a:r>
                    </a:p>
                  </a:txBody>
                  <a:tcPr marL="82296" marR="64008" marT="32004" marB="32004" anchor="ctr">
                    <a:solidFill>
                      <a:srgbClr val="FFFFFF"/>
                    </a:solidFill>
                  </a:tcPr>
                </a:tc>
                <a:tc>
                  <a:txBody>
                    <a:bodyPr wrap="square"/>
                    <a:lstStyle/>
                    <a:p>
                      <a:pPr algn="l"/>
                      <a:r>
                        <a:rPr sz="950" b="0">
                          <a:solidFill>
                            <a:srgbClr val="1C1C1E"/>
                          </a:solidFill>
                          <a:latin typeface="Calibri"/>
                        </a:rPr>
                        <a:t>a person’s assertion</a:t>
                      </a:r>
                    </a:p>
                  </a:txBody>
                  <a:tcPr marL="82296" marR="64008" marT="32004" marB="32004" anchor="ctr">
                    <a:solidFill>
                      <a:srgbClr val="FFFFFF"/>
                    </a:solidFill>
                  </a:tcPr>
                </a:tc>
                <a:tc>
                  <a:txBody>
                    <a:bodyPr wrap="square"/>
                    <a:lstStyle/>
                    <a:p>
                      <a:pPr algn="l"/>
                      <a:r>
                        <a:rPr sz="950" b="0">
                          <a:solidFill>
                            <a:srgbClr val="1C1C1E"/>
                          </a:solidFill>
                          <a:latin typeface="Calibri"/>
                        </a:rPr>
                        <a:t>attestation</a:t>
                      </a:r>
                    </a:p>
                  </a:txBody>
                  <a:tcPr marL="82296" marR="64008" marT="32004" marB="32004" anchor="ctr">
                    <a:solidFill>
                      <a:srgbClr val="FFFFFF"/>
                    </a:solidFill>
                  </a:tcPr>
                </a:tc>
              </a:tr>
            </a:tbl>
          </a:graphicData>
        </a:graphic>
      </p:graphicFrame>
      <p:sp>
        <p:nvSpPr>
          <p:cNvPr id="16" name="TextBox 15"/>
          <p:cNvSpPr txBox="1"/>
          <p:nvPr/>
        </p:nvSpPr>
        <p:spPr>
          <a:xfrm>
            <a:off x="6734080" y="3090672"/>
            <a:ext cx="4680374" cy="1828800"/>
          </a:xfrm>
          <a:prstGeom prst="rect">
            <a:avLst/>
          </a:prstGeom>
          <a:noFill/>
        </p:spPr>
        <p:txBody>
          <a:bodyPr wrap="square" lIns="0" rIns="0" tIns="0" bIns="0" anchor="t">
            <a:spAutoFit/>
          </a:bodyPr>
          <a:lstStyle/>
          <a:p>
            <a:pPr algn="l">
              <a:lnSpc>
                <a:spcPct val="124000"/>
              </a:lnSpc>
              <a:spcBef>
                <a:spcPts val="0"/>
              </a:spcBef>
              <a:spcAft>
                <a:spcPts val="900"/>
              </a:spcAft>
            </a:pPr>
            <a:r>
              <a:rPr sz="1050" b="0" i="0">
                <a:solidFill>
                  <a:srgbClr val="4A4F57"/>
                </a:solidFill>
                <a:latin typeface="Calibri"/>
              </a:rPr>
              <a:t>The middle row is why provenance is not cosmetic: a Hull–White model recalibrated every morning would drown the register if each day needed a committee.</a:t>
            </a:r>
          </a:p>
          <a:p>
            <a:pPr>
              <a:lnSpc>
                <a:spcPct val="124000"/>
              </a:lnSpc>
              <a:spcBef>
                <a:spcPts val="0"/>
              </a:spcBef>
              <a:spcAft>
                <a:spcPts val="0"/>
              </a:spcAft>
            </a:pPr>
            <a:r>
              <a:rPr sz="1050" b="0" i="0">
                <a:solidFill>
                  <a:srgbClr val="4A4F57"/>
                </a:solidFill>
                <a:latin typeface="Calibri"/>
              </a:rPr>
              <a:t>The bottom row is the model that never trains. A closed form arrives with its parameters and its kernel is ready from the first day — and L-W1 refuses it a fit warrant, so nobody has to remember which models train.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run warrant, and why it is determined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64</a:t>
            </a:r>
          </a:p>
        </p:txBody>
      </p:sp>
      <p:sp>
        <p:nvSpPr>
          <p:cNvPr id="10" name="Rectangle 9"/>
          <p:cNvSpPr/>
          <p:nvPr/>
        </p:nvSpPr>
        <p:spPr>
          <a:xfrm>
            <a:off x="777240" y="1353312"/>
            <a:ext cx="5956840" cy="162520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62520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5591080" cy="1442328"/>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"operation":  {"verb": "score", "deterministic": true},</a:t>
            </a:r>
          </a:p>
          <a:p>
            <a:pPr>
              <a:lnSpc>
                <a:spcPct val="134000"/>
              </a:lnSpc>
              <a:spcBef>
                <a:spcPts val="0"/>
              </a:spcBef>
              <a:spcAft>
                <a:spcPts val="0"/>
              </a:spcAft>
            </a:pPr>
            <a:r>
              <a:rPr sz="900" b="0" i="0">
                <a:solidFill>
                  <a:srgbClr val="1C1C1E"/>
                </a:solidFill>
                <a:latin typeface="Consolas"/>
              </a:rPr>
              <a:t>"parameters": {"kind":   "estimated_coefficients",</a:t>
            </a:r>
          </a:p>
          <a:p>
            <a:pPr>
              <a:lnSpc>
                <a:spcPct val="134000"/>
              </a:lnSpc>
              <a:spcBef>
                <a:spcPts val="0"/>
              </a:spcBef>
              <a:spcAft>
                <a:spcPts val="0"/>
              </a:spcAft>
            </a:pPr>
            <a:r>
              <a:rPr sz="900" b="0" i="0">
                <a:solidFill>
                  <a:srgbClr val="1C1C1E"/>
                </a:solidFill>
                <a:latin typeface="Consolas"/>
              </a:rPr>
              <a:t>               "source": {"binding": "parameter_set",</a:t>
            </a:r>
          </a:p>
          <a:p>
            <a:pPr>
              <a:lnSpc>
                <a:spcPct val="134000"/>
              </a:lnSpc>
              <a:spcBef>
                <a:spcPts val="0"/>
              </a:spcBef>
              <a:spcAft>
                <a:spcPts val="0"/>
              </a:spcAft>
            </a:pPr>
            <a:r>
              <a:rPr sz="900" b="0" i="0">
                <a:solidFill>
                  <a:srgbClr val="1C1C1E"/>
                </a:solidFill>
                <a:latin typeface="Consolas"/>
              </a:rPr>
              <a:t>                          "parameter_set": "01a06d51f9c3",</a:t>
            </a:r>
          </a:p>
          <a:p>
            <a:pPr>
              <a:lnSpc>
                <a:spcPct val="134000"/>
              </a:lnSpc>
              <a:spcBef>
                <a:spcPts val="0"/>
              </a:spcBef>
              <a:spcAft>
                <a:spcPts val="0"/>
              </a:spcAft>
            </a:pPr>
            <a:r>
              <a:rPr sz="900" b="0" i="0">
                <a:solidFill>
                  <a:srgbClr val="1C1C1E"/>
                </a:solidFill>
                <a:latin typeface="Consolas"/>
              </a:rPr>
              <a:t>                          "digest": "sha256:c4e7…"}},</a:t>
            </a:r>
          </a:p>
          <a:p>
            <a:pPr>
              <a:lnSpc>
                <a:spcPct val="134000"/>
              </a:lnSpc>
              <a:spcBef>
                <a:spcPts val="0"/>
              </a:spcBef>
              <a:spcAft>
                <a:spcPts val="0"/>
              </a:spcAft>
            </a:pPr>
            <a:r>
              <a:rPr sz="900" b="0" i="0">
                <a:solidFill>
                  <a:srgbClr val="1C1C1E"/>
                </a:solidFill>
                <a:latin typeface="Consolas"/>
              </a:rPr>
              <a:t>"data": {"inputs":  [{"binding": "request"}],</a:t>
            </a:r>
          </a:p>
          <a:p>
            <a:pPr>
              <a:lnSpc>
                <a:spcPct val="134000"/>
              </a:lnSpc>
              <a:spcBef>
                <a:spcPts val="0"/>
              </a:spcBef>
              <a:spcAft>
                <a:spcPts val="0"/>
              </a:spcAft>
            </a:pPr>
            <a:r>
              <a:rPr sz="900" b="0" i="0">
                <a:solidFill>
                  <a:srgbClr val="1C1C1E"/>
                </a:solidFill>
                <a:latin typeface="Consolas"/>
              </a:rPr>
              <a:t>         "outputs": [{"sink": "response"}]}</a:t>
            </a:r>
          </a:p>
        </p:txBody>
      </p:sp>
      <p:sp>
        <p:nvSpPr>
          <p:cNvPr id="13" name="TextBox 12"/>
          <p:cNvSpPr txBox="1"/>
          <p:nvPr/>
        </p:nvSpPr>
        <p:spPr>
          <a:xfrm>
            <a:off x="777240" y="3234552"/>
            <a:ext cx="5956840" cy="1554480"/>
          </a:xfrm>
          <a:prstGeom prst="rect">
            <a:avLst/>
          </a:prstGeom>
          <a:noFill/>
        </p:spPr>
        <p:txBody>
          <a:bodyPr wrap="square" lIns="0" rIns="0" tIns="0" bIns="0" anchor="t">
            <a:spAutoFit/>
          </a:bodyPr>
          <a:lstStyle/>
          <a:p>
            <a:pPr algn="l">
              <a:lnSpc>
                <a:spcPct val="125000"/>
              </a:lnSpc>
              <a:spcBef>
                <a:spcPts val="0"/>
              </a:spcBef>
              <a:spcAft>
                <a:spcPts val="900"/>
              </a:spcAft>
            </a:pPr>
            <a:r>
              <a:rPr sz="1150" b="0" i="0">
                <a:solidFill>
                  <a:srgbClr val="1C1C1E"/>
                </a:solidFill>
                <a:latin typeface="Calibri"/>
              </a:rPr>
              <a:t>Model version AND parameter set, both pinned. The run is determined: same kernel, same point in P, same input, same answer.</a:t>
            </a:r>
          </a:p>
          <a:p>
            <a:pPr>
              <a:lnSpc>
                <a:spcPct val="125000"/>
              </a:lnSpc>
              <a:spcBef>
                <a:spcPts val="0"/>
              </a:spcBef>
              <a:spcAft>
                <a:spcPts val="0"/>
              </a:spcAft>
            </a:pPr>
            <a:r>
              <a:rPr sz="1050" b="0" i="0">
                <a:solidFill>
                  <a:srgbClr val="4A4F57"/>
                </a:solidFill>
                <a:latin typeface="Calibri"/>
              </a:rPr>
              <a:t>L-W8 refuses each of to_be_fitted and parameter_set in the other’s position. A fit that claims to read parameters has the direction backwards; a score that will not name its inhabitant produces a number attributable to nothing.</a:t>
            </a:r>
          </a:p>
        </p:txBody>
      </p:sp>
      <p:sp>
        <p:nvSpPr>
          <p:cNvPr id="14" name="TextBox 13"/>
          <p:cNvSpPr txBox="1"/>
          <p:nvPr/>
        </p:nvSpPr>
        <p:spPr>
          <a:xfrm>
            <a:off x="7159569" y="1353312"/>
            <a:ext cx="4254886" cy="32918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What the appraiser gets</a:t>
            </a:r>
          </a:p>
          <a:p>
            <a:pPr>
              <a:lnSpc>
                <a:spcPct val="124000"/>
              </a:lnSpc>
              <a:spcBef>
                <a:spcPts val="0"/>
              </a:spcBef>
              <a:spcAft>
                <a:spcPts val="800"/>
              </a:spcAft>
            </a:pPr>
            <a:r>
              <a:rPr sz="1100" b="0" i="0">
                <a:solidFill>
                  <a:srgbClr val="1C1C1E"/>
                </a:solidFill>
                <a:latin typeface="Calibri"/>
              </a:rPr>
              <a:t>A number whose provenance runs all the way back:</a:t>
            </a:r>
          </a:p>
          <a:p>
            <a:pPr>
              <a:spcBef>
                <a:spcPts val="0"/>
              </a:spcBef>
              <a:spcAft>
                <a:spcPts val="500"/>
              </a:spcAft>
            </a:pPr>
            <a:r>
              <a:rPr sz="1050" b="1" i="0">
                <a:solidFill>
                  <a:srgbClr val="A51C30"/>
                </a:solidFill>
                <a:latin typeface="Calibri"/>
              </a:rPr>
              <a:t>→  </a:t>
            </a:r>
            <a:r>
              <a:rPr sz="1050" b="0" i="0">
                <a:solidFill>
                  <a:srgbClr val="4A4F57"/>
                </a:solidFill>
                <a:latin typeface="Calibri"/>
              </a:rPr>
              <a:t>the parameter set that produced it</a:t>
            </a:r>
          </a:p>
          <a:p>
            <a:pPr>
              <a:spcBef>
                <a:spcPts val="0"/>
              </a:spcBef>
              <a:spcAft>
                <a:spcPts val="500"/>
              </a:spcAft>
            </a:pPr>
            <a:r>
              <a:rPr sz="1050" b="1" i="0">
                <a:solidFill>
                  <a:srgbClr val="A51C30"/>
                </a:solidFill>
                <a:latin typeface="Calibri"/>
              </a:rPr>
              <a:t>→  </a:t>
            </a:r>
            <a:r>
              <a:rPr sz="1050" b="0" i="0">
                <a:solidFill>
                  <a:srgbClr val="4A4F57"/>
                </a:solidFill>
                <a:latin typeface="Calibri"/>
              </a:rPr>
              <a:t>the featureset version it was fitted from</a:t>
            </a:r>
          </a:p>
          <a:p>
            <a:pPr>
              <a:spcBef>
                <a:spcPts val="0"/>
              </a:spcBef>
              <a:spcAft>
                <a:spcPts val="500"/>
              </a:spcAft>
            </a:pPr>
            <a:r>
              <a:rPr sz="1050" b="1" i="0">
                <a:solidFill>
                  <a:srgbClr val="A51C30"/>
                </a:solidFill>
                <a:latin typeface="Calibri"/>
              </a:rPr>
              <a:t>→  </a:t>
            </a:r>
            <a:r>
              <a:rPr sz="1050" b="0" i="0">
                <a:solidFill>
                  <a:srgbClr val="4A4F57"/>
                </a:solidFill>
                <a:latin typeface="Calibri"/>
              </a:rPr>
              <a:t>the pinned Delta namespaces beneath that</a:t>
            </a:r>
          </a:p>
          <a:p>
            <a:pPr>
              <a:spcBef>
                <a:spcPts val="0"/>
              </a:spcBef>
              <a:spcAft>
                <a:spcPts val="500"/>
              </a:spcAft>
            </a:pPr>
            <a:r>
              <a:rPr sz="1050" b="1" i="0">
                <a:solidFill>
                  <a:srgbClr val="A51C30"/>
                </a:solidFill>
                <a:latin typeface="Calibri"/>
              </a:rPr>
              <a:t>→  </a:t>
            </a:r>
            <a:r>
              <a:rPr sz="1050" b="0" i="0">
                <a:solidFill>
                  <a:srgbClr val="4A4F57"/>
                </a:solidFill>
                <a:latin typeface="Calibri"/>
              </a:rPr>
              <a:t>the rows that were true and known on a stated date</a:t>
            </a:r>
          </a:p>
          <a:p>
            <a:pPr>
              <a:lnSpc>
                <a:spcPct val="124000"/>
              </a:lnSpc>
              <a:spcBef>
                <a:spcPts val="800"/>
              </a:spcBef>
              <a:spcAft>
                <a:spcPts val="0"/>
              </a:spcAft>
            </a:pPr>
            <a:r>
              <a:rPr sz="1100" b="1" i="0">
                <a:solidFill>
                  <a:srgbClr val="1C1C1E"/>
                </a:solidFill>
                <a:latin typeface="Calibri"/>
              </a:rPr>
              <a:t>Not a claim about lineage. A chain of pins, each of which resolves.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Warrants differ by kind of model — as refusals, not as documents</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65</a:t>
            </a:r>
          </a:p>
        </p:txBody>
      </p:sp>
      <p:graphicFrame>
        <p:nvGraphicFramePr>
          <p:cNvPr id="10" name="Table 9"/>
          <p:cNvGraphicFramePr>
            <a:graphicFrameLocks noGrp="1"/>
          </p:cNvGraphicFramePr>
          <p:nvPr/>
        </p:nvGraphicFramePr>
        <p:xfrm>
          <a:off x="777240" y="1764792"/>
          <a:ext cx="10637213" cy="1739568"/>
        </p:xfrm>
        <a:graphic>
          <a:graphicData uri="http://schemas.openxmlformats.org/drawingml/2006/table">
            <a:tbl>
              <a:tblPr firstRow="1">
                <a:tableStyleId>{5C22544A-7EE6-4342-B048-85BDC9FD1C3A}</a:tableStyleId>
              </a:tblPr>
              <a:tblGrid>
                <a:gridCol w="914321"/>
                <a:gridCol w="2742964"/>
                <a:gridCol w="3017260"/>
                <a:gridCol w="3962668"/>
              </a:tblGrid>
              <a:tr h="329184">
                <a:tc>
                  <a:txBody>
                    <a:bodyPr wrap="square"/>
                    <a:lstStyle/>
                    <a:p>
                      <a:pPr algn="l"/>
                      <a:r>
                        <a:rPr sz="950" b="1">
                          <a:solidFill>
                            <a:srgbClr val="FFFFFF"/>
                          </a:solidFill>
                          <a:latin typeface="Calibri"/>
                        </a:rPr>
                        <a:t>Law</a:t>
                      </a:r>
                    </a:p>
                  </a:txBody>
                  <a:tcPr marL="82296" marR="64008" marT="32004" marB="32004" anchor="ctr">
                    <a:solidFill>
                      <a:srgbClr val="A51C30"/>
                    </a:solidFill>
                  </a:tcPr>
                </a:tc>
                <a:tc>
                  <a:txBody>
                    <a:bodyPr wrap="square"/>
                    <a:lstStyle/>
                    <a:p>
                      <a:pPr algn="l"/>
                      <a:r>
                        <a:rPr sz="950" b="1">
                          <a:solidFill>
                            <a:srgbClr val="FFFFFF"/>
                          </a:solidFill>
                          <a:latin typeface="Calibri"/>
                        </a:rPr>
                        <a:t>Bites when</a:t>
                      </a:r>
                    </a:p>
                  </a:txBody>
                  <a:tcPr marL="82296" marR="64008" marT="32004" marB="32004" anchor="ctr">
                    <a:solidFill>
                      <a:srgbClr val="A51C30"/>
                    </a:solidFill>
                  </a:tcPr>
                </a:tc>
                <a:tc>
                  <a:txBody>
                    <a:bodyPr wrap="square"/>
                    <a:lstStyle/>
                    <a:p>
                      <a:pPr algn="l"/>
                      <a:r>
                        <a:rPr sz="950" b="1">
                          <a:solidFill>
                            <a:srgbClr val="FFFFFF"/>
                          </a:solidFill>
                          <a:latin typeface="Calibri"/>
                        </a:rPr>
                        <a:t>What it refuses</a:t>
                      </a:r>
                    </a:p>
                  </a:txBody>
                  <a:tcPr marL="82296" marR="64008" marT="32004" marB="32004" anchor="ctr">
                    <a:solidFill>
                      <a:srgbClr val="A51C30"/>
                    </a:solidFill>
                  </a:tcPr>
                </a:tc>
                <a:tc>
                  <a:txBody>
                    <a:bodyPr wrap="square"/>
                    <a:lstStyle/>
                    <a:p>
                      <a:pPr algn="l"/>
                      <a:r>
                        <a:rPr sz="950" b="1">
                          <a:solidFill>
                            <a:srgbClr val="FFFFFF"/>
                          </a:solidFill>
                          <a:latin typeface="Calibri"/>
                        </a:rPr>
                        <a:t>The failure it prevents</a:t>
                      </a:r>
                    </a:p>
                  </a:txBody>
                  <a:tcPr marL="82296" marR="64008" marT="32004" marB="32004" anchor="ctr">
                    <a:solidFill>
                      <a:srgbClr val="A51C30"/>
                    </a:solidFill>
                  </a:tcPr>
                </a:tc>
              </a:tr>
              <a:tr h="470128">
                <a:tc>
                  <a:txBody>
                    <a:bodyPr wrap="square"/>
                    <a:lstStyle/>
                    <a:p>
                      <a:pPr algn="l"/>
                      <a:r>
                        <a:rPr sz="950" b="1">
                          <a:solidFill>
                            <a:srgbClr val="A51C30"/>
                          </a:solidFill>
                          <a:latin typeface="Calibri"/>
                        </a:rPr>
                        <a:t>L-W11</a:t>
                      </a:r>
                    </a:p>
                  </a:txBody>
                  <a:tcPr marL="82296" marR="64008" marT="32004" marB="32004" anchor="ctr">
                    <a:solidFill>
                      <a:srgbClr val="FFFFFF"/>
                    </a:solidFill>
                  </a:tcPr>
                </a:tc>
                <a:tc>
                  <a:txBody>
                    <a:bodyPr wrap="square"/>
                    <a:lstStyle/>
                    <a:p>
                      <a:pPr algn="l"/>
                      <a:r>
                        <a:rPr sz="950" b="0">
                          <a:solidFill>
                            <a:srgbClr val="1C1C1E"/>
                          </a:solidFill>
                          <a:latin typeface="Calibri"/>
                        </a:rPr>
                        <a:t>parameters.kind is calibration_set,
and the verb is not fit</a:t>
                      </a:r>
                    </a:p>
                  </a:txBody>
                  <a:tcPr marL="82296" marR="64008" marT="32004" marB="32004" anchor="ctr">
                    <a:solidFill>
                      <a:srgbClr val="FFFFFF"/>
                    </a:solidFill>
                  </a:tcPr>
                </a:tc>
                <a:tc>
                  <a:txBody>
                    <a:bodyPr wrap="square"/>
                    <a:lstStyle/>
                    <a:p>
                      <a:pPr algn="l"/>
                      <a:r>
                        <a:rPr sz="950" b="0">
                          <a:solidFill>
                            <a:srgbClr val="1C1C1E"/>
                          </a:solidFill>
                          <a:latin typeface="Calibri"/>
                        </a:rPr>
                        <a:t>a run that does not say what the
parameters were calibrated AS OF</a:t>
                      </a:r>
                    </a:p>
                  </a:txBody>
                  <a:tcPr marL="82296" marR="64008" marT="32004" marB="32004" anchor="ctr">
                    <a:solidFill>
                      <a:srgbClr val="FFFFFF"/>
                    </a:solidFill>
                  </a:tcPr>
                </a:tc>
                <a:tc>
                  <a:txBody>
                    <a:bodyPr wrap="square"/>
                    <a:lstStyle/>
                    <a:p>
                      <a:pPr algn="l"/>
                      <a:r>
                        <a:rPr sz="950" b="0">
                          <a:solidFill>
                            <a:srgbClr val="1C1C1E"/>
                          </a:solidFill>
                          <a:latin typeface="Calibri"/>
                        </a:rPr>
                        <a:t>yesterday's swaption fit priced against
today's book, silently</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L-W12</a:t>
                      </a:r>
                    </a:p>
                  </a:txBody>
                  <a:tcPr marL="82296" marR="64008" marT="32004" marB="32004" anchor="ctr">
                    <a:solidFill>
                      <a:srgbClr val="F6F3EF"/>
                    </a:solidFill>
                  </a:tcPr>
                </a:tc>
                <a:tc>
                  <a:txBody>
                    <a:bodyPr wrap="square"/>
                    <a:lstStyle/>
                    <a:p>
                      <a:pPr algn="l"/>
                      <a:r>
                        <a:rPr sz="950" b="0">
                          <a:solidFill>
                            <a:srgbClr val="1C1C1E"/>
                          </a:solidFill>
                          <a:latin typeface="Calibri"/>
                        </a:rPr>
                        <a:t>parameters come from the artifact</a:t>
                      </a:r>
                    </a:p>
                  </a:txBody>
                  <a:tcPr marL="82296" marR="64008" marT="32004" marB="32004" anchor="ctr">
                    <a:solidFill>
                      <a:srgbClr val="F6F3EF"/>
                    </a:solidFill>
                  </a:tcPr>
                </a:tc>
                <a:tc>
                  <a:txBody>
                    <a:bodyPr wrap="square"/>
                    <a:lstStyle/>
                    <a:p>
                      <a:pPr algn="l"/>
                      <a:r>
                        <a:rPr sz="950" b="0">
                          <a:solidFill>
                            <a:srgbClr val="1C1C1E"/>
                          </a:solidFill>
                          <a:latin typeface="Calibri"/>
                        </a:rPr>
                        <a:t>a warrant with no artifact digest</a:t>
                      </a:r>
                    </a:p>
                  </a:txBody>
                  <a:tcPr marL="82296" marR="64008" marT="32004" marB="32004" anchor="ctr">
                    <a:solidFill>
                      <a:srgbClr val="F6F3EF"/>
                    </a:solidFill>
                  </a:tcPr>
                </a:tc>
                <a:tc>
                  <a:txBody>
                    <a:bodyPr wrap="square"/>
                    <a:lstStyle/>
                    <a:p>
                      <a:pPr algn="l"/>
                      <a:r>
                        <a:rPr sz="950" b="0">
                          <a:solidFill>
                            <a:srgbClr val="1C1C1E"/>
                          </a:solidFill>
                          <a:latin typeface="Calibri"/>
                        </a:rPr>
                        <a:t>'what ran is what was approved' becomes
an assumption instead of a check</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L-W13</a:t>
                      </a:r>
                    </a:p>
                  </a:txBody>
                  <a:tcPr marL="82296" marR="64008" marT="32004" marB="32004" anchor="ctr">
                    <a:solidFill>
                      <a:srgbClr val="FFFFFF"/>
                    </a:solidFill>
                  </a:tcPr>
                </a:tc>
                <a:tc>
                  <a:txBody>
                    <a:bodyPr wrap="square"/>
                    <a:lstStyle/>
                    <a:p>
                      <a:pPr algn="l"/>
                      <a:r>
                        <a:rPr sz="950" b="0">
                          <a:solidFill>
                            <a:srgbClr val="1C1C1E"/>
                          </a:solidFill>
                          <a:latin typeface="Calibri"/>
                        </a:rPr>
                        <a:t>the runtime is generative</a:t>
                      </a:r>
                    </a:p>
                  </a:txBody>
                  <a:tcPr marL="82296" marR="64008" marT="32004" marB="32004" anchor="ctr">
                    <a:solidFill>
                      <a:srgbClr val="FFFFFF"/>
                    </a:solidFill>
                  </a:tcPr>
                </a:tc>
                <a:tc>
                  <a:txBody>
                    <a:bodyPr wrap="square"/>
                    <a:lstStyle/>
                    <a:p>
                      <a:pPr algn="l"/>
                      <a:r>
                        <a:rPr sz="950" b="0">
                          <a:solidFill>
                            <a:srgbClr val="1C1C1E"/>
                          </a:solidFill>
                          <a:latin typeface="Calibri"/>
                        </a:rPr>
                        <a:t>a base_model name with no build pinned</a:t>
                      </a:r>
                    </a:p>
                  </a:txBody>
                  <a:tcPr marL="82296" marR="64008" marT="32004" marB="32004" anchor="ctr">
                    <a:solidFill>
                      <a:srgbClr val="FFFFFF"/>
                    </a:solidFill>
                  </a:tcPr>
                </a:tc>
                <a:tc>
                  <a:txBody>
                    <a:bodyPr wrap="square"/>
                    <a:lstStyle/>
                    <a:p>
                      <a:pPr algn="l"/>
                      <a:r>
                        <a:rPr sz="950" b="0">
                          <a:solidFill>
                            <a:srgbClr val="1C1C1E"/>
                          </a:solidFill>
                          <a:latin typeface="Calibri"/>
                        </a:rPr>
                        <a:t>the weights are replaced by the host and
every field in the document stays the same</a:t>
                      </a:r>
                    </a:p>
                  </a:txBody>
                  <a:tcPr marL="82296" marR="64008" marT="32004" marB="32004" anchor="ctr">
                    <a:solidFill>
                      <a:srgbClr val="FFFFFF"/>
                    </a:solidFill>
                  </a:tcPr>
                </a:tc>
              </a:tr>
            </a:tbl>
          </a:graphicData>
        </a:graphic>
      </p:graphicFrame>
      <p:sp>
        <p:nvSpPr>
          <p:cNvPr id="11" name="Rectangle 10"/>
          <p:cNvSpPr/>
          <p:nvPr/>
        </p:nvSpPr>
        <p:spPr>
          <a:xfrm>
            <a:off x="777240" y="3778681"/>
            <a:ext cx="10637215" cy="11887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778681"/>
            <a:ext cx="41148" cy="1188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897553"/>
            <a:ext cx="10180015" cy="9692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Each is keyed on a fact the platform DERIVES. </a:t>
            </a:r>
            <a:r>
              <a:rPr sz="1050" b="0" i="0">
                <a:solidFill>
                  <a:srgbClr val="1C1C1E"/>
                </a:solidFill>
                <a:latin typeface="Calibri"/>
              </a:rPr>
              <a:t>The parameter kind, the source binding, the runtime — not a category anybody attached to the model. L-W12 is the clearest case: it bites hardest on a neural network and is deliberately not written in terms of the class, because a PMML scorecard is T2 and carries exactly the same exposure. Keying it on the trainability class would have missed that, and the miss would have looked like coverage.</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WARRANTS, AND WHAT COMES BACK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Profiles template the request, never the warrant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12 · Warrants, and What Comes Back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66</a:t>
            </a:r>
          </a:p>
        </p:txBody>
      </p:sp>
      <p:sp>
        <p:nvSpPr>
          <p:cNvPr id="10" name="Rectangle 9"/>
          <p:cNvSpPr/>
          <p:nvPr/>
        </p:nvSpPr>
        <p:spPr>
          <a:xfrm>
            <a:off x="777240"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Facts, derived</a:t>
            </a:r>
          </a:p>
          <a:p>
            <a:pPr>
              <a:lnSpc>
                <a:spcPct val="115000"/>
              </a:lnSpc>
              <a:spcBef>
                <a:spcPts val="0"/>
              </a:spcBef>
              <a:spcAft>
                <a:spcPts val="600"/>
              </a:spcAft>
            </a:pPr>
            <a:r>
              <a:rPr sz="850" b="0" i="0">
                <a:solidFill>
                  <a:srgbClr val="4A4F57"/>
                </a:solidFill>
                <a:latin typeface="Calibri"/>
              </a:rPr>
              <a:t>trainability_class, parameter_kind, runtime, artifact_format, tier, domain, environment</a:t>
            </a:r>
          </a:p>
        </p:txBody>
      </p:sp>
      <p:sp>
        <p:nvSpPr>
          <p:cNvPr id="13" name="Rectangle 12"/>
          <p:cNvSpPr/>
          <p:nvPr/>
        </p:nvSpPr>
        <p:spPr>
          <a:xfrm>
            <a:off x="3482263"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Predicate selects</a:t>
            </a:r>
          </a:p>
          <a:p>
            <a:pPr>
              <a:lnSpc>
                <a:spcPct val="115000"/>
              </a:lnSpc>
              <a:spcBef>
                <a:spcPts val="0"/>
              </a:spcBef>
              <a:spcAft>
                <a:spcPts val="600"/>
              </a:spcAft>
            </a:pPr>
            <a:r>
              <a:rPr sz="850" b="0" i="0">
                <a:solidFill>
                  <a:srgbClr val="4A4F57"/>
                </a:solidFill>
                <a:latin typeface="Calibri"/>
              </a:rPr>
              <a:t>a profile matches facts it does not get to declare, so it cannot disagree with them</a:t>
            </a:r>
          </a:p>
        </p:txBody>
      </p:sp>
      <p:sp>
        <p:nvSpPr>
          <p:cNvPr id="16" name="Rectangle 15"/>
          <p:cNvSpPr/>
          <p:nvPr/>
        </p:nvSpPr>
        <p:spPr>
          <a:xfrm>
            <a:off x="6187287"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The fold</a:t>
            </a:r>
          </a:p>
          <a:p>
            <a:pPr>
              <a:lnSpc>
                <a:spcPct val="115000"/>
              </a:lnSpc>
              <a:spcBef>
                <a:spcPts val="0"/>
              </a:spcBef>
              <a:spcAft>
                <a:spcPts val="600"/>
              </a:spcAft>
            </a:pPr>
            <a:r>
              <a:rPr sz="850" b="0" i="0">
                <a:solidFill>
                  <a:srgbClr val="4A4F57"/>
                </a:solidFill>
                <a:latin typeface="Calibri"/>
              </a:rPr>
              <a:t>left to right, rightmost wins per KEY, {} the identity, ordered by specificity</a:t>
            </a:r>
          </a:p>
        </p:txBody>
      </p:sp>
      <p:sp>
        <p:nvSpPr>
          <p:cNvPr id="19" name="Rectangle 18"/>
          <p:cNvSpPr/>
          <p:nvPr/>
        </p:nvSpPr>
        <p:spPr>
          <a:xfrm>
            <a:off x="8892311" y="1353312"/>
            <a:ext cx="2522143" cy="155448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35331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499616"/>
            <a:ext cx="2229535" cy="128016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Holes only</a:t>
            </a:r>
          </a:p>
          <a:p>
            <a:pPr>
              <a:lnSpc>
                <a:spcPct val="115000"/>
              </a:lnSpc>
              <a:spcBef>
                <a:spcPts val="0"/>
              </a:spcBef>
              <a:spcAft>
                <a:spcPts val="600"/>
              </a:spcAft>
            </a:pPr>
            <a:r>
              <a:rPr sz="850" b="0" i="0">
                <a:solidFill>
                  <a:srgbClr val="4A4F57"/>
                </a:solidFill>
                <a:latin typeface="Calibri"/>
              </a:rPr>
              <a:t>a value the caller supplied is theirs; the derivation names which profile filled each one</a:t>
            </a:r>
          </a:p>
        </p:txBody>
      </p:sp>
      <p:graphicFrame>
        <p:nvGraphicFramePr>
          <p:cNvPr id="22" name="Table 21"/>
          <p:cNvGraphicFramePr>
            <a:graphicFrameLocks noGrp="1"/>
          </p:cNvGraphicFramePr>
          <p:nvPr/>
        </p:nvGraphicFramePr>
        <p:xfrm>
          <a:off x="777240" y="3163824"/>
          <a:ext cx="10637213" cy="1304961"/>
        </p:xfrm>
        <a:graphic>
          <a:graphicData uri="http://schemas.openxmlformats.org/drawingml/2006/table">
            <a:tbl>
              <a:tblPr firstRow="1">
                <a:tableStyleId>{5C22544A-7EE6-4342-B048-85BDC9FD1C3A}</a:tableStyleId>
              </a:tblPr>
              <a:tblGrid>
                <a:gridCol w="2377235"/>
                <a:gridCol w="3657285"/>
                <a:gridCol w="4602693"/>
              </a:tblGrid>
              <a:tr h="329184">
                <a:tc>
                  <a:txBody>
                    <a:bodyPr wrap="square"/>
                    <a:lstStyle/>
                    <a:p>
                      <a:pPr algn="l"/>
                      <a:r>
                        <a:rPr sz="1050" b="1">
                          <a:solidFill>
                            <a:srgbClr val="FFFFFF"/>
                          </a:solidFill>
                          <a:latin typeface="Calibri"/>
                        </a:rPr>
                        <a:t>What you want</a:t>
                      </a:r>
                    </a:p>
                  </a:txBody>
                  <a:tcPr marL="82296" marR="64008" marT="32004" marB="32004" anchor="ctr">
                    <a:solidFill>
                      <a:srgbClr val="A51C30"/>
                    </a:solidFill>
                  </a:tcPr>
                </a:tc>
                <a:tc>
                  <a:txBody>
                    <a:bodyPr wrap="square"/>
                    <a:lstStyle/>
                    <a:p>
                      <a:pPr algn="l"/>
                      <a:r>
                        <a:rPr sz="1050" b="1">
                          <a:solidFill>
                            <a:srgbClr val="FFFFFF"/>
                          </a:solidFill>
                          <a:latin typeface="Calibri"/>
                        </a:rPr>
                        <a:t>Where it goes</a:t>
                      </a:r>
                    </a:p>
                  </a:txBody>
                  <a:tcPr marL="82296" marR="64008" marT="32004" marB="32004" anchor="ctr">
                    <a:solidFill>
                      <a:srgbClr val="A51C30"/>
                    </a:solidFill>
                  </a:tcPr>
                </a:tc>
                <a:tc>
                  <a:txBody>
                    <a:bodyPr wrap="square"/>
                    <a:lstStyle/>
                    <a:p>
                      <a:pPr algn="l"/>
                      <a:r>
                        <a:rPr sz="1050" b="1">
                          <a:solidFill>
                            <a:srgbClr val="FFFFFF"/>
                          </a:solidFill>
                          <a:latin typeface="Calibri"/>
                        </a:rPr>
                        <a:t>Because</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Save typing</a:t>
                      </a:r>
                    </a:p>
                  </a:txBody>
                  <a:tcPr marL="82296" marR="64008" marT="32004" marB="32004" anchor="ctr">
                    <a:solidFill>
                      <a:srgbClr val="FFFFFF"/>
                    </a:solidFill>
                  </a:tcPr>
                </a:tc>
                <a:tc>
                  <a:txBody>
                    <a:bodyPr wrap="square"/>
                    <a:lstStyle/>
                    <a:p>
                      <a:pPr algn="l"/>
                      <a:r>
                        <a:rPr sz="1050" b="0">
                          <a:solidFill>
                            <a:srgbClr val="1C1C1E"/>
                          </a:solidFill>
                          <a:latin typeface="Calibri"/>
                        </a:rPr>
                        <a:t>a profile</a:t>
                      </a:r>
                    </a:p>
                  </a:txBody>
                  <a:tcPr marL="82296" marR="64008" marT="32004" marB="32004" anchor="ctr">
                    <a:solidFill>
                      <a:srgbClr val="FFFFFF"/>
                    </a:solidFill>
                  </a:tcPr>
                </a:tc>
                <a:tc>
                  <a:txBody>
                    <a:bodyPr wrap="square"/>
                    <a:lstStyle/>
                    <a:p>
                      <a:pPr algn="l"/>
                      <a:r>
                        <a:rPr sz="1050" b="0">
                          <a:solidFill>
                            <a:srgbClr val="1C1C1E"/>
                          </a:solidFill>
                          <a:latin typeface="Calibri"/>
                        </a:rPr>
                        <a:t>it fills holes, and the grammar re-validates the result anyway</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Refuse something</a:t>
                      </a:r>
                    </a:p>
                  </a:txBody>
                  <a:tcPr marL="82296" marR="64008" marT="32004" marB="32004" anchor="ctr">
                    <a:solidFill>
                      <a:srgbClr val="F6F3EF"/>
                    </a:solidFill>
                  </a:tcPr>
                </a:tc>
                <a:tc>
                  <a:txBody>
                    <a:bodyPr wrap="square"/>
                    <a:lstStyle/>
                    <a:p>
                      <a:pPr algn="l"/>
                      <a:r>
                        <a:rPr sz="1050" b="0">
                          <a:solidFill>
                            <a:srgbClr val="1C1C1E"/>
                          </a:solidFill>
                          <a:latin typeface="Calibri"/>
                        </a:rPr>
                        <a:t>a law, or the warrant:resolve policy gate</a:t>
                      </a:r>
                    </a:p>
                  </a:txBody>
                  <a:tcPr marL="82296" marR="64008" marT="32004" marB="32004" anchor="ctr">
                    <a:solidFill>
                      <a:srgbClr val="F6F3EF"/>
                    </a:solidFill>
                  </a:tcPr>
                </a:tc>
                <a:tc>
                  <a:txBody>
                    <a:bodyPr wrap="square"/>
                    <a:lstStyle/>
                    <a:p>
                      <a:pPr algn="l"/>
                      <a:r>
                        <a:rPr sz="1050" b="0">
                          <a:solidFill>
                            <a:srgbClr val="1C1C1E"/>
                          </a:solidFill>
                          <a:latin typeface="Calibri"/>
                        </a:rPr>
                        <a:t>a default is something you can drop; a refusal is not</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Decide who may act</a:t>
                      </a:r>
                    </a:p>
                  </a:txBody>
                  <a:tcPr marL="82296" marR="64008" marT="32004" marB="32004" anchor="ctr">
                    <a:solidFill>
                      <a:srgbClr val="FFFFFF"/>
                    </a:solidFill>
                  </a:tcPr>
                </a:tc>
                <a:tc>
                  <a:txBody>
                    <a:bodyPr wrap="square"/>
                    <a:lstStyle/>
                    <a:p>
                      <a:pPr algn="l"/>
                      <a:r>
                        <a:rPr sz="1050" b="0">
                          <a:solidFill>
                            <a:srgbClr val="1C1C1E"/>
                          </a:solidFill>
                          <a:latin typeface="Calibri"/>
                        </a:rPr>
                        <a:t>a grant</a:t>
                      </a:r>
                    </a:p>
                  </a:txBody>
                  <a:tcPr marL="82296" marR="64008" marT="32004" marB="32004" anchor="ctr">
                    <a:solidFill>
                      <a:srgbClr val="FFFFFF"/>
                    </a:solidFill>
                  </a:tcPr>
                </a:tc>
                <a:tc>
                  <a:txBody>
                    <a:bodyPr wrap="square"/>
                    <a:lstStyle/>
                    <a:p>
                      <a:pPr algn="l"/>
                      <a:r>
                        <a:rPr sz="1050" b="0">
                          <a:solidFill>
                            <a:srgbClr val="1C1C1E"/>
                          </a:solidFill>
                          <a:latin typeface="Calibri"/>
                        </a:rPr>
                        <a:t>authority is per principal and per use, never inherited</a:t>
                      </a:r>
                    </a:p>
                  </a:txBody>
                  <a:tcPr marL="82296" marR="64008" marT="32004" marB="32004" anchor="ctr">
                    <a:solidFill>
                      <a:srgbClr val="FFFFFF"/>
                    </a:solidFill>
                  </a:tcPr>
                </a:tc>
              </a:tr>
            </a:tbl>
          </a:graphicData>
        </a:graphic>
      </p:graphicFrame>
      <p:sp>
        <p:nvSpPr>
          <p:cNvPr id="23" name="Rectangle 22"/>
          <p:cNvSpPr/>
          <p:nvPr/>
        </p:nvSpPr>
        <p:spPr>
          <a:xfrm>
            <a:off x="777240" y="4706531"/>
            <a:ext cx="10637215" cy="9601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Rectangle 23"/>
          <p:cNvSpPr/>
          <p:nvPr/>
        </p:nvSpPr>
        <p:spPr>
          <a:xfrm>
            <a:off x="777240" y="4706531"/>
            <a:ext cx="41148" cy="9601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1014983" y="4825403"/>
            <a:ext cx="10180015" cy="7406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Principal, declared use, environment, TTL and binding kind are refused AT CREATION. </a:t>
            </a:r>
            <a:r>
              <a:rPr sz="1050" b="0" i="0">
                <a:solidFill>
                  <a:srgbClr val="1C1C1E"/>
                </a:solidFill>
                <a:latin typeface="Calibri"/>
              </a:rPr>
              <a:t>Not defended at use — a check performed when the profile is written is one nobody can forget to perform later, and the refusal points at the policy gate that can hold an obligation. A template able to widen authority is an authority mechanism wearing a convenience mechanism's clothes.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13</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How Things Compose</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Features compose. Featuresets compose. Models compose — and until recently only two of those were checked.</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Five relations, two that propagate</a:t>
            </a:r>
          </a:p>
          <a:p>
            <a:pPr>
              <a:lnSpc>
                <a:spcPct val="115000"/>
              </a:lnSpc>
              <a:spcBef>
                <a:spcPts val="0"/>
              </a:spcBef>
              <a:spcAft>
                <a:spcPts val="700"/>
              </a:spcAft>
            </a:pPr>
            <a:r>
              <a:rPr sz="1150" b="0" i="0">
                <a:solidFill>
                  <a:srgbClr val="F6E6E9"/>
                </a:solidFill>
                <a:latin typeface="Calibri"/>
              </a:rPr>
              <a:t>input_to is a type claim</a:t>
            </a:r>
          </a:p>
          <a:p>
            <a:pPr>
              <a:lnSpc>
                <a:spcPct val="115000"/>
              </a:lnSpc>
              <a:spcBef>
                <a:spcPts val="0"/>
              </a:spcBef>
              <a:spcAft>
                <a:spcPts val="700"/>
              </a:spcAft>
            </a:pPr>
            <a:r>
              <a:rPr sz="1150" b="0" i="0">
                <a:solidFill>
                  <a:srgbClr val="F6E6E9"/>
                </a:solidFill>
                <a:latin typeface="Calibri"/>
              </a:rPr>
              <a:t>Blast radius and shared dependency</a:t>
            </a:r>
          </a:p>
          <a:p>
            <a:pPr>
              <a:lnSpc>
                <a:spcPct val="115000"/>
              </a:lnSpc>
              <a:spcBef>
                <a:spcPts val="0"/>
              </a:spcBef>
              <a:spcAft>
                <a:spcPts val="700"/>
              </a:spcAft>
            </a:pPr>
            <a:r>
              <a:rPr sz="1150" b="0" i="0">
                <a:solidFill>
                  <a:srgbClr val="F6E6E9"/>
                </a:solidFill>
                <a:latin typeface="Calibri"/>
              </a:rPr>
              <a:t>Why aggregate risk cannot add up</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COMPOSITION · THE VOCABULARY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Five relations, and the two that carry consequence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13 · How Things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68</a:t>
            </a:r>
          </a:p>
        </p:txBody>
      </p:sp>
      <p:graphicFrame>
        <p:nvGraphicFramePr>
          <p:cNvPr id="10" name="Table 9"/>
          <p:cNvGraphicFramePr>
            <a:graphicFrameLocks noGrp="1"/>
          </p:cNvGraphicFramePr>
          <p:nvPr/>
        </p:nvGraphicFramePr>
        <p:xfrm>
          <a:off x="777240" y="1353312"/>
          <a:ext cx="10637213" cy="1975104"/>
        </p:xfrm>
        <a:graphic>
          <a:graphicData uri="http://schemas.openxmlformats.org/drawingml/2006/table">
            <a:tbl>
              <a:tblPr firstRow="1">
                <a:tableStyleId>{5C22544A-7EE6-4342-B048-85BDC9FD1C3A}</a:tableStyleId>
              </a:tblPr>
              <a:tblGrid>
                <a:gridCol w="1920074"/>
                <a:gridCol w="5668792"/>
                <a:gridCol w="1462914"/>
                <a:gridCol w="1585433"/>
              </a:tblGrid>
              <a:tr h="329184">
                <a:tc>
                  <a:txBody>
                    <a:bodyPr wrap="square"/>
                    <a:lstStyle/>
                    <a:p>
                      <a:pPr algn="l"/>
                      <a:r>
                        <a:rPr sz="1000" b="1">
                          <a:solidFill>
                            <a:srgbClr val="FFFFFF"/>
                          </a:solidFill>
                          <a:latin typeface="Calibri"/>
                        </a:rPr>
                        <a:t>Relation</a:t>
                      </a:r>
                    </a:p>
                  </a:txBody>
                  <a:tcPr marL="82296" marR="64008" marT="32004" marB="32004" anchor="ctr">
                    <a:solidFill>
                      <a:srgbClr val="A51C30"/>
                    </a:solidFill>
                  </a:tcPr>
                </a:tc>
                <a:tc>
                  <a:txBody>
                    <a:bodyPr wrap="square"/>
                    <a:lstStyle/>
                    <a:p>
                      <a:pPr algn="l"/>
                      <a:r>
                        <a:rPr sz="1000" b="1">
                          <a:solidFill>
                            <a:srgbClr val="FFFFFF"/>
                          </a:solidFill>
                          <a:latin typeface="Calibri"/>
                        </a:rPr>
                        <a:t>Means</a:t>
                      </a:r>
                    </a:p>
                  </a:txBody>
                  <a:tcPr marL="82296" marR="64008" marT="32004" marB="32004" anchor="ctr">
                    <a:solidFill>
                      <a:srgbClr val="A51C30"/>
                    </a:solidFill>
                  </a:tcPr>
                </a:tc>
                <a:tc>
                  <a:txBody>
                    <a:bodyPr wrap="square"/>
                    <a:lstStyle/>
                    <a:p>
                      <a:pPr algn="l"/>
                      <a:r>
                        <a:rPr sz="1000" b="1">
                          <a:solidFill>
                            <a:srgbClr val="FFFFFF"/>
                          </a:solidFill>
                          <a:latin typeface="Calibri"/>
                        </a:rPr>
                        <a:t>Propagates</a:t>
                      </a:r>
                    </a:p>
                  </a:txBody>
                  <a:tcPr marL="82296" marR="64008" marT="32004" marB="32004" anchor="ctr">
                    <a:solidFill>
                      <a:srgbClr val="A51C30"/>
                    </a:solidFill>
                  </a:tcPr>
                </a:tc>
                <a:tc>
                  <a:txBody>
                    <a:bodyPr wrap="square"/>
                    <a:lstStyle/>
                    <a:p>
                      <a:pPr algn="l"/>
                      <a:r>
                        <a:rPr sz="1000" b="1">
                          <a:solidFill>
                            <a:srgbClr val="FFFFFF"/>
                          </a:solidFill>
                          <a:latin typeface="Calibri"/>
                        </a:rPr>
                        <a:t>Type-checked</a:t>
                      </a:r>
                    </a:p>
                  </a:txBody>
                  <a:tcPr marL="82296" marR="64008" marT="32004" marB="32004" anchor="ctr">
                    <a:solidFill>
                      <a:srgbClr val="A51C30"/>
                    </a:solidFill>
                  </a:tcPr>
                </a:tc>
              </a:tr>
              <a:tr h="329184">
                <a:tc>
                  <a:txBody>
                    <a:bodyPr wrap="square"/>
                    <a:lstStyle/>
                    <a:p>
                      <a:pPr algn="l"/>
                      <a:r>
                        <a:rPr sz="1000" b="1">
                          <a:solidFill>
                            <a:srgbClr val="A51C30"/>
                          </a:solidFill>
                          <a:latin typeface="Calibri"/>
                        </a:rPr>
                        <a:t>derives_from</a:t>
                      </a:r>
                    </a:p>
                  </a:txBody>
                  <a:tcPr marL="82296" marR="64008" marT="32004" marB="32004" anchor="ctr">
                    <a:solidFill>
                      <a:srgbClr val="FFFFFF"/>
                    </a:solidFill>
                  </a:tcPr>
                </a:tc>
                <a:tc>
                  <a:txBody>
                    <a:bodyPr wrap="square"/>
                    <a:lstStyle/>
                    <a:p>
                      <a:pPr algn="l"/>
                      <a:r>
                        <a:rPr sz="1000" b="0">
                          <a:solidFill>
                            <a:srgbClr val="1C1C1E"/>
                          </a:solidFill>
                          <a:latin typeface="Calibri"/>
                        </a:rPr>
                        <a:t>built from it: a variant, a recalibration for another book. Lineage, not dependency</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input_to</a:t>
                      </a:r>
                    </a:p>
                  </a:txBody>
                  <a:tcPr marL="82296" marR="64008" marT="32004" marB="32004" anchor="ctr">
                    <a:solidFill>
                      <a:srgbClr val="F6F3EF"/>
                    </a:solidFill>
                  </a:tcPr>
                </a:tc>
                <a:tc>
                  <a:txBody>
                    <a:bodyPr wrap="square"/>
                    <a:lstStyle/>
                    <a:p>
                      <a:pPr algn="l"/>
                      <a:r>
                        <a:rPr sz="1000" b="0">
                          <a:solidFill>
                            <a:srgbClr val="1C1C1E"/>
                          </a:solidFill>
                          <a:latin typeface="Calibri"/>
                        </a:rPr>
                        <a:t>this model's OUTPUT is read as an input by that one</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calibrated_by</a:t>
                      </a:r>
                    </a:p>
                  </a:txBody>
                  <a:tcPr marL="82296" marR="64008" marT="32004" marB="32004" anchor="ctr">
                    <a:solidFill>
                      <a:srgbClr val="FFFFFF"/>
                    </a:solidFill>
                  </a:tcPr>
                </a:tc>
                <a:tc>
                  <a:txBody>
                    <a:bodyPr wrap="square"/>
                    <a:lstStyle/>
                    <a:p>
                      <a:pPr algn="l"/>
                      <a:r>
                        <a:rPr sz="1000" b="0">
                          <a:solidFill>
                            <a:srgbClr val="1C1C1E"/>
                          </a:solidFill>
                          <a:latin typeface="Calibri"/>
                        </a:rPr>
                        <a:t>its parameters are solved by that model or procedure</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c>
                  <a:txBody>
                    <a:bodyPr wrap="square"/>
                    <a:lstStyle/>
                    <a:p>
                      <a:pPr algn="l"/>
                      <a:r>
                        <a:rPr sz="1000" b="0">
                          <a:solidFill>
                            <a:srgbClr val="1C1C1E"/>
                          </a:solidFill>
                          <a:latin typeface="Calibri"/>
                        </a:rPr>
                        <a:t>no — no wire</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challenger_of</a:t>
                      </a:r>
                    </a:p>
                  </a:txBody>
                  <a:tcPr marL="82296" marR="64008" marT="32004" marB="32004" anchor="ctr">
                    <a:solidFill>
                      <a:srgbClr val="F6F3EF"/>
                    </a:solidFill>
                  </a:tcPr>
                </a:tc>
                <a:tc>
                  <a:txBody>
                    <a:bodyPr wrap="square"/>
                    <a:lstStyle/>
                    <a:p>
                      <a:pPr algn="l"/>
                      <a:r>
                        <a:rPr sz="1000" b="0">
                          <a:solidFill>
                            <a:srgbClr val="1C1C1E"/>
                          </a:solidFill>
                          <a:latin typeface="Calibri"/>
                        </a:rPr>
                        <a:t>built to argue with it</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benchmark_for</a:t>
                      </a:r>
                    </a:p>
                  </a:txBody>
                  <a:tcPr marL="82296" marR="64008" marT="32004" marB="32004" anchor="ctr">
                    <a:solidFill>
                      <a:srgbClr val="FFFFFF"/>
                    </a:solidFill>
                  </a:tcPr>
                </a:tc>
                <a:tc>
                  <a:txBody>
                    <a:bodyPr wrap="square"/>
                    <a:lstStyle/>
                    <a:p>
                      <a:pPr algn="l"/>
                      <a:r>
                        <a:rPr sz="1000" b="0">
                          <a:solidFill>
                            <a:srgbClr val="1C1C1E"/>
                          </a:solidFill>
                          <a:latin typeface="Calibri"/>
                        </a:rPr>
                        <a:t>a reference point to judge it against</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bl>
          </a:graphicData>
        </a:graphic>
      </p:graphicFrame>
      <p:sp>
        <p:nvSpPr>
          <p:cNvPr id="11" name="Rectangle 10"/>
          <p:cNvSpPr/>
          <p:nvPr/>
        </p:nvSpPr>
        <p:spPr>
          <a:xfrm>
            <a:off x="777240" y="3584448"/>
            <a:ext cx="10637215"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584448"/>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703320"/>
            <a:ext cx="10180015"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first two are the ones people conflate, and it costs both answers. </a:t>
            </a:r>
            <a:r>
              <a:rPr sz="1050" b="0" i="0">
                <a:solidFill>
                  <a:srgbClr val="1C1C1E"/>
                </a:solidFill>
                <a:latin typeface="Calibri"/>
              </a:rPr>
              <a:t>“What did we base this on” and “what breaks if this changes” are different questions. A challenger counted as a dependency inflates every blast radius it appears in; a variant counted as one makes a change to the parent look like a change to a book it never touched.</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COMPOSITION · THE NAME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It was called “feeds”, and that was wrong in a bank</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13 · How Things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69</a:t>
            </a:r>
          </a:p>
        </p:txBody>
      </p:sp>
      <p:sp>
        <p:nvSpPr>
          <p:cNvPr id="10" name="TextBox 9"/>
          <p:cNvSpPr txBox="1"/>
          <p:nvPr/>
        </p:nvSpPr>
        <p:spPr>
          <a:xfrm>
            <a:off x="777240" y="1353312"/>
            <a:ext cx="5744096" cy="292608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A feed here means market data, a reference file, a nightly drop.</a:t>
            </a:r>
          </a:p>
          <a:p>
            <a:pPr>
              <a:lnSpc>
                <a:spcPct val="128000"/>
              </a:lnSpc>
              <a:spcBef>
                <a:spcPts val="0"/>
              </a:spcBef>
              <a:spcAft>
                <a:spcPts val="900"/>
              </a:spcAft>
            </a:pPr>
            <a:r>
              <a:rPr sz="1200" b="0" i="0">
                <a:solidFill>
                  <a:srgbClr val="1C1C1E"/>
                </a:solidFill>
                <a:latin typeface="Calibri"/>
              </a:rPr>
              <a:t>So “A feeds B” read as though MAYA consumed or produced one. It does neither: it moves no data and runs no model.</a:t>
            </a:r>
          </a:p>
          <a:p>
            <a:pPr>
              <a:lnSpc>
                <a:spcPct val="128000"/>
              </a:lnSpc>
              <a:spcBef>
                <a:spcPts val="0"/>
              </a:spcBef>
              <a:spcAft>
                <a:spcPts val="900"/>
              </a:spcAft>
            </a:pPr>
            <a:r>
              <a:rPr sz="1200" b="0" i="0">
                <a:solidFill>
                  <a:srgbClr val="1C1C1E"/>
                </a:solidFill>
                <a:latin typeface="Calibri"/>
              </a:rPr>
              <a:t>The edge is a statement about two entries in the REGISTER, and the wire it describes is carried by whatever engine runs the two ends. input_to says what the relation is.</a:t>
            </a:r>
          </a:p>
          <a:p>
            <a:pPr>
              <a:lnSpc>
                <a:spcPct val="128000"/>
              </a:lnSpc>
              <a:spcBef>
                <a:spcPts val="0"/>
              </a:spcBef>
              <a:spcAft>
                <a:spcPts val="0"/>
              </a:spcAft>
            </a:pPr>
            <a:r>
              <a:rPr sz="1100" b="0" i="0">
                <a:solidFill>
                  <a:srgbClr val="4A4F57"/>
                </a:solidFill>
                <a:latin typeface="Calibri"/>
              </a:rPr>
              <a:t>`feeds` is still accepted and stored under the new name — and deliberately not published, because a vocabulary offering two words for one relation invites somebody to think they mean different things.</a:t>
            </a:r>
          </a:p>
        </p:txBody>
      </p:sp>
      <p:sp>
        <p:nvSpPr>
          <p:cNvPr id="11" name="Rectangle 10"/>
          <p:cNvSpPr/>
          <p:nvPr/>
        </p:nvSpPr>
        <p:spPr>
          <a:xfrm>
            <a:off x="6946824" y="1353312"/>
            <a:ext cx="4467630" cy="199286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946824" y="1353312"/>
            <a:ext cx="41148" cy="1992866"/>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7147992" y="1444752"/>
            <a:ext cx="410187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L-21 · THE CHECK</a:t>
            </a:r>
          </a:p>
        </p:txBody>
      </p:sp>
      <p:sp>
        <p:nvSpPr>
          <p:cNvPr id="14" name="TextBox 13"/>
          <p:cNvSpPr txBox="1"/>
          <p:nvPr/>
        </p:nvSpPr>
        <p:spPr>
          <a:xfrm>
            <a:off x="7147992" y="1746504"/>
            <a:ext cx="4101870" cy="1517378"/>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refines( output_schema(source),</a:t>
            </a:r>
          </a:p>
          <a:p>
            <a:pPr>
              <a:lnSpc>
                <a:spcPct val="134000"/>
              </a:lnSpc>
              <a:spcBef>
                <a:spcPts val="0"/>
              </a:spcBef>
              <a:spcAft>
                <a:spcPts val="0"/>
              </a:spcAft>
            </a:pPr>
            <a:r>
              <a:rPr sz="950" b="0" i="0">
                <a:solidFill>
                  <a:srgbClr val="1C1C1E"/>
                </a:solidFill>
                <a:latin typeface="Consolas"/>
              </a:rPr>
              <a:t>         input_schema(target) )</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extra outputs      → fine, simply unread</a:t>
            </a:r>
          </a:p>
          <a:p>
            <a:pPr>
              <a:lnSpc>
                <a:spcPct val="134000"/>
              </a:lnSpc>
              <a:spcBef>
                <a:spcPts val="0"/>
              </a:spcBef>
              <a:spcAft>
                <a:spcPts val="0"/>
              </a:spcAft>
            </a:pPr>
            <a:r>
              <a:rPr sz="950" b="0" i="0">
                <a:solidFill>
                  <a:srgbClr val="7A7F87"/>
                </a:solidFill>
                <a:latin typeface="Consolas"/>
              </a:rPr>
              <a:t># a missing output   → a wire to nowhere: refused</a:t>
            </a:r>
          </a:p>
          <a:p>
            <a:pPr>
              <a:lnSpc>
                <a:spcPct val="134000"/>
              </a:lnSpc>
              <a:spcBef>
                <a:spcPts val="0"/>
              </a:spcBef>
              <a:spcAft>
                <a:spcPts val="0"/>
              </a:spcAft>
            </a:pPr>
            <a:r>
              <a:rPr sz="950" b="0" i="0">
                <a:solidFill>
                  <a:srgbClr val="7A7F87"/>
                </a:solidFill>
                <a:latin typeface="Consolas"/>
              </a:rPr>
              <a:t># a narrowed output  → the same regression L-12</a:t>
            </a:r>
          </a:p>
          <a:p>
            <a:pPr>
              <a:lnSpc>
                <a:spcPct val="134000"/>
              </a:lnSpc>
              <a:spcBef>
                <a:spcPts val="0"/>
              </a:spcBef>
              <a:spcAft>
                <a:spcPts val="0"/>
              </a:spcAft>
            </a:pPr>
            <a:r>
              <a:rPr sz="950" b="0" i="0">
                <a:solidFill>
                  <a:srgbClr val="7A7F87"/>
                </a:solidFill>
                <a:latin typeface="Consolas"/>
              </a:rPr>
              <a:t>#                      names at an alias move</a:t>
            </a:r>
          </a:p>
        </p:txBody>
      </p:sp>
      <p:sp>
        <p:nvSpPr>
          <p:cNvPr id="15" name="Rectangle 14"/>
          <p:cNvSpPr/>
          <p:nvPr/>
        </p:nvSpPr>
        <p:spPr>
          <a:xfrm>
            <a:off x="6946824" y="3602210"/>
            <a:ext cx="4467630" cy="14630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946824" y="3602210"/>
            <a:ext cx="41148" cy="14630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7184568" y="3721082"/>
            <a:ext cx="4010430" cy="12435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Recorded and never checked, it was a drawing. </a:t>
            </a:r>
            <a:r>
              <a:rPr sz="1050" b="0" i="0">
                <a:solidFill>
                  <a:srgbClr val="1C1C1E"/>
                </a:solidFill>
                <a:latin typeface="Calibri"/>
              </a:rPr>
              <a:t>The blast radius followed edges nobody had validated, and a composite had no schema anybody could derive. Checked, it is composition — and the composite's type is DERIVED rather than declared.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COMPOSITION · WHAT IT IS FOR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questions this makes answerable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13 · How Things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70</a:t>
            </a:r>
          </a:p>
        </p:txBody>
      </p:sp>
      <p:sp>
        <p:nvSpPr>
          <p:cNvPr id="10" name="TextBox 9"/>
          <p:cNvSpPr txBox="1"/>
          <p:nvPr/>
        </p:nvSpPr>
        <p:spPr>
          <a:xfrm>
            <a:off x="777240" y="1353312"/>
            <a:ext cx="4893118" cy="2926080"/>
          </a:xfrm>
          <a:prstGeom prst="rect">
            <a:avLst/>
          </a:prstGeom>
          <a:noFill/>
        </p:spPr>
        <p:txBody>
          <a:bodyPr wrap="square" lIns="0" rIns="0" tIns="0" bIns="0" anchor="t">
            <a:spAutoFit/>
          </a:bodyPr>
          <a:lstStyle/>
          <a:p>
            <a:pPr algn="l">
              <a:spcBef>
                <a:spcPts val="0"/>
              </a:spcBef>
              <a:spcAft>
                <a:spcPts val="900"/>
              </a:spcAft>
            </a:pPr>
            <a:r>
              <a:rPr sz="1300" b="1" i="0">
                <a:solidFill>
                  <a:srgbClr val="A51C30"/>
                </a:solidFill>
                <a:latin typeface="Georgia"/>
              </a:rPr>
              <a:t>What breaks if I change this?</a:t>
            </a:r>
          </a:p>
          <a:p>
            <a:pPr>
              <a:lnSpc>
                <a:spcPct val="126000"/>
              </a:lnSpc>
              <a:spcBef>
                <a:spcPts val="0"/>
              </a:spcBef>
              <a:spcAft>
                <a:spcPts val="800"/>
              </a:spcAft>
            </a:pPr>
            <a:r>
              <a:rPr sz="1100" b="0" i="0">
                <a:solidFill>
                  <a:srgbClr val="1C1C1E"/>
                </a:solidFill>
                <a:latin typeface="Calibri"/>
              </a:rPr>
              <a:t>Only propagating edges are followed, and each model comes back with its DISTANCE — so the immediately affected are visible separately from those two hops away.</a:t>
            </a:r>
          </a:p>
          <a:p>
            <a:pPr>
              <a:lnSpc>
                <a:spcPct val="126000"/>
              </a:lnSpc>
              <a:spcBef>
                <a:spcPts val="0"/>
              </a:spcBef>
              <a:spcAft>
                <a:spcPts val="0"/>
              </a:spcAft>
            </a:pPr>
            <a:r>
              <a:rPr sz="1100" b="0" i="0">
                <a:solidFill>
                  <a:srgbClr val="4A4F57"/>
                </a:solidFill>
                <a:latin typeface="Calibri"/>
              </a:rPr>
              <a:t>The worst tier reached is reported too. A change touching one Tier 1 model is not the same as one touching five Tier 4s, and a count alone cannot tell you which happened.</a:t>
            </a:r>
          </a:p>
        </p:txBody>
      </p:sp>
      <p:sp>
        <p:nvSpPr>
          <p:cNvPr id="11" name="TextBox 10"/>
          <p:cNvSpPr txBox="1"/>
          <p:nvPr/>
        </p:nvSpPr>
        <p:spPr>
          <a:xfrm>
            <a:off x="6308591" y="1353312"/>
            <a:ext cx="4893118" cy="2926080"/>
          </a:xfrm>
          <a:prstGeom prst="rect">
            <a:avLst/>
          </a:prstGeom>
          <a:noFill/>
        </p:spPr>
        <p:txBody>
          <a:bodyPr wrap="square" lIns="0" rIns="0" tIns="0" bIns="0" anchor="t">
            <a:spAutoFit/>
          </a:bodyPr>
          <a:lstStyle/>
          <a:p>
            <a:pPr algn="l">
              <a:spcBef>
                <a:spcPts val="0"/>
              </a:spcBef>
              <a:spcAft>
                <a:spcPts val="900"/>
              </a:spcAft>
            </a:pPr>
            <a:r>
              <a:rPr sz="1300" b="1" i="0">
                <a:solidFill>
                  <a:srgbClr val="A51C30"/>
                </a:solidFill>
                <a:latin typeface="Georgia"/>
              </a:rPr>
              <a:t>What do these two rest on in common?</a:t>
            </a:r>
          </a:p>
          <a:p>
            <a:pPr>
              <a:lnSpc>
                <a:spcPct val="126000"/>
              </a:lnSpc>
              <a:spcBef>
                <a:spcPts val="0"/>
              </a:spcBef>
              <a:spcAft>
                <a:spcPts val="800"/>
              </a:spcAft>
            </a:pPr>
            <a:r>
              <a:rPr sz="1100" b="0" i="0">
                <a:solidFill>
                  <a:srgbClr val="1C1C1E"/>
                </a:solidFill>
                <a:latin typeface="Calibri"/>
              </a:rPr>
              <a:t>This is the interesting one. Two models fed by the same curve are NOT two independent risks — and a network that copies a dependency is not the same as one that duplicates it.</a:t>
            </a:r>
          </a:p>
          <a:p>
            <a:pPr>
              <a:lnSpc>
                <a:spcPct val="126000"/>
              </a:lnSpc>
              <a:spcBef>
                <a:spcPts val="0"/>
              </a:spcBef>
              <a:spcAft>
                <a:spcPts val="0"/>
              </a:spcAft>
            </a:pPr>
            <a:r>
              <a:rPr sz="1100" b="0" i="0">
                <a:solidFill>
                  <a:srgbClr val="4A4F57"/>
                </a:solidFill>
                <a:latin typeface="Calibri"/>
              </a:rPr>
              <a:t>That difference is precisely why an aggregate risk figure cannot simply add up, and why supervisors ask about “common dependencies and shared assumptions”. Here it has an answer instead of a paragraph.</a:t>
            </a:r>
          </a:p>
        </p:txBody>
      </p:sp>
      <p:sp>
        <p:nvSpPr>
          <p:cNvPr id="12" name="Rectangle 11"/>
          <p:cNvSpPr/>
          <p:nvPr/>
        </p:nvSpPr>
        <p:spPr>
          <a:xfrm>
            <a:off x="777240" y="4507992"/>
            <a:ext cx="10637215" cy="10515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4507992"/>
            <a:ext cx="41148"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1014983" y="4626864"/>
            <a:ext cx="10180015" cy="832103"/>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cycle is refused. </a:t>
            </a:r>
            <a:r>
              <a:rPr sz="1050" b="0" i="0">
                <a:solidFill>
                  <a:srgbClr val="1C1C1E"/>
                </a:solidFill>
                <a:latin typeface="Calibri"/>
              </a:rPr>
              <a:t>A model whose output is its own input has no defined value, and a blast radius over it does not terminate — so the edge that would close the cycle is the one that is refused, naming the path that already exists.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COMPOSITION · THE IMPOSSIBILITY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Why there is no single model-risk number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13 · How Things Compose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71</a:t>
            </a:r>
          </a:p>
        </p:txBody>
      </p:sp>
      <p:sp>
        <p:nvSpPr>
          <p:cNvPr id="10" name="Rectangle 9"/>
          <p:cNvSpPr/>
          <p:nvPr/>
        </p:nvSpPr>
        <p:spPr>
          <a:xfrm>
            <a:off x="777240" y="1353312"/>
            <a:ext cx="5744096" cy="206791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067915"/>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37833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COPY MAP IS THE OBSTRUCTION</a:t>
            </a:r>
          </a:p>
        </p:txBody>
      </p:sp>
      <p:sp>
        <p:nvSpPr>
          <p:cNvPr id="13" name="TextBox 12"/>
          <p:cNvSpPr txBox="1"/>
          <p:nvPr/>
        </p:nvSpPr>
        <p:spPr>
          <a:xfrm>
            <a:off x="978408" y="1746504"/>
            <a:ext cx="5378336" cy="1592427"/>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1C1C1E"/>
                </a:solidFill>
                <a:latin typeface="Consolas"/>
              </a:rPr>
              <a:t>Network 1:   A ──→ B          one curve, two consumers</a:t>
            </a:r>
          </a:p>
          <a:p>
            <a:pPr>
              <a:lnSpc>
                <a:spcPct val="134000"/>
              </a:lnSpc>
              <a:spcBef>
                <a:spcPts val="0"/>
              </a:spcBef>
              <a:spcAft>
                <a:spcPts val="0"/>
              </a:spcAft>
            </a:pPr>
            <a:r>
              <a:rPr sz="1000" b="0" i="0">
                <a:solidFill>
                  <a:srgbClr val="1C1C1E"/>
                </a:solidFill>
                <a:latin typeface="Consolas"/>
              </a:rPr>
              <a:t>             A ──→ C</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1C1C1E"/>
                </a:solidFill>
                <a:latin typeface="Consolas"/>
              </a:rPr>
              <a:t>Network 2:   A  ──→ B         two INDEPENDENTLY BUILT curves</a:t>
            </a:r>
          </a:p>
          <a:p>
            <a:pPr>
              <a:lnSpc>
                <a:spcPct val="134000"/>
              </a:lnSpc>
              <a:spcBef>
                <a:spcPts val="0"/>
              </a:spcBef>
              <a:spcAft>
                <a:spcPts val="0"/>
              </a:spcAft>
            </a:pPr>
            <a:r>
              <a:rPr sz="1000" b="0" i="0">
                <a:solidFill>
                  <a:srgbClr val="1C1C1E"/>
                </a:solidFill>
                <a:latin typeface="Consolas"/>
              </a:rPr>
              <a:t>             A' ──→ C</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7A7F87"/>
                </a:solidFill>
                <a:latin typeface="Consolas"/>
              </a:rPr>
              <a:t># every marginal is identical.  the joints are not.</a:t>
            </a:r>
          </a:p>
        </p:txBody>
      </p:sp>
      <p:sp>
        <p:nvSpPr>
          <p:cNvPr id="14" name="Rectangle 13"/>
          <p:cNvSpPr/>
          <p:nvPr/>
        </p:nvSpPr>
        <p:spPr>
          <a:xfrm>
            <a:off x="777240" y="3695547"/>
            <a:ext cx="5744096" cy="16916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3695547"/>
            <a:ext cx="41148" cy="16916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3814419"/>
            <a:ext cx="5286896" cy="14721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No function of the parts distinguishes these. </a:t>
            </a:r>
            <a:r>
              <a:rPr sz="1050" b="0" i="0">
                <a:solidFill>
                  <a:srgbClr val="1C1C1E"/>
                </a:solidFill>
                <a:latin typeface="Calibri"/>
              </a:rPr>
              <a:t>Aggregating requires the parts to compose, and shared dependency is exactly where composition fails — so any single figure either double-counts the shared curve or ignores it, and a committee cannot decompose it to find out which.</a:t>
            </a:r>
          </a:p>
        </p:txBody>
      </p:sp>
      <p:sp>
        <p:nvSpPr>
          <p:cNvPr id="17" name="TextBox 16"/>
          <p:cNvSpPr txBox="1"/>
          <p:nvPr/>
        </p:nvSpPr>
        <p:spPr>
          <a:xfrm>
            <a:off x="6946824" y="1353312"/>
            <a:ext cx="4467630" cy="329184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So the board pack refuses to produce one</a:t>
            </a:r>
          </a:p>
          <a:p>
            <a:pPr>
              <a:lnSpc>
                <a:spcPct val="126000"/>
              </a:lnSpc>
              <a:spcBef>
                <a:spcPts val="0"/>
              </a:spcBef>
              <a:spcAft>
                <a:spcPts val="800"/>
              </a:spcAft>
            </a:pPr>
            <a:r>
              <a:rPr sz="1100" b="0" i="0">
                <a:solidFill>
                  <a:srgbClr val="1C1C1E"/>
                </a:solidFill>
                <a:latin typeface="Calibri"/>
              </a:rPr>
              <a:t>And says so IN the pack, rather than leaving an absence — a reader who came looking for the number finds the reason instead.</a:t>
            </a:r>
          </a:p>
          <a:p>
            <a:pPr>
              <a:lnSpc>
                <a:spcPct val="126000"/>
              </a:lnSpc>
              <a:spcBef>
                <a:spcPts val="0"/>
              </a:spcBef>
              <a:spcAft>
                <a:spcPts val="800"/>
              </a:spcAft>
            </a:pPr>
            <a:r>
              <a:rPr sz="1100" b="0" i="0">
                <a:solidFill>
                  <a:srgbClr val="4A4F57"/>
                </a:solidFill>
                <a:latin typeface="Calibri"/>
              </a:rPr>
              <a:t>What it reports is the indicators, each against a limit somebody set, with the exceptions named. That is what a committee can act on; a number they cannot decompose is a number they cannot act on.</a:t>
            </a:r>
          </a:p>
          <a:p>
            <a:pPr>
              <a:lnSpc>
                <a:spcPct val="126000"/>
              </a:lnSpc>
              <a:spcBef>
                <a:spcPts val="0"/>
              </a:spcBef>
              <a:spcAft>
                <a:spcPts val="0"/>
              </a:spcAft>
            </a:pPr>
            <a:r>
              <a:rPr sz="1100" b="0" i="0">
                <a:solidFill>
                  <a:srgbClr val="1C1C1E"/>
                </a:solidFill>
                <a:latin typeface="Calibri"/>
              </a:rPr>
              <a:t>This is a theorem arriving as a product decision rather than a footnote — which is the strongest form the argument takes anywhere in the platform.</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14</a:t>
            </a:r>
          </a:p>
        </p:txBody>
      </p:sp>
      <p:sp>
        <p:nvSpPr>
          <p:cNvPr id="5" name="TextBox 4"/>
          <p:cNvSpPr txBox="1"/>
          <p:nvPr/>
        </p:nvSpPr>
        <p:spPr>
          <a:xfrm>
            <a:off x="1005840" y="2434132"/>
            <a:ext cx="6169584" cy="1188720"/>
          </a:xfrm>
          <a:prstGeom prst="rect">
            <a:avLst/>
          </a:prstGeom>
          <a:noFill/>
        </p:spPr>
        <p:txBody>
          <a:bodyPr wrap="square" lIns="0" rIns="0" tIns="0" bIns="0" anchor="t">
            <a:spAutoFit/>
          </a:bodyPr>
          <a:lstStyle/>
          <a:p>
            <a:pPr algn="l">
              <a:spcBef>
                <a:spcPts val="0"/>
              </a:spcBef>
              <a:spcAft>
                <a:spcPts val="0"/>
              </a:spcAft>
            </a:pPr>
            <a:r>
              <a:rPr sz="3200" b="0" i="0">
                <a:solidFill>
                  <a:srgbClr val="FFFFFF"/>
                </a:solidFill>
                <a:latin typeface="Georgia"/>
              </a:rPr>
              <a:t>Documentation, as a Graph</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Five moments, five objects, and the pins that connect them.</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When documentation actually arrives</a:t>
            </a:r>
          </a:p>
          <a:p>
            <a:pPr>
              <a:lnSpc>
                <a:spcPct val="115000"/>
              </a:lnSpc>
              <a:spcBef>
                <a:spcPts val="0"/>
              </a:spcBef>
              <a:spcAft>
                <a:spcPts val="700"/>
              </a:spcAft>
            </a:pPr>
            <a:r>
              <a:rPr sz="1150" b="0" i="0">
                <a:solidFill>
                  <a:srgbClr val="F6E6E9"/>
                </a:solidFill>
                <a:latin typeface="Calibri"/>
              </a:rPr>
              <a:t>The moment that had no document</a:t>
            </a:r>
          </a:p>
          <a:p>
            <a:pPr>
              <a:lnSpc>
                <a:spcPct val="115000"/>
              </a:lnSpc>
              <a:spcBef>
                <a:spcPts val="0"/>
              </a:spcBef>
              <a:spcAft>
                <a:spcPts val="700"/>
              </a:spcAft>
            </a:pPr>
            <a:r>
              <a:rPr sz="1150" b="0" i="0">
                <a:solidFill>
                  <a:srgbClr val="F6E6E9"/>
                </a:solidFill>
                <a:latin typeface="Calibri"/>
              </a:rPr>
              <a:t>The dossier</a:t>
            </a:r>
          </a:p>
          <a:p>
            <a:pPr>
              <a:lnSpc>
                <a:spcPct val="115000"/>
              </a:lnSpc>
              <a:spcBef>
                <a:spcPts val="0"/>
              </a:spcBef>
              <a:spcAft>
                <a:spcPts val="700"/>
              </a:spcAft>
            </a:pPr>
            <a:r>
              <a:rPr sz="1150" b="0" i="0">
                <a:solidFill>
                  <a:srgbClr val="F6E6E9"/>
                </a:solidFill>
                <a:latin typeface="Calibri"/>
              </a:rPr>
              <a:t>What travels to somebody without a login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FIVE MOMENTS</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Documentation does not arrive all at once about one thing</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73</a:t>
            </a:r>
          </a:p>
        </p:txBody>
      </p:sp>
      <p:graphicFrame>
        <p:nvGraphicFramePr>
          <p:cNvPr id="10" name="Table 9"/>
          <p:cNvGraphicFramePr>
            <a:graphicFrameLocks noGrp="1"/>
          </p:cNvGraphicFramePr>
          <p:nvPr/>
        </p:nvGraphicFramePr>
        <p:xfrm>
          <a:off x="777240" y="1764792"/>
          <a:ext cx="10637213" cy="1975104"/>
        </p:xfrm>
        <a:graphic>
          <a:graphicData uri="http://schemas.openxmlformats.org/drawingml/2006/table">
            <a:tbl>
              <a:tblPr firstRow="1">
                <a:tableStyleId>{5C22544A-7EE6-4342-B048-85BDC9FD1C3A}</a:tableStyleId>
              </a:tblPr>
              <a:tblGrid>
                <a:gridCol w="2194371"/>
                <a:gridCol w="2285803"/>
                <a:gridCol w="4480174"/>
                <a:gridCol w="1676865"/>
              </a:tblGrid>
              <a:tr h="329184">
                <a:tc>
                  <a:txBody>
                    <a:bodyPr wrap="square"/>
                    <a:lstStyle/>
                    <a:p>
                      <a:pPr algn="l"/>
                      <a:r>
                        <a:rPr sz="1000" b="1">
                          <a:solidFill>
                            <a:srgbClr val="FFFFFF"/>
                          </a:solidFill>
                          <a:latin typeface="Calibri"/>
                        </a:rPr>
                        <a:t>When</a:t>
                      </a:r>
                    </a:p>
                  </a:txBody>
                  <a:tcPr marL="82296" marR="64008" marT="32004" marB="32004" anchor="ctr">
                    <a:solidFill>
                      <a:srgbClr val="A51C30"/>
                    </a:solidFill>
                  </a:tcPr>
                </a:tc>
                <a:tc>
                  <a:txBody>
                    <a:bodyPr wrap="square"/>
                    <a:lstStyle/>
                    <a:p>
                      <a:pPr algn="l"/>
                      <a:r>
                        <a:rPr sz="1000" b="1">
                          <a:solidFill>
                            <a:srgbClr val="FFFFFF"/>
                          </a:solidFill>
                          <a:latin typeface="Calibri"/>
                        </a:rPr>
                        <a:t>About</a:t>
                      </a:r>
                    </a:p>
                  </a:txBody>
                  <a:tcPr marL="82296" marR="64008" marT="32004" marB="32004" anchor="ctr">
                    <a:solidFill>
                      <a:srgbClr val="A51C30"/>
                    </a:solidFill>
                  </a:tcPr>
                </a:tc>
                <a:tc>
                  <a:txBody>
                    <a:bodyPr wrap="square"/>
                    <a:lstStyle/>
                    <a:p>
                      <a:pPr algn="l"/>
                      <a:r>
                        <a:rPr sz="1000" b="1">
                          <a:solidFill>
                            <a:srgbClr val="FFFFFF"/>
                          </a:solidFill>
                          <a:latin typeface="Calibri"/>
                        </a:rPr>
                        <a:t>Example</a:t>
                      </a:r>
                    </a:p>
                  </a:txBody>
                  <a:tcPr marL="82296" marR="64008" marT="32004" marB="32004" anchor="ctr">
                    <a:solidFill>
                      <a:srgbClr val="A51C30"/>
                    </a:solidFill>
                  </a:tcPr>
                </a:tc>
                <a:tc>
                  <a:txBody>
                    <a:bodyPr wrap="square"/>
                    <a:lstStyle/>
                    <a:p>
                      <a:pPr algn="l"/>
                      <a:r>
                        <a:rPr sz="1000" b="1">
                          <a:solidFill>
                            <a:srgbClr val="FFFFFF"/>
                          </a:solidFill>
                          <a:latin typeface="Calibri"/>
                        </a:rPr>
                        <a:t>Could it be filed?</a:t>
                      </a:r>
                    </a:p>
                  </a:txBody>
                  <a:tcPr marL="82296" marR="64008" marT="32004" marB="32004" anchor="ctr">
                    <a:solidFill>
                      <a:srgbClr val="A51C30"/>
                    </a:solidFill>
                  </a:tcPr>
                </a:tc>
              </a:tr>
              <a:tr h="329184">
                <a:tc>
                  <a:txBody>
                    <a:bodyPr wrap="square"/>
                    <a:lstStyle/>
                    <a:p>
                      <a:pPr algn="l"/>
                      <a:r>
                        <a:rPr sz="1000" b="1">
                          <a:solidFill>
                            <a:srgbClr val="A51C30"/>
                          </a:solidFill>
                          <a:latin typeface="Calibri"/>
                        </a:rPr>
                        <a:t>before anything runs</a:t>
                      </a:r>
                    </a:p>
                  </a:txBody>
                  <a:tcPr marL="82296" marR="64008" marT="32004" marB="32004" anchor="ctr">
                    <a:solidFill>
                      <a:srgbClr val="FFFFFF"/>
                    </a:solidFill>
                  </a:tcPr>
                </a:tc>
                <a:tc>
                  <a:txBody>
                    <a:bodyPr wrap="square"/>
                    <a:lstStyle/>
                    <a:p>
                      <a:pPr algn="l"/>
                      <a:r>
                        <a:rPr sz="1000" b="0">
                          <a:solidFill>
                            <a:srgbClr val="1C1C1E"/>
                          </a:solidFill>
                          <a:latin typeface="Calibri"/>
                        </a:rPr>
                        <a:t>the MODEL</a:t>
                      </a:r>
                    </a:p>
                  </a:txBody>
                  <a:tcPr marL="82296" marR="64008" marT="32004" marB="32004" anchor="ctr">
                    <a:solidFill>
                      <a:srgbClr val="FFFFFF"/>
                    </a:solidFill>
                  </a:tcPr>
                </a:tc>
                <a:tc>
                  <a:txBody>
                    <a:bodyPr wrap="square"/>
                    <a:lstStyle/>
                    <a:p>
                      <a:pPr algn="l"/>
                      <a:r>
                        <a:rPr sz="1000" b="0">
                          <a:solidFill>
                            <a:srgbClr val="1C1C1E"/>
                          </a:solidFill>
                          <a:latin typeface="Calibri"/>
                        </a:rPr>
                        <a:t>the methodology paper, the literature the approach comes from</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a version is created</a:t>
                      </a:r>
                    </a:p>
                  </a:txBody>
                  <a:tcPr marL="82296" marR="64008" marT="32004" marB="32004" anchor="ctr">
                    <a:solidFill>
                      <a:srgbClr val="F6F3EF"/>
                    </a:solidFill>
                  </a:tcPr>
                </a:tc>
                <a:tc>
                  <a:txBody>
                    <a:bodyPr wrap="square"/>
                    <a:lstStyle/>
                    <a:p>
                      <a:pPr algn="l"/>
                      <a:r>
                        <a:rPr sz="1000" b="0">
                          <a:solidFill>
                            <a:srgbClr val="1C1C1E"/>
                          </a:solidFill>
                          <a:latin typeface="Calibri"/>
                        </a:rPr>
                        <a:t>the VERSION</a:t>
                      </a:r>
                    </a:p>
                  </a:txBody>
                  <a:tcPr marL="82296" marR="64008" marT="32004" marB="32004" anchor="ctr">
                    <a:solidFill>
                      <a:srgbClr val="F6F3EF"/>
                    </a:solidFill>
                  </a:tcPr>
                </a:tc>
                <a:tc>
                  <a:txBody>
                    <a:bodyPr wrap="square"/>
                    <a:lstStyle/>
                    <a:p>
                      <a:pPr algn="l"/>
                      <a:r>
                        <a:rPr sz="1000" b="0">
                          <a:solidFill>
                            <a:srgbClr val="1C1C1E"/>
                          </a:solidFill>
                          <a:latin typeface="Calibri"/>
                        </a:rPr>
                        <a:t>the specification of that kernel</a:t>
                      </a:r>
                    </a:p>
                  </a:txBody>
                  <a:tcPr marL="82296" marR="64008" marT="32004" marB="32004" anchor="ctr">
                    <a:solidFill>
                      <a:srgbClr val="F6F3EF"/>
                    </a:solidFill>
                  </a:tcPr>
                </a:tc>
                <a:tc>
                  <a:txBody>
                    <a:bodyPr wrap="square"/>
                    <a:lstStyle/>
                    <a:p>
                      <a:pPr algn="l"/>
                      <a:r>
                        <a:rPr sz="1000" b="0">
                          <a:solidFill>
                            <a:srgbClr val="1C1C1E"/>
                          </a:solidFill>
                          <a:latin typeface="Calibri"/>
                        </a:rPr>
                        <a:t>yes</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a fit warrant executes</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the convergence study, the note explaining one morning</a:t>
                      </a:r>
                    </a:p>
                  </a:txBody>
                  <a:tcPr marL="82296" marR="64008" marT="32004" marB="32004" anchor="ctr">
                    <a:solidFill>
                      <a:srgbClr val="FFFFFF"/>
                    </a:solidFill>
                  </a:tcPr>
                </a:tc>
                <a:tc>
                  <a:txBody>
                    <a:bodyPr wrap="square"/>
                    <a:lstStyle/>
                    <a:p>
                      <a:pPr algn="l"/>
                      <a:r>
                        <a:rPr sz="1000" b="0">
                          <a:solidFill>
                            <a:srgbClr val="1C1C1E"/>
                          </a:solidFill>
                          <a:latin typeface="Calibri"/>
                        </a:rPr>
                        <a:t>NO</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a featureset is filled</a:t>
                      </a:r>
                    </a:p>
                  </a:txBody>
                  <a:tcPr marL="82296" marR="64008" marT="32004" marB="32004" anchor="ctr">
                    <a:solidFill>
                      <a:srgbClr val="F6F3EF"/>
                    </a:solidFill>
                  </a:tcPr>
                </a:tc>
                <a:tc>
                  <a:txBody>
                    <a:bodyPr wrap="square"/>
                    <a:lstStyle/>
                    <a:p>
                      <a:pPr algn="l"/>
                      <a:r>
                        <a:rPr sz="1000" b="0">
                          <a:solidFill>
                            <a:srgbClr val="1C1C1E"/>
                          </a:solidFill>
                          <a:latin typeface="Calibri"/>
                        </a:rPr>
                        <a:t>the FEATURESET VERSION</a:t>
                      </a:r>
                    </a:p>
                  </a:txBody>
                  <a:tcPr marL="82296" marR="64008" marT="32004" marB="32004" anchor="ctr">
                    <a:solidFill>
                      <a:srgbClr val="F6F3EF"/>
                    </a:solidFill>
                  </a:tcPr>
                </a:tc>
                <a:tc>
                  <a:txBody>
                    <a:bodyPr wrap="square"/>
                    <a:lstStyle/>
                    <a:p>
                      <a:pPr algn="l"/>
                      <a:r>
                        <a:rPr sz="1000" b="0">
                          <a:solidFill>
                            <a:srgbClr val="1C1C1E"/>
                          </a:solidFill>
                          <a:latin typeface="Calibri"/>
                        </a:rPr>
                        <a:t>the data dictionary, the source-system agreement</a:t>
                      </a:r>
                    </a:p>
                  </a:txBody>
                  <a:tcPr marL="82296" marR="64008" marT="32004" marB="32004" anchor="ctr">
                    <a:solidFill>
                      <a:srgbClr val="F6F3EF"/>
                    </a:solidFill>
                  </a:tcPr>
                </a:tc>
                <a:tc>
                  <a:txBody>
                    <a:bodyPr wrap="square"/>
                    <a:lstStyle/>
                    <a:p>
                      <a:pPr algn="l"/>
                      <a:r>
                        <a:rPr sz="1000" b="0">
                          <a:solidFill>
                            <a:srgbClr val="1C1C1E"/>
                          </a:solidFill>
                          <a:latin typeface="Calibri"/>
                        </a:rPr>
                        <a:t>NO</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validation concludes</a:t>
                      </a:r>
                    </a:p>
                  </a:txBody>
                  <a:tcPr marL="82296" marR="64008" marT="32004" marB="32004" anchor="ctr">
                    <a:solidFill>
                      <a:srgbClr val="FFFFFF"/>
                    </a:solidFill>
                  </a:tcPr>
                </a:tc>
                <a:tc>
                  <a:txBody>
                    <a:bodyPr wrap="square"/>
                    <a:lstStyle/>
                    <a:p>
                      <a:pPr algn="l"/>
                      <a:r>
                        <a:rPr sz="1000" b="0">
                          <a:solidFill>
                            <a:srgbClr val="1C1C1E"/>
                          </a:solidFill>
                          <a:latin typeface="Calibri"/>
                        </a:rPr>
                        <a:t>the VALIDATION</a:t>
                      </a:r>
                    </a:p>
                  </a:txBody>
                  <a:tcPr marL="82296" marR="64008" marT="32004" marB="32004" anchor="ctr">
                    <a:solidFill>
                      <a:srgbClr val="FFFFFF"/>
                    </a:solidFill>
                  </a:tcPr>
                </a:tc>
                <a:tc>
                  <a:txBody>
                    <a:bodyPr wrap="square"/>
                    <a:lstStyle/>
                    <a:p>
                      <a:pPr algn="l"/>
                      <a:r>
                        <a:rPr sz="1000" b="0">
                          <a:solidFill>
                            <a:srgbClr val="1C1C1E"/>
                          </a:solidFill>
                          <a:latin typeface="Calibri"/>
                        </a:rPr>
                        <a:t>the independent recode, the reviewer's working</a:t>
                      </a:r>
                    </a:p>
                  </a:txBody>
                  <a:tcPr marL="82296" marR="64008" marT="32004" marB="32004" anchor="ctr">
                    <a:solidFill>
                      <a:srgbClr val="FFFFFF"/>
                    </a:solidFill>
                  </a:tcPr>
                </a:tc>
                <a:tc>
                  <a:txBody>
                    <a:bodyPr wrap="square"/>
                    <a:lstStyle/>
                    <a:p>
                      <a:pPr algn="l"/>
                      <a:r>
                        <a:rPr sz="1000" b="0">
                          <a:solidFill>
                            <a:srgbClr val="1C1C1E"/>
                          </a:solidFill>
                          <a:latin typeface="Calibri"/>
                        </a:rPr>
                        <a:t>yes</a:t>
                      </a:r>
                    </a:p>
                  </a:txBody>
                  <a:tcPr marL="82296" marR="64008" marT="32004" marB="32004" anchor="ctr">
                    <a:solidFill>
                      <a:srgbClr val="FFFFFF"/>
                    </a:solidFill>
                  </a:tcPr>
                </a:tc>
              </a:tr>
            </a:tbl>
          </a:graphicData>
        </a:graphic>
      </p:graphicFrame>
      <p:sp>
        <p:nvSpPr>
          <p:cNvPr id="11" name="Rectangle 10"/>
          <p:cNvSpPr/>
          <p:nvPr/>
        </p:nvSpPr>
        <p:spPr>
          <a:xfrm>
            <a:off x="777240" y="4014215"/>
            <a:ext cx="10637215"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014215"/>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133087"/>
            <a:ext cx="10180015" cy="11978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of the five were unfilable, and they are the two that matter most. </a:t>
            </a:r>
            <a:r>
              <a:rPr sz="1050" b="0" i="0">
                <a:solidFill>
                  <a:srgbClr val="1C1C1E"/>
                </a:solidFill>
                <a:latin typeface="Calibri"/>
              </a:rPr>
              <a:t>A calibrated model produces a parameter set every morning. A featureset's documentation is read by every model fitted from it, so filing it against one of them makes it invisible to the rest — and filing it against the SET rather than the version describes something that has since moved, which is finding C-2 in documentation's clothing.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THE TRAINING RECORD</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hundred and fifty governed acts a year, none of them readable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74</a:t>
            </a:r>
          </a:p>
        </p:txBody>
      </p:sp>
      <p:sp>
        <p:nvSpPr>
          <p:cNvPr id="10" name="TextBox 9"/>
          <p:cNvSpPr txBox="1"/>
          <p:nvPr/>
        </p:nvSpPr>
        <p:spPr>
          <a:xfrm>
            <a:off x="777240" y="1764792"/>
            <a:ext cx="5531351" cy="3108960"/>
          </a:xfrm>
          <a:prstGeom prst="rect">
            <a:avLst/>
          </a:prstGeom>
          <a:noFill/>
        </p:spPr>
        <p:txBody>
          <a:bodyPr wrap="square" lIns="0" rIns="0" tIns="0" bIns="0" anchor="t">
            <a:spAutoFit/>
          </a:bodyPr>
          <a:lstStyle/>
          <a:p>
            <a:pPr algn="l">
              <a:spcBef>
                <a:spcPts val="0"/>
              </a:spcBef>
              <a:spcAft>
                <a:spcPts val="1000"/>
              </a:spcAft>
            </a:pPr>
            <a:r>
              <a:rPr sz="1300" b="1" i="0">
                <a:solidFill>
                  <a:srgbClr val="A51C30"/>
                </a:solidFill>
                <a:latin typeface="Georgia"/>
              </a:rPr>
              <a:t>Hull–White is solved every morning.</a:t>
            </a:r>
          </a:p>
          <a:p>
            <a:pPr>
              <a:lnSpc>
                <a:spcPct val="128000"/>
              </a:lnSpc>
              <a:spcBef>
                <a:spcPts val="0"/>
              </a:spcBef>
              <a:spcAft>
                <a:spcPts val="900"/>
              </a:spcAft>
            </a:pPr>
            <a:r>
              <a:rPr sz="1200" b="0" i="0">
                <a:solidFill>
                  <a:srgbClr val="1C1C1E"/>
                </a:solidFill>
                <a:latin typeface="Calibri"/>
              </a:rPr>
              <a:t>Each solve is a governed act: a warrant behind it, a featureset version read, diagnostics returned, a reviewer's signature on it.</a:t>
            </a:r>
          </a:p>
          <a:p>
            <a:pPr>
              <a:lnSpc>
                <a:spcPct val="128000"/>
              </a:lnSpc>
              <a:spcBef>
                <a:spcPts val="0"/>
              </a:spcBef>
              <a:spcAft>
                <a:spcPts val="900"/>
              </a:spcAft>
            </a:pPr>
            <a:r>
              <a:rPr sz="1200" b="0" i="0">
                <a:solidFill>
                  <a:srgbClr val="1C1C1E"/>
                </a:solidFill>
                <a:latin typeface="Calibri"/>
              </a:rPr>
              <a:t>And none of them had a record anybody could read. The note explaining the one morning it went wrong lived in an email.</a:t>
            </a:r>
          </a:p>
          <a:p>
            <a:pPr>
              <a:lnSpc>
                <a:spcPct val="128000"/>
              </a:lnSpc>
              <a:spcBef>
                <a:spcPts val="0"/>
              </a:spcBef>
              <a:spcAft>
                <a:spcPts val="0"/>
              </a:spcAft>
            </a:pPr>
            <a:r>
              <a:rPr sz="1100" b="0" i="0">
                <a:solidFill>
                  <a:srgbClr val="4A4F57"/>
                </a:solidFill>
                <a:latin typeface="Calibri"/>
              </a:rPr>
              <a:t>So the record is COMPILED, from what the register already holds. All two hundred and fifty exist whether or not somebody had time to write one — and the one that needs a human note has a place to put it, as an attachment against the same subject.</a:t>
            </a:r>
          </a:p>
        </p:txBody>
      </p:sp>
      <p:graphicFrame>
        <p:nvGraphicFramePr>
          <p:cNvPr id="11" name="Table 10"/>
          <p:cNvGraphicFramePr>
            <a:graphicFrameLocks noGrp="1"/>
          </p:cNvGraphicFramePr>
          <p:nvPr/>
        </p:nvGraphicFramePr>
        <p:xfrm>
          <a:off x="6734080" y="1764792"/>
          <a:ext cx="4680374" cy="2340392"/>
        </p:xfrm>
        <a:graphic>
          <a:graphicData uri="http://schemas.openxmlformats.org/drawingml/2006/table">
            <a:tbl>
              <a:tblPr firstRow="1">
                <a:tableStyleId>{5C22544A-7EE6-4342-B048-85BDC9FD1C3A}</a:tableStyleId>
              </a:tblPr>
              <a:tblGrid>
                <a:gridCol w="1752949"/>
                <a:gridCol w="2927425"/>
              </a:tblGrid>
              <a:tr h="329184">
                <a:tc>
                  <a:txBody>
                    <a:bodyPr wrap="square"/>
                    <a:lstStyle/>
                    <a:p>
                      <a:pPr algn="l"/>
                      <a:r>
                        <a:rPr sz="950" b="1">
                          <a:solidFill>
                            <a:srgbClr val="FFFFFF"/>
                          </a:solidFill>
                          <a:latin typeface="Calibri"/>
                        </a:rPr>
                        <a:t>Section</a:t>
                      </a:r>
                    </a:p>
                  </a:txBody>
                  <a:tcPr marL="82296" marR="64008" marT="32004" marB="32004" anchor="ctr">
                    <a:solidFill>
                      <a:srgbClr val="A51C30"/>
                    </a:solidFill>
                  </a:tcPr>
                </a:tc>
                <a:tc>
                  <a:txBody>
                    <a:bodyPr wrap="square"/>
                    <a:lstStyle/>
                    <a:p>
                      <a:pPr algn="l"/>
                      <a:r>
                        <a:rPr sz="950" b="1">
                          <a:solidFill>
                            <a:srgbClr val="FFFFFF"/>
                          </a:solidFill>
                          <a:latin typeface="Calibri"/>
                        </a:rPr>
                        <a:t>From</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What this is</a:t>
                      </a:r>
                    </a:p>
                  </a:txBody>
                  <a:tcPr marL="82296" marR="64008" marT="32004" marB="32004" anchor="ctr">
                    <a:solidFill>
                      <a:srgbClr val="FFFFFF"/>
                    </a:solidFill>
                  </a:tcPr>
                </a:tc>
                <a:tc>
                  <a:txBody>
                    <a:bodyPr wrap="square"/>
                    <a:lstStyle/>
                    <a:p>
                      <a:pPr algn="l"/>
                      <a:r>
                        <a:rPr sz="950" b="0">
                          <a:solidFill>
                            <a:srgbClr val="1C1C1E"/>
                          </a:solidFill>
                          <a:latin typeface="Calibri"/>
                        </a:rPr>
                        <a:t>kind, provenance, state</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Under what authority</a:t>
                      </a:r>
                    </a:p>
                  </a:txBody>
                  <a:tcPr marL="82296" marR="64008" marT="32004" marB="32004" anchor="ctr">
                    <a:solidFill>
                      <a:srgbClr val="F6F3EF"/>
                    </a:solidFill>
                  </a:tcPr>
                </a:tc>
                <a:tc>
                  <a:txBody>
                    <a:bodyPr wrap="square"/>
                    <a:lstStyle/>
                    <a:p>
                      <a:pPr algn="l"/>
                      <a:r>
                        <a:rPr sz="950" b="0">
                          <a:solidFill>
                            <a:srgbClr val="1C1C1E"/>
                          </a:solidFill>
                          <a:latin typeface="Calibri"/>
                        </a:rPr>
                        <a:t>the warrant id</a:t>
                      </a:r>
                    </a:p>
                  </a:txBody>
                  <a:tcPr marL="82296" marR="64008" marT="32004" marB="32004" anchor="ctr">
                    <a:solidFill>
                      <a:srgbClr val="F6F3EF"/>
                    </a:solidFill>
                  </a:tcPr>
                </a:tc>
              </a:tr>
              <a:tr h="470128">
                <a:tc>
                  <a:txBody>
                    <a:bodyPr wrap="square"/>
                    <a:lstStyle/>
                    <a:p>
                      <a:pPr algn="l"/>
                      <a:r>
                        <a:rPr sz="950" b="1">
                          <a:solidFill>
                            <a:srgbClr val="A51C30"/>
                          </a:solidFill>
                          <a:latin typeface="Calibri"/>
                        </a:rPr>
                        <a:t>What it read</a:t>
                      </a:r>
                    </a:p>
                  </a:txBody>
                  <a:tcPr marL="82296" marR="64008" marT="32004" marB="32004" anchor="ctr">
                    <a:solidFill>
                      <a:srgbClr val="FFFFFF"/>
                    </a:solidFill>
                  </a:tcPr>
                </a:tc>
                <a:tc>
                  <a:txBody>
                    <a:bodyPr wrap="square"/>
                    <a:lstStyle/>
                    <a:p>
                      <a:pPr algn="l"/>
                      <a:r>
                        <a:rPr sz="950" b="0">
                          <a:solidFill>
                            <a:srgbClr val="1C1C1E"/>
                          </a:solidFill>
                          <a:latin typeface="Calibri"/>
                        </a:rPr>
                        <a:t>the featureset VERSION, window, as_of, snapshot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What it produced</a:t>
                      </a:r>
                    </a:p>
                  </a:txBody>
                  <a:tcPr marL="82296" marR="64008" marT="32004" marB="32004" anchor="ctr">
                    <a:solidFill>
                      <a:srgbClr val="F6F3EF"/>
                    </a:solidFill>
                  </a:tcPr>
                </a:tc>
                <a:tc>
                  <a:txBody>
                    <a:bodyPr wrap="square"/>
                    <a:lstStyle/>
                    <a:p>
                      <a:pPr algn="l"/>
                      <a:r>
                        <a:rPr sz="950" b="0">
                          <a:solidFill>
                            <a:srgbClr val="1C1C1E"/>
                          </a:solidFill>
                          <a:latin typeface="Calibri"/>
                        </a:rPr>
                        <a:t>the values and their digest</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What the fit reported</a:t>
                      </a:r>
                    </a:p>
                  </a:txBody>
                  <a:tcPr marL="82296" marR="64008" marT="32004" marB="32004" anchor="ctr">
                    <a:solidFill>
                      <a:srgbClr val="FFFFFF"/>
                    </a:solidFill>
                  </a:tcPr>
                </a:tc>
                <a:tc>
                  <a:txBody>
                    <a:bodyPr wrap="square"/>
                    <a:lstStyle/>
                    <a:p>
                      <a:pPr algn="l"/>
                      <a:r>
                        <a:rPr sz="950" b="0">
                          <a:solidFill>
                            <a:srgbClr val="1C1C1E"/>
                          </a:solidFill>
                          <a:latin typeface="Calibri"/>
                        </a:rPr>
                        <a:t>the diagnostics</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Who accepted it</a:t>
                      </a:r>
                    </a:p>
                  </a:txBody>
                  <a:tcPr marL="82296" marR="64008" marT="32004" marB="32004" anchor="ctr">
                    <a:solidFill>
                      <a:srgbClr val="F6F3EF"/>
                    </a:solidFill>
                  </a:tcPr>
                </a:tc>
                <a:tc>
                  <a:txBody>
                    <a:bodyPr wrap="square"/>
                    <a:lstStyle/>
                    <a:p>
                      <a:pPr algn="l"/>
                      <a:r>
                        <a:rPr sz="950" b="0">
                          <a:solidFill>
                            <a:srgbClr val="1C1C1E"/>
                          </a:solidFill>
                          <a:latin typeface="Calibri"/>
                        </a:rPr>
                        <a:t>and who recorded it — never the same person</a:t>
                      </a:r>
                    </a:p>
                  </a:txBody>
                  <a:tcPr marL="82296" marR="64008" marT="32004" marB="32004" anchor="ctr">
                    <a:solidFill>
                      <a:srgbClr val="F6F3EF"/>
                    </a:solidFill>
                  </a:tcPr>
                </a:tc>
              </a:tr>
            </a:tbl>
          </a:graphicData>
        </a:graphic>
      </p:graphicFrame>
      <p:sp>
        <p:nvSpPr>
          <p:cNvPr id="12" name="Rectangle 11"/>
          <p:cNvSpPr/>
          <p:nvPr/>
        </p:nvSpPr>
        <p:spPr>
          <a:xfrm>
            <a:off x="6734080" y="4342930"/>
            <a:ext cx="4680374" cy="13716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6734080" y="4342930"/>
            <a:ext cx="41148" cy="13716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6971824" y="4461802"/>
            <a:ext cx="4223174" cy="11521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fit with no warrant is a NAMED GAP, not a blank section. </a:t>
            </a:r>
            <a:r>
              <a:rPr sz="1050" b="0" i="0">
                <a:solidFill>
                  <a:srgbClr val="1C1C1E"/>
                </a:solidFill>
                <a:latin typeface="Calibri"/>
              </a:rPr>
              <a:t>A fitted set with no warrant has no answer to “which data produced these numbers”, and that is worth saying out loud rather than leaving a heading with nothing under it.</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THE HOLISTIC VIEW</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dossier: the graph, walked from a model</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75</a:t>
            </a:r>
          </a:p>
        </p:txBody>
      </p:sp>
      <p:sp>
        <p:nvSpPr>
          <p:cNvPr id="10" name="Rectangle 9"/>
          <p:cNvSpPr/>
          <p:nvPr/>
        </p:nvSpPr>
        <p:spPr>
          <a:xfrm>
            <a:off x="777240" y="1353312"/>
            <a:ext cx="5956840" cy="307572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07572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COMPUTED, NEVER STORED</a:t>
            </a:r>
          </a:p>
        </p:txBody>
      </p:sp>
      <p:sp>
        <p:nvSpPr>
          <p:cNvPr id="13" name="TextBox 12"/>
          <p:cNvSpPr txBox="1"/>
          <p:nvPr/>
        </p:nvSpPr>
        <p:spPr>
          <a:xfrm>
            <a:off x="978408" y="1746504"/>
            <a:ext cx="5591080" cy="2600233"/>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model</a:t>
            </a:r>
          </a:p>
          <a:p>
            <a:pPr>
              <a:lnSpc>
                <a:spcPct val="134000"/>
              </a:lnSpc>
              <a:spcBef>
                <a:spcPts val="0"/>
              </a:spcBef>
              <a:spcAft>
                <a:spcPts val="0"/>
              </a:spcAft>
            </a:pPr>
            <a:r>
              <a:rPr sz="900" b="0" i="0">
                <a:solidFill>
                  <a:srgbClr val="1C1C1E"/>
                </a:solidFill>
                <a:latin typeface="Consolas"/>
              </a:rPr>
              <a:t> ├── attached : methodology paper, literature, vendor note</a:t>
            </a:r>
          </a:p>
          <a:p>
            <a:pPr>
              <a:lnSpc>
                <a:spcPct val="134000"/>
              </a:lnSpc>
              <a:spcBef>
                <a:spcPts val="0"/>
              </a:spcBef>
              <a:spcAft>
                <a:spcPts val="0"/>
              </a:spcAft>
            </a:pPr>
            <a:r>
              <a:rPr sz="900" b="0" i="0">
                <a:solidFill>
                  <a:srgbClr val="1C1C1E"/>
                </a:solidFill>
                <a:latin typeface="Consolas"/>
              </a:rPr>
              <a:t> ├── compiled : development document, model card, Annex IV</a:t>
            </a:r>
          </a:p>
          <a:p>
            <a:pPr>
              <a:lnSpc>
                <a:spcPct val="134000"/>
              </a:lnSpc>
              <a:spcBef>
                <a:spcPts val="0"/>
              </a:spcBef>
              <a:spcAft>
                <a:spcPts val="0"/>
              </a:spcAft>
            </a:pPr>
            <a:r>
              <a:rPr sz="900" b="0" i="0">
                <a:solidFill>
                  <a:srgbClr val="1C1C1E"/>
                </a:solidFill>
                <a:latin typeface="Consolas"/>
              </a:rPr>
              <a:t> └── version 1.0.0</a:t>
            </a:r>
          </a:p>
          <a:p>
            <a:pPr>
              <a:lnSpc>
                <a:spcPct val="134000"/>
              </a:lnSpc>
              <a:spcBef>
                <a:spcPts val="0"/>
              </a:spcBef>
              <a:spcAft>
                <a:spcPts val="0"/>
              </a:spcAft>
            </a:pPr>
            <a:r>
              <a:rPr sz="900" b="0" i="0">
                <a:solidFill>
                  <a:srgbClr val="1C1C1E"/>
                </a:solidFill>
                <a:latin typeface="Consolas"/>
              </a:rPr>
              <a:t>      ├── attached : kernel specification</a:t>
            </a:r>
          </a:p>
          <a:p>
            <a:pPr>
              <a:lnSpc>
                <a:spcPct val="134000"/>
              </a:lnSpc>
              <a:spcBef>
                <a:spcPts val="0"/>
              </a:spcBef>
              <a:spcAft>
                <a:spcPts val="0"/>
              </a:spcAft>
            </a:pPr>
            <a:r>
              <a:rPr sz="900" b="0" i="0">
                <a:solidFill>
                  <a:srgbClr val="1C1C1E"/>
                </a:solidFill>
                <a:latin typeface="Consolas"/>
              </a:rPr>
              <a:t>      ├── compiled : validation report</a:t>
            </a:r>
          </a:p>
          <a:p>
            <a:pPr>
              <a:lnSpc>
                <a:spcPct val="134000"/>
              </a:lnSpc>
              <a:spcBef>
                <a:spcPts val="0"/>
              </a:spcBef>
              <a:spcAft>
                <a:spcPts val="0"/>
              </a:spcAft>
            </a:pPr>
            <a:r>
              <a:rPr sz="900" b="0" i="0">
                <a:solidFill>
                  <a:srgbClr val="1C1C1E"/>
                </a:solidFill>
                <a:latin typeface="Consolas"/>
              </a:rPr>
              <a:t>      ├── parameter set ps-8817      (fitted 2026-03-31)</a:t>
            </a:r>
          </a:p>
          <a:p>
            <a:pPr>
              <a:lnSpc>
                <a:spcPct val="134000"/>
              </a:lnSpc>
              <a:spcBef>
                <a:spcPts val="0"/>
              </a:spcBef>
              <a:spcAft>
                <a:spcPts val="0"/>
              </a:spcAft>
            </a:pPr>
            <a:r>
              <a:rPr sz="900" b="0" i="0">
                <a:solidFill>
                  <a:srgbClr val="1C1C1E"/>
                </a:solidFill>
                <a:latin typeface="Consolas"/>
              </a:rPr>
              <a:t>      │    ├── compiled : TRAINING RECORD</a:t>
            </a:r>
          </a:p>
          <a:p>
            <a:pPr>
              <a:lnSpc>
                <a:spcPct val="134000"/>
              </a:lnSpc>
              <a:spcBef>
                <a:spcPts val="0"/>
              </a:spcBef>
              <a:spcAft>
                <a:spcPts val="0"/>
              </a:spcAft>
            </a:pPr>
            <a:r>
              <a:rPr sz="900" b="0" i="0">
                <a:solidFill>
                  <a:srgbClr val="1C1C1E"/>
                </a:solidFill>
                <a:latin typeface="Consolas"/>
              </a:rPr>
              <a:t>      │    └── attached : convergence study</a:t>
            </a:r>
          </a:p>
          <a:p>
            <a:pPr>
              <a:lnSpc>
                <a:spcPct val="134000"/>
              </a:lnSpc>
              <a:spcBef>
                <a:spcPts val="0"/>
              </a:spcBef>
              <a:spcAft>
                <a:spcPts val="0"/>
              </a:spcAft>
            </a:pPr>
            <a:r>
              <a:rPr sz="900" b="0" i="0">
                <a:solidFill>
                  <a:srgbClr val="1C1C1E"/>
                </a:solidFill>
                <a:latin typeface="Consolas"/>
              </a:rPr>
              <a:t>      └── fitted from  featureset sb_core @ v1</a:t>
            </a:r>
          </a:p>
          <a:p>
            <a:pPr>
              <a:lnSpc>
                <a:spcPct val="134000"/>
              </a:lnSpc>
              <a:spcBef>
                <a:spcPts val="0"/>
              </a:spcBef>
              <a:spcAft>
                <a:spcPts val="0"/>
              </a:spcAft>
            </a:pPr>
            <a:r>
              <a:rPr sz="900" b="0" i="0">
                <a:solidFill>
                  <a:srgbClr val="1C1C1E"/>
                </a:solidFill>
                <a:latin typeface="Consolas"/>
              </a:rPr>
              <a:t>           ├── attached : data dictionary, source agreement</a:t>
            </a:r>
          </a:p>
          <a:p>
            <a:pPr>
              <a:lnSpc>
                <a:spcPct val="134000"/>
              </a:lnSpc>
              <a:spcBef>
                <a:spcPts val="0"/>
              </a:spcBef>
              <a:spcAft>
                <a:spcPts val="0"/>
              </a:spcAft>
            </a:pPr>
            <a:r>
              <a:rPr sz="900" b="0" i="0">
                <a:solidFill>
                  <a:srgbClr val="1C1C1E"/>
                </a:solidFill>
                <a:latin typeface="Consolas"/>
              </a:rPr>
              <a:t>           └── feature dscr</a:t>
            </a:r>
          </a:p>
          <a:p>
            <a:pPr>
              <a:lnSpc>
                <a:spcPct val="134000"/>
              </a:lnSpc>
              <a:spcBef>
                <a:spcPts val="0"/>
              </a:spcBef>
              <a:spcAft>
                <a:spcPts val="0"/>
              </a:spcAft>
            </a:pPr>
            <a:r>
              <a:rPr sz="900" b="0" i="0">
                <a:solidFill>
                  <a:srgbClr val="1C1C1E"/>
                </a:solidFill>
                <a:latin typeface="Consolas"/>
              </a:rPr>
              <a:t>                └── attached : business definition</a:t>
            </a:r>
          </a:p>
        </p:txBody>
      </p:sp>
      <p:sp>
        <p:nvSpPr>
          <p:cNvPr id="14" name="TextBox 13"/>
          <p:cNvSpPr txBox="1"/>
          <p:nvPr/>
        </p:nvSpPr>
        <p:spPr>
          <a:xfrm>
            <a:off x="7159569" y="1353312"/>
            <a:ext cx="4254886" cy="3474720"/>
          </a:xfrm>
          <a:prstGeom prst="rect">
            <a:avLst/>
          </a:prstGeom>
          <a:noFill/>
        </p:spPr>
        <p:txBody>
          <a:bodyPr wrap="square" lIns="0" rIns="0" tIns="0" bIns="0" anchor="t">
            <a:spAutoFit/>
          </a:bodyPr>
          <a:lstStyle/>
          <a:p>
            <a:pPr algn="l">
              <a:spcBef>
                <a:spcPts val="0"/>
              </a:spcBef>
              <a:spcAft>
                <a:spcPts val="900"/>
              </a:spcAft>
            </a:pPr>
            <a:r>
              <a:rPr sz="1250" b="1" i="0">
                <a:solidFill>
                  <a:srgbClr val="A51C30"/>
                </a:solidFill>
                <a:latin typeface="Georgia"/>
              </a:rPr>
              <a:t>Three properties</a:t>
            </a:r>
          </a:p>
          <a:p>
            <a:pPr>
              <a:spcBef>
                <a:spcPts val="0"/>
              </a:spcBef>
              <a:spcAft>
                <a:spcPts val="800"/>
              </a:spcAft>
            </a:pPr>
            <a:r>
              <a:rPr sz="1050" b="1" i="0">
                <a:solidFill>
                  <a:srgbClr val="A51C30"/>
                </a:solidFill>
                <a:latin typeface="Calibri"/>
              </a:rPr>
              <a:t>→  </a:t>
            </a:r>
            <a:r>
              <a:rPr sz="1050" b="1" i="0">
                <a:solidFill>
                  <a:srgbClr val="1C1C1E"/>
                </a:solidFill>
                <a:latin typeface="Calibri"/>
              </a:rPr>
              <a:t>It follows the pins, not the names. </a:t>
            </a:r>
            <a:r>
              <a:rPr sz="1050" b="0" i="0">
                <a:solidFill>
                  <a:srgbClr val="4A4F57"/>
                </a:solidFill>
                <a:latin typeface="Calibri"/>
              </a:rPr>
              <a:t>sb_core@v1, never sb_core. A document about the set describes something that has since moved.</a:t>
            </a:r>
          </a:p>
          <a:p>
            <a:pPr>
              <a:spcBef>
                <a:spcPts val="0"/>
              </a:spcBef>
              <a:spcAft>
                <a:spcPts val="800"/>
              </a:spcAft>
            </a:pPr>
            <a:r>
              <a:rPr sz="1050" b="1" i="0">
                <a:solidFill>
                  <a:srgbClr val="A51C30"/>
                </a:solidFill>
                <a:latin typeface="Calibri"/>
              </a:rPr>
              <a:t>→  </a:t>
            </a:r>
            <a:r>
              <a:rPr sz="1050" b="1" i="0">
                <a:solidFill>
                  <a:srgbClr val="1C1C1E"/>
                </a:solidFill>
                <a:latin typeface="Calibri"/>
              </a:rPr>
              <a:t>Gaps are named. </a:t>
            </a:r>
            <a:r>
              <a:rPr sz="1050" b="0" i="0">
                <a:solidFill>
                  <a:srgbClr val="4A4F57"/>
                </a:solidFill>
                <a:latin typeface="Calibri"/>
              </a:rPr>
              <a:t>Every node with nothing filed says what was expected. A page that silently omits what it could not find reads as complete.</a:t>
            </a:r>
          </a:p>
          <a:p>
            <a:pPr>
              <a:spcBef>
                <a:spcPts val="0"/>
              </a:spcBef>
              <a:spcAft>
                <a:spcPts val="800"/>
              </a:spcAft>
            </a:pPr>
            <a:r>
              <a:rPr sz="1050" b="1" i="0">
                <a:solidFill>
                  <a:srgbClr val="A51C30"/>
                </a:solidFill>
                <a:latin typeface="Calibri"/>
              </a:rPr>
              <a:t>→  </a:t>
            </a:r>
            <a:r>
              <a:rPr sz="1050" b="1" i="0">
                <a:solidFill>
                  <a:srgbClr val="1C1C1E"/>
                </a:solidFill>
                <a:latin typeface="Calibri"/>
              </a:rPr>
              <a:t>It is computed. </a:t>
            </a:r>
            <a:r>
              <a:rPr sz="1050" b="0" i="0">
                <a:solidFill>
                  <a:srgbClr val="4A4F57"/>
                </a:solidFill>
                <a:latin typeface="Calibri"/>
              </a:rPr>
              <a:t>Its inputs are all versioned or immutable, so there is nothing to keep in step — and a stored dossier would be a second account of the documentation, able to disagree with the first.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DOCUMENTATION · THE EXPORT PACK</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And the whole of it travels to somebody without a login</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14 · Documentation, as a Graph</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76</a:t>
            </a:r>
          </a:p>
        </p:txBody>
      </p:sp>
      <p:sp>
        <p:nvSpPr>
          <p:cNvPr id="10" name="Rectangle 9"/>
          <p:cNvSpPr/>
          <p:nvPr/>
        </p:nvSpPr>
        <p:spPr>
          <a:xfrm>
            <a:off x="777240"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01</a:t>
            </a:r>
          </a:p>
          <a:p>
            <a:pPr>
              <a:spcBef>
                <a:spcPts val="0"/>
              </a:spcBef>
              <a:spcAft>
                <a:spcPts val="400"/>
              </a:spcAft>
            </a:pPr>
            <a:r>
              <a:rPr sz="1100" b="1" i="0">
                <a:solidFill>
                  <a:srgbClr val="1C1C1E"/>
                </a:solidFill>
                <a:latin typeface="Calibri"/>
              </a:rPr>
              <a:t>Self-contained</a:t>
            </a:r>
          </a:p>
          <a:p>
            <a:pPr>
              <a:lnSpc>
                <a:spcPct val="115000"/>
              </a:lnSpc>
              <a:spcBef>
                <a:spcPts val="0"/>
              </a:spcBef>
              <a:spcAft>
                <a:spcPts val="600"/>
              </a:spcAft>
            </a:pPr>
            <a:r>
              <a:rPr sz="850" b="0" i="0">
                <a:solidFill>
                  <a:srgbClr val="4A4F57"/>
                </a:solidFill>
                <a:latin typeface="Calibri"/>
              </a:rPr>
              <a:t>they cannot query the platform, so the pack carries the register state, the documents, the attachments and the evidence segment</a:t>
            </a:r>
          </a:p>
        </p:txBody>
      </p:sp>
      <p:sp>
        <p:nvSpPr>
          <p:cNvPr id="13" name="Rectangle 12"/>
          <p:cNvSpPr/>
          <p:nvPr/>
        </p:nvSpPr>
        <p:spPr>
          <a:xfrm>
            <a:off x="3482263"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3482263"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3628567"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02</a:t>
            </a:r>
          </a:p>
          <a:p>
            <a:pPr>
              <a:spcBef>
                <a:spcPts val="0"/>
              </a:spcBef>
              <a:spcAft>
                <a:spcPts val="400"/>
              </a:spcAft>
            </a:pPr>
            <a:r>
              <a:rPr sz="1100" b="1" i="0">
                <a:solidFill>
                  <a:srgbClr val="1C1C1E"/>
                </a:solidFill>
                <a:latin typeface="Calibri"/>
              </a:rPr>
              <a:t>Digested</a:t>
            </a:r>
          </a:p>
          <a:p>
            <a:pPr>
              <a:lnSpc>
                <a:spcPct val="115000"/>
              </a:lnSpc>
              <a:spcBef>
                <a:spcPts val="0"/>
              </a:spcBef>
              <a:spcAft>
                <a:spcPts val="600"/>
              </a:spcAft>
            </a:pPr>
            <a:r>
              <a:rPr sz="850" b="0" i="0">
                <a:solidFill>
                  <a:srgbClr val="4A4F57"/>
                </a:solidFill>
                <a:latin typeface="Calibri"/>
              </a:rPr>
              <a:t>they cannot take its word for anything, so every member is hashed and the manifest is hashed over the members</a:t>
            </a:r>
          </a:p>
        </p:txBody>
      </p:sp>
      <p:sp>
        <p:nvSpPr>
          <p:cNvPr id="16" name="Rectangle 15"/>
          <p:cNvSpPr/>
          <p:nvPr/>
        </p:nvSpPr>
        <p:spPr>
          <a:xfrm>
            <a:off x="6187287"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187287"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333591"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03</a:t>
            </a:r>
          </a:p>
          <a:p>
            <a:pPr>
              <a:spcBef>
                <a:spcPts val="0"/>
              </a:spcBef>
              <a:spcAft>
                <a:spcPts val="400"/>
              </a:spcAft>
            </a:pPr>
            <a:r>
              <a:rPr sz="1100" b="1" i="0">
                <a:solidFill>
                  <a:srgbClr val="1C1C1E"/>
                </a:solidFill>
                <a:latin typeface="Calibri"/>
              </a:rPr>
              <a:t>Comparable</a:t>
            </a:r>
          </a:p>
          <a:p>
            <a:pPr>
              <a:lnSpc>
                <a:spcPct val="115000"/>
              </a:lnSpc>
              <a:spcBef>
                <a:spcPts val="0"/>
              </a:spcBef>
              <a:spcAft>
                <a:spcPts val="600"/>
              </a:spcAft>
            </a:pPr>
            <a:r>
              <a:rPr sz="850" b="0" i="0">
                <a:solidFill>
                  <a:srgbClr val="4A4F57"/>
                </a:solidFill>
                <a:latin typeface="Calibri"/>
              </a:rPr>
              <a:t>the content digest EXCLUDES the manifest, so two packs of the same state agree — “has anything changed” is one comparison</a:t>
            </a:r>
          </a:p>
        </p:txBody>
      </p:sp>
      <p:sp>
        <p:nvSpPr>
          <p:cNvPr id="19" name="Rectangle 18"/>
          <p:cNvSpPr/>
          <p:nvPr/>
        </p:nvSpPr>
        <p:spPr>
          <a:xfrm>
            <a:off x="8892311" y="1764792"/>
            <a:ext cx="2522143" cy="16459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892311" y="1764792"/>
            <a:ext cx="2522143"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038615" y="1911095"/>
            <a:ext cx="2229535" cy="13716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04</a:t>
            </a:r>
          </a:p>
          <a:p>
            <a:pPr>
              <a:spcBef>
                <a:spcPts val="0"/>
              </a:spcBef>
              <a:spcAft>
                <a:spcPts val="400"/>
              </a:spcAft>
            </a:pPr>
            <a:r>
              <a:rPr sz="1100" b="1" i="0">
                <a:solidFill>
                  <a:srgbClr val="1C1C1E"/>
                </a:solidFill>
                <a:latin typeface="Calibri"/>
              </a:rPr>
              <a:t>Honest</a:t>
            </a:r>
          </a:p>
          <a:p>
            <a:pPr>
              <a:lnSpc>
                <a:spcPct val="115000"/>
              </a:lnSpc>
              <a:spcBef>
                <a:spcPts val="0"/>
              </a:spcBef>
              <a:spcAft>
                <a:spcPts val="600"/>
              </a:spcAft>
            </a:pPr>
            <a:r>
              <a:rPr sz="850" b="0" i="0">
                <a:solidFill>
                  <a:srgbClr val="4A4F57"/>
                </a:solidFill>
                <a:latin typeface="Calibri"/>
              </a:rPr>
              <a:t>gaps.md first: what could not be included, and why</a:t>
            </a:r>
          </a:p>
        </p:txBody>
      </p:sp>
      <p:sp>
        <p:nvSpPr>
          <p:cNvPr id="22" name="Rectangle 21"/>
          <p:cNvSpPr/>
          <p:nvPr/>
        </p:nvSpPr>
        <p:spPr>
          <a:xfrm>
            <a:off x="777240" y="3685032"/>
            <a:ext cx="10637215" cy="14630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777240" y="3685032"/>
            <a:ext cx="41148" cy="14630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14983" y="3803904"/>
            <a:ext cx="10180015" cy="12435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things it deliberately does not do. </a:t>
            </a:r>
            <a:r>
              <a:rPr sz="1050" b="0" i="0">
                <a:solidFill>
                  <a:srgbClr val="1C1C1E"/>
                </a:solidFill>
                <a:latin typeface="Calibri"/>
              </a:rPr>
              <a:t>It does not AUTHOR anything — the documents are rendered, not compiled, because cutting a pack monthly should not silently author four documents a month. And it does not re-materialise personal data: a flagged node carries its erasable pointer into the pack exactly as it does in the platform, because resolving it would put personal data where an erasure request cannot reach it.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15</a:t>
            </a:r>
          </a:p>
        </p:txBody>
      </p:sp>
      <p:sp>
        <p:nvSpPr>
          <p:cNvPr id="5" name="TextBox 4"/>
          <p:cNvSpPr txBox="1"/>
          <p:nvPr/>
        </p:nvSpPr>
        <p:spPr>
          <a:xfrm>
            <a:off x="1005840" y="2434132"/>
            <a:ext cx="6169584" cy="1188720"/>
          </a:xfrm>
          <a:prstGeom prst="rect">
            <a:avLst/>
          </a:prstGeom>
          <a:noFill/>
        </p:spPr>
        <p:txBody>
          <a:bodyPr wrap="square" lIns="0" rIns="0" tIns="0" bIns="0" anchor="t">
            <a:spAutoFit/>
          </a:bodyPr>
          <a:lstStyle/>
          <a:p>
            <a:pPr algn="l">
              <a:spcBef>
                <a:spcPts val="0"/>
              </a:spcBef>
              <a:spcAft>
                <a:spcPts val="0"/>
              </a:spcAft>
            </a:pPr>
            <a:r>
              <a:rPr sz="3200" b="0" i="0">
                <a:solidFill>
                  <a:srgbClr val="FFFFFF"/>
                </a:solidFill>
                <a:latin typeface="Georgia"/>
              </a:rPr>
              <a:t>What MAYA Refuses, and Why</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The refusals are the product. Everything else is bookkeeping.</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refusals that matter</a:t>
            </a:r>
          </a:p>
          <a:p>
            <a:pPr>
              <a:lnSpc>
                <a:spcPct val="115000"/>
              </a:lnSpc>
              <a:spcBef>
                <a:spcPts val="0"/>
              </a:spcBef>
              <a:spcAft>
                <a:spcPts val="700"/>
              </a:spcAft>
            </a:pPr>
            <a:r>
              <a:rPr sz="1150" b="0" i="0">
                <a:solidFill>
                  <a:srgbClr val="F6E6E9"/>
                </a:solidFill>
                <a:latin typeface="Calibri"/>
              </a:rPr>
              <a:t>What it deliberately will not do</a:t>
            </a:r>
          </a:p>
          <a:p>
            <a:pPr>
              <a:lnSpc>
                <a:spcPct val="115000"/>
              </a:lnSpc>
              <a:spcBef>
                <a:spcPts val="0"/>
              </a:spcBef>
              <a:spcAft>
                <a:spcPts val="700"/>
              </a:spcAft>
            </a:pPr>
            <a:r>
              <a:rPr sz="1150" b="0" i="0">
                <a:solidFill>
                  <a:srgbClr val="F6E6E9"/>
                </a:solidFill>
                <a:latin typeface="Calibri"/>
              </a:rPr>
              <a:t>Where the boundary is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WHAT MAYA REFUSES, AND WHY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refusals that matter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15 · What MAYA Refuses, and Why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78</a:t>
            </a:r>
          </a:p>
        </p:txBody>
      </p:sp>
      <p:graphicFrame>
        <p:nvGraphicFramePr>
          <p:cNvPr id="10" name="Table 9"/>
          <p:cNvGraphicFramePr>
            <a:graphicFrameLocks noGrp="1"/>
          </p:cNvGraphicFramePr>
          <p:nvPr/>
        </p:nvGraphicFramePr>
        <p:xfrm>
          <a:off x="777240" y="1353312"/>
          <a:ext cx="10637215" cy="2863088"/>
        </p:xfrm>
        <a:graphic>
          <a:graphicData uri="http://schemas.openxmlformats.org/drawingml/2006/table">
            <a:tbl>
              <a:tblPr firstRow="1">
                <a:tableStyleId>{5C22544A-7EE6-4342-B048-85BDC9FD1C3A}</a:tableStyleId>
              </a:tblPr>
              <a:tblGrid>
                <a:gridCol w="4218206"/>
                <a:gridCol w="6419009"/>
              </a:tblGrid>
              <a:tr h="329184">
                <a:tc>
                  <a:txBody>
                    <a:bodyPr wrap="square"/>
                    <a:lstStyle/>
                    <a:p>
                      <a:pPr algn="l"/>
                      <a:r>
                        <a:rPr sz="1000" b="1">
                          <a:solidFill>
                            <a:srgbClr val="FFFFFF"/>
                          </a:solidFill>
                          <a:latin typeface="Calibri"/>
                        </a:rPr>
                        <a:t>Refused</a:t>
                      </a:r>
                    </a:p>
                  </a:txBody>
                  <a:tcPr marL="82296" marR="64008" marT="32004" marB="32004" anchor="ctr">
                    <a:solidFill>
                      <a:srgbClr val="A51C30"/>
                    </a:solidFill>
                  </a:tcPr>
                </a:tc>
                <a:tc>
                  <a:txBody>
                    <a:bodyPr wrap="square"/>
                    <a:lstStyle/>
                    <a:p>
                      <a:pPr algn="l"/>
                      <a:r>
                        <a:rPr sz="1000" b="1">
                          <a:solidFill>
                            <a:srgbClr val="FFFFFF"/>
                          </a:solidFill>
                          <a:latin typeface="Calibri"/>
                        </a:rPr>
                        <a:t>Because</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training set with either clock unbounded</a:t>
                      </a:r>
                    </a:p>
                  </a:txBody>
                  <a:tcPr marL="82296" marR="64008" marT="32004" marB="32004" anchor="ctr">
                    <a:solidFill>
                      <a:srgbClr val="FFFFFF"/>
                    </a:solidFill>
                  </a:tcPr>
                </a:tc>
                <a:tc>
                  <a:txBody>
                    <a:bodyPr wrap="square"/>
                    <a:lstStyle/>
                    <a:p>
                      <a:pPr algn="l"/>
                      <a:r>
                        <a:rPr sz="1000" b="0">
                          <a:solidFill>
                            <a:srgbClr val="1C1C1E"/>
                          </a:solidFill>
                          <a:latin typeface="Calibri"/>
                        </a:rPr>
                        <a:t>it cannot be shown point-in-time correct, so it cannot be shown not to have leaked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feature derived from the label</a:t>
                      </a:r>
                    </a:p>
                  </a:txBody>
                  <a:tcPr marL="82296" marR="64008" marT="32004" marB="32004" anchor="ctr">
                    <a:solidFill>
                      <a:srgbClr val="F6F3EF"/>
                    </a:solidFill>
                  </a:tcPr>
                </a:tc>
                <a:tc>
                  <a:txBody>
                    <a:bodyPr wrap="square"/>
                    <a:lstStyle/>
                    <a:p>
                      <a:pPr algn="l"/>
                      <a:r>
                        <a:rPr sz="1000" b="0">
                          <a:solidFill>
                            <a:srgbClr val="1C1C1E"/>
                          </a:solidFill>
                          <a:latin typeface="Calibri"/>
                        </a:rPr>
                        <a:t>leakage with a division sign in front of it; every metric will agree the model is excellent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normalising without an as_of</a:t>
                      </a:r>
                    </a:p>
                  </a:txBody>
                  <a:tcPr marL="82296" marR="64008" marT="32004" marB="32004" anchor="ctr">
                    <a:solidFill>
                      <a:srgbClr val="FFFFFF"/>
                    </a:solidFill>
                  </a:tcPr>
                </a:tc>
                <a:tc>
                  <a:txBody>
                    <a:bodyPr wrap="square"/>
                    <a:lstStyle/>
                    <a:p>
                      <a:pPr algn="l"/>
                      <a:r>
                        <a:rPr sz="1000" b="0">
                          <a:solidFill>
                            <a:srgbClr val="1C1C1E"/>
                          </a:solidFill>
                          <a:latin typeface="Calibri"/>
                        </a:rPr>
                        <a:t>the leaky answer is the one somebody would get by accident, so it must not be the default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 featureset that does not cover the kernel’s inputs</a:t>
                      </a:r>
                    </a:p>
                  </a:txBody>
                  <a:tcPr marL="82296" marR="64008" marT="32004" marB="32004" anchor="ctr">
                    <a:solidFill>
                      <a:srgbClr val="F6F3EF"/>
                    </a:solidFill>
                  </a:tcPr>
                </a:tc>
                <a:tc>
                  <a:txBody>
                    <a:bodyPr wrap="square"/>
                    <a:lstStyle/>
                    <a:p>
                      <a:pPr algn="l"/>
                      <a:r>
                        <a:rPr sz="1000" b="0">
                          <a:solidFill>
                            <a:srgbClr val="1C1C1E"/>
                          </a:solidFill>
                          <a:latin typeface="Calibri"/>
                        </a:rPr>
                        <a:t>adding a regressor is a model change, not a data change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fit warrant for a T0 model</a:t>
                      </a:r>
                    </a:p>
                  </a:txBody>
                  <a:tcPr marL="82296" marR="64008" marT="32004" marB="32004" anchor="ctr">
                    <a:solidFill>
                      <a:srgbClr val="FFFFFF"/>
                    </a:solidFill>
                  </a:tcPr>
                </a:tc>
                <a:tc>
                  <a:txBody>
                    <a:bodyPr wrap="square"/>
                    <a:lstStyle/>
                    <a:p>
                      <a:pPr algn="l"/>
                      <a:r>
                        <a:rPr sz="1000" b="0">
                          <a:solidFill>
                            <a:srgbClr val="1C1C1E"/>
                          </a:solidFill>
                          <a:latin typeface="Calibri"/>
                        </a:rPr>
                        <a:t>its parameters come from theory; asking it to fit is a type error</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parameters with no warrant behind them</a:t>
                      </a:r>
                    </a:p>
                  </a:txBody>
                  <a:tcPr marL="82296" marR="64008" marT="32004" marB="32004" anchor="ctr">
                    <a:solidFill>
                      <a:srgbClr val="F6F3EF"/>
                    </a:solidFill>
                  </a:tcPr>
                </a:tc>
                <a:tc>
                  <a:txBody>
                    <a:bodyPr wrap="square"/>
                    <a:lstStyle/>
                    <a:p>
                      <a:pPr algn="l"/>
                      <a:r>
                        <a:rPr sz="1000" b="0">
                          <a:solidFill>
                            <a:srgbClr val="1C1C1E"/>
                          </a:solidFill>
                          <a:latin typeface="Calibri"/>
                        </a:rPr>
                        <a:t>‘which data produced these numbers’ would have no answer</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 version approved before its model is assessed</a:t>
                      </a:r>
                    </a:p>
                  </a:txBody>
                  <a:tcPr marL="82296" marR="64008" marT="32004" marB="32004" anchor="ctr">
                    <a:solidFill>
                      <a:srgbClr val="FFFFFF"/>
                    </a:solidFill>
                  </a:tcPr>
                </a:tc>
                <a:tc>
                  <a:txBody>
                    <a:bodyPr wrap="square"/>
                    <a:lstStyle/>
                    <a:p>
                      <a:pPr algn="l"/>
                      <a:r>
                        <a:rPr sz="1000" b="0">
                          <a:solidFill>
                            <a:srgbClr val="1C1C1E"/>
                          </a:solidFill>
                          <a:latin typeface="Calibri"/>
                        </a:rPr>
                        <a:t>the tier decides how many signatures the approval needs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an upload missing entity_id or either clock</a:t>
                      </a:r>
                    </a:p>
                  </a:txBody>
                  <a:tcPr marL="82296" marR="64008" marT="32004" marB="32004" anchor="ctr">
                    <a:solidFill>
                      <a:srgbClr val="F6F3EF"/>
                    </a:solidFill>
                  </a:tcPr>
                </a:tc>
                <a:tc>
                  <a:txBody>
                    <a:bodyPr wrap="square"/>
                    <a:lstStyle/>
                    <a:p>
                      <a:pPr algn="l"/>
                      <a:r>
                        <a:rPr sz="1000" b="0">
                          <a:solidFill>
                            <a:srgbClr val="1C1C1E"/>
                          </a:solidFill>
                          <a:latin typeface="Calibri"/>
                        </a:rPr>
                        <a:t>accepting it moves the failure two layers from where it was caused</a:t>
                      </a:r>
                    </a:p>
                  </a:txBody>
                  <a:tcPr marL="82296" marR="64008" marT="32004" marB="32004" anchor="ctr">
                    <a:solidFill>
                      <a:srgbClr val="F6F3EF"/>
                    </a:solidFill>
                  </a:tcPr>
                </a:tc>
              </a:tr>
            </a:tbl>
          </a:graphicData>
        </a:graphic>
      </p:graphicFrame>
      <p:sp>
        <p:nvSpPr>
          <p:cNvPr id="11" name="Rectangle 10"/>
          <p:cNvSpPr/>
          <p:nvPr/>
        </p:nvSpPr>
        <p:spPr>
          <a:xfrm>
            <a:off x="777240" y="4417567"/>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417567"/>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536439"/>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Every refusal carries a remediation. </a:t>
            </a:r>
            <a:r>
              <a:rPr sz="1050" b="0" i="0">
                <a:solidFill>
                  <a:srgbClr val="1C1C1E"/>
                </a:solidFill>
                <a:latin typeface="Calibri"/>
              </a:rPr>
              <a:t>“Policy violation” tells somebody nothing they can act on, so each of these names what to do instead — </a:t>
            </a:r>
            <a:r>
              <a:rPr sz="1050" b="1" i="0">
                <a:solidFill>
                  <a:srgbClr val="1C1C1E"/>
                </a:solidFill>
                <a:latin typeface="Calibri"/>
              </a:rPr>
              <a:t>a gate people cannot satisfy is a gate people route around.</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WHAT MAYA REFUSES, AND WHY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Where the boundary is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15 · What MAYA Refuses, and Why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79</a:t>
            </a:r>
          </a:p>
        </p:txBody>
      </p:sp>
      <p:sp>
        <p:nvSpPr>
          <p:cNvPr id="10" name="Rectangle 9"/>
          <p:cNvSpPr/>
          <p:nvPr/>
        </p:nvSpPr>
        <p:spPr>
          <a:xfrm>
            <a:off x="777240" y="1353312"/>
            <a:ext cx="3350722"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1</a:t>
            </a:r>
          </a:p>
        </p:txBody>
      </p:sp>
      <p:sp>
        <p:nvSpPr>
          <p:cNvPr id="13" name="TextBox 12"/>
          <p:cNvSpPr txBox="1"/>
          <p:nvPr/>
        </p:nvSpPr>
        <p:spPr>
          <a:xfrm>
            <a:off x="996695"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compute</a:t>
            </a:r>
          </a:p>
        </p:txBody>
      </p:sp>
      <p:sp>
        <p:nvSpPr>
          <p:cNvPr id="14" name="TextBox 13"/>
          <p:cNvSpPr txBox="1"/>
          <p:nvPr/>
        </p:nvSpPr>
        <p:spPr>
          <a:xfrm>
            <a:off x="996695" y="2157984"/>
            <a:ext cx="2911810"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fitting, no calibration, no scoring. MAYA issues a warrant and takes delivery of the result. The captive engine exists so a fresh deployment can demonstrate the whole governed path against real artifacts — not so anybody runs an estate on it.</a:t>
            </a:r>
          </a:p>
        </p:txBody>
      </p:sp>
      <p:sp>
        <p:nvSpPr>
          <p:cNvPr id="15" name="Rectangle 14"/>
          <p:cNvSpPr/>
          <p:nvPr/>
        </p:nvSpPr>
        <p:spPr>
          <a:xfrm>
            <a:off x="4425804" y="1353312"/>
            <a:ext cx="3350722"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25804" y="1353312"/>
            <a:ext cx="3350722"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45260" y="1572768"/>
            <a:ext cx="2911810"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2</a:t>
            </a:r>
          </a:p>
        </p:txBody>
      </p:sp>
      <p:sp>
        <p:nvSpPr>
          <p:cNvPr id="18" name="TextBox 17"/>
          <p:cNvSpPr txBox="1"/>
          <p:nvPr/>
        </p:nvSpPr>
        <p:spPr>
          <a:xfrm>
            <a:off x="4645260" y="1847088"/>
            <a:ext cx="2911810"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transform</a:t>
            </a:r>
          </a:p>
        </p:txBody>
      </p:sp>
      <p:sp>
        <p:nvSpPr>
          <p:cNvPr id="19" name="TextBox 18"/>
          <p:cNvSpPr txBox="1"/>
          <p:nvPr/>
        </p:nvSpPr>
        <p:spPr>
          <a:xfrm>
            <a:off x="4645260" y="2157984"/>
            <a:ext cx="2911810"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The expression language is small on purpose. Anything needing a library, a join or a model is declared external: the definition, the lineage and the leakage check are still kept, and the register says plainly that the platform did not compute the values.</a:t>
            </a:r>
          </a:p>
        </p:txBody>
      </p:sp>
      <p:sp>
        <p:nvSpPr>
          <p:cNvPr id="20" name="Rectangle 19"/>
          <p:cNvSpPr/>
          <p:nvPr/>
        </p:nvSpPr>
        <p:spPr>
          <a:xfrm>
            <a:off x="8074369" y="1353312"/>
            <a:ext cx="3340085" cy="23774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74369" y="1353312"/>
            <a:ext cx="334008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93825" y="1572768"/>
            <a:ext cx="290117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3</a:t>
            </a:r>
          </a:p>
        </p:txBody>
      </p:sp>
      <p:sp>
        <p:nvSpPr>
          <p:cNvPr id="23" name="TextBox 22"/>
          <p:cNvSpPr txBox="1"/>
          <p:nvPr/>
        </p:nvSpPr>
        <p:spPr>
          <a:xfrm>
            <a:off x="8293825" y="1847088"/>
            <a:ext cx="290117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It does not choose</a:t>
            </a:r>
          </a:p>
        </p:txBody>
      </p:sp>
      <p:sp>
        <p:nvSpPr>
          <p:cNvPr id="24" name="TextBox 23"/>
          <p:cNvSpPr txBox="1"/>
          <p:nvPr/>
        </p:nvSpPr>
        <p:spPr>
          <a:xfrm>
            <a:off x="8293825" y="2157984"/>
            <a:ext cx="2901173" cy="13898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 feature selection, no importance ranking, no suggestion engine. It records what you chose, pins it so it cannot move underneath you, and refuses the combinations that are type errors.</a:t>
            </a:r>
          </a:p>
        </p:txBody>
      </p:sp>
      <p:sp>
        <p:nvSpPr>
          <p:cNvPr id="25" name="Rectangle 24"/>
          <p:cNvSpPr/>
          <p:nvPr/>
        </p:nvSpPr>
        <p:spPr>
          <a:xfrm>
            <a:off x="777240" y="3931920"/>
            <a:ext cx="10637215" cy="859536"/>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931920"/>
            <a:ext cx="41148" cy="85953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1014983" y="4050791"/>
            <a:ext cx="10180015" cy="64008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platform that claimed to do all three </a:t>
            </a:r>
            <a:r>
              <a:rPr sz="1050" b="0" i="0">
                <a:solidFill>
                  <a:srgbClr val="1C1C1E"/>
                </a:solidFill>
                <a:latin typeface="Calibri"/>
              </a:rPr>
              <a:t>would be believed about the parts it does badly. Stating the boundary is what makes the rest of it worth relying on — </a:t>
            </a:r>
            <a:r>
              <a:rPr sz="1050" b="1" i="0">
                <a:solidFill>
                  <a:srgbClr val="1C1C1E"/>
                </a:solidFill>
                <a:latin typeface="Calibri"/>
              </a:rPr>
              <a:t>and every honest gap is written down in the implementation plan.</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IV</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System Design</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Components, algorithms, transaction boundaries and failure modes. For whoever builds or audits the platform rather than the models.</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16 · Architecture and design rules</a:t>
            </a:r>
          </a:p>
          <a:p>
            <a:pPr>
              <a:lnSpc>
                <a:spcPct val="115000"/>
              </a:lnSpc>
              <a:spcBef>
                <a:spcPts val="0"/>
              </a:spcBef>
              <a:spcAft>
                <a:spcPts val="800"/>
              </a:spcAft>
            </a:pPr>
            <a:r>
              <a:rPr sz="1150" b="0" i="0">
                <a:solidFill>
                  <a:srgbClr val="E4DED6"/>
                </a:solidFill>
                <a:latin typeface="Calibri"/>
              </a:rPr>
              <a:t>17 · Core domain and registry</a:t>
            </a:r>
          </a:p>
          <a:p>
            <a:pPr>
              <a:lnSpc>
                <a:spcPct val="115000"/>
              </a:lnSpc>
              <a:spcBef>
                <a:spcPts val="0"/>
              </a:spcBef>
              <a:spcAft>
                <a:spcPts val="800"/>
              </a:spcAft>
            </a:pPr>
            <a:r>
              <a:rPr sz="1150" b="0" i="0">
                <a:solidFill>
                  <a:srgbClr val="E4DED6"/>
                </a:solidFill>
                <a:latin typeface="Calibri"/>
              </a:rPr>
              <a:t>18 · The feature platform</a:t>
            </a:r>
          </a:p>
          <a:p>
            <a:pPr>
              <a:lnSpc>
                <a:spcPct val="115000"/>
              </a:lnSpc>
              <a:spcBef>
                <a:spcPts val="0"/>
              </a:spcBef>
              <a:spcAft>
                <a:spcPts val="800"/>
              </a:spcAft>
            </a:pPr>
            <a:r>
              <a:rPr sz="1150" b="0" i="0">
                <a:solidFill>
                  <a:srgbClr val="E4DED6"/>
                </a:solidFill>
                <a:latin typeface="Calibri"/>
              </a:rPr>
              <a:t>19 · Governance subsystems</a:t>
            </a:r>
          </a:p>
          <a:p>
            <a:pPr>
              <a:lnSpc>
                <a:spcPct val="115000"/>
              </a:lnSpc>
              <a:spcBef>
                <a:spcPts val="0"/>
              </a:spcBef>
              <a:spcAft>
                <a:spcPts val="800"/>
              </a:spcAft>
            </a:pPr>
            <a:r>
              <a:rPr sz="1150" b="0" i="0">
                <a:solidFill>
                  <a:srgbClr val="E4DED6"/>
                </a:solidFill>
                <a:latin typeface="Calibri"/>
              </a:rPr>
              <a:t>20 · The execution plane</a:t>
            </a:r>
          </a:p>
          <a:p>
            <a:pPr>
              <a:lnSpc>
                <a:spcPct val="115000"/>
              </a:lnSpc>
              <a:spcBef>
                <a:spcPts val="0"/>
              </a:spcBef>
              <a:spcAft>
                <a:spcPts val="800"/>
              </a:spcAft>
            </a:pPr>
            <a:r>
              <a:rPr sz="1150" b="0" i="0">
                <a:solidFill>
                  <a:srgbClr val="E4DED6"/>
                </a:solidFill>
                <a:latin typeface="Calibri"/>
              </a:rPr>
              <a:t>21 · Machine assistance</a:t>
            </a:r>
          </a:p>
          <a:p>
            <a:pPr>
              <a:lnSpc>
                <a:spcPct val="115000"/>
              </a:lnSpc>
              <a:spcBef>
                <a:spcPts val="0"/>
              </a:spcBef>
              <a:spcAft>
                <a:spcPts val="800"/>
              </a:spcAft>
            </a:pPr>
            <a:r>
              <a:rPr sz="1150" b="0" i="0">
                <a:solidFill>
                  <a:srgbClr val="E4DED6"/>
                </a:solidFill>
                <a:latin typeface="Calibri"/>
              </a:rPr>
              <a:t>22 · Interfaces and the SDK</a:t>
            </a:r>
          </a:p>
          <a:p>
            <a:pPr>
              <a:lnSpc>
                <a:spcPct val="115000"/>
              </a:lnSpc>
              <a:spcBef>
                <a:spcPts val="0"/>
              </a:spcBef>
              <a:spcAft>
                <a:spcPts val="800"/>
              </a:spcAft>
            </a:pPr>
            <a:r>
              <a:rPr sz="1150" b="0" i="0">
                <a:solidFill>
                  <a:srgbClr val="E4DED6"/>
                </a:solidFill>
                <a:latin typeface="Calibri"/>
              </a:rPr>
              <a:t>23 · Cross-cutting and operations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16</a:t>
            </a:r>
          </a:p>
        </p:txBody>
      </p:sp>
      <p:sp>
        <p:nvSpPr>
          <p:cNvPr id="5" name="TextBox 4"/>
          <p:cNvSpPr txBox="1"/>
          <p:nvPr/>
        </p:nvSpPr>
        <p:spPr>
          <a:xfrm>
            <a:off x="1005840" y="2463393"/>
            <a:ext cx="6169584" cy="1188720"/>
          </a:xfrm>
          <a:prstGeom prst="rect">
            <a:avLst/>
          </a:prstGeom>
          <a:noFill/>
        </p:spPr>
        <p:txBody>
          <a:bodyPr wrap="square" lIns="0" rIns="0" tIns="0" bIns="0" anchor="t">
            <a:spAutoFit/>
          </a:bodyPr>
          <a:lstStyle/>
          <a:p>
            <a:pPr algn="l">
              <a:spcBef>
                <a:spcPts val="0"/>
              </a:spcBef>
              <a:spcAft>
                <a:spcPts val="0"/>
              </a:spcAft>
            </a:pPr>
            <a:r>
              <a:rPr sz="2800" b="0" i="0">
                <a:solidFill>
                  <a:srgbClr val="FFFFFF"/>
                </a:solidFill>
                <a:latin typeface="Georgia"/>
              </a:rPr>
              <a:t>Architecture and Design Rules</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Components, responsibilities, and the seven rules that bind them.</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Component inventory</a:t>
            </a:r>
          </a:p>
          <a:p>
            <a:pPr>
              <a:lnSpc>
                <a:spcPct val="115000"/>
              </a:lnSpc>
              <a:spcBef>
                <a:spcPts val="0"/>
              </a:spcBef>
              <a:spcAft>
                <a:spcPts val="700"/>
              </a:spcAft>
            </a:pPr>
            <a:r>
              <a:rPr sz="1150" b="0" i="0">
                <a:solidFill>
                  <a:srgbClr val="F6E6E9"/>
                </a:solidFill>
                <a:latin typeface="Calibri"/>
              </a:rPr>
              <a:t>Responsibility boundaries</a:t>
            </a:r>
          </a:p>
          <a:p>
            <a:pPr>
              <a:lnSpc>
                <a:spcPct val="115000"/>
              </a:lnSpc>
              <a:spcBef>
                <a:spcPts val="0"/>
              </a:spcBef>
              <a:spcAft>
                <a:spcPts val="700"/>
              </a:spcAft>
            </a:pPr>
            <a:r>
              <a:rPr sz="1150" b="0" i="0">
                <a:solidFill>
                  <a:srgbClr val="F6E6E9"/>
                </a:solidFill>
                <a:latin typeface="Calibri"/>
              </a:rPr>
              <a:t>Seven design rules</a:t>
            </a:r>
          </a:p>
          <a:p>
            <a:pPr>
              <a:lnSpc>
                <a:spcPct val="115000"/>
              </a:lnSpc>
              <a:spcBef>
                <a:spcPts val="0"/>
              </a:spcBef>
              <a:spcAft>
                <a:spcPts val="700"/>
              </a:spcAft>
            </a:pPr>
            <a:r>
              <a:rPr sz="1150" b="0" i="0">
                <a:solidFill>
                  <a:srgbClr val="F6E6E9"/>
                </a:solidFill>
                <a:latin typeface="Calibri"/>
              </a:rPr>
              <a:t>Process model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STRUCTURE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Component inventory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82</a:t>
            </a:r>
          </a:p>
        </p:txBody>
      </p:sp>
      <p:sp>
        <p:nvSpPr>
          <p:cNvPr id="10" name="Rectangle 9"/>
          <p:cNvSpPr/>
          <p:nvPr/>
        </p:nvSpPr>
        <p:spPr>
          <a:xfrm>
            <a:off x="777240" y="1371600"/>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71600"/>
            <a:ext cx="45720" cy="566928"/>
          </a:xfrm>
          <a:prstGeom prst="rect">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463040"/>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2E4057"/>
                </a:solidFill>
                <a:latin typeface="Calibri"/>
              </a:rPr>
              <a:t>Interfaces</a:t>
            </a:r>
          </a:p>
        </p:txBody>
      </p:sp>
      <p:sp>
        <p:nvSpPr>
          <p:cNvPr id="13" name="Rectangle 12"/>
          <p:cNvSpPr/>
          <p:nvPr/>
        </p:nvSpPr>
        <p:spPr>
          <a:xfrm>
            <a:off x="3794759"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3794759"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maya-web (static)</a:t>
            </a:r>
          </a:p>
        </p:txBody>
      </p:sp>
      <p:sp>
        <p:nvSpPr>
          <p:cNvPr id="15" name="Rectangle 14"/>
          <p:cNvSpPr/>
          <p:nvPr/>
        </p:nvSpPr>
        <p:spPr>
          <a:xfrm>
            <a:off x="5665393"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5665393"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REST API v1</a:t>
            </a:r>
          </a:p>
        </p:txBody>
      </p:sp>
      <p:sp>
        <p:nvSpPr>
          <p:cNvPr id="17" name="Rectangle 16"/>
          <p:cNvSpPr/>
          <p:nvPr/>
        </p:nvSpPr>
        <p:spPr>
          <a:xfrm>
            <a:off x="7536027"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7536027"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SDK / CLI</a:t>
            </a:r>
          </a:p>
        </p:txBody>
      </p:sp>
      <p:sp>
        <p:nvSpPr>
          <p:cNvPr id="19" name="Rectangle 18"/>
          <p:cNvSpPr/>
          <p:nvPr/>
        </p:nvSpPr>
        <p:spPr>
          <a:xfrm>
            <a:off x="9406661" y="14721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9406661" y="15133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Event stream</a:t>
            </a:r>
          </a:p>
        </p:txBody>
      </p:sp>
      <p:sp>
        <p:nvSpPr>
          <p:cNvPr id="21" name="Rectangle 20"/>
          <p:cNvSpPr/>
          <p:nvPr/>
        </p:nvSpPr>
        <p:spPr>
          <a:xfrm>
            <a:off x="777240" y="2057400"/>
            <a:ext cx="10637215" cy="7315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777240" y="2057400"/>
            <a:ext cx="45720"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996695" y="2148840"/>
            <a:ext cx="2651760" cy="548640"/>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A51C30"/>
                </a:solidFill>
                <a:latin typeface="Calibri"/>
              </a:rPr>
              <a:t>Governance subsystems</a:t>
            </a:r>
          </a:p>
        </p:txBody>
      </p:sp>
      <p:sp>
        <p:nvSpPr>
          <p:cNvPr id="24" name="Rectangle 23"/>
          <p:cNvSpPr/>
          <p:nvPr/>
        </p:nvSpPr>
        <p:spPr>
          <a:xfrm>
            <a:off x="3794759"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3794759"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Registry</a:t>
            </a:r>
          </a:p>
        </p:txBody>
      </p:sp>
      <p:sp>
        <p:nvSpPr>
          <p:cNvPr id="26" name="Rectangle 25"/>
          <p:cNvSpPr/>
          <p:nvPr/>
        </p:nvSpPr>
        <p:spPr>
          <a:xfrm>
            <a:off x="5665393"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5665393"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Evidence engine</a:t>
            </a:r>
          </a:p>
        </p:txBody>
      </p:sp>
      <p:sp>
        <p:nvSpPr>
          <p:cNvPr id="28" name="Rectangle 27"/>
          <p:cNvSpPr/>
          <p:nvPr/>
        </p:nvSpPr>
        <p:spPr>
          <a:xfrm>
            <a:off x="7536027"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9" name="TextBox 28"/>
          <p:cNvSpPr txBox="1"/>
          <p:nvPr/>
        </p:nvSpPr>
        <p:spPr>
          <a:xfrm>
            <a:off x="7536027"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Risk &amp; tiering</a:t>
            </a:r>
          </a:p>
        </p:txBody>
      </p:sp>
      <p:sp>
        <p:nvSpPr>
          <p:cNvPr id="30" name="Rectangle 29"/>
          <p:cNvSpPr/>
          <p:nvPr/>
        </p:nvSpPr>
        <p:spPr>
          <a:xfrm>
            <a:off x="9406661" y="21579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TextBox 30"/>
          <p:cNvSpPr txBox="1"/>
          <p:nvPr/>
        </p:nvSpPr>
        <p:spPr>
          <a:xfrm>
            <a:off x="9406661" y="21991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Regimes &amp; policy</a:t>
            </a:r>
          </a:p>
        </p:txBody>
      </p:sp>
      <p:sp>
        <p:nvSpPr>
          <p:cNvPr id="32" name="Rectangle 31"/>
          <p:cNvSpPr/>
          <p:nvPr/>
        </p:nvSpPr>
        <p:spPr>
          <a:xfrm>
            <a:off x="3794759"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3" name="TextBox 32"/>
          <p:cNvSpPr txBox="1"/>
          <p:nvPr/>
        </p:nvSpPr>
        <p:spPr>
          <a:xfrm>
            <a:off x="3794759"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Lifecycle</a:t>
            </a:r>
          </a:p>
        </p:txBody>
      </p:sp>
      <p:sp>
        <p:nvSpPr>
          <p:cNvPr id="34" name="Rectangle 33"/>
          <p:cNvSpPr/>
          <p:nvPr/>
        </p:nvSpPr>
        <p:spPr>
          <a:xfrm>
            <a:off x="5665393"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5" name="TextBox 34"/>
          <p:cNvSpPr txBox="1"/>
          <p:nvPr/>
        </p:nvSpPr>
        <p:spPr>
          <a:xfrm>
            <a:off x="5665393"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Validation</a:t>
            </a:r>
          </a:p>
        </p:txBody>
      </p:sp>
      <p:sp>
        <p:nvSpPr>
          <p:cNvPr id="36" name="Rectangle 35"/>
          <p:cNvSpPr/>
          <p:nvPr/>
        </p:nvSpPr>
        <p:spPr>
          <a:xfrm>
            <a:off x="7536027"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7536027"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Doc compiler</a:t>
            </a:r>
          </a:p>
        </p:txBody>
      </p:sp>
      <p:sp>
        <p:nvSpPr>
          <p:cNvPr id="38" name="Rectangle 37"/>
          <p:cNvSpPr/>
          <p:nvPr/>
        </p:nvSpPr>
        <p:spPr>
          <a:xfrm>
            <a:off x="9406661" y="2450591"/>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9" name="TextBox 38"/>
          <p:cNvSpPr txBox="1"/>
          <p:nvPr/>
        </p:nvSpPr>
        <p:spPr>
          <a:xfrm>
            <a:off x="9406661" y="2491739"/>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Overlays</a:t>
            </a:r>
          </a:p>
        </p:txBody>
      </p:sp>
      <p:sp>
        <p:nvSpPr>
          <p:cNvPr id="40" name="Rectangle 39"/>
          <p:cNvSpPr/>
          <p:nvPr/>
        </p:nvSpPr>
        <p:spPr>
          <a:xfrm>
            <a:off x="777240" y="2907792"/>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1" name="Rectangle 40"/>
          <p:cNvSpPr/>
          <p:nvPr/>
        </p:nvSpPr>
        <p:spPr>
          <a:xfrm>
            <a:off x="777240" y="2907792"/>
            <a:ext cx="45720" cy="566928"/>
          </a:xfrm>
          <a:prstGeom prst="rect">
            <a:avLst/>
          </a:prstGeom>
          <a:solidFill>
            <a:srgbClr val="2D50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2" name="TextBox 41"/>
          <p:cNvSpPr txBox="1"/>
          <p:nvPr/>
        </p:nvSpPr>
        <p:spPr>
          <a:xfrm>
            <a:off x="996695" y="2999232"/>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2D5016"/>
                </a:solidFill>
                <a:latin typeface="Calibri"/>
              </a:rPr>
              <a:t>Data &amp; execution</a:t>
            </a:r>
          </a:p>
        </p:txBody>
      </p:sp>
      <p:sp>
        <p:nvSpPr>
          <p:cNvPr id="43" name="Rectangle 42"/>
          <p:cNvSpPr/>
          <p:nvPr/>
        </p:nvSpPr>
        <p:spPr>
          <a:xfrm>
            <a:off x="3794759"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4" name="TextBox 43"/>
          <p:cNvSpPr txBox="1"/>
          <p:nvPr/>
        </p:nvSpPr>
        <p:spPr>
          <a:xfrm>
            <a:off x="3794759"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Feature platform</a:t>
            </a:r>
          </a:p>
        </p:txBody>
      </p:sp>
      <p:sp>
        <p:nvSpPr>
          <p:cNvPr id="45" name="Rectangle 44"/>
          <p:cNvSpPr/>
          <p:nvPr/>
        </p:nvSpPr>
        <p:spPr>
          <a:xfrm>
            <a:off x="5665393"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6" name="TextBox 45"/>
          <p:cNvSpPr txBox="1"/>
          <p:nvPr/>
        </p:nvSpPr>
        <p:spPr>
          <a:xfrm>
            <a:off x="5665393"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Monitoring</a:t>
            </a:r>
          </a:p>
        </p:txBody>
      </p:sp>
      <p:sp>
        <p:nvSpPr>
          <p:cNvPr id="47" name="Rectangle 46"/>
          <p:cNvSpPr/>
          <p:nvPr/>
        </p:nvSpPr>
        <p:spPr>
          <a:xfrm>
            <a:off x="7536027"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8" name="TextBox 47"/>
          <p:cNvSpPr txBox="1"/>
          <p:nvPr/>
        </p:nvSpPr>
        <p:spPr>
          <a:xfrm>
            <a:off x="7536027"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Warrant service</a:t>
            </a:r>
          </a:p>
        </p:txBody>
      </p:sp>
      <p:sp>
        <p:nvSpPr>
          <p:cNvPr id="49" name="Rectangle 48"/>
          <p:cNvSpPr/>
          <p:nvPr/>
        </p:nvSpPr>
        <p:spPr>
          <a:xfrm>
            <a:off x="9406661" y="30083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0" name="TextBox 49"/>
          <p:cNvSpPr txBox="1"/>
          <p:nvPr/>
        </p:nvSpPr>
        <p:spPr>
          <a:xfrm>
            <a:off x="9406661" y="30495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Machine assistance</a:t>
            </a:r>
          </a:p>
        </p:txBody>
      </p:sp>
      <p:sp>
        <p:nvSpPr>
          <p:cNvPr id="51" name="Rectangle 50"/>
          <p:cNvSpPr/>
          <p:nvPr/>
        </p:nvSpPr>
        <p:spPr>
          <a:xfrm>
            <a:off x="777240" y="3593592"/>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2" name="Rectangle 51"/>
          <p:cNvSpPr/>
          <p:nvPr/>
        </p:nvSpPr>
        <p:spPr>
          <a:xfrm>
            <a:off x="777240" y="3593592"/>
            <a:ext cx="45720" cy="566928"/>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3" name="TextBox 52"/>
          <p:cNvSpPr txBox="1"/>
          <p:nvPr/>
        </p:nvSpPr>
        <p:spPr>
          <a:xfrm>
            <a:off x="996695" y="3685032"/>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1F3A5F"/>
                </a:solidFill>
                <a:latin typeface="Calibri"/>
              </a:rPr>
              <a:t>Core domain — no I/O, no framework</a:t>
            </a:r>
          </a:p>
        </p:txBody>
      </p:sp>
      <p:sp>
        <p:nvSpPr>
          <p:cNvPr id="54" name="Rectangle 53"/>
          <p:cNvSpPr/>
          <p:nvPr/>
        </p:nvSpPr>
        <p:spPr>
          <a:xfrm>
            <a:off x="3794759"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5" name="TextBox 54"/>
          <p:cNvSpPr txBox="1"/>
          <p:nvPr/>
        </p:nvSpPr>
        <p:spPr>
          <a:xfrm>
            <a:off x="3794759"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model_algebra</a:t>
            </a:r>
          </a:p>
        </p:txBody>
      </p:sp>
      <p:sp>
        <p:nvSpPr>
          <p:cNvPr id="56" name="Rectangle 55"/>
          <p:cNvSpPr/>
          <p:nvPr/>
        </p:nvSpPr>
        <p:spPr>
          <a:xfrm>
            <a:off x="5665393"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7" name="TextBox 56"/>
          <p:cNvSpPr txBox="1"/>
          <p:nvPr/>
        </p:nvSpPr>
        <p:spPr>
          <a:xfrm>
            <a:off x="5665393"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contracts</a:t>
            </a:r>
          </a:p>
        </p:txBody>
      </p:sp>
      <p:sp>
        <p:nvSpPr>
          <p:cNvPr id="58" name="Rectangle 57"/>
          <p:cNvSpPr/>
          <p:nvPr/>
        </p:nvSpPr>
        <p:spPr>
          <a:xfrm>
            <a:off x="7536027"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9" name="TextBox 58"/>
          <p:cNvSpPr txBox="1"/>
          <p:nvPr/>
        </p:nvSpPr>
        <p:spPr>
          <a:xfrm>
            <a:off x="7536027"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schemas</a:t>
            </a:r>
          </a:p>
        </p:txBody>
      </p:sp>
      <p:sp>
        <p:nvSpPr>
          <p:cNvPr id="60" name="Rectangle 59"/>
          <p:cNvSpPr/>
          <p:nvPr/>
        </p:nvSpPr>
        <p:spPr>
          <a:xfrm>
            <a:off x="9406661" y="36941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1" name="TextBox 60"/>
          <p:cNvSpPr txBox="1"/>
          <p:nvPr/>
        </p:nvSpPr>
        <p:spPr>
          <a:xfrm>
            <a:off x="9406661" y="37353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identity</a:t>
            </a:r>
          </a:p>
        </p:txBody>
      </p:sp>
      <p:sp>
        <p:nvSpPr>
          <p:cNvPr id="62" name="Rectangle 61"/>
          <p:cNvSpPr/>
          <p:nvPr/>
        </p:nvSpPr>
        <p:spPr>
          <a:xfrm>
            <a:off x="3794759" y="39867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3" name="TextBox 62"/>
          <p:cNvSpPr txBox="1"/>
          <p:nvPr/>
        </p:nvSpPr>
        <p:spPr>
          <a:xfrm>
            <a:off x="3794759" y="40279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composition</a:t>
            </a:r>
          </a:p>
        </p:txBody>
      </p:sp>
      <p:sp>
        <p:nvSpPr>
          <p:cNvPr id="64" name="Rectangle 63"/>
          <p:cNvSpPr/>
          <p:nvPr/>
        </p:nvSpPr>
        <p:spPr>
          <a:xfrm>
            <a:off x="777240" y="4279392"/>
            <a:ext cx="10637215" cy="5669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5" name="Rectangle 64"/>
          <p:cNvSpPr/>
          <p:nvPr/>
        </p:nvSpPr>
        <p:spPr>
          <a:xfrm>
            <a:off x="777240" y="4279392"/>
            <a:ext cx="45720" cy="566928"/>
          </a:xfrm>
          <a:prstGeom prst="rect">
            <a:avLst/>
          </a:prstGeom>
          <a:solidFill>
            <a:srgbClr val="4A3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6" name="TextBox 65"/>
          <p:cNvSpPr txBox="1"/>
          <p:nvPr/>
        </p:nvSpPr>
        <p:spPr>
          <a:xfrm>
            <a:off x="996695" y="4370831"/>
            <a:ext cx="2651760" cy="384048"/>
          </a:xfrm>
          <a:prstGeom prst="rect">
            <a:avLst/>
          </a:prstGeom>
          <a:noFill/>
        </p:spPr>
        <p:txBody>
          <a:bodyPr wrap="square" lIns="0" rIns="0" tIns="0" bIns="0" anchor="t">
            <a:spAutoFit/>
          </a:bodyPr>
          <a:lstStyle/>
          <a:p>
            <a:pPr algn="l">
              <a:lnSpc>
                <a:spcPct val="110000"/>
              </a:lnSpc>
              <a:spcBef>
                <a:spcPts val="0"/>
              </a:spcBef>
              <a:spcAft>
                <a:spcPts val="0"/>
              </a:spcAft>
            </a:pPr>
            <a:r>
              <a:rPr sz="1100" b="1" i="0">
                <a:solidFill>
                  <a:srgbClr val="4A3A1F"/>
                </a:solidFill>
                <a:latin typeface="Calibri"/>
              </a:rPr>
              <a:t>Platform</a:t>
            </a:r>
          </a:p>
        </p:txBody>
      </p:sp>
      <p:sp>
        <p:nvSpPr>
          <p:cNvPr id="67" name="Rectangle 66"/>
          <p:cNvSpPr/>
          <p:nvPr/>
        </p:nvSpPr>
        <p:spPr>
          <a:xfrm>
            <a:off x="3794759"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8" name="TextBox 67"/>
          <p:cNvSpPr txBox="1"/>
          <p:nvPr/>
        </p:nvSpPr>
        <p:spPr>
          <a:xfrm>
            <a:off x="3794759"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config</a:t>
            </a:r>
          </a:p>
        </p:txBody>
      </p:sp>
      <p:sp>
        <p:nvSpPr>
          <p:cNvPr id="69" name="Rectangle 68"/>
          <p:cNvSpPr/>
          <p:nvPr/>
        </p:nvSpPr>
        <p:spPr>
          <a:xfrm>
            <a:off x="5665393"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0" name="TextBox 69"/>
          <p:cNvSpPr txBox="1"/>
          <p:nvPr/>
        </p:nvSpPr>
        <p:spPr>
          <a:xfrm>
            <a:off x="5665393"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db &amp; outbox</a:t>
            </a:r>
          </a:p>
        </p:txBody>
      </p:sp>
      <p:sp>
        <p:nvSpPr>
          <p:cNvPr id="71" name="Rectangle 70"/>
          <p:cNvSpPr/>
          <p:nvPr/>
        </p:nvSpPr>
        <p:spPr>
          <a:xfrm>
            <a:off x="7536027"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2" name="TextBox 71"/>
          <p:cNvSpPr txBox="1"/>
          <p:nvPr/>
        </p:nvSpPr>
        <p:spPr>
          <a:xfrm>
            <a:off x="7536027"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telemetry</a:t>
            </a:r>
          </a:p>
        </p:txBody>
      </p:sp>
      <p:sp>
        <p:nvSpPr>
          <p:cNvPr id="73" name="Rectangle 72"/>
          <p:cNvSpPr/>
          <p:nvPr/>
        </p:nvSpPr>
        <p:spPr>
          <a:xfrm>
            <a:off x="9406661" y="4379976"/>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4" name="TextBox 73"/>
          <p:cNvSpPr txBox="1"/>
          <p:nvPr/>
        </p:nvSpPr>
        <p:spPr>
          <a:xfrm>
            <a:off x="9406661" y="4421124"/>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plugin loader</a:t>
            </a:r>
          </a:p>
        </p:txBody>
      </p:sp>
      <p:sp>
        <p:nvSpPr>
          <p:cNvPr id="75" name="Rectangle 74"/>
          <p:cNvSpPr/>
          <p:nvPr/>
        </p:nvSpPr>
        <p:spPr>
          <a:xfrm>
            <a:off x="3794759" y="4672584"/>
            <a:ext cx="1779193" cy="24688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6" name="TextBox 75"/>
          <p:cNvSpPr txBox="1"/>
          <p:nvPr/>
        </p:nvSpPr>
        <p:spPr>
          <a:xfrm>
            <a:off x="3794759" y="4713732"/>
            <a:ext cx="1779193" cy="201168"/>
          </a:xfrm>
          <a:prstGeom prst="rect">
            <a:avLst/>
          </a:prstGeom>
          <a:noFill/>
        </p:spPr>
        <p:txBody>
          <a:bodyPr wrap="square" lIns="0" rIns="0" tIns="0" bIns="0" anchor="t">
            <a:spAutoFit/>
          </a:bodyPr>
          <a:lstStyle/>
          <a:p>
            <a:pPr algn="ctr">
              <a:spcBef>
                <a:spcPts val="0"/>
              </a:spcBef>
              <a:spcAft>
                <a:spcPts val="0"/>
              </a:spcAft>
            </a:pPr>
            <a:r>
              <a:rPr sz="850" b="0" i="0">
                <a:solidFill>
                  <a:srgbClr val="1C1C1E"/>
                </a:solidFill>
                <a:latin typeface="Calibri"/>
              </a:rPr>
              <a:t>sandbox client</a:t>
            </a:r>
          </a:p>
        </p:txBody>
      </p:sp>
      <p:sp>
        <p:nvSpPr>
          <p:cNvPr id="77" name="TextBox 76"/>
          <p:cNvSpPr txBox="1"/>
          <p:nvPr/>
        </p:nvSpPr>
        <p:spPr>
          <a:xfrm>
            <a:off x="777240" y="5020055"/>
            <a:ext cx="10637215" cy="365760"/>
          </a:xfrm>
          <a:prstGeom prst="rect">
            <a:avLst/>
          </a:prstGeom>
          <a:noFill/>
        </p:spPr>
        <p:txBody>
          <a:bodyPr wrap="square" lIns="0" rIns="0" tIns="0" bIns="0" anchor="t">
            <a:spAutoFit/>
          </a:bodyPr>
          <a:lstStyle/>
          <a:p>
            <a:pPr algn="l">
              <a:spcBef>
                <a:spcPts val="0"/>
              </a:spcBef>
              <a:spcAft>
                <a:spcPts val="0"/>
              </a:spcAft>
            </a:pPr>
            <a:r>
              <a:rPr sz="1150" b="1" i="0">
                <a:solidFill>
                  <a:srgbClr val="A51C30"/>
                </a:solidFill>
                <a:latin typeface="Calibri"/>
              </a:rPr>
              <a:t>Dependency rule, enforced in CI. </a:t>
            </a:r>
            <a:r>
              <a:rPr sz="1150" b="0" i="0">
                <a:solidFill>
                  <a:srgbClr val="1C1C1E"/>
                </a:solidFill>
                <a:latin typeface="Calibri"/>
              </a:rPr>
              <a:t>Arrows point downward only. The core domain imports nothing from MAYA; interfaces import everything and are imported by nothing.</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WHAT EACH COMPONENT DOES NOT OWN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Responsibility boundaries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83</a:t>
            </a:r>
          </a:p>
        </p:txBody>
      </p:sp>
      <p:graphicFrame>
        <p:nvGraphicFramePr>
          <p:cNvPr id="10" name="Table 9"/>
          <p:cNvGraphicFramePr>
            <a:graphicFrameLocks noGrp="1"/>
          </p:cNvGraphicFramePr>
          <p:nvPr/>
        </p:nvGraphicFramePr>
        <p:xfrm>
          <a:off x="777240" y="1353312"/>
          <a:ext cx="10637214" cy="3813302"/>
        </p:xfrm>
        <a:graphic>
          <a:graphicData uri="http://schemas.openxmlformats.org/drawingml/2006/table">
            <a:tbl>
              <a:tblPr firstRow="1">
                <a:tableStyleId>{5C22544A-7EE6-4342-B048-85BDC9FD1C3A}</a:tableStyleId>
              </a:tblPr>
              <a:tblGrid>
                <a:gridCol w="2200803"/>
                <a:gridCol w="4493306"/>
                <a:gridCol w="3943105"/>
              </a:tblGrid>
              <a:tr h="329184">
                <a:tc>
                  <a:txBody>
                    <a:bodyPr wrap="square"/>
                    <a:lstStyle/>
                    <a:p>
                      <a:pPr algn="l"/>
                      <a:r>
                        <a:rPr sz="1050" b="1">
                          <a:solidFill>
                            <a:srgbClr val="FFFFFF"/>
                          </a:solidFill>
                          <a:latin typeface="Calibri"/>
                        </a:rPr>
                        <a:t>Component</a:t>
                      </a:r>
                    </a:p>
                  </a:txBody>
                  <a:tcPr marL="82296" marR="64008" marT="32004" marB="32004" anchor="ctr">
                    <a:solidFill>
                      <a:srgbClr val="A51C30"/>
                    </a:solidFill>
                  </a:tcPr>
                </a:tc>
                <a:tc>
                  <a:txBody>
                    <a:bodyPr wrap="square"/>
                    <a:lstStyle/>
                    <a:p>
                      <a:pPr algn="l"/>
                      <a:r>
                        <a:rPr sz="1050" b="1">
                          <a:solidFill>
                            <a:srgbClr val="FFFFFF"/>
                          </a:solidFill>
                          <a:latin typeface="Calibri"/>
                        </a:rPr>
                        <a:t>Owns</a:t>
                      </a:r>
                    </a:p>
                  </a:txBody>
                  <a:tcPr marL="82296" marR="64008" marT="32004" marB="32004" anchor="ctr">
                    <a:solidFill>
                      <a:srgbClr val="A51C30"/>
                    </a:solidFill>
                  </a:tcPr>
                </a:tc>
                <a:tc>
                  <a:txBody>
                    <a:bodyPr wrap="square"/>
                    <a:lstStyle/>
                    <a:p>
                      <a:pPr algn="l"/>
                      <a:r>
                        <a:rPr sz="1050" b="1">
                          <a:solidFill>
                            <a:srgbClr val="FFFFFF"/>
                          </a:solidFill>
                          <a:latin typeface="Calibri"/>
                        </a:rPr>
                        <a:t>Does NOT own</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Core domain</a:t>
                      </a:r>
                    </a:p>
                  </a:txBody>
                  <a:tcPr marL="82296" marR="64008" marT="32004" marB="32004" anchor="ctr">
                    <a:solidFill>
                      <a:srgbClr val="FFFFFF"/>
                    </a:solidFill>
                  </a:tcPr>
                </a:tc>
                <a:tc>
                  <a:txBody>
                    <a:bodyPr wrap="square"/>
                    <a:lstStyle/>
                    <a:p>
                      <a:pPr algn="l"/>
                      <a:r>
                        <a:rPr sz="1000" b="0">
                          <a:solidFill>
                            <a:srgbClr val="1C1C1E"/>
                          </a:solidFill>
                          <a:latin typeface="Calibri"/>
                        </a:rPr>
                        <a:t>The algebra: kernels, contracts, schema lattice, probe equivalence</a:t>
                      </a:r>
                    </a:p>
                  </a:txBody>
                  <a:tcPr marL="82296" marR="64008" marT="32004" marB="32004" anchor="ctr">
                    <a:solidFill>
                      <a:srgbClr val="FFFFFF"/>
                    </a:solidFill>
                  </a:tcPr>
                </a:tc>
                <a:tc>
                  <a:txBody>
                    <a:bodyPr wrap="square"/>
                    <a:lstStyle/>
                    <a:p>
                      <a:pPr algn="l"/>
                      <a:r>
                        <a:rPr sz="1000" b="0">
                          <a:solidFill>
                            <a:srgbClr val="1C1C1E"/>
                          </a:solidFill>
                          <a:latin typeface="Calibri"/>
                        </a:rPr>
                        <a:t>Persistence, HTTP, orchestration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Registry</a:t>
                      </a:r>
                    </a:p>
                  </a:txBody>
                  <a:tcPr marL="82296" marR="64008" marT="32004" marB="32004" anchor="ctr">
                    <a:solidFill>
                      <a:srgbClr val="F6F3EF"/>
                    </a:solidFill>
                  </a:tcPr>
                </a:tc>
                <a:tc>
                  <a:txBody>
                    <a:bodyPr wrap="square"/>
                    <a:lstStyle/>
                    <a:p>
                      <a:pPr algn="l"/>
                      <a:r>
                        <a:rPr sz="1000" b="0">
                          <a:solidFill>
                            <a:srgbClr val="1C1C1E"/>
                          </a:solidFill>
                          <a:latin typeface="Calibri"/>
                        </a:rPr>
                        <a:t>Models, versions, artifacts, aliases, fibres, introspection</a:t>
                      </a:r>
                    </a:p>
                  </a:txBody>
                  <a:tcPr marL="82296" marR="64008" marT="32004" marB="32004" anchor="ctr">
                    <a:solidFill>
                      <a:srgbClr val="F6F3EF"/>
                    </a:solidFill>
                  </a:tcPr>
                </a:tc>
                <a:tc>
                  <a:txBody>
                    <a:bodyPr wrap="square"/>
                    <a:lstStyle/>
                    <a:p>
                      <a:pPr algn="l"/>
                      <a:r>
                        <a:rPr sz="1000" b="0">
                          <a:solidFill>
                            <a:srgbClr val="1C1C1E"/>
                          </a:solidFill>
                          <a:latin typeface="Calibri"/>
                        </a:rPr>
                        <a:t>Whether a version may be promoted</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Evidence engine</a:t>
                      </a:r>
                    </a:p>
                  </a:txBody>
                  <a:tcPr marL="82296" marR="64008" marT="32004" marB="32004" anchor="ctr">
                    <a:solidFill>
                      <a:srgbClr val="FFFFFF"/>
                    </a:solidFill>
                  </a:tcPr>
                </a:tc>
                <a:tc>
                  <a:txBody>
                    <a:bodyPr wrap="square"/>
                    <a:lstStyle/>
                    <a:p>
                      <a:pPr algn="l"/>
                      <a:r>
                        <a:rPr sz="1000" b="0">
                          <a:solidFill>
                            <a:srgbClr val="1C1C1E"/>
                          </a:solidFill>
                          <a:latin typeface="Calibri"/>
                        </a:rPr>
                        <a:t>Append chain, semiring evaluation, gluing</a:t>
                      </a:r>
                    </a:p>
                  </a:txBody>
                  <a:tcPr marL="82296" marR="64008" marT="32004" marB="32004" anchor="ctr">
                    <a:solidFill>
                      <a:srgbClr val="FFFFFF"/>
                    </a:solidFill>
                  </a:tcPr>
                </a:tc>
                <a:tc>
                  <a:txBody>
                    <a:bodyPr wrap="square"/>
                    <a:lstStyle/>
                    <a:p>
                      <a:pPr algn="l"/>
                      <a:r>
                        <a:rPr sz="1000" b="0">
                          <a:solidFill>
                            <a:srgbClr val="1C1C1E"/>
                          </a:solidFill>
                          <a:latin typeface="Calibri"/>
                        </a:rPr>
                        <a:t>What evidence means for a gate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Risk &amp; tiering</a:t>
                      </a:r>
                    </a:p>
                  </a:txBody>
                  <a:tcPr marL="82296" marR="64008" marT="32004" marB="32004" anchor="ctr">
                    <a:solidFill>
                      <a:srgbClr val="F6F3EF"/>
                    </a:solidFill>
                  </a:tcPr>
                </a:tc>
                <a:tc>
                  <a:txBody>
                    <a:bodyPr wrap="square"/>
                    <a:lstStyle/>
                    <a:p>
                      <a:pPr algn="l"/>
                      <a:r>
                        <a:rPr sz="1000" b="0">
                          <a:solidFill>
                            <a:srgbClr val="1C1C1E"/>
                          </a:solidFill>
                          <a:latin typeface="Calibri"/>
                        </a:rPr>
                        <a:t>Lattices, τ, control adequacy, derivation traces</a:t>
                      </a:r>
                    </a:p>
                  </a:txBody>
                  <a:tcPr marL="82296" marR="64008" marT="32004" marB="32004" anchor="ctr">
                    <a:solidFill>
                      <a:srgbClr val="F6F3EF"/>
                    </a:solidFill>
                  </a:tcPr>
                </a:tc>
                <a:tc>
                  <a:txBody>
                    <a:bodyPr wrap="square"/>
                    <a:lstStyle/>
                    <a:p>
                      <a:pPr algn="l"/>
                      <a:r>
                        <a:rPr sz="1000" b="0">
                          <a:solidFill>
                            <a:srgbClr val="1C1C1E"/>
                          </a:solidFill>
                          <a:latin typeface="Calibri"/>
                        </a:rPr>
                        <a:t>Overriding a tier — that is workflow</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Regimes &amp; policy</a:t>
                      </a:r>
                    </a:p>
                  </a:txBody>
                  <a:tcPr marL="82296" marR="64008" marT="32004" marB="32004" anchor="ctr">
                    <a:solidFill>
                      <a:srgbClr val="FFFFFF"/>
                    </a:solidFill>
                  </a:tcPr>
                </a:tc>
                <a:tc>
                  <a:txBody>
                    <a:bodyPr wrap="square"/>
                    <a:lstStyle/>
                    <a:p>
                      <a:pPr algn="l"/>
                      <a:r>
                        <a:rPr sz="1000" b="0">
                          <a:solidFill>
                            <a:srgbClr val="1C1C1E"/>
                          </a:solidFill>
                          <a:latin typeface="Calibri"/>
                        </a:rPr>
                        <a:t>Institutions, comorphisms, Rego gates, MTL obligations</a:t>
                      </a:r>
                    </a:p>
                  </a:txBody>
                  <a:tcPr marL="82296" marR="64008" marT="32004" marB="32004" anchor="ctr">
                    <a:solidFill>
                      <a:srgbClr val="FFFFFF"/>
                    </a:solidFill>
                  </a:tcPr>
                </a:tc>
                <a:tc>
                  <a:txBody>
                    <a:bodyPr wrap="square"/>
                    <a:lstStyle/>
                    <a:p>
                      <a:pPr algn="l"/>
                      <a:r>
                        <a:rPr sz="1000" b="0">
                          <a:solidFill>
                            <a:srgbClr val="1C1C1E"/>
                          </a:solidFill>
                          <a:latin typeface="Calibri"/>
                        </a:rPr>
                        <a:t>Executing a transition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Lifecycle</a:t>
                      </a:r>
                    </a:p>
                  </a:txBody>
                  <a:tcPr marL="82296" marR="64008" marT="32004" marB="32004" anchor="ctr">
                    <a:solidFill>
                      <a:srgbClr val="F6F3EF"/>
                    </a:solidFill>
                  </a:tcPr>
                </a:tc>
                <a:tc>
                  <a:txBody>
                    <a:bodyPr wrap="square"/>
                    <a:lstStyle/>
                    <a:p>
                      <a:pPr algn="l"/>
                      <a:r>
                        <a:rPr sz="1000" b="0">
                          <a:solidFill>
                            <a:srgbClr val="1C1C1E"/>
                          </a:solidFill>
                          <a:latin typeface="Calibri"/>
                        </a:rPr>
                        <a:t>State machines, transitions, approvals, segregation of duties</a:t>
                      </a:r>
                    </a:p>
                  </a:txBody>
                  <a:tcPr marL="82296" marR="64008" marT="32004" marB="32004" anchor="ctr">
                    <a:solidFill>
                      <a:srgbClr val="F6F3EF"/>
                    </a:solidFill>
                  </a:tcPr>
                </a:tc>
                <a:tc>
                  <a:txBody>
                    <a:bodyPr wrap="square"/>
                    <a:lstStyle/>
                    <a:p>
                      <a:pPr algn="l"/>
                      <a:r>
                        <a:rPr sz="1000" b="0">
                          <a:solidFill>
                            <a:srgbClr val="1C1C1E"/>
                          </a:solidFill>
                          <a:latin typeface="Calibri"/>
                        </a:rPr>
                        <a:t>Guard content — that is policy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Validation</a:t>
                      </a:r>
                    </a:p>
                  </a:txBody>
                  <a:tcPr marL="82296" marR="64008" marT="32004" marB="32004" anchor="ctr">
                    <a:solidFill>
                      <a:srgbClr val="FFFFFF"/>
                    </a:solidFill>
                  </a:tcPr>
                </a:tc>
                <a:tc>
                  <a:txBody>
                    <a:bodyPr wrap="square"/>
                    <a:lstStyle/>
                    <a:p>
                      <a:pPr algn="l"/>
                      <a:r>
                        <a:rPr sz="1000" b="0">
                          <a:solidFill>
                            <a:srgbClr val="1C1C1E"/>
                          </a:solidFill>
                          <a:latin typeface="Calibri"/>
                        </a:rPr>
                        <a:t>Plans, test execution, findings, remediation</a:t>
                      </a:r>
                    </a:p>
                  </a:txBody>
                  <a:tcPr marL="82296" marR="64008" marT="32004" marB="32004" anchor="ctr">
                    <a:solidFill>
                      <a:srgbClr val="FFFFFF"/>
                    </a:solidFill>
                  </a:tcPr>
                </a:tc>
                <a:tc>
                  <a:txBody>
                    <a:bodyPr wrap="square"/>
                    <a:lstStyle/>
                    <a:p>
                      <a:pPr algn="l"/>
                      <a:r>
                        <a:rPr sz="1000" b="0">
                          <a:solidFill>
                            <a:srgbClr val="1C1C1E"/>
                          </a:solidFill>
                          <a:latin typeface="Calibri"/>
                        </a:rPr>
                        <a:t>Computing metrics at scale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Feature platform</a:t>
                      </a:r>
                    </a:p>
                  </a:txBody>
                  <a:tcPr marL="82296" marR="64008" marT="32004" marB="32004" anchor="ctr">
                    <a:solidFill>
                      <a:srgbClr val="F6F3EF"/>
                    </a:solidFill>
                  </a:tcPr>
                </a:tc>
                <a:tc>
                  <a:txBody>
                    <a:bodyPr wrap="square"/>
                    <a:lstStyle/>
                    <a:p>
                      <a:pPr algn="l"/>
                      <a:r>
                        <a:rPr sz="1000" b="0">
                          <a:solidFill>
                            <a:srgbClr val="1C1C1E"/>
                          </a:solidFill>
                          <a:latin typeface="Calibri"/>
                        </a:rPr>
                        <a:t>Registry, materialisation, PIT, contracts, skew</a:t>
                      </a:r>
                    </a:p>
                  </a:txBody>
                  <a:tcPr marL="82296" marR="64008" marT="32004" marB="32004" anchor="ctr">
                    <a:solidFill>
                      <a:srgbClr val="F6F3EF"/>
                    </a:solidFill>
                  </a:tcPr>
                </a:tc>
                <a:tc>
                  <a:txBody>
                    <a:bodyPr wrap="square"/>
                    <a:lstStyle/>
                    <a:p>
                      <a:pPr algn="l"/>
                      <a:r>
                        <a:rPr sz="1000" b="0">
                          <a:solidFill>
                            <a:srgbClr val="1C1C1E"/>
                          </a:solidFill>
                          <a:latin typeface="Calibri"/>
                        </a:rPr>
                        <a:t>Model semantics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Monitoring</a:t>
                      </a:r>
                    </a:p>
                  </a:txBody>
                  <a:tcPr marL="82296" marR="64008" marT="32004" marB="32004" anchor="ctr">
                    <a:solidFill>
                      <a:srgbClr val="FFFFFF"/>
                    </a:solidFill>
                  </a:tcPr>
                </a:tc>
                <a:tc>
                  <a:txBody>
                    <a:bodyPr wrap="square"/>
                    <a:lstStyle/>
                    <a:p>
                      <a:pPr algn="l"/>
                      <a:r>
                        <a:rPr sz="1000" b="0">
                          <a:solidFill>
                            <a:srgbClr val="1C1C1E"/>
                          </a:solidFill>
                          <a:latin typeface="Calibri"/>
                        </a:rPr>
                        <a:t>Monitor definitions, evaluation, breaches, health</a:t>
                      </a:r>
                    </a:p>
                  </a:txBody>
                  <a:tcPr marL="82296" marR="64008" marT="32004" marB="32004" anchor="ctr">
                    <a:solidFill>
                      <a:srgbClr val="FFFFFF"/>
                    </a:solidFill>
                  </a:tcPr>
                </a:tc>
                <a:tc>
                  <a:txBody>
                    <a:bodyPr wrap="square"/>
                    <a:lstStyle/>
                    <a:p>
                      <a:pPr algn="l"/>
                      <a:r>
                        <a:rPr sz="1000" b="0">
                          <a:solidFill>
                            <a:srgbClr val="1C1C1E"/>
                          </a:solidFill>
                          <a:latin typeface="Calibri"/>
                        </a:rPr>
                        <a:t>Deciding consequences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Warrant service</a:t>
                      </a:r>
                    </a:p>
                  </a:txBody>
                  <a:tcPr marL="82296" marR="64008" marT="32004" marB="32004" anchor="ctr">
                    <a:solidFill>
                      <a:srgbClr val="F6F3EF"/>
                    </a:solidFill>
                  </a:tcPr>
                </a:tc>
                <a:tc>
                  <a:txBody>
                    <a:bodyPr wrap="square"/>
                    <a:lstStyle/>
                    <a:p>
                      <a:pPr algn="l"/>
                      <a:r>
                        <a:rPr sz="1000" b="0">
                          <a:solidFill>
                            <a:srgbClr val="1C1C1E"/>
                          </a:solidFill>
                          <a:latin typeface="Calibri"/>
                        </a:rPr>
                        <a:t>Resolution, signing, revocation, telemetry ingest</a:t>
                      </a:r>
                    </a:p>
                  </a:txBody>
                  <a:tcPr marL="82296" marR="64008" marT="32004" marB="32004" anchor="ctr">
                    <a:solidFill>
                      <a:srgbClr val="F6F3EF"/>
                    </a:solidFill>
                  </a:tcPr>
                </a:tc>
                <a:tc>
                  <a:txBody>
                    <a:bodyPr wrap="square"/>
                    <a:lstStyle/>
                    <a:p>
                      <a:pPr algn="l"/>
                      <a:r>
                        <a:rPr sz="1000" b="0">
                          <a:solidFill>
                            <a:srgbClr val="1C1C1E"/>
                          </a:solidFill>
                          <a:latin typeface="Calibri"/>
                        </a:rPr>
                        <a:t>Any governance decision — it reads a projection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Machine assistance</a:t>
                      </a:r>
                    </a:p>
                  </a:txBody>
                  <a:tcPr marL="82296" marR="64008" marT="32004" marB="32004" anchor="ctr">
                    <a:solidFill>
                      <a:srgbClr val="FFFFFF"/>
                    </a:solidFill>
                  </a:tcPr>
                </a:tc>
                <a:tc>
                  <a:txBody>
                    <a:bodyPr wrap="square"/>
                    <a:lstStyle/>
                    <a:p>
                      <a:pPr algn="l"/>
                      <a:r>
                        <a:rPr sz="1000" b="0">
                          <a:solidFill>
                            <a:srgbClr val="1C1C1E"/>
                          </a:solidFill>
                          <a:latin typeface="Calibri"/>
                        </a:rPr>
                        <a:t>Capabilities, grounding, citation checking, oracles</a:t>
                      </a:r>
                    </a:p>
                  </a:txBody>
                  <a:tcPr marL="82296" marR="64008" marT="32004" marB="32004" anchor="ctr">
                    <a:solidFill>
                      <a:srgbClr val="FFFFFF"/>
                    </a:solidFill>
                  </a:tcPr>
                </a:tc>
                <a:tc>
                  <a:txBody>
                    <a:bodyPr wrap="square"/>
                    <a:lstStyle/>
                    <a:p>
                      <a:pPr algn="l"/>
                      <a:r>
                        <a:rPr sz="1000" b="0">
                          <a:solidFill>
                            <a:srgbClr val="1C1C1E"/>
                          </a:solidFill>
                          <a:latin typeface="Calibri"/>
                        </a:rPr>
                        <a:t>Any governance state transition</a:t>
                      </a:r>
                    </a:p>
                  </a:txBody>
                  <a:tcPr marL="82296" marR="64008" marT="32004" marB="32004" anchor="ctr">
                    <a:solidFill>
                      <a:srgbClr val="FFFFFF"/>
                    </a:solidFill>
                  </a:tcPr>
                </a:tc>
              </a:tr>
            </a:tbl>
          </a:graphicData>
        </a:graphic>
      </p:graphicFrame>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WHAT BINDS EVERY COMPONENT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Seven design rules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84</a:t>
            </a:r>
          </a:p>
        </p:txBody>
      </p:sp>
      <p:sp>
        <p:nvSpPr>
          <p:cNvPr id="10" name="Rectangle 9"/>
          <p:cNvSpPr/>
          <p:nvPr/>
        </p:nvSpPr>
        <p:spPr>
          <a:xfrm>
            <a:off x="777240" y="1353312"/>
            <a:ext cx="2480995"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DR-1</a:t>
            </a:r>
          </a:p>
        </p:txBody>
      </p:sp>
      <p:sp>
        <p:nvSpPr>
          <p:cNvPr id="13" name="TextBox 12"/>
          <p:cNvSpPr txBox="1"/>
          <p:nvPr/>
        </p:nvSpPr>
        <p:spPr>
          <a:xfrm>
            <a:off x="996695" y="1847088"/>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Ports, not internals</a:t>
            </a:r>
          </a:p>
        </p:txBody>
      </p:sp>
      <p:sp>
        <p:nvSpPr>
          <p:cNvPr id="14" name="TextBox 13"/>
          <p:cNvSpPr txBox="1"/>
          <p:nvPr/>
        </p:nvSpPr>
        <p:spPr>
          <a:xfrm>
            <a:off x="996695" y="2350008"/>
            <a:ext cx="2042083" cy="786383"/>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A component exposes a Protocol and is consumed only through it. No cross-component imports of internals.</a:t>
            </a:r>
          </a:p>
        </p:txBody>
      </p:sp>
      <p:sp>
        <p:nvSpPr>
          <p:cNvPr id="15" name="Rectangle 14"/>
          <p:cNvSpPr/>
          <p:nvPr/>
        </p:nvSpPr>
        <p:spPr>
          <a:xfrm>
            <a:off x="3495979" y="1353312"/>
            <a:ext cx="2480995"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3495979"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371543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DR-2</a:t>
            </a:r>
          </a:p>
        </p:txBody>
      </p:sp>
      <p:sp>
        <p:nvSpPr>
          <p:cNvPr id="18" name="TextBox 17"/>
          <p:cNvSpPr txBox="1"/>
          <p:nvPr/>
        </p:nvSpPr>
        <p:spPr>
          <a:xfrm>
            <a:off x="3715435" y="1847088"/>
            <a:ext cx="204208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Domain is pure</a:t>
            </a:r>
          </a:p>
        </p:txBody>
      </p:sp>
      <p:sp>
        <p:nvSpPr>
          <p:cNvPr id="19" name="TextBox 18"/>
          <p:cNvSpPr txBox="1"/>
          <p:nvPr/>
        </p:nvSpPr>
        <p:spPr>
          <a:xfrm>
            <a:off x="3715435" y="2157984"/>
            <a:ext cx="2042083"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Domain logic is synchronous and side-effect free. I/O lives in adapters at the component edge.</a:t>
            </a:r>
          </a:p>
        </p:txBody>
      </p:sp>
      <p:sp>
        <p:nvSpPr>
          <p:cNvPr id="20" name="Rectangle 19"/>
          <p:cNvSpPr/>
          <p:nvPr/>
        </p:nvSpPr>
        <p:spPr>
          <a:xfrm>
            <a:off x="6214719" y="1353312"/>
            <a:ext cx="2480995"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6214719"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643417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DR-3</a:t>
            </a:r>
          </a:p>
        </p:txBody>
      </p:sp>
      <p:sp>
        <p:nvSpPr>
          <p:cNvPr id="23" name="TextBox 22"/>
          <p:cNvSpPr txBox="1"/>
          <p:nvPr/>
        </p:nvSpPr>
        <p:spPr>
          <a:xfrm>
            <a:off x="6434175" y="1847088"/>
            <a:ext cx="204208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Idempotent writes</a:t>
            </a:r>
          </a:p>
        </p:txBody>
      </p:sp>
      <p:sp>
        <p:nvSpPr>
          <p:cNvPr id="24" name="TextBox 23"/>
          <p:cNvSpPr txBox="1"/>
          <p:nvPr/>
        </p:nvSpPr>
        <p:spPr>
          <a:xfrm>
            <a:off x="6434175" y="2157984"/>
            <a:ext cx="2042083" cy="978407"/>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Every write path is idempotent given an Idempotency-Key or a natural key.</a:t>
            </a:r>
          </a:p>
        </p:txBody>
      </p:sp>
      <p:sp>
        <p:nvSpPr>
          <p:cNvPr id="25" name="Rectangle 24"/>
          <p:cNvSpPr/>
          <p:nvPr/>
        </p:nvSpPr>
        <p:spPr>
          <a:xfrm>
            <a:off x="8933459" y="1353312"/>
            <a:ext cx="2480995"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8933459" y="135331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152915" y="157276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DR-4</a:t>
            </a:r>
          </a:p>
        </p:txBody>
      </p:sp>
      <p:sp>
        <p:nvSpPr>
          <p:cNvPr id="28" name="TextBox 27"/>
          <p:cNvSpPr txBox="1"/>
          <p:nvPr/>
        </p:nvSpPr>
        <p:spPr>
          <a:xfrm>
            <a:off x="9152915" y="1847088"/>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Derivations are written</a:t>
            </a:r>
          </a:p>
        </p:txBody>
      </p:sp>
      <p:sp>
        <p:nvSpPr>
          <p:cNvPr id="29" name="TextBox 28"/>
          <p:cNvSpPr txBox="1"/>
          <p:nvPr/>
        </p:nvSpPr>
        <p:spPr>
          <a:xfrm>
            <a:off x="9152915" y="2350008"/>
            <a:ext cx="2042083" cy="786383"/>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Every derived value is persisted with its derivation record, in the same transaction.</a:t>
            </a:r>
          </a:p>
        </p:txBody>
      </p:sp>
      <p:sp>
        <p:nvSpPr>
          <p:cNvPr id="30" name="Rectangle 29"/>
          <p:cNvSpPr/>
          <p:nvPr/>
        </p:nvSpPr>
        <p:spPr>
          <a:xfrm>
            <a:off x="777240" y="3502152"/>
            <a:ext cx="2480995"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777240" y="350215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996695" y="372160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DR-5</a:t>
            </a:r>
          </a:p>
        </p:txBody>
      </p:sp>
      <p:sp>
        <p:nvSpPr>
          <p:cNvPr id="33" name="TextBox 32"/>
          <p:cNvSpPr txBox="1"/>
          <p:nvPr/>
        </p:nvSpPr>
        <p:spPr>
          <a:xfrm>
            <a:off x="996695" y="3995928"/>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One transaction owner</a:t>
            </a:r>
          </a:p>
        </p:txBody>
      </p:sp>
      <p:sp>
        <p:nvSpPr>
          <p:cNvPr id="34" name="TextBox 33"/>
          <p:cNvSpPr txBox="1"/>
          <p:nvPr/>
        </p:nvSpPr>
        <p:spPr>
          <a:xfrm>
            <a:off x="996695" y="4498848"/>
            <a:ext cx="2042083" cy="78638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Nothing outside platform/db opens a transaction. Components receive a UnitOfWork.</a:t>
            </a:r>
          </a:p>
        </p:txBody>
      </p:sp>
      <p:sp>
        <p:nvSpPr>
          <p:cNvPr id="35" name="Rectangle 34"/>
          <p:cNvSpPr/>
          <p:nvPr/>
        </p:nvSpPr>
        <p:spPr>
          <a:xfrm>
            <a:off x="3495979" y="3502152"/>
            <a:ext cx="2480995"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3495979" y="350215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3715435" y="372160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DR-6</a:t>
            </a:r>
          </a:p>
        </p:txBody>
      </p:sp>
      <p:sp>
        <p:nvSpPr>
          <p:cNvPr id="38" name="TextBox 37"/>
          <p:cNvSpPr txBox="1"/>
          <p:nvPr/>
        </p:nvSpPr>
        <p:spPr>
          <a:xfrm>
            <a:off x="3715435" y="3995928"/>
            <a:ext cx="2042083"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No bare failures</a:t>
            </a:r>
          </a:p>
        </p:txBody>
      </p:sp>
      <p:sp>
        <p:nvSpPr>
          <p:cNvPr id="39" name="TextBox 38"/>
          <p:cNvSpPr txBox="1"/>
          <p:nvPr/>
        </p:nvSpPr>
        <p:spPr>
          <a:xfrm>
            <a:off x="3715435" y="4306824"/>
            <a:ext cx="2042083" cy="97840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Every externally visible failure maps to the error taxonomy. Never an unmapped 500.</a:t>
            </a:r>
          </a:p>
        </p:txBody>
      </p:sp>
      <p:sp>
        <p:nvSpPr>
          <p:cNvPr id="40" name="Rectangle 39"/>
          <p:cNvSpPr/>
          <p:nvPr/>
        </p:nvSpPr>
        <p:spPr>
          <a:xfrm>
            <a:off x="6214719" y="3502152"/>
            <a:ext cx="2480995" cy="196596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1" name="Rectangle 40"/>
          <p:cNvSpPr/>
          <p:nvPr/>
        </p:nvSpPr>
        <p:spPr>
          <a:xfrm>
            <a:off x="6214719" y="3502152"/>
            <a:ext cx="2480995"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2" name="TextBox 41"/>
          <p:cNvSpPr txBox="1"/>
          <p:nvPr/>
        </p:nvSpPr>
        <p:spPr>
          <a:xfrm>
            <a:off x="6434175" y="3721608"/>
            <a:ext cx="2042083"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DR-7</a:t>
            </a:r>
          </a:p>
        </p:txBody>
      </p:sp>
      <p:sp>
        <p:nvSpPr>
          <p:cNvPr id="43" name="TextBox 42"/>
          <p:cNvSpPr txBox="1"/>
          <p:nvPr/>
        </p:nvSpPr>
        <p:spPr>
          <a:xfrm>
            <a:off x="6434175" y="3995928"/>
            <a:ext cx="2042083"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Blocking must explain</a:t>
            </a:r>
          </a:p>
        </p:txBody>
      </p:sp>
      <p:sp>
        <p:nvSpPr>
          <p:cNvPr id="44" name="TextBox 43"/>
          <p:cNvSpPr txBox="1"/>
          <p:nvPr/>
        </p:nvSpPr>
        <p:spPr>
          <a:xfrm>
            <a:off x="6434175" y="4498848"/>
            <a:ext cx="2042083" cy="78638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Anything that blocks a user returns why, and a link to remediate it.</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OVERVIEW · DEPLOYABLE UNITS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Process model</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16 · Architecture and Design Rules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85</a:t>
            </a:r>
          </a:p>
        </p:txBody>
      </p:sp>
      <p:graphicFrame>
        <p:nvGraphicFramePr>
          <p:cNvPr id="10" name="Table 9"/>
          <p:cNvGraphicFramePr>
            <a:graphicFrameLocks noGrp="1"/>
          </p:cNvGraphicFramePr>
          <p:nvPr/>
        </p:nvGraphicFramePr>
        <p:xfrm>
          <a:off x="777240" y="1353312"/>
          <a:ext cx="10637214" cy="2998570"/>
        </p:xfrm>
        <a:graphic>
          <a:graphicData uri="http://schemas.openxmlformats.org/drawingml/2006/table">
            <a:tbl>
              <a:tblPr firstRow="1">
                <a:tableStyleId>{5C22544A-7EE6-4342-B048-85BDC9FD1C3A}</a:tableStyleId>
              </a:tblPr>
              <a:tblGrid>
                <a:gridCol w="1918186"/>
                <a:gridCol w="2005376"/>
                <a:gridCol w="4533895"/>
                <a:gridCol w="2179757"/>
              </a:tblGrid>
              <a:tr h="333781">
                <a:tc>
                  <a:txBody>
                    <a:bodyPr wrap="square"/>
                    <a:lstStyle/>
                    <a:p>
                      <a:pPr algn="l"/>
                      <a:r>
                        <a:rPr sz="1100" b="1">
                          <a:solidFill>
                            <a:srgbClr val="FFFFFF"/>
                          </a:solidFill>
                          <a:latin typeface="Calibri"/>
                        </a:rPr>
                        <a:t>Unit</a:t>
                      </a:r>
                    </a:p>
                  </a:txBody>
                  <a:tcPr marL="82296" marR="64008" marT="32004" marB="32004" anchor="ctr">
                    <a:solidFill>
                      <a:srgbClr val="A51C30"/>
                    </a:solidFill>
                  </a:tcPr>
                </a:tc>
                <a:tc>
                  <a:txBody>
                    <a:bodyPr wrap="square"/>
                    <a:lstStyle/>
                    <a:p>
                      <a:pPr algn="l"/>
                      <a:r>
                        <a:rPr sz="1100" b="1">
                          <a:solidFill>
                            <a:srgbClr val="FFFFFF"/>
                          </a:solidFill>
                          <a:latin typeface="Calibri"/>
                        </a:rPr>
                        <a:t>Scaling</a:t>
                      </a:r>
                    </a:p>
                  </a:txBody>
                  <a:tcPr marL="82296" marR="64008" marT="32004" marB="32004" anchor="ctr">
                    <a:solidFill>
                      <a:srgbClr val="A51C30"/>
                    </a:solidFill>
                  </a:tcPr>
                </a:tc>
                <a:tc>
                  <a:txBody>
                    <a:bodyPr wrap="square"/>
                    <a:lstStyle/>
                    <a:p>
                      <a:pPr algn="l"/>
                      <a:r>
                        <a:rPr sz="1100" b="1">
                          <a:solidFill>
                            <a:srgbClr val="FFFFFF"/>
                          </a:solidFill>
                          <a:latin typeface="Calibri"/>
                        </a:rPr>
                        <a:t>Why it is separate</a:t>
                      </a:r>
                    </a:p>
                  </a:txBody>
                  <a:tcPr marL="82296" marR="64008" marT="32004" marB="32004" anchor="ctr">
                    <a:solidFill>
                      <a:srgbClr val="A51C30"/>
                    </a:solidFill>
                  </a:tcPr>
                </a:tc>
                <a:tc>
                  <a:txBody>
                    <a:bodyPr wrap="square"/>
                    <a:lstStyle/>
                    <a:p>
                      <a:pPr algn="l"/>
                      <a:r>
                        <a:rPr sz="1100" b="1">
                          <a:solidFill>
                            <a:srgbClr val="FFFFFF"/>
                          </a:solidFill>
                          <a:latin typeface="Calibri"/>
                        </a:rPr>
                        <a:t>Fails independently?</a:t>
                      </a:r>
                    </a:p>
                  </a:txBody>
                  <a:tcPr marL="82296" marR="64008" marT="32004" marB="32004" anchor="ctr">
                    <a:solidFill>
                      <a:srgbClr val="A51C30"/>
                    </a:solidFill>
                  </a:tcPr>
                </a:tc>
              </a:tr>
              <a:tr h="504215">
                <a:tc>
                  <a:txBody>
                    <a:bodyPr wrap="square"/>
                    <a:lstStyle/>
                    <a:p>
                      <a:pPr algn="l"/>
                      <a:r>
                        <a:rPr sz="1050" b="1">
                          <a:solidFill>
                            <a:srgbClr val="A51C30"/>
                          </a:solidFill>
                          <a:latin typeface="Calibri"/>
                        </a:rPr>
                        <a:t>maya-web</a:t>
                      </a:r>
                    </a:p>
                  </a:txBody>
                  <a:tcPr marL="82296" marR="64008" marT="32004" marB="32004" anchor="ctr">
                    <a:solidFill>
                      <a:srgbClr val="FFFFFF"/>
                    </a:solidFill>
                  </a:tcPr>
                </a:tc>
                <a:tc>
                  <a:txBody>
                    <a:bodyPr wrap="square"/>
                    <a:lstStyle/>
                    <a:p>
                      <a:pPr algn="l"/>
                      <a:r>
                        <a:rPr sz="1050" b="0">
                          <a:solidFill>
                            <a:srgbClr val="1C1C1E"/>
                          </a:solidFill>
                          <a:latin typeface="Calibri"/>
                        </a:rPr>
                        <a:t>Static, CDN + 2 pods</a:t>
                      </a:r>
                    </a:p>
                  </a:txBody>
                  <a:tcPr marL="82296" marR="64008" marT="32004" marB="32004" anchor="ctr">
                    <a:solidFill>
                      <a:srgbClr val="FFFFFF"/>
                    </a:solidFill>
                  </a:tcPr>
                </a:tc>
                <a:tc>
                  <a:txBody>
                    <a:bodyPr wrap="square"/>
                    <a:lstStyle/>
                    <a:p>
                      <a:pPr algn="l"/>
                      <a:r>
                        <a:rPr sz="1050" b="0">
                          <a:solidFill>
                            <a:srgbClr val="1C1C1E"/>
                          </a:solidFill>
                          <a:latin typeface="Calibri"/>
                        </a:rPr>
                        <a:t>Separate process and pipeline (ADR-011); the API is the only interface</a:t>
                      </a:r>
                    </a:p>
                  </a:txBody>
                  <a:tcPr marL="82296" marR="64008" marT="32004" marB="32004" anchor="ctr">
                    <a:solidFill>
                      <a:srgbClr val="FFFFFF"/>
                    </a:solidFill>
                  </a:tcPr>
                </a:tc>
                <a:tc>
                  <a:txBody>
                    <a:bodyPr wrap="square"/>
                    <a:lstStyle/>
                    <a:p>
                      <a:pPr algn="l"/>
                      <a:r>
                        <a:rPr sz="1050" b="0">
                          <a:solidFill>
                            <a:srgbClr val="1C1C1E"/>
                          </a:solidFill>
                          <a:latin typeface="Calibri"/>
                        </a:rPr>
                        <a:t>Yes — stops human review only</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maya-api</a:t>
                      </a:r>
                    </a:p>
                  </a:txBody>
                  <a:tcPr marL="82296" marR="64008" marT="32004" marB="32004" anchor="ctr">
                    <a:solidFill>
                      <a:srgbClr val="F6F3EF"/>
                    </a:solidFill>
                  </a:tcPr>
                </a:tc>
                <a:tc>
                  <a:txBody>
                    <a:bodyPr wrap="square"/>
                    <a:lstStyle/>
                    <a:p>
                      <a:pPr algn="l"/>
                      <a:r>
                        <a:rPr sz="1050" b="0">
                          <a:solidFill>
                            <a:srgbClr val="1C1C1E"/>
                          </a:solidFill>
                          <a:latin typeface="Calibri"/>
                        </a:rPr>
                        <a:t>3–10 pods, CPU-bound</a:t>
                      </a:r>
                    </a:p>
                  </a:txBody>
                  <a:tcPr marL="82296" marR="64008" marT="32004" marB="32004" anchor="ctr">
                    <a:solidFill>
                      <a:srgbClr val="F6F3EF"/>
                    </a:solidFill>
                  </a:tcPr>
                </a:tc>
                <a:tc>
                  <a:txBody>
                    <a:bodyPr wrap="square"/>
                    <a:lstStyle/>
                    <a:p>
                      <a:pPr algn="l"/>
                      <a:r>
                        <a:rPr sz="1050" b="0">
                          <a:solidFill>
                            <a:srgbClr val="1C1C1E"/>
                          </a:solidFill>
                          <a:latin typeface="Calibri"/>
                        </a:rPr>
                        <a:t>The bulk of the domain; deploys together for transactional integrity</a:t>
                      </a:r>
                    </a:p>
                  </a:txBody>
                  <a:tcPr marL="82296" marR="64008" marT="32004" marB="32004" anchor="ctr">
                    <a:solidFill>
                      <a:srgbClr val="F6F3EF"/>
                    </a:solidFill>
                  </a:tcPr>
                </a:tc>
                <a:tc>
                  <a:txBody>
                    <a:bodyPr wrap="square"/>
                    <a:lstStyle/>
                    <a:p>
                      <a:pPr algn="l"/>
                      <a:r>
                        <a:rPr sz="1050" b="0">
                          <a:solidFill>
                            <a:srgbClr val="1C1C1E"/>
                          </a:solidFill>
                          <a:latin typeface="Calibri"/>
                        </a:rPr>
                        <a:t>—</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maya-warrants</a:t>
                      </a:r>
                    </a:p>
                  </a:txBody>
                  <a:tcPr marL="82296" marR="64008" marT="32004" marB="32004" anchor="ctr">
                    <a:solidFill>
                      <a:srgbClr val="FFFFFF"/>
                    </a:solidFill>
                  </a:tcPr>
                </a:tc>
                <a:tc>
                  <a:txBody>
                    <a:bodyPr wrap="square"/>
                    <a:lstStyle/>
                    <a:p>
                      <a:pPr algn="l"/>
                      <a:r>
                        <a:rPr sz="1050" b="0">
                          <a:solidFill>
                            <a:srgbClr val="1C1C1E"/>
                          </a:solidFill>
                          <a:latin typeface="Calibri"/>
                        </a:rPr>
                        <a:t>10–100 pods, regional</a:t>
                      </a:r>
                    </a:p>
                  </a:txBody>
                  <a:tcPr marL="82296" marR="64008" marT="32004" marB="32004" anchor="ctr">
                    <a:solidFill>
                      <a:srgbClr val="FFFFFF"/>
                    </a:solidFill>
                  </a:tcPr>
                </a:tc>
                <a:tc>
                  <a:txBody>
                    <a:bodyPr wrap="square"/>
                    <a:lstStyle/>
                    <a:p>
                      <a:pPr algn="l"/>
                      <a:r>
                        <a:rPr sz="1050" b="0">
                          <a:solidFill>
                            <a:srgbClr val="1C1C1E"/>
                          </a:solidFill>
                          <a:latin typeface="Calibri"/>
                        </a:rPr>
                        <a:t>10× tighter SLA; reads only the warrant projection; survives control-plane outage</a:t>
                      </a:r>
                    </a:p>
                  </a:txBody>
                  <a:tcPr marL="82296" marR="64008" marT="32004" marB="32004" anchor="ctr">
                    <a:solidFill>
                      <a:srgbClr val="FFFFFF"/>
                    </a:solidFill>
                  </a:tcPr>
                </a:tc>
                <a:tc>
                  <a:txBody>
                    <a:bodyPr wrap="square"/>
                    <a:lstStyle/>
                    <a:p>
                      <a:pPr algn="l"/>
                      <a:r>
                        <a:rPr sz="1050" b="0">
                          <a:solidFill>
                            <a:srgbClr val="1C1C1E"/>
                          </a:solidFill>
                          <a:latin typeface="Calibri"/>
                        </a:rPr>
                        <a:t>Yes — by design</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maya-worker</a:t>
                      </a:r>
                    </a:p>
                  </a:txBody>
                  <a:tcPr marL="82296" marR="64008" marT="32004" marB="32004" anchor="ctr">
                    <a:solidFill>
                      <a:srgbClr val="F6F3EF"/>
                    </a:solidFill>
                  </a:tcPr>
                </a:tc>
                <a:tc>
                  <a:txBody>
                    <a:bodyPr wrap="square"/>
                    <a:lstStyle/>
                    <a:p>
                      <a:pPr algn="l"/>
                      <a:r>
                        <a:rPr sz="1050" b="0">
                          <a:solidFill>
                            <a:srgbClr val="1C1C1E"/>
                          </a:solidFill>
                          <a:latin typeface="Calibri"/>
                        </a:rPr>
                        <a:t>Queue-depth autoscaled</a:t>
                      </a:r>
                    </a:p>
                  </a:txBody>
                  <a:tcPr marL="82296" marR="64008" marT="32004" marB="32004" anchor="ctr">
                    <a:solidFill>
                      <a:srgbClr val="F6F3EF"/>
                    </a:solidFill>
                  </a:tcPr>
                </a:tc>
                <a:tc>
                  <a:txBody>
                    <a:bodyPr wrap="square"/>
                    <a:lstStyle/>
                    <a:p>
                      <a:pPr algn="l"/>
                      <a:r>
                        <a:rPr sz="1050" b="0">
                          <a:solidFill>
                            <a:srgbClr val="1C1C1E"/>
                          </a:solidFill>
                          <a:latin typeface="Calibri"/>
                        </a:rPr>
                        <a:t>Long-running, retryable, at-least-once</a:t>
                      </a:r>
                    </a:p>
                  </a:txBody>
                  <a:tcPr marL="82296" marR="64008" marT="32004" marB="32004" anchor="ctr">
                    <a:solidFill>
                      <a:srgbClr val="F6F3EF"/>
                    </a:solidFill>
                  </a:tcPr>
                </a:tc>
                <a:tc>
                  <a:txBody>
                    <a:bodyPr wrap="square"/>
                    <a:lstStyle/>
                    <a:p>
                      <a:pPr algn="l"/>
                      <a:r>
                        <a:rPr sz="1050" b="0">
                          <a:solidFill>
                            <a:srgbClr val="1C1C1E"/>
                          </a:solidFill>
                          <a:latin typeface="Calibri"/>
                        </a:rPr>
                        <a:t>Yes</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maya-sandbox</a:t>
                      </a:r>
                    </a:p>
                  </a:txBody>
                  <a:tcPr marL="82296" marR="64008" marT="32004" marB="32004" anchor="ctr">
                    <a:solidFill>
                      <a:srgbClr val="FFFFFF"/>
                    </a:solidFill>
                  </a:tcPr>
                </a:tc>
                <a:tc>
                  <a:txBody>
                    <a:bodyPr wrap="square"/>
                    <a:lstStyle/>
                    <a:p>
                      <a:pPr algn="l"/>
                      <a:r>
                        <a:rPr sz="1050" b="0">
                          <a:solidFill>
                            <a:srgbClr val="1C1C1E"/>
                          </a:solidFill>
                          <a:latin typeface="Calibri"/>
                        </a:rPr>
                        <a:t>Job per task, gVisor</a:t>
                      </a:r>
                    </a:p>
                  </a:txBody>
                  <a:tcPr marL="82296" marR="64008" marT="32004" marB="32004" anchor="ctr">
                    <a:solidFill>
                      <a:srgbClr val="FFFFFF"/>
                    </a:solidFill>
                  </a:tcPr>
                </a:tc>
                <a:tc>
                  <a:txBody>
                    <a:bodyPr wrap="square"/>
                    <a:lstStyle/>
                    <a:p>
                      <a:pPr algn="l"/>
                      <a:r>
                        <a:rPr sz="1050" b="0">
                          <a:solidFill>
                            <a:srgbClr val="1C1C1E"/>
                          </a:solidFill>
                          <a:latin typeface="Calibri"/>
                        </a:rPr>
                        <a:t>Never runs untrusted code in-process with the control plane</a:t>
                      </a:r>
                    </a:p>
                  </a:txBody>
                  <a:tcPr marL="82296" marR="64008" marT="32004" marB="32004" anchor="ctr">
                    <a:solidFill>
                      <a:srgbClr val="FFFFFF"/>
                    </a:solidFill>
                  </a:tcPr>
                </a:tc>
                <a:tc>
                  <a:txBody>
                    <a:bodyPr wrap="square"/>
                    <a:lstStyle/>
                    <a:p>
                      <a:pPr algn="l"/>
                      <a:r>
                        <a:rPr sz="1050" b="0">
                          <a:solidFill>
                            <a:srgbClr val="1C1C1E"/>
                          </a:solidFill>
                          <a:latin typeface="Calibri"/>
                        </a:rPr>
                        <a:t>Yes</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Spark / Databricks</a:t>
                      </a:r>
                    </a:p>
                  </a:txBody>
                  <a:tcPr marL="82296" marR="64008" marT="32004" marB="32004" anchor="ctr">
                    <a:solidFill>
                      <a:srgbClr val="F6F3EF"/>
                    </a:solidFill>
                  </a:tcPr>
                </a:tc>
                <a:tc>
                  <a:txBody>
                    <a:bodyPr wrap="square"/>
                    <a:lstStyle/>
                    <a:p>
                      <a:pPr algn="l"/>
                      <a:r>
                        <a:rPr sz="1050" b="0">
                          <a:solidFill>
                            <a:srgbClr val="1C1C1E"/>
                          </a:solidFill>
                          <a:latin typeface="Calibri"/>
                        </a:rPr>
                        <a:t>Cluster-managed</a:t>
                      </a:r>
                    </a:p>
                  </a:txBody>
                  <a:tcPr marL="82296" marR="64008" marT="32004" marB="32004" anchor="ctr">
                    <a:solidFill>
                      <a:srgbClr val="F6F3EF"/>
                    </a:solidFill>
                  </a:tcPr>
                </a:tc>
                <a:tc>
                  <a:txBody>
                    <a:bodyPr wrap="square"/>
                    <a:lstStyle/>
                    <a:p>
                      <a:pPr algn="l"/>
                      <a:r>
                        <a:rPr sz="1050" b="0">
                          <a:solidFill>
                            <a:srgbClr val="1C1C1E"/>
                          </a:solidFill>
                          <a:latin typeface="Calibri"/>
                        </a:rPr>
                        <a:t>Data-plane compute: PIT joins, materialisation, monitoring</a:t>
                      </a:r>
                    </a:p>
                  </a:txBody>
                  <a:tcPr marL="82296" marR="64008" marT="32004" marB="32004" anchor="ctr">
                    <a:solidFill>
                      <a:srgbClr val="F6F3EF"/>
                    </a:solidFill>
                  </a:tcPr>
                </a:tc>
                <a:tc>
                  <a:txBody>
                    <a:bodyPr wrap="square"/>
                    <a:lstStyle/>
                    <a:p>
                      <a:pPr algn="l"/>
                      <a:r>
                        <a:rPr sz="1050" b="0">
                          <a:solidFill>
                            <a:srgbClr val="1C1C1E"/>
                          </a:solidFill>
                          <a:latin typeface="Calibri"/>
                        </a:rPr>
                        <a:t>Yes</a:t>
                      </a:r>
                    </a:p>
                  </a:txBody>
                  <a:tcPr marL="82296" marR="64008" marT="32004" marB="32004" anchor="ctr">
                    <a:solidFill>
                      <a:srgbClr val="F6F3EF"/>
                    </a:solidFill>
                  </a:tcPr>
                </a:tc>
              </a:tr>
            </a:tbl>
          </a:graphicData>
        </a:graphic>
      </p:graphicFrame>
      <p:sp>
        <p:nvSpPr>
          <p:cNvPr id="11" name="Rectangle 10"/>
          <p:cNvSpPr/>
          <p:nvPr/>
        </p:nvSpPr>
        <p:spPr>
          <a:xfrm>
            <a:off x="777240" y="4607915"/>
            <a:ext cx="10637215" cy="8229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607915"/>
            <a:ext cx="41148" cy="8229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51560" y="4735931"/>
            <a:ext cx="10088575" cy="640080"/>
          </a:xfrm>
          <a:prstGeom prst="rect">
            <a:avLst/>
          </a:prstGeom>
          <a:noFill/>
        </p:spPr>
        <p:txBody>
          <a:bodyPr wrap="square" lIns="0" rIns="0" tIns="0" bIns="0" anchor="t">
            <a:spAutoFit/>
          </a:bodyPr>
          <a:lstStyle/>
          <a:p>
            <a:pPr algn="l">
              <a:lnSpc>
                <a:spcPct val="128000"/>
              </a:lnSpc>
              <a:spcBef>
                <a:spcPts val="0"/>
              </a:spcBef>
              <a:spcAft>
                <a:spcPts val="0"/>
              </a:spcAft>
            </a:pPr>
            <a:r>
              <a:rPr sz="1200" b="1" i="0">
                <a:solidFill>
                  <a:srgbClr val="A51C30"/>
                </a:solidFill>
                <a:latin typeface="Calibri"/>
              </a:rPr>
              <a:t>The one asymmetry. </a:t>
            </a:r>
            <a:r>
              <a:rPr sz="1200" b="0" i="0">
                <a:solidFill>
                  <a:srgbClr val="1C1C1E"/>
                </a:solidFill>
                <a:latin typeface="Calibri"/>
              </a:rPr>
              <a:t>Governance must not become the bank's single point of failure. If the control plane is down, already-authorised production scoring continues; only new issuance and governance changes stop.</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17</a:t>
            </a:r>
          </a:p>
        </p:txBody>
      </p:sp>
      <p:sp>
        <p:nvSpPr>
          <p:cNvPr id="5" name="TextBox 4"/>
          <p:cNvSpPr txBox="1"/>
          <p:nvPr/>
        </p:nvSpPr>
        <p:spPr>
          <a:xfrm>
            <a:off x="1005840" y="2419502"/>
            <a:ext cx="6169584" cy="1188720"/>
          </a:xfrm>
          <a:prstGeom prst="rect">
            <a:avLst/>
          </a:prstGeom>
          <a:noFill/>
        </p:spPr>
        <p:txBody>
          <a:bodyPr wrap="square" lIns="0" rIns="0" tIns="0" bIns="0" anchor="t">
            <a:spAutoFit/>
          </a:bodyPr>
          <a:lstStyle/>
          <a:p>
            <a:pPr algn="l">
              <a:spcBef>
                <a:spcPts val="0"/>
              </a:spcBef>
              <a:spcAft>
                <a:spcPts val="0"/>
              </a:spcAft>
            </a:pPr>
            <a:r>
              <a:rPr sz="3400" b="0" i="0">
                <a:solidFill>
                  <a:srgbClr val="FFFFFF"/>
                </a:solidFill>
                <a:latin typeface="Georgia"/>
              </a:rPr>
              <a:t>Core Domain and Registry</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The algebra in code, and the registry that indexes it.</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model algebra</a:t>
            </a:r>
          </a:p>
          <a:p>
            <a:pPr>
              <a:lnSpc>
                <a:spcPct val="115000"/>
              </a:lnSpc>
              <a:spcBef>
                <a:spcPts val="0"/>
              </a:spcBef>
              <a:spcAft>
                <a:spcPts val="700"/>
              </a:spcAft>
            </a:pPr>
            <a:r>
              <a:rPr sz="1150" b="0" i="0">
                <a:solidFill>
                  <a:srgbClr val="F6E6E9"/>
                </a:solidFill>
                <a:latin typeface="Calibri"/>
              </a:rPr>
              <a:t>Trainability is derived</a:t>
            </a:r>
          </a:p>
          <a:p>
            <a:pPr>
              <a:lnSpc>
                <a:spcPct val="115000"/>
              </a:lnSpc>
              <a:spcBef>
                <a:spcPts val="0"/>
              </a:spcBef>
              <a:spcAft>
                <a:spcPts val="700"/>
              </a:spcAft>
            </a:pPr>
            <a:r>
              <a:rPr sz="1150" b="0" i="0">
                <a:solidFill>
                  <a:srgbClr val="F6E6E9"/>
                </a:solidFill>
                <a:latin typeface="Calibri"/>
              </a:rPr>
              <a:t>Contract algebra</a:t>
            </a:r>
          </a:p>
          <a:p>
            <a:pPr>
              <a:lnSpc>
                <a:spcPct val="115000"/>
              </a:lnSpc>
              <a:spcBef>
                <a:spcPts val="0"/>
              </a:spcBef>
              <a:spcAft>
                <a:spcPts val="700"/>
              </a:spcAft>
            </a:pPr>
            <a:r>
              <a:rPr sz="1150" b="0" i="0">
                <a:solidFill>
                  <a:srgbClr val="F6E6E9"/>
                </a:solidFill>
                <a:latin typeface="Calibri"/>
              </a:rPr>
              <a:t>The fibre registry</a:t>
            </a:r>
          </a:p>
          <a:p>
            <a:pPr>
              <a:lnSpc>
                <a:spcPct val="115000"/>
              </a:lnSpc>
              <a:spcBef>
                <a:spcPts val="0"/>
              </a:spcBef>
              <a:spcAft>
                <a:spcPts val="700"/>
              </a:spcAft>
            </a:pPr>
            <a:r>
              <a:rPr sz="1150" b="0" i="0">
                <a:solidFill>
                  <a:srgbClr val="F6E6E9"/>
                </a:solidFill>
                <a:latin typeface="Calibri"/>
              </a:rPr>
              <a:t>Version creation</a:t>
            </a:r>
          </a:p>
          <a:p>
            <a:pPr>
              <a:lnSpc>
                <a:spcPct val="115000"/>
              </a:lnSpc>
              <a:spcBef>
                <a:spcPts val="0"/>
              </a:spcBef>
              <a:spcAft>
                <a:spcPts val="700"/>
              </a:spcAft>
            </a:pPr>
            <a:r>
              <a:rPr sz="1150" b="0" i="0">
                <a:solidFill>
                  <a:srgbClr val="F6E6E9"/>
                </a:solidFill>
                <a:latin typeface="Calibri"/>
              </a:rPr>
              <a:t>Alias moves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CORE/DOMAIN/ALGEBRA.PY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model algebra</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87</a:t>
            </a:r>
          </a:p>
        </p:txBody>
      </p:sp>
      <p:sp>
        <p:nvSpPr>
          <p:cNvPr id="10" name="Rectangle 9"/>
          <p:cNvSpPr/>
          <p:nvPr/>
        </p:nvSpPr>
        <p:spPr>
          <a:xfrm>
            <a:off x="777240" y="1353312"/>
            <a:ext cx="5956840" cy="464103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464103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DEFINITION, AS A TYPE</a:t>
            </a:r>
          </a:p>
        </p:txBody>
      </p:sp>
      <p:sp>
        <p:nvSpPr>
          <p:cNvPr id="13" name="TextBox 12"/>
          <p:cNvSpPr txBox="1"/>
          <p:nvPr/>
        </p:nvSpPr>
        <p:spPr>
          <a:xfrm>
            <a:off x="978408" y="1746504"/>
            <a:ext cx="5591080" cy="416554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@dataclass(frozen=True)</a:t>
            </a:r>
          </a:p>
          <a:p>
            <a:pPr>
              <a:lnSpc>
                <a:spcPct val="134000"/>
              </a:lnSpc>
              <a:spcBef>
                <a:spcPts val="0"/>
              </a:spcBef>
              <a:spcAft>
                <a:spcPts val="0"/>
              </a:spcAft>
            </a:pPr>
            <a:r>
              <a:rPr sz="950" b="0" i="0">
                <a:solidFill>
                  <a:srgbClr val="1C1C1E"/>
                </a:solidFill>
                <a:latin typeface="Consolas"/>
              </a:rPr>
              <a:t>class ParameterObject:</a:t>
            </a:r>
          </a:p>
          <a:p>
            <a:pPr>
              <a:lnSpc>
                <a:spcPct val="134000"/>
              </a:lnSpc>
              <a:spcBef>
                <a:spcPts val="0"/>
              </a:spcBef>
              <a:spcAft>
                <a:spcPts val="0"/>
              </a:spcAft>
            </a:pPr>
            <a:r>
              <a:rPr sz="950" b="0" i="0">
                <a:solidFill>
                  <a:srgbClr val="1C1C1E"/>
                </a:solidFill>
                <a:latin typeface="Consolas"/>
              </a:rPr>
              <a:t>    kind: ParameterKind          # none | calibration_set | learned_weights |</a:t>
            </a:r>
          </a:p>
          <a:p>
            <a:pPr>
              <a:lnSpc>
                <a:spcPct val="134000"/>
              </a:lnSpc>
              <a:spcBef>
                <a:spcPts val="0"/>
              </a:spcBef>
              <a:spcAft>
                <a:spcPts val="0"/>
              </a:spcAft>
            </a:pPr>
            <a:r>
              <a:rPr sz="950" b="0" i="0">
                <a:solidFill>
                  <a:srgbClr val="7A7F87"/>
                </a:solidFill>
                <a:latin typeface="Consolas"/>
              </a:rPr>
              <a:t>                                 # llm_configuration | rule_set | opaque | ...</a:t>
            </a:r>
          </a:p>
          <a:p>
            <a:pPr>
              <a:lnSpc>
                <a:spcPct val="134000"/>
              </a:lnSpc>
              <a:spcBef>
                <a:spcPts val="0"/>
              </a:spcBef>
              <a:spcAft>
                <a:spcPts val="0"/>
              </a:spcAft>
            </a:pPr>
            <a:r>
              <a:rPr sz="950" b="0" i="0">
                <a:solidFill>
                  <a:srgbClr val="1C1C1E"/>
                </a:solidFill>
                <a:latin typeface="Consolas"/>
              </a:rPr>
              <a:t>    artifact_digest: str | None</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@property</a:t>
            </a:r>
          </a:p>
          <a:p>
            <a:pPr>
              <a:lnSpc>
                <a:spcPct val="134000"/>
              </a:lnSpc>
              <a:spcBef>
                <a:spcPts val="0"/>
              </a:spcBef>
              <a:spcAft>
                <a:spcPts val="0"/>
              </a:spcAft>
            </a:pPr>
            <a:r>
              <a:rPr sz="950" b="0" i="0">
                <a:solidFill>
                  <a:srgbClr val="1C1C1E"/>
                </a:solidFill>
                <a:latin typeface="Consolas"/>
              </a:rPr>
              <a:t>    def is_terminal(self) -&gt; bool:      # P ≅ I  — the T0 case</a:t>
            </a:r>
          </a:p>
          <a:p>
            <a:pPr>
              <a:lnSpc>
                <a:spcPct val="134000"/>
              </a:lnSpc>
              <a:spcBef>
                <a:spcPts val="0"/>
              </a:spcBef>
              <a:spcAft>
                <a:spcPts val="0"/>
              </a:spcAft>
            </a:pPr>
            <a:r>
              <a:rPr sz="950" b="0" i="0">
                <a:solidFill>
                  <a:srgbClr val="1C1C1E"/>
                </a:solidFill>
                <a:latin typeface="Consolas"/>
              </a:rPr>
              <a:t>        return self.kind == "none"</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@property</a:t>
            </a:r>
          </a:p>
          <a:p>
            <a:pPr>
              <a:lnSpc>
                <a:spcPct val="134000"/>
              </a:lnSpc>
              <a:spcBef>
                <a:spcPts val="0"/>
              </a:spcBef>
              <a:spcAft>
                <a:spcPts val="0"/>
              </a:spcAft>
            </a:pPr>
            <a:r>
              <a:rPr sz="950" b="0" i="0">
                <a:solidFill>
                  <a:srgbClr val="1C1C1E"/>
                </a:solidFill>
                <a:latin typeface="Consolas"/>
              </a:rPr>
              <a:t>    def is_accessible(self) -&gt; bool:    # False for vendor black boxes</a:t>
            </a:r>
          </a:p>
          <a:p>
            <a:pPr>
              <a:lnSpc>
                <a:spcPct val="134000"/>
              </a:lnSpc>
              <a:spcBef>
                <a:spcPts val="0"/>
              </a:spcBef>
              <a:spcAft>
                <a:spcPts val="0"/>
              </a:spcAft>
            </a:pPr>
            <a:r>
              <a:rPr sz="950" b="0" i="0">
                <a:solidFill>
                  <a:srgbClr val="1C1C1E"/>
                </a:solidFill>
                <a:latin typeface="Consolas"/>
              </a:rPr>
              <a:t>        return self.kind != "opaque"</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@dataclass(frozen=True)</a:t>
            </a:r>
          </a:p>
          <a:p>
            <a:pPr>
              <a:lnSpc>
                <a:spcPct val="134000"/>
              </a:lnSpc>
              <a:spcBef>
                <a:spcPts val="0"/>
              </a:spcBef>
              <a:spcAft>
                <a:spcPts val="0"/>
              </a:spcAft>
            </a:pPr>
            <a:r>
              <a:rPr sz="950" b="0" i="0">
                <a:solidFill>
                  <a:srgbClr val="1C1C1E"/>
                </a:solidFill>
                <a:latin typeface="Consolas"/>
              </a:rPr>
              <a:t>class ParametricKernel:              # a model:  f : P ⊗ X → Y</a:t>
            </a:r>
          </a:p>
          <a:p>
            <a:pPr>
              <a:lnSpc>
                <a:spcPct val="134000"/>
              </a:lnSpc>
              <a:spcBef>
                <a:spcPts val="0"/>
              </a:spcBef>
              <a:spcAft>
                <a:spcPts val="0"/>
              </a:spcAft>
            </a:pPr>
            <a:r>
              <a:rPr sz="950" b="0" i="0">
                <a:solidFill>
                  <a:srgbClr val="1C1C1E"/>
                </a:solidFill>
                <a:latin typeface="Consolas"/>
              </a:rPr>
              <a:t>    parameters: ParameterObject</a:t>
            </a:r>
          </a:p>
          <a:p>
            <a:pPr>
              <a:lnSpc>
                <a:spcPct val="134000"/>
              </a:lnSpc>
              <a:spcBef>
                <a:spcPts val="0"/>
              </a:spcBef>
              <a:spcAft>
                <a:spcPts val="0"/>
              </a:spcAft>
            </a:pPr>
            <a:r>
              <a:rPr sz="950" b="0" i="0">
                <a:solidFill>
                  <a:srgbClr val="1C1C1E"/>
                </a:solidFill>
                <a:latin typeface="Consolas"/>
              </a:rPr>
              <a:t>    input:  ObjectSpec</a:t>
            </a:r>
          </a:p>
          <a:p>
            <a:pPr>
              <a:lnSpc>
                <a:spcPct val="134000"/>
              </a:lnSpc>
              <a:spcBef>
                <a:spcPts val="0"/>
              </a:spcBef>
              <a:spcAft>
                <a:spcPts val="0"/>
              </a:spcAft>
            </a:pPr>
            <a:r>
              <a:rPr sz="950" b="0" i="0">
                <a:solidFill>
                  <a:srgbClr val="1C1C1E"/>
                </a:solidFill>
                <a:latin typeface="Consolas"/>
              </a:rPr>
              <a:t>    output: ObjectSpec</a:t>
            </a:r>
          </a:p>
          <a:p>
            <a:pPr>
              <a:lnSpc>
                <a:spcPct val="134000"/>
              </a:lnSpc>
              <a:spcBef>
                <a:spcPts val="0"/>
              </a:spcBef>
              <a:spcAft>
                <a:spcPts val="0"/>
              </a:spcAft>
            </a:pPr>
            <a:r>
              <a:rPr sz="950" b="0" i="0">
                <a:solidFill>
                  <a:srgbClr val="1C1C1E"/>
                </a:solidFill>
                <a:latin typeface="Consolas"/>
              </a:rPr>
              <a:t>    deterministic: int               # 0/1 — law L-3; never BOOLEAN</a:t>
            </a:r>
          </a:p>
        </p:txBody>
      </p:sp>
      <p:sp>
        <p:nvSpPr>
          <p:cNvPr id="14" name="TextBox 13"/>
          <p:cNvSpPr txBox="1"/>
          <p:nvPr/>
        </p:nvSpPr>
        <p:spPr>
          <a:xfrm>
            <a:off x="7159569" y="1353312"/>
            <a:ext cx="4254886" cy="3291840"/>
          </a:xfrm>
          <a:prstGeom prst="rect">
            <a:avLst/>
          </a:prstGeom>
          <a:noFill/>
        </p:spPr>
        <p:txBody>
          <a:bodyPr wrap="square" lIns="0" rIns="0" tIns="0" bIns="0" anchor="t">
            <a:spAutoFit/>
          </a:bodyPr>
          <a:lstStyle/>
          <a:p>
            <a:pPr algn="l">
              <a:spcBef>
                <a:spcPts val="0"/>
              </a:spcBef>
              <a:spcAft>
                <a:spcPts val="900"/>
              </a:spcAft>
            </a:pPr>
            <a:r>
              <a:rPr sz="1300" b="1" i="0">
                <a:solidFill>
                  <a:srgbClr val="1C1C1E"/>
                </a:solidFill>
                <a:latin typeface="Georgia"/>
              </a:rPr>
              <a:t>Why it is shaped this way</a:t>
            </a:r>
          </a:p>
          <a:p>
            <a:pPr>
              <a:spcBef>
                <a:spcPts val="800"/>
              </a:spcBef>
              <a:spcAft>
                <a:spcPts val="300"/>
              </a:spcAft>
            </a:pPr>
            <a:r>
              <a:rPr sz="1150" b="1">
                <a:solidFill>
                  <a:srgbClr val="A51C30"/>
                </a:solidFill>
                <a:latin typeface="Calibri"/>
              </a:rPr>
              <a:t>▪  </a:t>
            </a:r>
            <a:r>
              <a:rPr sz="1150" b="1">
                <a:solidFill>
                  <a:srgbClr val="1C1C1E"/>
                </a:solidFill>
                <a:latin typeface="Calibri"/>
              </a:rPr>
              <a:t>Parameters are an object, not a blob</a:t>
            </a:r>
          </a:p>
          <a:p>
            <a:pPr lvl="1">
              <a:spcBef>
                <a:spcPts val="0"/>
              </a:spcBef>
              <a:spcAft>
                <a:spcPts val="0"/>
              </a:spcAft>
            </a:pPr>
            <a:r>
              <a:rPr sz="1000">
                <a:solidFill>
                  <a:srgbClr val="4A4F57"/>
                </a:solidFill>
                <a:latin typeface="Calibri"/>
              </a:rPr>
              <a:t>P is first-class, so “no parameters” and “inaccessible parameters” are expressible states rather than nulls</a:t>
            </a:r>
          </a:p>
          <a:p>
            <a:pPr>
              <a:spcBef>
                <a:spcPts val="800"/>
              </a:spcBef>
              <a:spcAft>
                <a:spcPts val="300"/>
              </a:spcAft>
            </a:pPr>
            <a:r>
              <a:rPr sz="1150" b="1">
                <a:solidFill>
                  <a:srgbClr val="A51C30"/>
                </a:solidFill>
                <a:latin typeface="Calibri"/>
              </a:rPr>
              <a:t>▪  </a:t>
            </a:r>
            <a:r>
              <a:rPr sz="1150" b="1">
                <a:solidFill>
                  <a:srgbClr val="1C1C1E"/>
                </a:solidFill>
                <a:latin typeface="Calibri"/>
              </a:rPr>
              <a:t>Determinism is stored and tested</a:t>
            </a:r>
          </a:p>
          <a:p>
            <a:pPr lvl="1">
              <a:spcBef>
                <a:spcPts val="0"/>
              </a:spcBef>
              <a:spcAft>
                <a:spcPts val="0"/>
              </a:spcAft>
            </a:pPr>
            <a:r>
              <a:rPr sz="1000">
                <a:solidFill>
                  <a:srgbClr val="4A4F57"/>
                </a:solidFill>
                <a:latin typeface="Calibri"/>
              </a:rPr>
              <a:t>f commutes with copy — which is exactly the reproducibility replay in §8.2</a:t>
            </a:r>
          </a:p>
          <a:p>
            <a:pPr>
              <a:spcBef>
                <a:spcPts val="800"/>
              </a:spcBef>
              <a:spcAft>
                <a:spcPts val="300"/>
              </a:spcAft>
            </a:pPr>
            <a:r>
              <a:rPr sz="1150" b="1">
                <a:solidFill>
                  <a:srgbClr val="A51C30"/>
                </a:solidFill>
                <a:latin typeface="Calibri"/>
              </a:rPr>
              <a:t>▪  </a:t>
            </a:r>
            <a:r>
              <a:rPr sz="1150" b="1">
                <a:solidFill>
                  <a:srgbClr val="1C1C1E"/>
                </a:solidFill>
                <a:latin typeface="Calibri"/>
              </a:rPr>
              <a:t>No framework, no I/O</a:t>
            </a:r>
          </a:p>
          <a:p>
            <a:pPr lvl="1">
              <a:spcBef>
                <a:spcPts val="0"/>
              </a:spcBef>
              <a:spcAft>
                <a:spcPts val="0"/>
              </a:spcAft>
            </a:pPr>
            <a:r>
              <a:rPr sz="1000">
                <a:solidFill>
                  <a:srgbClr val="4A4F57"/>
                </a:solidFill>
                <a:latin typeface="Calibri"/>
              </a:rPr>
              <a:t>Fully unit-testable; the laws run in milliseconds over generated inputs</a:t>
            </a:r>
          </a:p>
          <a:p>
            <a:pPr>
              <a:spcBef>
                <a:spcPts val="800"/>
              </a:spcBef>
              <a:spcAft>
                <a:spcPts val="300"/>
              </a:spcAft>
            </a:pPr>
            <a:r>
              <a:rPr sz="1150" b="1">
                <a:solidFill>
                  <a:srgbClr val="A51C30"/>
                </a:solidFill>
                <a:latin typeface="Calibri"/>
              </a:rPr>
              <a:t>▪  </a:t>
            </a:r>
            <a:r>
              <a:rPr sz="1150" b="1">
                <a:solidFill>
                  <a:srgbClr val="1C1C1E"/>
                </a:solidFill>
                <a:latin typeface="Calibri"/>
              </a:rPr>
              <a:t>Frozen dataclasses</a:t>
            </a:r>
          </a:p>
          <a:p>
            <a:pPr lvl="1">
              <a:spcBef>
                <a:spcPts val="0"/>
              </a:spcBef>
              <a:spcAft>
                <a:spcPts val="0"/>
              </a:spcAft>
            </a:pPr>
            <a:r>
              <a:rPr sz="1000">
                <a:solidFill>
                  <a:srgbClr val="4A4F57"/>
                </a:solidFill>
                <a:latin typeface="Calibri"/>
              </a:rPr>
              <a:t>Immutability at the type level mirrors immutability at the storage level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THE CLASSIFICATION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Trainability is derived, never declared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88</a:t>
            </a:r>
          </a:p>
        </p:txBody>
      </p:sp>
      <p:sp>
        <p:nvSpPr>
          <p:cNvPr id="10" name="Rectangle 9"/>
          <p:cNvSpPr/>
          <p:nvPr/>
        </p:nvSpPr>
        <p:spPr>
          <a:xfrm>
            <a:off x="777240" y="1353312"/>
            <a:ext cx="10637215" cy="1917816"/>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917816"/>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10271455"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core/domain/algebra.py</a:t>
            </a:r>
          </a:p>
        </p:txBody>
      </p:sp>
      <p:sp>
        <p:nvSpPr>
          <p:cNvPr id="13" name="TextBox 12"/>
          <p:cNvSpPr txBox="1"/>
          <p:nvPr/>
        </p:nvSpPr>
        <p:spPr>
          <a:xfrm>
            <a:off x="978408" y="1746504"/>
            <a:ext cx="10271455" cy="1442328"/>
          </a:xfrm>
          <a:prstGeom prst="rect">
            <a:avLst/>
          </a:prstGeom>
          <a:noFill/>
        </p:spPr>
        <p:txBody>
          <a:bodyPr wrap="square" lIns="0" rIns="0" tIns="0" bIns="0" anchor="t">
            <a:spAutoFit/>
          </a:bodyPr>
          <a:lstStyle/>
          <a:p>
            <a:pPr algn="l">
              <a:lnSpc>
                <a:spcPct val="134000"/>
              </a:lnSpc>
              <a:spcBef>
                <a:spcPts val="0"/>
              </a:spcBef>
              <a:spcAft>
                <a:spcPts val="0"/>
              </a:spcAft>
            </a:pPr>
            <a:r>
              <a:rPr sz="1050" b="0" i="0">
                <a:solidFill>
                  <a:srgbClr val="1C1C1E"/>
                </a:solidFill>
                <a:latin typeface="Consolas"/>
              </a:rPr>
              <a:t>def trainability_class(self, fit: FitProcedure, adaptive: bool) -&gt; str:</a:t>
            </a:r>
          </a:p>
          <a:p>
            <a:pPr>
              <a:lnSpc>
                <a:spcPct val="134000"/>
              </a:lnSpc>
              <a:spcBef>
                <a:spcPts val="0"/>
              </a:spcBef>
              <a:spcAft>
                <a:spcPts val="0"/>
              </a:spcAft>
            </a:pPr>
            <a:r>
              <a:rPr sz="1050" b="0" i="0">
                <a:solidFill>
                  <a:srgbClr val="1C1C1E"/>
                </a:solidFill>
                <a:latin typeface="Consolas"/>
              </a:rPr>
              <a:t>    if not self.parameters.is_accessible:   return "T6"    # vendor black box</a:t>
            </a:r>
          </a:p>
          <a:p>
            <a:pPr>
              <a:lnSpc>
                <a:spcPct val="134000"/>
              </a:lnSpc>
              <a:spcBef>
                <a:spcPts val="0"/>
              </a:spcBef>
              <a:spcAft>
                <a:spcPts val="0"/>
              </a:spcAft>
            </a:pPr>
            <a:r>
              <a:rPr sz="1050" b="0" i="0">
                <a:solidFill>
                  <a:srgbClr val="1C1C1E"/>
                </a:solidFill>
                <a:latin typeface="Consolas"/>
              </a:rPr>
              <a:t>    if self.parameters.is_terminal:         return "T0"    # analytic — P ≅ I</a:t>
            </a:r>
          </a:p>
          <a:p>
            <a:pPr>
              <a:lnSpc>
                <a:spcPct val="134000"/>
              </a:lnSpc>
              <a:spcBef>
                <a:spcPts val="0"/>
              </a:spcBef>
              <a:spcAft>
                <a:spcPts val="0"/>
              </a:spcAft>
            </a:pPr>
            <a:r>
              <a:rPr sz="1050" b="0" i="0">
                <a:solidFill>
                  <a:srgbClr val="1C1C1E"/>
                </a:solidFill>
                <a:latin typeface="Consolas"/>
              </a:rPr>
              <a:t>    return {"calibrate": "T1", "estimate": "T2",</a:t>
            </a:r>
          </a:p>
          <a:p>
            <a:pPr>
              <a:lnSpc>
                <a:spcPct val="134000"/>
              </a:lnSpc>
              <a:spcBef>
                <a:spcPts val="0"/>
              </a:spcBef>
              <a:spcAft>
                <a:spcPts val="0"/>
              </a:spcAft>
            </a:pPr>
            <a:r>
              <a:rPr sz="1050" b="0" i="0">
                <a:solidFill>
                  <a:srgbClr val="1C1C1E"/>
                </a:solidFill>
                <a:latin typeface="Consolas"/>
              </a:rPr>
              <a:t>            "train": "T4" if adaptive else "T3",</a:t>
            </a:r>
          </a:p>
          <a:p>
            <a:pPr>
              <a:lnSpc>
                <a:spcPct val="134000"/>
              </a:lnSpc>
              <a:spcBef>
                <a:spcPts val="0"/>
              </a:spcBef>
              <a:spcAft>
                <a:spcPts val="0"/>
              </a:spcAft>
            </a:pPr>
            <a:r>
              <a:rPr sz="1050" b="0" i="0">
                <a:solidFill>
                  <a:srgbClr val="1C1C1E"/>
                </a:solidFill>
                <a:latin typeface="Consolas"/>
              </a:rPr>
              <a:t>            "configure": "T5", "elicit": "T7", "author": "T8"}[fit]</a:t>
            </a:r>
          </a:p>
        </p:txBody>
      </p:sp>
      <p:sp>
        <p:nvSpPr>
          <p:cNvPr id="14" name="TextBox 13"/>
          <p:cNvSpPr txBox="1"/>
          <p:nvPr/>
        </p:nvSpPr>
        <p:spPr>
          <a:xfrm>
            <a:off x="777240" y="3545448"/>
            <a:ext cx="4999491" cy="2194560"/>
          </a:xfrm>
          <a:prstGeom prst="rect">
            <a:avLst/>
          </a:prstGeom>
          <a:noFill/>
        </p:spPr>
        <p:txBody>
          <a:bodyPr wrap="square" lIns="0" rIns="0" tIns="0" bIns="0" anchor="t">
            <a:spAutoFit/>
          </a:bodyPr>
          <a:lstStyle/>
          <a:p>
            <a:pPr algn="l">
              <a:spcBef>
                <a:spcPts val="0"/>
              </a:spcBef>
              <a:spcAft>
                <a:spcPts val="800"/>
              </a:spcAft>
            </a:pPr>
            <a:r>
              <a:rPr sz="1300" b="1" i="0">
                <a:solidFill>
                  <a:srgbClr val="1C1C1E"/>
                </a:solidFill>
                <a:latin typeface="Georgia"/>
              </a:rPr>
              <a:t>What this buys</a:t>
            </a:r>
          </a:p>
          <a:p>
            <a:pPr>
              <a:spcBef>
                <a:spcPts val="0"/>
              </a:spcBef>
              <a:spcAft>
                <a:spcPts val="700"/>
              </a:spcAft>
            </a:pPr>
            <a:r>
              <a:rPr sz="1150" b="1">
                <a:solidFill>
                  <a:srgbClr val="A51C30"/>
                </a:solidFill>
                <a:latin typeface="Calibri"/>
              </a:rPr>
              <a:t>▪  </a:t>
            </a:r>
            <a:r>
              <a:rPr sz="1150">
                <a:solidFill>
                  <a:srgbClr val="1C1C1E"/>
                </a:solidFill>
                <a:latin typeface="Calibri"/>
              </a:rPr>
              <a:t>The class is a function of the parameter object and the fitting procedure — never an enum a user picks</a:t>
            </a:r>
          </a:p>
          <a:p>
            <a:pPr>
              <a:spcBef>
                <a:spcPts val="0"/>
              </a:spcBef>
              <a:spcAft>
                <a:spcPts val="700"/>
              </a:spcAft>
            </a:pPr>
            <a:r>
              <a:rPr sz="1150" b="1">
                <a:solidFill>
                  <a:srgbClr val="A51C30"/>
                </a:solidFill>
                <a:latin typeface="Calibri"/>
              </a:rPr>
              <a:t>▪  </a:t>
            </a:r>
            <a:r>
              <a:rPr sz="1150">
                <a:solidFill>
                  <a:srgbClr val="1C1C1E"/>
                </a:solidFill>
                <a:latin typeface="Calibri"/>
              </a:rPr>
              <a:t>Mislabelled records become impossible, so the estate cannot quietly drift</a:t>
            </a:r>
          </a:p>
          <a:p>
            <a:pPr>
              <a:spcBef>
                <a:spcPts val="0"/>
              </a:spcBef>
              <a:spcAft>
                <a:spcPts val="700"/>
              </a:spcAft>
            </a:pPr>
            <a:r>
              <a:rPr sz="1150" b="1">
                <a:solidFill>
                  <a:srgbClr val="A51C30"/>
                </a:solidFill>
                <a:latin typeface="Calibri"/>
              </a:rPr>
              <a:t>▪  </a:t>
            </a:r>
            <a:r>
              <a:rPr sz="1150">
                <a:solidFill>
                  <a:srgbClr val="1C1C1E"/>
                </a:solidFill>
                <a:latin typeface="Calibri"/>
              </a:rPr>
              <a:t>T0 and T6 are the two extremal cases and both fall out, rather than being special-cased</a:t>
            </a:r>
          </a:p>
        </p:txBody>
      </p:sp>
      <p:sp>
        <p:nvSpPr>
          <p:cNvPr id="15" name="Rectangle 14"/>
          <p:cNvSpPr/>
          <p:nvPr/>
        </p:nvSpPr>
        <p:spPr>
          <a:xfrm>
            <a:off x="6414964" y="3545448"/>
            <a:ext cx="4999491"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414964" y="3545448"/>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652708" y="3673464"/>
            <a:ext cx="4542291" cy="1188720"/>
          </a:xfrm>
          <a:prstGeom prst="rect">
            <a:avLst/>
          </a:prstGeom>
          <a:noFill/>
        </p:spPr>
        <p:txBody>
          <a:bodyPr wrap="square" lIns="0" rIns="0" tIns="0" bIns="0" anchor="t">
            <a:spAutoFit/>
          </a:bodyPr>
          <a:lstStyle/>
          <a:p>
            <a:pPr algn="l">
              <a:lnSpc>
                <a:spcPct val="128000"/>
              </a:lnSpc>
              <a:spcBef>
                <a:spcPts val="0"/>
              </a:spcBef>
              <a:spcAft>
                <a:spcPts val="0"/>
              </a:spcAft>
            </a:pPr>
            <a:r>
              <a:rPr sz="1150" b="1" i="0">
                <a:solidFill>
                  <a:srgbClr val="A51C30"/>
                </a:solidFill>
                <a:latin typeface="Calibri"/>
              </a:rPr>
              <a:t>The consequence that matters. </a:t>
            </a:r>
            <a:r>
              <a:rPr sz="1150" b="0" i="0">
                <a:solidFill>
                  <a:srgbClr val="1C1C1E"/>
                </a:solidFill>
                <a:latin typeface="Calibri"/>
              </a:rPr>
              <a:t>Asking a closed-form pricer for its training set is a type error, and the system can say so precisely. Every mandatory-field workaround that fills an inventory with meaningless records disappears at this line.</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REASONING ABOUT BLACK BOXES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Contract algebra</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89</a:t>
            </a:r>
          </a:p>
        </p:txBody>
      </p:sp>
      <p:sp>
        <p:nvSpPr>
          <p:cNvPr id="10" name="Rectangle 9"/>
          <p:cNvSpPr/>
          <p:nvPr/>
        </p:nvSpPr>
        <p:spPr>
          <a:xfrm>
            <a:off x="777240" y="1353312"/>
            <a:ext cx="5850468" cy="24002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4002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484708"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DECIDABLE SUBSTITUTABILITY</a:t>
            </a:r>
          </a:p>
        </p:txBody>
      </p:sp>
      <p:sp>
        <p:nvSpPr>
          <p:cNvPr id="13" name="TextBox 12"/>
          <p:cNvSpPr txBox="1"/>
          <p:nvPr/>
        </p:nvSpPr>
        <p:spPr>
          <a:xfrm>
            <a:off x="978408" y="1746504"/>
            <a:ext cx="5484708" cy="1924789"/>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refines(self, other: Contract) -&gt; RefinementResult:</a:t>
            </a:r>
          </a:p>
          <a:p>
            <a:pPr>
              <a:lnSpc>
                <a:spcPct val="134000"/>
              </a:lnSpc>
              <a:spcBef>
                <a:spcPts val="0"/>
              </a:spcBef>
              <a:spcAft>
                <a:spcPts val="0"/>
              </a:spcAft>
            </a:pPr>
            <a:r>
              <a:rPr sz="950" b="0" i="0">
                <a:solidFill>
                  <a:srgbClr val="1C1C1E"/>
                </a:solidFill>
                <a:latin typeface="Consolas"/>
              </a:rPr>
              <a:t>    """C' ⪯ C  iff  A ⊆ A'  and  (A ∧ G') ⊆ G."""</a:t>
            </a:r>
          </a:p>
          <a:p>
            <a:pPr>
              <a:lnSpc>
                <a:spcPct val="134000"/>
              </a:lnSpc>
              <a:spcBef>
                <a:spcPts val="0"/>
              </a:spcBef>
              <a:spcAft>
                <a:spcPts val="0"/>
              </a:spcAft>
            </a:pPr>
            <a:r>
              <a:rPr sz="950" b="0" i="0">
                <a:solidFill>
                  <a:srgbClr val="1C1C1E"/>
                </a:solidFill>
                <a:latin typeface="Consolas"/>
              </a:rPr>
              <a:t>    weaker_assumption  = other.assumptions.implies(self.assumptions)</a:t>
            </a:r>
          </a:p>
          <a:p>
            <a:pPr>
              <a:lnSpc>
                <a:spcPct val="134000"/>
              </a:lnSpc>
              <a:spcBef>
                <a:spcPts val="0"/>
              </a:spcBef>
              <a:spcAft>
                <a:spcPts val="0"/>
              </a:spcAft>
            </a:pPr>
            <a:r>
              <a:rPr sz="950" b="0" i="0">
                <a:solidFill>
                  <a:srgbClr val="1C1C1E"/>
                </a:solidFill>
                <a:latin typeface="Consolas"/>
              </a:rPr>
              <a:t>    stronger_guarantee = (other.assumptions &amp; self.guarantees) \</a:t>
            </a:r>
          </a:p>
          <a:p>
            <a:pPr>
              <a:lnSpc>
                <a:spcPct val="134000"/>
              </a:lnSpc>
              <a:spcBef>
                <a:spcPts val="0"/>
              </a:spcBef>
              <a:spcAft>
                <a:spcPts val="0"/>
              </a:spcAft>
            </a:pPr>
            <a:r>
              <a:rPr sz="950" b="0" i="0">
                <a:solidFill>
                  <a:srgbClr val="1C1C1E"/>
                </a:solidFill>
                <a:latin typeface="Consolas"/>
              </a:rPr>
              <a:t>                            .implies(other.guarantees)</a:t>
            </a:r>
          </a:p>
          <a:p>
            <a:pPr>
              <a:lnSpc>
                <a:spcPct val="134000"/>
              </a:lnSpc>
              <a:spcBef>
                <a:spcPts val="0"/>
              </a:spcBef>
              <a:spcAft>
                <a:spcPts val="0"/>
              </a:spcAft>
            </a:pPr>
            <a:r>
              <a:rPr sz="950" b="0" i="0">
                <a:solidFill>
                  <a:srgbClr val="1C1C1E"/>
                </a:solidFill>
                <a:latin typeface="Consolas"/>
              </a:rPr>
              <a:t>    return RefinementResult(</a:t>
            </a:r>
          </a:p>
          <a:p>
            <a:pPr>
              <a:lnSpc>
                <a:spcPct val="134000"/>
              </a:lnSpc>
              <a:spcBef>
                <a:spcPts val="0"/>
              </a:spcBef>
              <a:spcAft>
                <a:spcPts val="0"/>
              </a:spcAft>
            </a:pPr>
            <a:r>
              <a:rPr sz="950" b="0" i="0">
                <a:solidFill>
                  <a:srgbClr val="1C1C1E"/>
                </a:solidFill>
                <a:latin typeface="Consolas"/>
              </a:rPr>
              <a:t>        holds = weaker_assumption and stronger_guarantee,</a:t>
            </a:r>
          </a:p>
          <a:p>
            <a:pPr>
              <a:lnSpc>
                <a:spcPct val="134000"/>
              </a:lnSpc>
              <a:spcBef>
                <a:spcPts val="0"/>
              </a:spcBef>
              <a:spcAft>
                <a:spcPts val="0"/>
              </a:spcAft>
            </a:pPr>
            <a:r>
              <a:rPr sz="950" b="0" i="0">
                <a:solidFill>
                  <a:srgbClr val="1C1C1E"/>
                </a:solidFill>
                <a:latin typeface="Consolas"/>
              </a:rPr>
              <a:t>        failing_clauses = [...],   # DR-7: always name what failed</a:t>
            </a:r>
          </a:p>
          <a:p>
            <a:pPr>
              <a:lnSpc>
                <a:spcPct val="134000"/>
              </a:lnSpc>
              <a:spcBef>
                <a:spcPts val="0"/>
              </a:spcBef>
              <a:spcAft>
                <a:spcPts val="0"/>
              </a:spcAft>
            </a:pPr>
            <a:r>
              <a:rPr sz="950" b="0" i="0">
                <a:solidFill>
                  <a:srgbClr val="1C1C1E"/>
                </a:solidFill>
                <a:latin typeface="Consolas"/>
              </a:rPr>
              <a:t>    )</a:t>
            </a:r>
          </a:p>
        </p:txBody>
      </p:sp>
      <p:sp>
        <p:nvSpPr>
          <p:cNvPr id="14" name="TextBox 13"/>
          <p:cNvSpPr txBox="1"/>
          <p:nvPr/>
        </p:nvSpPr>
        <p:spPr>
          <a:xfrm>
            <a:off x="7053196" y="1353312"/>
            <a:ext cx="4361258" cy="1645920"/>
          </a:xfrm>
          <a:prstGeom prst="rect">
            <a:avLst/>
          </a:prstGeom>
          <a:noFill/>
        </p:spPr>
        <p:txBody>
          <a:bodyPr wrap="square" lIns="0" rIns="0" tIns="0" bIns="0" anchor="t">
            <a:spAutoFit/>
          </a:bodyPr>
          <a:lstStyle/>
          <a:p>
            <a:pPr algn="l">
              <a:spcBef>
                <a:spcPts val="0"/>
              </a:spcBef>
              <a:spcAft>
                <a:spcPts val="700"/>
              </a:spcAft>
            </a:pPr>
            <a:r>
              <a:rPr sz="1250" b="1" i="0">
                <a:solidFill>
                  <a:srgbClr val="1C1C1E"/>
                </a:solidFill>
                <a:latin typeface="Georgia"/>
              </a:rPr>
              <a:t>A deliberately restricted predicate language</a:t>
            </a:r>
          </a:p>
          <a:p>
            <a:pPr>
              <a:lnSpc>
                <a:spcPct val="125000"/>
              </a:lnSpc>
              <a:spcBef>
                <a:spcPts val="0"/>
              </a:spcBef>
              <a:spcAft>
                <a:spcPts val="700"/>
              </a:spcAft>
            </a:pPr>
            <a:r>
              <a:rPr sz="1100" b="0" i="0">
                <a:solidFill>
                  <a:srgbClr val="4A4F57"/>
                </a:solidFill>
                <a:latin typeface="Calibri"/>
              </a:rPr>
              <a:t>Conjunctions of interval constraints, set membership, metric comparisons and freshness bounds — chosen so refinement stays decidable.</a:t>
            </a:r>
          </a:p>
          <a:p>
            <a:pPr>
              <a:lnSpc>
                <a:spcPct val="125000"/>
              </a:lnSpc>
              <a:spcBef>
                <a:spcPts val="0"/>
              </a:spcBef>
              <a:spcAft>
                <a:spcPts val="600"/>
              </a:spcAft>
            </a:pPr>
            <a:r>
              <a:rPr sz="1100" b="0" i="0">
                <a:solidFill>
                  <a:srgbClr val="4A4F57"/>
                </a:solidFill>
                <a:latin typeface="Calibri"/>
              </a:rPr>
              <a:t>Richer assumptions are recorded as </a:t>
            </a:r>
            <a:r>
              <a:rPr sz="1100" b="1" i="1">
                <a:solidFill>
                  <a:srgbClr val="1C1C1E"/>
                </a:solidFill>
                <a:latin typeface="Calibri"/>
              </a:rPr>
              <a:t>narrative</a:t>
            </a:r>
            <a:r>
              <a:rPr sz="1100" b="0" i="0">
                <a:solidFill>
                  <a:srgbClr val="4A4F57"/>
                </a:solidFill>
                <a:latin typeface="Calibri"/>
              </a:rPr>
              <a:t> and explicitly excluded from automated refinement — so nobody believes a check happened that did not.</a:t>
            </a:r>
          </a:p>
        </p:txBody>
      </p:sp>
      <p:sp>
        <p:nvSpPr>
          <p:cNvPr id="15" name="TextBox 14"/>
          <p:cNvSpPr txBox="1"/>
          <p:nvPr/>
        </p:nvSpPr>
        <p:spPr>
          <a:xfrm>
            <a:off x="777240" y="4046197"/>
            <a:ext cx="10637215" cy="365760"/>
          </a:xfrm>
          <a:prstGeom prst="rect">
            <a:avLst/>
          </a:prstGeom>
          <a:noFill/>
        </p:spPr>
        <p:txBody>
          <a:bodyPr wrap="square" lIns="0" rIns="0" tIns="0" bIns="0" anchor="t">
            <a:spAutoFit/>
          </a:bodyPr>
          <a:lstStyle/>
          <a:p>
            <a:pPr algn="l">
              <a:spcBef>
                <a:spcPts val="0"/>
              </a:spcBef>
              <a:spcAft>
                <a:spcPts val="0"/>
              </a:spcAft>
            </a:pPr>
            <a:r>
              <a:rPr sz="1300" b="1" i="0">
                <a:solidFill>
                  <a:srgbClr val="1C1C1E"/>
                </a:solidFill>
                <a:latin typeface="Georgia"/>
              </a:rPr>
              <a:t>Where the four operations are used</a:t>
            </a:r>
          </a:p>
        </p:txBody>
      </p:sp>
      <p:graphicFrame>
        <p:nvGraphicFramePr>
          <p:cNvPr id="16" name="Table 15"/>
          <p:cNvGraphicFramePr>
            <a:graphicFrameLocks noGrp="1"/>
          </p:cNvGraphicFramePr>
          <p:nvPr/>
        </p:nvGraphicFramePr>
        <p:xfrm>
          <a:off x="777240" y="4411957"/>
          <a:ext cx="10637214" cy="1813773"/>
        </p:xfrm>
        <a:graphic>
          <a:graphicData uri="http://schemas.openxmlformats.org/drawingml/2006/table">
            <a:tbl>
              <a:tblPr firstRow="1">
                <a:tableStyleId>{5C22544A-7EE6-4342-B048-85BDC9FD1C3A}</a:tableStyleId>
              </a:tblPr>
              <a:tblGrid>
                <a:gridCol w="1834002"/>
                <a:gridCol w="4218206"/>
                <a:gridCol w="4585006"/>
              </a:tblGrid>
              <a:tr h="333781">
                <a:tc>
                  <a:txBody>
                    <a:bodyPr wrap="square"/>
                    <a:lstStyle/>
                    <a:p>
                      <a:pPr algn="l"/>
                      <a:r>
                        <a:rPr sz="1100" b="1">
                          <a:solidFill>
                            <a:srgbClr val="FFFFFF"/>
                          </a:solidFill>
                          <a:latin typeface="Calibri"/>
                        </a:rPr>
                        <a:t>Operation</a:t>
                      </a:r>
                    </a:p>
                  </a:txBody>
                  <a:tcPr marL="82296" marR="64008" marT="32004" marB="32004" anchor="ctr">
                    <a:solidFill>
                      <a:srgbClr val="A51C30"/>
                    </a:solidFill>
                  </a:tcPr>
                </a:tc>
                <a:tc>
                  <a:txBody>
                    <a:bodyPr wrap="square"/>
                    <a:lstStyle/>
                    <a:p>
                      <a:pPr algn="l"/>
                      <a:r>
                        <a:rPr sz="1100" b="1">
                          <a:solidFill>
                            <a:srgbClr val="FFFFFF"/>
                          </a:solidFill>
                          <a:latin typeface="Calibri"/>
                        </a:rPr>
                        <a:t>Question it answers</a:t>
                      </a:r>
                    </a:p>
                  </a:txBody>
                  <a:tcPr marL="82296" marR="64008" marT="32004" marB="32004" anchor="ctr">
                    <a:solidFill>
                      <a:srgbClr val="A51C30"/>
                    </a:solidFill>
                  </a:tcPr>
                </a:tc>
                <a:tc>
                  <a:txBody>
                    <a:bodyPr wrap="square"/>
                    <a:lstStyle/>
                    <a:p>
                      <a:pPr algn="l"/>
                      <a:r>
                        <a:rPr sz="1100" b="1">
                          <a:solidFill>
                            <a:srgbClr val="FFFFFF"/>
                          </a:solidFill>
                          <a:latin typeface="Calibri"/>
                        </a:rPr>
                        <a:t>Used at</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Refinement  ⪯</a:t>
                      </a:r>
                    </a:p>
                  </a:txBody>
                  <a:tcPr marL="82296" marR="64008" marT="32004" marB="32004" anchor="ctr">
                    <a:solidFill>
                      <a:srgbClr val="FFFFFF"/>
                    </a:solidFill>
                  </a:tcPr>
                </a:tc>
                <a:tc>
                  <a:txBody>
                    <a:bodyPr wrap="square"/>
                    <a:lstStyle/>
                    <a:p>
                      <a:pPr algn="l"/>
                      <a:r>
                        <a:rPr sz="1050" b="0">
                          <a:solidFill>
                            <a:srgbClr val="1C1C1E"/>
                          </a:solidFill>
                          <a:latin typeface="Calibri"/>
                        </a:rPr>
                        <a:t>May version B replace version A?</a:t>
                      </a:r>
                    </a:p>
                  </a:txBody>
                  <a:tcPr marL="82296" marR="64008" marT="32004" marB="32004" anchor="ctr">
                    <a:solidFill>
                      <a:srgbClr val="FFFFFF"/>
                    </a:solidFill>
                  </a:tcPr>
                </a:tc>
                <a:tc>
                  <a:txBody>
                    <a:bodyPr wrap="square"/>
                    <a:lstStyle/>
                    <a:p>
                      <a:pPr algn="l"/>
                      <a:r>
                        <a:rPr sz="1050" b="0">
                          <a:solidFill>
                            <a:srgbClr val="1C1C1E"/>
                          </a:solidFill>
                          <a:latin typeface="Calibri"/>
                        </a:rPr>
                        <a:t>Every alias move — a proof obligation, not a meeting</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Composition  ⊗</a:t>
                      </a:r>
                    </a:p>
                  </a:txBody>
                  <a:tcPr marL="82296" marR="64008" marT="32004" marB="32004" anchor="ctr">
                    <a:solidFill>
                      <a:srgbClr val="F6F3EF"/>
                    </a:solidFill>
                  </a:tcPr>
                </a:tc>
                <a:tc>
                  <a:txBody>
                    <a:bodyPr wrap="square"/>
                    <a:lstStyle/>
                    <a:p>
                      <a:pPr algn="l"/>
                      <a:r>
                        <a:rPr sz="1050" b="0">
                          <a:solidFill>
                            <a:srgbClr val="1C1C1E"/>
                          </a:solidFill>
                          <a:latin typeface="Calibri"/>
                        </a:rPr>
                        <a:t>What does this model chain promise end to end?</a:t>
                      </a:r>
                    </a:p>
                  </a:txBody>
                  <a:tcPr marL="82296" marR="64008" marT="32004" marB="32004" anchor="ctr">
                    <a:solidFill>
                      <a:srgbClr val="F6F3EF"/>
                    </a:solidFill>
                  </a:tcPr>
                </a:tc>
                <a:tc>
                  <a:txBody>
                    <a:bodyPr wrap="square"/>
                    <a:lstStyle/>
                    <a:p>
                      <a:pPr algn="l"/>
                      <a:r>
                        <a:rPr sz="1050" b="0">
                          <a:solidFill>
                            <a:srgbClr val="1C1C1E"/>
                          </a:solidFill>
                          <a:latin typeface="Calibri"/>
                        </a:rPr>
                        <a:t>Composite warrants</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Conjunction  ∧</a:t>
                      </a:r>
                    </a:p>
                  </a:txBody>
                  <a:tcPr marL="82296" marR="64008" marT="32004" marB="32004" anchor="ctr">
                    <a:solidFill>
                      <a:srgbClr val="FFFFFF"/>
                    </a:solidFill>
                  </a:tcPr>
                </a:tc>
                <a:tc>
                  <a:txBody>
                    <a:bodyPr wrap="square"/>
                    <a:lstStyle/>
                    <a:p>
                      <a:pPr algn="l"/>
                      <a:r>
                        <a:rPr sz="1050" b="0">
                          <a:solidFill>
                            <a:srgbClr val="1C1C1E"/>
                          </a:solidFill>
                          <a:latin typeface="Calibri"/>
                        </a:rPr>
                        <a:t>Satisfy performance and fairness and latency together</a:t>
                      </a:r>
                    </a:p>
                  </a:txBody>
                  <a:tcPr marL="82296" marR="64008" marT="32004" marB="32004" anchor="ctr">
                    <a:solidFill>
                      <a:srgbClr val="FFFFFF"/>
                    </a:solidFill>
                  </a:tcPr>
                </a:tc>
                <a:tc>
                  <a:txBody>
                    <a:bodyPr wrap="square"/>
                    <a:lstStyle/>
                    <a:p>
                      <a:pPr algn="l"/>
                      <a:r>
                        <a:rPr sz="1050" b="0">
                          <a:solidFill>
                            <a:srgbClr val="1C1C1E"/>
                          </a:solidFill>
                          <a:latin typeface="Calibri"/>
                        </a:rPr>
                        <a:t>Merging viewpoints on one model</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Quotient  /</a:t>
                      </a:r>
                    </a:p>
                  </a:txBody>
                  <a:tcPr marL="82296" marR="64008" marT="32004" marB="32004" anchor="ctr">
                    <a:solidFill>
                      <a:srgbClr val="F6F3EF"/>
                    </a:solidFill>
                  </a:tcPr>
                </a:tc>
                <a:tc>
                  <a:txBody>
                    <a:bodyPr wrap="square"/>
                    <a:lstStyle/>
                    <a:p>
                      <a:pPr algn="l"/>
                      <a:r>
                        <a:rPr sz="1050" b="0">
                          <a:solidFill>
                            <a:srgbClr val="1C1C1E"/>
                          </a:solidFill>
                          <a:latin typeface="Calibri"/>
                        </a:rPr>
                        <a:t>Given the target and what we have, what must the missing piece guarantee?</a:t>
                      </a:r>
                    </a:p>
                  </a:txBody>
                  <a:tcPr marL="82296" marR="64008" marT="32004" marB="32004" anchor="ctr">
                    <a:solidFill>
                      <a:srgbClr val="F6F3EF"/>
                    </a:solidFill>
                  </a:tcPr>
                </a:tc>
                <a:tc>
                  <a:txBody>
                    <a:bodyPr wrap="square"/>
                    <a:lstStyle/>
                    <a:p>
                      <a:pPr algn="l"/>
                      <a:r>
                        <a:rPr sz="1050" b="0">
                          <a:solidFill>
                            <a:srgbClr val="1C1C1E"/>
                          </a:solidFill>
                          <a:latin typeface="Calibri"/>
                        </a:rPr>
                        <a:t>Turns a validation gap into a specification</a:t>
                      </a:r>
                    </a:p>
                  </a:txBody>
                  <a:tcPr marL="82296" marR="64008" marT="32004" marB="32004" anchor="ctr">
                    <a:solidFill>
                      <a:srgbClr val="F6F3E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EXTENSIBILITY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fibre registry, and why it fails at startup</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90</a:t>
            </a:r>
          </a:p>
        </p:txBody>
      </p:sp>
      <p:sp>
        <p:nvSpPr>
          <p:cNvPr id="10" name="Rectangle 9"/>
          <p:cNvSpPr/>
          <p:nvPr/>
        </p:nvSpPr>
        <p:spPr>
          <a:xfrm>
            <a:off x="777240" y="1353312"/>
            <a:ext cx="6169584" cy="3418804"/>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41880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80382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STARTUP TOTALITY CHECK</a:t>
            </a:r>
          </a:p>
        </p:txBody>
      </p:sp>
      <p:sp>
        <p:nvSpPr>
          <p:cNvPr id="13" name="TextBox 12"/>
          <p:cNvSpPr txBox="1"/>
          <p:nvPr/>
        </p:nvSpPr>
        <p:spPr>
          <a:xfrm>
            <a:off x="978408" y="1746504"/>
            <a:ext cx="5803824" cy="2943316"/>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class FibreRegistry:</a:t>
            </a:r>
          </a:p>
          <a:p>
            <a:pPr>
              <a:lnSpc>
                <a:spcPct val="134000"/>
              </a:lnSpc>
              <a:spcBef>
                <a:spcPts val="0"/>
              </a:spcBef>
              <a:spcAft>
                <a:spcPts val="0"/>
              </a:spcAft>
            </a:pPr>
            <a:r>
              <a:rPr sz="950" b="0" i="0">
                <a:solidFill>
                  <a:srgbClr val="1C1C1E"/>
                </a:solidFill>
                <a:latin typeface="Consolas"/>
              </a:rPr>
              <a:t>    def __init__(self, plugins: PluginLoader):</a:t>
            </a:r>
          </a:p>
          <a:p>
            <a:pPr>
              <a:lnSpc>
                <a:spcPct val="134000"/>
              </a:lnSpc>
              <a:spcBef>
                <a:spcPts val="0"/>
              </a:spcBef>
              <a:spcAft>
                <a:spcPts val="0"/>
              </a:spcAft>
            </a:pPr>
            <a:r>
              <a:rPr sz="950" b="0" i="0">
                <a:solidFill>
                  <a:srgbClr val="1C1C1E"/>
                </a:solidFill>
                <a:latin typeface="Consolas"/>
              </a:rPr>
              <a:t>        for ep in plugins.entry_points("maya.model_class"):</a:t>
            </a:r>
          </a:p>
          <a:p>
            <a:pPr>
              <a:lnSpc>
                <a:spcPct val="134000"/>
              </a:lnSpc>
              <a:spcBef>
                <a:spcPts val="0"/>
              </a:spcBef>
              <a:spcAft>
                <a:spcPts val="0"/>
              </a:spcAft>
            </a:pPr>
            <a:r>
              <a:rPr sz="950" b="0" i="0">
                <a:solidFill>
                  <a:srgbClr val="1C1C1E"/>
                </a:solidFill>
                <a:latin typeface="Consolas"/>
              </a:rPr>
              <a:t>            f = ep.load()()</a:t>
            </a:r>
          </a:p>
          <a:p>
            <a:pPr>
              <a:lnSpc>
                <a:spcPct val="134000"/>
              </a:lnSpc>
              <a:spcBef>
                <a:spcPts val="0"/>
              </a:spcBef>
              <a:spcAft>
                <a:spcPts val="0"/>
              </a:spcAft>
            </a:pPr>
            <a:r>
              <a:rPr sz="950" b="0" i="0">
                <a:solidFill>
                  <a:srgbClr val="1C1C1E"/>
                </a:solidFill>
                <a:latin typeface="Consolas"/>
              </a:rPr>
              <a:t>            self._validate_total(f)      # law L-15</a:t>
            </a:r>
          </a:p>
          <a:p>
            <a:pPr>
              <a:lnSpc>
                <a:spcPct val="134000"/>
              </a:lnSpc>
              <a:spcBef>
                <a:spcPts val="0"/>
              </a:spcBef>
              <a:spcAft>
                <a:spcPts val="0"/>
              </a:spcAft>
            </a:pPr>
            <a:r>
              <a:rPr sz="950" b="0" i="0">
                <a:solidFill>
                  <a:srgbClr val="1C1C1E"/>
                </a:solidFill>
                <a:latin typeface="Consolas"/>
              </a:rPr>
              <a:t>            self._fibres[f.key] = f</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def _validate_total(self, f) -&gt; None:</a:t>
            </a:r>
          </a:p>
          <a:p>
            <a:pPr>
              <a:lnSpc>
                <a:spcPct val="134000"/>
              </a:lnSpc>
              <a:spcBef>
                <a:spcPts val="0"/>
              </a:spcBef>
              <a:spcAft>
                <a:spcPts val="0"/>
              </a:spcAft>
            </a:pPr>
            <a:r>
              <a:rPr sz="950" b="0" i="0">
                <a:solidFill>
                  <a:srgbClr val="1C1C1E"/>
                </a:solidFill>
                <a:latin typeface="Consolas"/>
              </a:rPr>
              <a:t>        missing = [n for n in ("evidence_schema", "lifecycle",</a:t>
            </a:r>
          </a:p>
          <a:p>
            <a:pPr>
              <a:lnSpc>
                <a:spcPct val="134000"/>
              </a:lnSpc>
              <a:spcBef>
                <a:spcPts val="0"/>
              </a:spcBef>
              <a:spcAft>
                <a:spcPts val="0"/>
              </a:spcAft>
            </a:pPr>
            <a:r>
              <a:rPr sz="950" b="0" i="0">
                <a:solidFill>
                  <a:srgbClr val="1C1C1E"/>
                </a:solidFill>
                <a:latin typeface="Consolas"/>
              </a:rPr>
              <a:t>                   "default_monitors", "document_templates",</a:t>
            </a:r>
          </a:p>
          <a:p>
            <a:pPr>
              <a:lnSpc>
                <a:spcPct val="134000"/>
              </a:lnSpc>
              <a:spcBef>
                <a:spcPts val="0"/>
              </a:spcBef>
              <a:spcAft>
                <a:spcPts val="0"/>
              </a:spcAft>
            </a:pPr>
            <a:r>
              <a:rPr sz="950" b="0" i="0">
                <a:solidFill>
                  <a:srgbClr val="1C1C1E"/>
                </a:solidFill>
                <a:latin typeface="Consolas"/>
              </a:rPr>
              <a:t>                   "tiering_hints", "contract_template")</a:t>
            </a:r>
          </a:p>
          <a:p>
            <a:pPr>
              <a:lnSpc>
                <a:spcPct val="134000"/>
              </a:lnSpc>
              <a:spcBef>
                <a:spcPts val="0"/>
              </a:spcBef>
              <a:spcAft>
                <a:spcPts val="0"/>
              </a:spcAft>
            </a:pPr>
            <a:r>
              <a:rPr sz="950" b="0" i="0">
                <a:solidFill>
                  <a:srgbClr val="1C1C1E"/>
                </a:solidFill>
                <a:latin typeface="Consolas"/>
              </a:rPr>
              <a:t>                   if not getattr(f, n)()]</a:t>
            </a:r>
          </a:p>
          <a:p>
            <a:pPr>
              <a:lnSpc>
                <a:spcPct val="134000"/>
              </a:lnSpc>
              <a:spcBef>
                <a:spcPts val="0"/>
              </a:spcBef>
              <a:spcAft>
                <a:spcPts val="0"/>
              </a:spcAft>
            </a:pPr>
            <a:r>
              <a:rPr sz="950" b="0" i="0">
                <a:solidFill>
                  <a:srgbClr val="1C1C1E"/>
                </a:solidFill>
                <a:latin typeface="Consolas"/>
              </a:rPr>
              <a:t>        if missing:</a:t>
            </a:r>
          </a:p>
          <a:p>
            <a:pPr>
              <a:lnSpc>
                <a:spcPct val="134000"/>
              </a:lnSpc>
              <a:spcBef>
                <a:spcPts val="0"/>
              </a:spcBef>
              <a:spcAft>
                <a:spcPts val="0"/>
              </a:spcAft>
            </a:pPr>
            <a:r>
              <a:rPr sz="950" b="0" i="0">
                <a:solidFill>
                  <a:srgbClr val="1C1C1E"/>
                </a:solidFill>
                <a:latin typeface="Consolas"/>
              </a:rPr>
              <a:t>            raise FibreIncomplete(f.key, missing)  # refuse to boot</a:t>
            </a:r>
          </a:p>
        </p:txBody>
      </p:sp>
      <p:sp>
        <p:nvSpPr>
          <p:cNvPr id="14" name="TextBox 13"/>
          <p:cNvSpPr txBox="1"/>
          <p:nvPr/>
        </p:nvSpPr>
        <p:spPr>
          <a:xfrm>
            <a:off x="7372313" y="1353312"/>
            <a:ext cx="4042141" cy="3108960"/>
          </a:xfrm>
          <a:prstGeom prst="rect">
            <a:avLst/>
          </a:prstGeom>
          <a:noFill/>
        </p:spPr>
        <p:txBody>
          <a:bodyPr wrap="square" lIns="0" rIns="0" tIns="0" bIns="0" anchor="t">
            <a:spAutoFit/>
          </a:bodyPr>
          <a:lstStyle/>
          <a:p>
            <a:pPr algn="l">
              <a:spcBef>
                <a:spcPts val="0"/>
              </a:spcBef>
              <a:spcAft>
                <a:spcPts val="700"/>
              </a:spcAft>
            </a:pPr>
            <a:r>
              <a:rPr sz="1250" b="1" i="0">
                <a:solidFill>
                  <a:srgbClr val="1C1C1E"/>
                </a:solidFill>
                <a:latin typeface="Georgia"/>
              </a:rPr>
              <a:t>Nine extension points</a:t>
            </a:r>
          </a:p>
          <a:p>
            <a:pPr>
              <a:lnSpc>
                <a:spcPct val="130000"/>
              </a:lnSpc>
              <a:spcBef>
                <a:spcPts val="0"/>
              </a:spcBef>
              <a:spcAft>
                <a:spcPts val="1200"/>
              </a:spcAft>
            </a:pPr>
            <a:r>
              <a:rPr sz="1100" b="0" i="0">
                <a:solidFill>
                  <a:srgbClr val="4A4F57"/>
                </a:solidFill>
                <a:latin typeface="Calibri"/>
              </a:rPr>
              <a:t>model class · regime · semiring · artifact format · validation test · metric · document template · warrant flavour · connector</a:t>
            </a:r>
          </a:p>
          <a:p>
            <a:pPr>
              <a:spcBef>
                <a:spcPts val="0"/>
              </a:spcBef>
              <a:spcAft>
                <a:spcPts val="700"/>
              </a:spcAft>
            </a:pPr>
            <a:r>
              <a:rPr sz="1250" b="1" i="0">
                <a:solidFill>
                  <a:srgbClr val="1C1C1E"/>
                </a:solidFill>
                <a:latin typeface="Georgia"/>
              </a:rPr>
              <a:t>Why refuse to boot?</a:t>
            </a:r>
          </a:p>
          <a:p>
            <a:pPr>
              <a:lnSpc>
                <a:spcPct val="130000"/>
              </a:lnSpc>
              <a:spcBef>
                <a:spcPts val="0"/>
              </a:spcBef>
              <a:spcAft>
                <a:spcPts val="1200"/>
              </a:spcAft>
            </a:pPr>
            <a:r>
              <a:rPr sz="1100" b="0" i="0">
                <a:solidFill>
                  <a:srgbClr val="4A4F57"/>
                </a:solidFill>
                <a:latin typeface="Calibri"/>
              </a:rPr>
              <a:t>A half-registered fibre would otherwise surface as a confusing runtime error weeks later, in the one place the platform has to be trustworthy. Failing loudly at startup is the cheaper failure.</a:t>
            </a:r>
          </a:p>
          <a:p>
            <a:pPr>
              <a:lnSpc>
                <a:spcPct val="126000"/>
              </a:lnSpc>
              <a:spcBef>
                <a:spcPts val="0"/>
              </a:spcBef>
              <a:spcAft>
                <a:spcPts val="0"/>
              </a:spcAft>
            </a:pPr>
            <a:r>
              <a:rPr sz="1050" b="1" i="0">
                <a:solidFill>
                  <a:srgbClr val="A51C30"/>
                </a:solidFill>
                <a:latin typeface="Calibri"/>
              </a:rPr>
              <a:t>Not built. </a:t>
            </a:r>
            <a:r>
              <a:rPr sz="1050" b="0" i="0">
                <a:solidFill>
                  <a:srgbClr val="1C1C1E"/>
                </a:solidFill>
                <a:latin typeface="Calibri"/>
              </a:rPr>
              <a:t>A model class is a string on the register today; there is no plugin loader and no totality check, so L-15 is stated and not enforced. The extensibility that </a:t>
            </a:r>
            <a:r>
              <a:rPr sz="1050" b="1" i="0">
                <a:solidFill>
                  <a:srgbClr val="1C1C1E"/>
                </a:solidFill>
                <a:latin typeface="Calibri"/>
              </a:rPr>
              <a:t>is</a:t>
            </a:r>
            <a:r>
              <a:rPr sz="1050" b="0" i="0">
                <a:solidFill>
                  <a:srgbClr val="1C1C1E"/>
                </a:solidFill>
                <a:latin typeface="Calibri"/>
              </a:rPr>
              <a:t> built is the warrant grammar's: a new model technology is a new value in one vocabulary, not a new document type.</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REGISTRY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Version creation — the full path</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91</a:t>
            </a:r>
          </a:p>
        </p:txBody>
      </p:sp>
      <p:sp>
        <p:nvSpPr>
          <p:cNvPr id="10" name="Rectangle 9"/>
          <p:cNvSpPr/>
          <p:nvPr/>
        </p:nvSpPr>
        <p:spPr>
          <a:xfrm>
            <a:off x="777240" y="1353312"/>
            <a:ext cx="1362847" cy="14813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136284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23544" y="1499616"/>
            <a:ext cx="1070239" cy="1207008"/>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1</a:t>
            </a:r>
          </a:p>
          <a:p>
            <a:pPr>
              <a:spcBef>
                <a:spcPts val="0"/>
              </a:spcBef>
              <a:spcAft>
                <a:spcPts val="400"/>
              </a:spcAft>
            </a:pPr>
            <a:r>
              <a:rPr sz="1100" b="1" i="0">
                <a:solidFill>
                  <a:srgbClr val="1C1C1E"/>
                </a:solidFill>
                <a:latin typeface="Calibri"/>
              </a:rPr>
              <a:t>Validate</a:t>
            </a:r>
          </a:p>
          <a:p>
            <a:pPr>
              <a:lnSpc>
                <a:spcPct val="115000"/>
              </a:lnSpc>
              <a:spcBef>
                <a:spcPts val="0"/>
              </a:spcBef>
              <a:spcAft>
                <a:spcPts val="600"/>
              </a:spcAft>
            </a:pPr>
            <a:r>
              <a:rPr sz="850" b="0" i="0">
                <a:solidFill>
                  <a:srgbClr val="4A4F57"/>
                </a:solidFill>
                <a:latin typeface="Calibri"/>
              </a:rPr>
              <a:t>Manifest checked against the fibre's JSON Schema</a:t>
            </a:r>
          </a:p>
        </p:txBody>
      </p:sp>
      <p:sp>
        <p:nvSpPr>
          <p:cNvPr id="13" name="Rectangle 12"/>
          <p:cNvSpPr/>
          <p:nvPr/>
        </p:nvSpPr>
        <p:spPr>
          <a:xfrm>
            <a:off x="2322967" y="1353312"/>
            <a:ext cx="1362847" cy="14813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2322967" y="1353312"/>
            <a:ext cx="136284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2469271" y="1499616"/>
            <a:ext cx="1070239" cy="1207008"/>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2</a:t>
            </a:r>
          </a:p>
          <a:p>
            <a:pPr>
              <a:spcBef>
                <a:spcPts val="0"/>
              </a:spcBef>
              <a:spcAft>
                <a:spcPts val="400"/>
              </a:spcAft>
            </a:pPr>
            <a:r>
              <a:rPr sz="1100" b="1" i="0">
                <a:solidFill>
                  <a:srgbClr val="1C1C1E"/>
                </a:solidFill>
                <a:latin typeface="Calibri"/>
              </a:rPr>
              <a:t>Quarantine</a:t>
            </a:r>
          </a:p>
          <a:p>
            <a:pPr>
              <a:lnSpc>
                <a:spcPct val="115000"/>
              </a:lnSpc>
              <a:spcBef>
                <a:spcPts val="0"/>
              </a:spcBef>
              <a:spcAft>
                <a:spcPts val="600"/>
              </a:spcAft>
            </a:pPr>
            <a:r>
              <a:rPr sz="850" b="0" i="0">
                <a:solidFill>
                  <a:srgbClr val="4A4F57"/>
                </a:solidFill>
                <a:latin typeface="Calibri"/>
              </a:rPr>
              <a:t>Artifact streamed to a no-execute, content-addressed store</a:t>
            </a:r>
          </a:p>
        </p:txBody>
      </p:sp>
      <p:sp>
        <p:nvSpPr>
          <p:cNvPr id="16" name="Rectangle 15"/>
          <p:cNvSpPr/>
          <p:nvPr/>
        </p:nvSpPr>
        <p:spPr>
          <a:xfrm>
            <a:off x="3868695" y="1353312"/>
            <a:ext cx="1362847" cy="14813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3868695" y="1353312"/>
            <a:ext cx="136284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014999" y="1499616"/>
            <a:ext cx="1070239" cy="1207008"/>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3</a:t>
            </a:r>
          </a:p>
          <a:p>
            <a:pPr>
              <a:spcBef>
                <a:spcPts val="0"/>
              </a:spcBef>
              <a:spcAft>
                <a:spcPts val="400"/>
              </a:spcAft>
            </a:pPr>
            <a:r>
              <a:rPr sz="1100" b="1" i="0">
                <a:solidFill>
                  <a:srgbClr val="1C1C1E"/>
                </a:solidFill>
                <a:latin typeface="Calibri"/>
              </a:rPr>
              <a:t>Sandbox</a:t>
            </a:r>
          </a:p>
          <a:p>
            <a:pPr>
              <a:lnSpc>
                <a:spcPct val="115000"/>
              </a:lnSpc>
              <a:spcBef>
                <a:spcPts val="0"/>
              </a:spcBef>
              <a:spcAft>
                <a:spcPts val="600"/>
              </a:spcAft>
            </a:pPr>
            <a:r>
              <a:rPr sz="850" b="0" i="0">
                <a:solidFill>
                  <a:srgbClr val="4A4F57"/>
                </a:solidFill>
                <a:latin typeface="Calibri"/>
              </a:rPr>
              <a:t>Malware, pickle opcodes, SCA, secrets, licence; then graph parse</a:t>
            </a:r>
          </a:p>
        </p:txBody>
      </p:sp>
      <p:sp>
        <p:nvSpPr>
          <p:cNvPr id="19" name="Rectangle 18"/>
          <p:cNvSpPr/>
          <p:nvPr/>
        </p:nvSpPr>
        <p:spPr>
          <a:xfrm>
            <a:off x="5414423" y="1353312"/>
            <a:ext cx="1362847" cy="14813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5414423" y="1353312"/>
            <a:ext cx="136284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5560727" y="1499616"/>
            <a:ext cx="1070239" cy="1207008"/>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4</a:t>
            </a:r>
          </a:p>
          <a:p>
            <a:pPr>
              <a:spcBef>
                <a:spcPts val="0"/>
              </a:spcBef>
              <a:spcAft>
                <a:spcPts val="400"/>
              </a:spcAft>
            </a:pPr>
            <a:r>
              <a:rPr sz="1100" b="1" i="0">
                <a:solidFill>
                  <a:srgbClr val="1C1C1E"/>
                </a:solidFill>
                <a:latin typeface="Calibri"/>
              </a:rPr>
              <a:t>Policy</a:t>
            </a:r>
          </a:p>
          <a:p>
            <a:pPr>
              <a:lnSpc>
                <a:spcPct val="115000"/>
              </a:lnSpc>
              <a:spcBef>
                <a:spcPts val="0"/>
              </a:spcBef>
              <a:spcAft>
                <a:spcPts val="600"/>
              </a:spcAft>
            </a:pPr>
            <a:r>
              <a:rPr sz="850" b="0" i="0">
                <a:solidFill>
                  <a:srgbClr val="4A4F57"/>
                </a:solidFill>
                <a:latin typeface="Calibri"/>
              </a:rPr>
              <a:t>Format policy for the target environment; reject with an exception path</a:t>
            </a:r>
          </a:p>
        </p:txBody>
      </p:sp>
      <p:sp>
        <p:nvSpPr>
          <p:cNvPr id="22" name="Rectangle 21"/>
          <p:cNvSpPr/>
          <p:nvPr/>
        </p:nvSpPr>
        <p:spPr>
          <a:xfrm>
            <a:off x="6960151" y="1353312"/>
            <a:ext cx="1362847" cy="14813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6960151" y="1353312"/>
            <a:ext cx="136284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7106455" y="1499616"/>
            <a:ext cx="1070239" cy="1207008"/>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5</a:t>
            </a:r>
          </a:p>
          <a:p>
            <a:pPr>
              <a:spcBef>
                <a:spcPts val="0"/>
              </a:spcBef>
              <a:spcAft>
                <a:spcPts val="400"/>
              </a:spcAft>
            </a:pPr>
            <a:r>
              <a:rPr sz="1100" b="1" i="0">
                <a:solidFill>
                  <a:srgbClr val="1C1C1E"/>
                </a:solidFill>
                <a:latin typeface="Calibri"/>
              </a:rPr>
              <a:t>Features</a:t>
            </a:r>
          </a:p>
          <a:p>
            <a:pPr>
              <a:lnSpc>
                <a:spcPct val="115000"/>
              </a:lnSpc>
              <a:spcBef>
                <a:spcPts val="0"/>
              </a:spcBef>
              <a:spcAft>
                <a:spcPts val="600"/>
              </a:spcAft>
            </a:pPr>
            <a:r>
              <a:rPr sz="850" b="0" i="0">
                <a:solidFill>
                  <a:srgbClr val="4A4F57"/>
                </a:solidFill>
                <a:latin typeface="Calibri"/>
              </a:rPr>
              <a:t>Declared inputs reconciled against the feature registry</a:t>
            </a:r>
          </a:p>
        </p:txBody>
      </p:sp>
      <p:sp>
        <p:nvSpPr>
          <p:cNvPr id="25" name="Rectangle 24"/>
          <p:cNvSpPr/>
          <p:nvPr/>
        </p:nvSpPr>
        <p:spPr>
          <a:xfrm>
            <a:off x="8505879" y="1353312"/>
            <a:ext cx="1362847" cy="14813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8505879" y="1353312"/>
            <a:ext cx="136284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8652183" y="1499616"/>
            <a:ext cx="1070239" cy="1207008"/>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6</a:t>
            </a:r>
          </a:p>
          <a:p>
            <a:pPr>
              <a:spcBef>
                <a:spcPts val="0"/>
              </a:spcBef>
              <a:spcAft>
                <a:spcPts val="400"/>
              </a:spcAft>
            </a:pPr>
            <a:r>
              <a:rPr sz="1100" b="1" i="0">
                <a:solidFill>
                  <a:srgbClr val="1C1C1E"/>
                </a:solidFill>
                <a:latin typeface="Calibri"/>
              </a:rPr>
              <a:t>Commit</a:t>
            </a:r>
          </a:p>
          <a:p>
            <a:pPr>
              <a:lnSpc>
                <a:spcPct val="115000"/>
              </a:lnSpc>
              <a:spcBef>
                <a:spcPts val="0"/>
              </a:spcBef>
              <a:spcAft>
                <a:spcPts val="600"/>
              </a:spcAft>
            </a:pPr>
            <a:r>
              <a:rPr sz="850" b="0" i="0">
                <a:solidFill>
                  <a:srgbClr val="4A4F57"/>
                </a:solidFill>
                <a:latin typeface="Calibri"/>
              </a:rPr>
              <a:t>Version created immutable; artifact promoted, signed, attested</a:t>
            </a:r>
          </a:p>
        </p:txBody>
      </p:sp>
      <p:sp>
        <p:nvSpPr>
          <p:cNvPr id="28" name="Rectangle 27"/>
          <p:cNvSpPr/>
          <p:nvPr/>
        </p:nvSpPr>
        <p:spPr>
          <a:xfrm>
            <a:off x="10051607" y="1353312"/>
            <a:ext cx="1362847" cy="1481328"/>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9" name="Rectangle 28"/>
          <p:cNvSpPr/>
          <p:nvPr/>
        </p:nvSpPr>
        <p:spPr>
          <a:xfrm>
            <a:off x="10051607" y="1353312"/>
            <a:ext cx="136284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0" name="TextBox 29"/>
          <p:cNvSpPr txBox="1"/>
          <p:nvPr/>
        </p:nvSpPr>
        <p:spPr>
          <a:xfrm>
            <a:off x="10197911" y="1499616"/>
            <a:ext cx="1070239" cy="1207008"/>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7</a:t>
            </a:r>
          </a:p>
          <a:p>
            <a:pPr>
              <a:spcBef>
                <a:spcPts val="0"/>
              </a:spcBef>
              <a:spcAft>
                <a:spcPts val="400"/>
              </a:spcAft>
            </a:pPr>
            <a:r>
              <a:rPr sz="1100" b="1" i="0">
                <a:solidFill>
                  <a:srgbClr val="1C1C1E"/>
                </a:solidFill>
                <a:latin typeface="Calibri"/>
              </a:rPr>
              <a:t>Evidence</a:t>
            </a:r>
          </a:p>
          <a:p>
            <a:pPr>
              <a:lnSpc>
                <a:spcPct val="115000"/>
              </a:lnSpc>
              <a:spcBef>
                <a:spcPts val="0"/>
              </a:spcBef>
              <a:spcAft>
                <a:spcPts val="600"/>
              </a:spcAft>
            </a:pPr>
            <a:r>
              <a:rPr sz="850" b="0" i="0">
                <a:solidFill>
                  <a:srgbClr val="4A4F57"/>
                </a:solidFill>
                <a:latin typeface="Calibri"/>
              </a:rPr>
              <a:t>Nodes appended: artifact, introspection, scans, contract, manifest</a:t>
            </a:r>
          </a:p>
        </p:txBody>
      </p:sp>
      <p:sp>
        <p:nvSpPr>
          <p:cNvPr id="31" name="Rectangle 30"/>
          <p:cNvSpPr/>
          <p:nvPr/>
        </p:nvSpPr>
        <p:spPr>
          <a:xfrm>
            <a:off x="777240" y="3108960"/>
            <a:ext cx="10637215" cy="9601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Rectangle 31"/>
          <p:cNvSpPr/>
          <p:nvPr/>
        </p:nvSpPr>
        <p:spPr>
          <a:xfrm>
            <a:off x="777240" y="3108960"/>
            <a:ext cx="41148" cy="9601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3" name="TextBox 32"/>
          <p:cNvSpPr txBox="1"/>
          <p:nvPr/>
        </p:nvSpPr>
        <p:spPr>
          <a:xfrm>
            <a:off x="1051560" y="3236976"/>
            <a:ext cx="10088575" cy="777240"/>
          </a:xfrm>
          <a:prstGeom prst="rect">
            <a:avLst/>
          </a:prstGeom>
          <a:noFill/>
        </p:spPr>
        <p:txBody>
          <a:bodyPr wrap="square" lIns="0" rIns="0" tIns="0" bIns="0" anchor="t">
            <a:spAutoFit/>
          </a:bodyPr>
          <a:lstStyle/>
          <a:p>
            <a:pPr algn="l">
              <a:lnSpc>
                <a:spcPct val="128000"/>
              </a:lnSpc>
              <a:spcBef>
                <a:spcPts val="0"/>
              </a:spcBef>
              <a:spcAft>
                <a:spcPts val="0"/>
              </a:spcAft>
            </a:pPr>
            <a:r>
              <a:rPr sz="1200" b="1" i="0">
                <a:solidFill>
                  <a:srgbClr val="A51C30"/>
                </a:solidFill>
                <a:latin typeface="Calibri"/>
              </a:rPr>
              <a:t>Transaction boundary. </a:t>
            </a:r>
            <a:r>
              <a:rPr sz="1200" b="0" i="0">
                <a:solidFill>
                  <a:srgbClr val="1C1C1E"/>
                </a:solidFill>
                <a:latin typeface="Calibri"/>
              </a:rPr>
              <a:t>Steps 6–7 are one Postgres transaction plus an outbox row for the object-store promotion. If promotion fails the outbox retries; the version exists but is marked artifact_pending and cannot be aliased. </a:t>
            </a:r>
            <a:r>
              <a:rPr sz="1200" b="1" i="0">
                <a:solidFill>
                  <a:srgbClr val="A51C30"/>
                </a:solidFill>
                <a:latin typeface="Calibri"/>
              </a:rPr>
              <a:t>Partial visibility is preferable to a lost write.</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CORE DOMAIN · REGISTRY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Alias moves — the most dangerous operation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17 · Core Domain and Registry</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92</a:t>
            </a:r>
          </a:p>
        </p:txBody>
      </p:sp>
      <p:sp>
        <p:nvSpPr>
          <p:cNvPr id="10" name="Rectangle 9"/>
          <p:cNvSpPr/>
          <p:nvPr/>
        </p:nvSpPr>
        <p:spPr>
          <a:xfrm>
            <a:off x="777240" y="1353312"/>
            <a:ext cx="10637215" cy="321509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21509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10271455"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core/registry/aliases.py</a:t>
            </a:r>
          </a:p>
        </p:txBody>
      </p:sp>
      <p:sp>
        <p:nvSpPr>
          <p:cNvPr id="13" name="TextBox 12"/>
          <p:cNvSpPr txBox="1"/>
          <p:nvPr/>
        </p:nvSpPr>
        <p:spPr>
          <a:xfrm>
            <a:off x="978408" y="1746504"/>
            <a:ext cx="10271455" cy="273961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with uow.transaction():</a:t>
            </a:r>
          </a:p>
          <a:p>
            <a:pPr>
              <a:lnSpc>
                <a:spcPct val="134000"/>
              </a:lnSpc>
              <a:spcBef>
                <a:spcPts val="0"/>
              </a:spcBef>
              <a:spcAft>
                <a:spcPts val="0"/>
              </a:spcAft>
            </a:pPr>
            <a:r>
              <a:rPr sz="950" b="0" i="0">
                <a:solidFill>
                  <a:srgbClr val="1C1C1E"/>
                </a:solidFill>
                <a:latin typeface="Consolas"/>
              </a:rPr>
              <a:t>    lock = advisory_lock(f"alias:{model_id}:{env}")     # serialise per (model, env)</a:t>
            </a:r>
          </a:p>
          <a:p>
            <a:pPr>
              <a:lnSpc>
                <a:spcPct val="134000"/>
              </a:lnSpc>
              <a:spcBef>
                <a:spcPts val="0"/>
              </a:spcBef>
              <a:spcAft>
                <a:spcPts val="0"/>
              </a:spcAft>
            </a:pPr>
            <a:r>
              <a:rPr sz="950" b="0" i="0">
                <a:solidFill>
                  <a:srgbClr val="1C1C1E"/>
                </a:solidFill>
                <a:latin typeface="Consolas"/>
              </a:rPr>
              <a:t>    ref  = new.contract.refines(cur.contract)            # law L-7</a:t>
            </a:r>
          </a:p>
          <a:p>
            <a:pPr>
              <a:lnSpc>
                <a:spcPct val="134000"/>
              </a:lnSpc>
              <a:spcBef>
                <a:spcPts val="0"/>
              </a:spcBef>
              <a:spcAft>
                <a:spcPts val="0"/>
              </a:spcAft>
            </a:pPr>
            <a:r>
              <a:rPr sz="950" b="0" i="0">
                <a:solidFill>
                  <a:srgbClr val="1C1C1E"/>
                </a:solidFill>
                <a:latin typeface="Consolas"/>
              </a:rPr>
              <a:t>    var  = substitutable(new.schema, cur.schema)         # law L-12</a:t>
            </a:r>
          </a:p>
          <a:p>
            <a:pPr>
              <a:lnSpc>
                <a:spcPct val="134000"/>
              </a:lnSpc>
              <a:spcBef>
                <a:spcPts val="0"/>
              </a:spcBef>
              <a:spcAft>
                <a:spcPts val="0"/>
              </a:spcAft>
            </a:pPr>
            <a:r>
              <a:rPr sz="950" b="0" i="0">
                <a:solidFill>
                  <a:srgbClr val="1C1C1E"/>
                </a:solidFill>
                <a:latin typeface="Consolas"/>
              </a:rPr>
              <a:t>    if not (ref.holds and var.ok):</a:t>
            </a:r>
          </a:p>
          <a:p>
            <a:pPr>
              <a:lnSpc>
                <a:spcPct val="134000"/>
              </a:lnSpc>
              <a:spcBef>
                <a:spcPts val="0"/>
              </a:spcBef>
              <a:spcAft>
                <a:spcPts val="0"/>
              </a:spcAft>
            </a:pPr>
            <a:r>
              <a:rPr sz="950" b="0" i="0">
                <a:solidFill>
                  <a:srgbClr val="1C1C1E"/>
                </a:solidFill>
                <a:latin typeface="Consolas"/>
              </a:rPr>
              <a:t>        raise AliasMoveRefused(ref, var, consumers=warrants.consumers_of(...))</a:t>
            </a:r>
          </a:p>
          <a:p>
            <a:pPr>
              <a:lnSpc>
                <a:spcPct val="134000"/>
              </a:lnSpc>
              <a:spcBef>
                <a:spcPts val="0"/>
              </a:spcBef>
              <a:spcAft>
                <a:spcPts val="0"/>
              </a:spcAft>
            </a:pPr>
            <a:r>
              <a:rPr sz="950" b="0" i="0">
                <a:solidFill>
                  <a:srgbClr val="1C1C1E"/>
                </a:solidFill>
                <a:latin typeface="Consolas"/>
              </a:rPr>
              <a:t>    if not policy.evaluate("gates.alias_move", ctx).allow: raise PolicyDenied(...)</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warrant_projection.rebuild(model_id, env, name, new)    # PRE-WARM before invalidate</a:t>
            </a:r>
          </a:p>
          <a:p>
            <a:pPr>
              <a:lnSpc>
                <a:spcPct val="134000"/>
              </a:lnSpc>
              <a:spcBef>
                <a:spcPts val="0"/>
              </a:spcBef>
              <a:spcAft>
                <a:spcPts val="0"/>
              </a:spcAft>
            </a:pPr>
            <a:r>
              <a:rPr sz="950" b="0" i="0">
                <a:solidFill>
                  <a:srgbClr val="1C1C1E"/>
                </a:solidFill>
                <a:latin typeface="Consolas"/>
              </a:rPr>
              <a:t>    aliases.point(model_id, env, name, new)</a:t>
            </a:r>
          </a:p>
          <a:p>
            <a:pPr>
              <a:lnSpc>
                <a:spcPct val="134000"/>
              </a:lnSpc>
              <a:spcBef>
                <a:spcPts val="0"/>
              </a:spcBef>
              <a:spcAft>
                <a:spcPts val="0"/>
              </a:spcAft>
            </a:pPr>
            <a:r>
              <a:rPr sz="950" b="0" i="0">
                <a:solidFill>
                  <a:srgbClr val="1C1C1E"/>
                </a:solidFill>
                <a:latin typeface="Consolas"/>
              </a:rPr>
              <a:t>    alias_history.append(cur, new, ref, var, actor, justification)</a:t>
            </a:r>
          </a:p>
          <a:p>
            <a:pPr>
              <a:lnSpc>
                <a:spcPct val="134000"/>
              </a:lnSpc>
              <a:spcBef>
                <a:spcPts val="0"/>
              </a:spcBef>
              <a:spcAft>
                <a:spcPts val="0"/>
              </a:spcAft>
            </a:pPr>
            <a:r>
              <a:rPr sz="950" b="0" i="0">
                <a:solidFill>
                  <a:srgbClr val="1C1C1E"/>
                </a:solidFill>
                <a:latin typeface="Consolas"/>
              </a:rPr>
              <a:t>    outbox.put(CacheInvalidate(...), AliasMoved(...))</a:t>
            </a:r>
          </a:p>
          <a:p>
            <a:pPr>
              <a:lnSpc>
                <a:spcPct val="134000"/>
              </a:lnSpc>
              <a:spcBef>
                <a:spcPts val="0"/>
              </a:spcBef>
              <a:spcAft>
                <a:spcPts val="0"/>
              </a:spcAft>
            </a:pPr>
            <a:r>
              <a:rPr sz="950" b="0" i="0">
                <a:solidFill>
                  <a:srgbClr val="1C1C1E"/>
                </a:solidFill>
                <a:latin typeface="Consolas"/>
              </a:rPr>
              <a:t>monitoring.schedule_post_move_comparison(model_id, env, window="P7D")</a:t>
            </a:r>
          </a:p>
        </p:txBody>
      </p:sp>
      <p:sp>
        <p:nvSpPr>
          <p:cNvPr id="14" name="TextBox 13"/>
          <p:cNvSpPr txBox="1"/>
          <p:nvPr/>
        </p:nvSpPr>
        <p:spPr>
          <a:xfrm>
            <a:off x="777240" y="4842730"/>
            <a:ext cx="10637215" cy="1005840"/>
          </a:xfrm>
          <a:prstGeom prst="rect">
            <a:avLst/>
          </a:prstGeom>
          <a:noFill/>
        </p:spPr>
        <p:txBody>
          <a:bodyPr wrap="square" lIns="0" rIns="0" tIns="0" bIns="0" anchor="t">
            <a:spAutoFit/>
          </a:bodyPr>
          <a:lstStyle/>
          <a:p>
            <a:pPr algn="l">
              <a:lnSpc>
                <a:spcPct val="130000"/>
              </a:lnSpc>
              <a:spcBef>
                <a:spcPts val="0"/>
              </a:spcBef>
              <a:spcAft>
                <a:spcPts val="0"/>
              </a:spcAft>
            </a:pPr>
            <a:r>
              <a:rPr sz="1200" b="1" i="0">
                <a:solidFill>
                  <a:srgbClr val="A51C30"/>
                </a:solidFill>
                <a:latin typeface="Calibri"/>
              </a:rPr>
              <a:t>Three things are happening. </a:t>
            </a:r>
            <a:r>
              <a:rPr sz="1200" b="0" i="0">
                <a:solidFill>
                  <a:srgbClr val="1C1C1E"/>
                </a:solidFill>
                <a:latin typeface="Calibri"/>
              </a:rPr>
              <a:t>Substitutability is a </a:t>
            </a:r>
            <a:r>
              <a:rPr sz="1200" b="1" i="0">
                <a:solidFill>
                  <a:srgbClr val="1C1C1E"/>
                </a:solidFill>
                <a:latin typeface="Calibri"/>
              </a:rPr>
              <a:t>proof</a:t>
            </a:r>
            <a:r>
              <a:rPr sz="1200" b="0" i="0">
                <a:solidFill>
                  <a:srgbClr val="1C1C1E"/>
                </a:solidFill>
                <a:latin typeface="Calibri"/>
              </a:rPr>
              <a:t> — consumers cannot be broken and are not redeployed. Pre-warming before invalidating is the fix for the cache stampede found in adversarial review, so a hot alias is never served from an empty cache. And the automatic seven-day post-move comparison is SS1/23's parallel outcomes analysis, performed as infrastructure rather than as a project.</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18</a:t>
            </a:r>
          </a:p>
        </p:txBody>
      </p:sp>
      <p:sp>
        <p:nvSpPr>
          <p:cNvPr id="5" name="TextBox 4"/>
          <p:cNvSpPr txBox="1"/>
          <p:nvPr/>
        </p:nvSpPr>
        <p:spPr>
          <a:xfrm>
            <a:off x="1005840" y="2375611"/>
            <a:ext cx="6169584" cy="1188720"/>
          </a:xfrm>
          <a:prstGeom prst="rect">
            <a:avLst/>
          </a:prstGeom>
          <a:noFill/>
        </p:spPr>
        <p:txBody>
          <a:bodyPr wrap="square" lIns="0" rIns="0" tIns="0" bIns="0" anchor="t">
            <a:spAutoFit/>
          </a:bodyPr>
          <a:lstStyle/>
          <a:p>
            <a:pPr algn="l">
              <a:spcBef>
                <a:spcPts val="0"/>
              </a:spcBef>
              <a:spcAft>
                <a:spcPts val="0"/>
              </a:spcAft>
            </a:pPr>
            <a:r>
              <a:rPr sz="4000" b="0" i="0">
                <a:solidFill>
                  <a:srgbClr val="FFFFFF"/>
                </a:solidFill>
                <a:latin typeface="Georgia"/>
              </a:rPr>
              <a:t>The Feature Platform</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Point-in-time correctness, version-namespaced serving, monitoring at scale.</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PIT assembly</a:t>
            </a:r>
          </a:p>
          <a:p>
            <a:pPr>
              <a:lnSpc>
                <a:spcPct val="115000"/>
              </a:lnSpc>
              <a:spcBef>
                <a:spcPts val="0"/>
              </a:spcBef>
              <a:spcAft>
                <a:spcPts val="700"/>
              </a:spcAft>
            </a:pPr>
            <a:r>
              <a:rPr sz="1150" b="0" i="0">
                <a:solidFill>
                  <a:srgbClr val="F6E6E9"/>
                </a:solidFill>
                <a:latin typeface="Calibri"/>
              </a:rPr>
              <a:t>Three-layer verification</a:t>
            </a:r>
          </a:p>
          <a:p>
            <a:pPr>
              <a:lnSpc>
                <a:spcPct val="115000"/>
              </a:lnSpc>
              <a:spcBef>
                <a:spcPts val="0"/>
              </a:spcBef>
              <a:spcAft>
                <a:spcPts val="700"/>
              </a:spcAft>
            </a:pPr>
            <a:r>
              <a:rPr sz="1150" b="0" i="0">
                <a:solidFill>
                  <a:srgbClr val="F6E6E9"/>
                </a:solidFill>
                <a:latin typeface="Calibri"/>
              </a:rPr>
              <a:t>Online store namespacing</a:t>
            </a:r>
          </a:p>
          <a:p>
            <a:pPr>
              <a:lnSpc>
                <a:spcPct val="115000"/>
              </a:lnSpc>
              <a:spcBef>
                <a:spcPts val="0"/>
              </a:spcBef>
              <a:spcAft>
                <a:spcPts val="700"/>
              </a:spcAft>
            </a:pPr>
            <a:r>
              <a:rPr sz="1150" b="0" i="0">
                <a:solidFill>
                  <a:srgbClr val="F6E6E9"/>
                </a:solidFill>
                <a:latin typeface="Calibri"/>
              </a:rPr>
              <a:t>Monitoring pipeline</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THE FEATURE PLATFORM</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Point-in-time assembly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94</a:t>
            </a:r>
          </a:p>
        </p:txBody>
      </p:sp>
      <p:sp>
        <p:nvSpPr>
          <p:cNvPr id="10" name="Rectangle 9"/>
          <p:cNvSpPr/>
          <p:nvPr/>
        </p:nvSpPr>
        <p:spPr>
          <a:xfrm>
            <a:off x="777240" y="1353312"/>
            <a:ext cx="5956840" cy="321509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21509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591080"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core/features/assembly.py</a:t>
            </a:r>
          </a:p>
        </p:txBody>
      </p:sp>
      <p:sp>
        <p:nvSpPr>
          <p:cNvPr id="13" name="TextBox 12"/>
          <p:cNvSpPr txBox="1"/>
          <p:nvPr/>
        </p:nvSpPr>
        <p:spPr>
          <a:xfrm>
            <a:off x="978408" y="1746504"/>
            <a:ext cx="5591080" cy="273961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static = analyse_temporal_predicates(spine, views)   # LAYER 1</a:t>
            </a:r>
          </a:p>
          <a:p>
            <a:pPr>
              <a:lnSpc>
                <a:spcPct val="134000"/>
              </a:lnSpc>
              <a:spcBef>
                <a:spcPts val="0"/>
              </a:spcBef>
              <a:spcAft>
                <a:spcPts val="0"/>
              </a:spcAft>
            </a:pPr>
            <a:r>
              <a:rPr sz="950" b="0" i="0">
                <a:solidFill>
                  <a:srgbClr val="1C1C1E"/>
                </a:solidFill>
                <a:latin typeface="Consolas"/>
              </a:rPr>
              <a:t>if not (static.has_valid_time_bound and</a:t>
            </a:r>
          </a:p>
          <a:p>
            <a:pPr>
              <a:lnSpc>
                <a:spcPct val="134000"/>
              </a:lnSpc>
              <a:spcBef>
                <a:spcPts val="0"/>
              </a:spcBef>
              <a:spcAft>
                <a:spcPts val="0"/>
              </a:spcAft>
            </a:pPr>
            <a:r>
              <a:rPr sz="950" b="0" i="0">
                <a:solidFill>
                  <a:srgbClr val="1C1C1E"/>
                </a:solidFill>
                <a:latin typeface="Consolas"/>
              </a:rPr>
              <a:t>        static.has_transaction_time_bound):</a:t>
            </a:r>
          </a:p>
          <a:p>
            <a:pPr>
              <a:lnSpc>
                <a:spcPct val="134000"/>
              </a:lnSpc>
              <a:spcBef>
                <a:spcPts val="0"/>
              </a:spcBef>
              <a:spcAft>
                <a:spcPts val="0"/>
              </a:spcAft>
            </a:pPr>
            <a:r>
              <a:rPr sz="950" b="0" i="0">
                <a:solidFill>
                  <a:srgbClr val="1C1C1E"/>
                </a:solidFill>
                <a:latin typeface="Consolas"/>
              </a:rPr>
              <a:t>    raise AssemblyRejected(static.missing)   # rejected, not sampled</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df = spark.read(spine)</a:t>
            </a:r>
          </a:p>
          <a:p>
            <a:pPr>
              <a:lnSpc>
                <a:spcPct val="134000"/>
              </a:lnSpc>
              <a:spcBef>
                <a:spcPts val="0"/>
              </a:spcBef>
              <a:spcAft>
                <a:spcPts val="0"/>
              </a:spcAft>
            </a:pPr>
            <a:r>
              <a:rPr sz="950" b="0" i="0">
                <a:solidFill>
                  <a:srgbClr val="1C1C1E"/>
                </a:solidFill>
                <a:latin typeface="Consolas"/>
              </a:rPr>
              <a:t>for v in views:</a:t>
            </a:r>
          </a:p>
          <a:p>
            <a:pPr>
              <a:lnSpc>
                <a:spcPct val="134000"/>
              </a:lnSpc>
              <a:spcBef>
                <a:spcPts val="0"/>
              </a:spcBef>
              <a:spcAft>
                <a:spcPts val="0"/>
              </a:spcAft>
            </a:pPr>
            <a:r>
              <a:rPr sz="950" b="0" i="0">
                <a:solidFill>
                  <a:srgbClr val="1C1C1E"/>
                </a:solidFill>
                <a:latin typeface="Consolas"/>
              </a:rPr>
              <a:t>    df = df.join(pit_lateral(v, as_of), on=["entity_id"], how="left")</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snap   = delta.write(df, name=name)</a:t>
            </a:r>
          </a:p>
          <a:p>
            <a:pPr>
              <a:lnSpc>
                <a:spcPct val="134000"/>
              </a:lnSpc>
              <a:spcBef>
                <a:spcPts val="0"/>
              </a:spcBef>
              <a:spcAft>
                <a:spcPts val="0"/>
              </a:spcAft>
            </a:pPr>
            <a:r>
              <a:rPr sz="950" b="0" i="0">
                <a:solidFill>
                  <a:srgbClr val="1C1C1E"/>
                </a:solidFill>
                <a:latin typeface="Consolas"/>
              </a:rPr>
              <a:t>report = verify_pit(snap, spine, views, as_of)       # LAYER 2</a:t>
            </a:r>
          </a:p>
          <a:p>
            <a:pPr>
              <a:lnSpc>
                <a:spcPct val="134000"/>
              </a:lnSpc>
              <a:spcBef>
                <a:spcPts val="0"/>
              </a:spcBef>
              <a:spcAft>
                <a:spcPts val="0"/>
              </a:spcAft>
            </a:pPr>
            <a:r>
              <a:rPr sz="950" b="0" i="0">
                <a:solidFill>
                  <a:srgbClr val="1C1C1E"/>
                </a:solidFill>
                <a:latin typeface="Consolas"/>
              </a:rPr>
              <a:t>if not report.passed:</a:t>
            </a:r>
          </a:p>
          <a:p>
            <a:pPr>
              <a:lnSpc>
                <a:spcPct val="134000"/>
              </a:lnSpc>
              <a:spcBef>
                <a:spcPts val="0"/>
              </a:spcBef>
              <a:spcAft>
                <a:spcPts val="0"/>
              </a:spcAft>
            </a:pPr>
            <a:r>
              <a:rPr sz="950" b="0" i="0">
                <a:solidFill>
                  <a:srgbClr val="1C1C1E"/>
                </a:solidFill>
                <a:latin typeface="Consolas"/>
              </a:rPr>
              <a:t>    findings.raise_(severity="Critical", category="leakage", ...)</a:t>
            </a:r>
          </a:p>
        </p:txBody>
      </p:sp>
      <p:sp>
        <p:nvSpPr>
          <p:cNvPr id="14" name="Rectangle 13"/>
          <p:cNvSpPr/>
          <p:nvPr/>
        </p:nvSpPr>
        <p:spPr>
          <a:xfrm>
            <a:off x="7159569" y="1353312"/>
            <a:ext cx="4254886" cy="2496769"/>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159569" y="1353312"/>
            <a:ext cx="41148" cy="2496769"/>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7360737" y="1444752"/>
            <a:ext cx="3889126"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GENERATED JOIN</a:t>
            </a:r>
          </a:p>
        </p:txBody>
      </p:sp>
      <p:sp>
        <p:nvSpPr>
          <p:cNvPr id="17" name="TextBox 16"/>
          <p:cNvSpPr txBox="1"/>
          <p:nvPr/>
        </p:nvSpPr>
        <p:spPr>
          <a:xfrm>
            <a:off x="7360737" y="1746504"/>
            <a:ext cx="3889126" cy="2021281"/>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LEFT JOIN LATERAL (</a:t>
            </a:r>
          </a:p>
          <a:p>
            <a:pPr>
              <a:lnSpc>
                <a:spcPct val="134000"/>
              </a:lnSpc>
              <a:spcBef>
                <a:spcPts val="0"/>
              </a:spcBef>
              <a:spcAft>
                <a:spcPts val="0"/>
              </a:spcAft>
            </a:pPr>
            <a:r>
              <a:rPr sz="900" b="0" i="0">
                <a:solidFill>
                  <a:srgbClr val="1C1C1E"/>
                </a:solidFill>
                <a:latin typeface="Consolas"/>
              </a:rPr>
              <a:t>  SELECT &lt;features&gt;</a:t>
            </a:r>
          </a:p>
          <a:p>
            <a:pPr>
              <a:lnSpc>
                <a:spcPct val="134000"/>
              </a:lnSpc>
              <a:spcBef>
                <a:spcPts val="0"/>
              </a:spcBef>
              <a:spcAft>
                <a:spcPts val="0"/>
              </a:spcAft>
            </a:pPr>
            <a:r>
              <a:rPr sz="900" b="0" i="0">
                <a:solidFill>
                  <a:srgbClr val="1C1C1E"/>
                </a:solidFill>
                <a:latin typeface="Consolas"/>
              </a:rPr>
              <a:t>  FROM   &lt;view&gt; VERSION AS OF :dv   -- txn time</a:t>
            </a:r>
          </a:p>
          <a:p>
            <a:pPr>
              <a:lnSpc>
                <a:spcPct val="134000"/>
              </a:lnSpc>
              <a:spcBef>
                <a:spcPts val="0"/>
              </a:spcBef>
              <a:spcAft>
                <a:spcPts val="0"/>
              </a:spcAft>
            </a:pPr>
            <a:r>
              <a:rPr sz="900" b="0" i="0">
                <a:solidFill>
                  <a:srgbClr val="1C1C1E"/>
                </a:solidFill>
                <a:latin typeface="Consolas"/>
              </a:rPr>
              <a:t>  WHERE  entity_id  = s.entity_id</a:t>
            </a:r>
          </a:p>
          <a:p>
            <a:pPr>
              <a:lnSpc>
                <a:spcPct val="134000"/>
              </a:lnSpc>
              <a:spcBef>
                <a:spcPts val="0"/>
              </a:spcBef>
              <a:spcAft>
                <a:spcPts val="0"/>
              </a:spcAft>
            </a:pPr>
            <a:r>
              <a:rPr sz="900" b="0" i="0">
                <a:solidFill>
                  <a:srgbClr val="1C1C1E"/>
                </a:solidFill>
                <a:latin typeface="Consolas"/>
              </a:rPr>
              <a:t>    AND  event_ts  &lt;= s.label_ts    -- valid time</a:t>
            </a:r>
          </a:p>
          <a:p>
            <a:pPr>
              <a:lnSpc>
                <a:spcPct val="134000"/>
              </a:lnSpc>
              <a:spcBef>
                <a:spcPts val="0"/>
              </a:spcBef>
              <a:spcAft>
                <a:spcPts val="0"/>
              </a:spcAft>
            </a:pPr>
            <a:r>
              <a:rPr sz="900" b="0" i="0">
                <a:solidFill>
                  <a:srgbClr val="1C1C1E"/>
                </a:solidFill>
                <a:latin typeface="Consolas"/>
              </a:rPr>
              <a:t>    AND  ingest_ts &lt;= LEAST(          -- txn time, bounded by BOTH:</a:t>
            </a:r>
          </a:p>
          <a:p>
            <a:pPr>
              <a:lnSpc>
                <a:spcPct val="134000"/>
              </a:lnSpc>
              <a:spcBef>
                <a:spcPts val="0"/>
              </a:spcBef>
              <a:spcAft>
                <a:spcPts val="0"/>
              </a:spcAft>
            </a:pPr>
            <a:r>
              <a:rPr sz="900" b="0" i="0">
                <a:solidFill>
                  <a:srgbClr val="1C1C1E"/>
                </a:solidFill>
                <a:latin typeface="Consolas"/>
              </a:rPr>
              <a:t>           s.label_ts, :as_of)        -- saturates at the label</a:t>
            </a:r>
          </a:p>
          <a:p>
            <a:pPr>
              <a:lnSpc>
                <a:spcPct val="134000"/>
              </a:lnSpc>
              <a:spcBef>
                <a:spcPts val="0"/>
              </a:spcBef>
              <a:spcAft>
                <a:spcPts val="0"/>
              </a:spcAft>
            </a:pPr>
            <a:r>
              <a:rPr sz="900" b="0" i="0">
                <a:solidFill>
                  <a:srgbClr val="1C1C1E"/>
                </a:solidFill>
                <a:latin typeface="Consolas"/>
              </a:rPr>
              <a:t>  ORDER BY event_ts DESC, ingest_ts DESC</a:t>
            </a:r>
          </a:p>
          <a:p>
            <a:pPr>
              <a:lnSpc>
                <a:spcPct val="134000"/>
              </a:lnSpc>
              <a:spcBef>
                <a:spcPts val="0"/>
              </a:spcBef>
              <a:spcAft>
                <a:spcPts val="0"/>
              </a:spcAft>
            </a:pPr>
            <a:r>
              <a:rPr sz="900" b="0" i="0">
                <a:solidFill>
                  <a:srgbClr val="1C1C1E"/>
                </a:solidFill>
                <a:latin typeface="Consolas"/>
              </a:rPr>
              <a:t>  LIMIT 1</a:t>
            </a:r>
          </a:p>
          <a:p>
            <a:pPr>
              <a:lnSpc>
                <a:spcPct val="134000"/>
              </a:lnSpc>
              <a:spcBef>
                <a:spcPts val="0"/>
              </a:spcBef>
              <a:spcAft>
                <a:spcPts val="0"/>
              </a:spcAft>
            </a:pPr>
            <a:r>
              <a:rPr sz="900" b="0" i="0">
                <a:solidFill>
                  <a:srgbClr val="1C1C1E"/>
                </a:solidFill>
                <a:latin typeface="Consolas"/>
              </a:rPr>
              <a:t>) f ON true</a:t>
            </a:r>
          </a:p>
        </p:txBody>
      </p:sp>
      <p:sp>
        <p:nvSpPr>
          <p:cNvPr id="18" name="TextBox 17"/>
          <p:cNvSpPr txBox="1"/>
          <p:nvPr/>
        </p:nvSpPr>
        <p:spPr>
          <a:xfrm>
            <a:off x="777240" y="4842730"/>
            <a:ext cx="10637215" cy="1005840"/>
          </a:xfrm>
          <a:prstGeom prst="rect">
            <a:avLst/>
          </a:prstGeom>
          <a:noFill/>
        </p:spPr>
        <p:txBody>
          <a:bodyPr wrap="square" lIns="0" rIns="0" tIns="0" bIns="0" anchor="t">
            <a:spAutoFit/>
          </a:bodyPr>
          <a:lstStyle/>
          <a:p>
            <a:pPr algn="l">
              <a:lnSpc>
                <a:spcPct val="128000"/>
              </a:lnSpc>
              <a:spcBef>
                <a:spcPts val="0"/>
              </a:spcBef>
              <a:spcAft>
                <a:spcPts val="0"/>
              </a:spcAft>
            </a:pPr>
            <a:r>
              <a:rPr sz="1200" b="1" i="0">
                <a:solidFill>
                  <a:srgbClr val="A51C30"/>
                </a:solidFill>
                <a:latin typeface="Calibri"/>
              </a:rPr>
              <a:t>Delta supplies the second clock. </a:t>
            </a:r>
            <a:r>
              <a:rPr sz="1200" b="0" i="0">
                <a:solidFill>
                  <a:srgbClr val="1C1C1E"/>
                </a:solidFill>
                <a:latin typeface="Calibri"/>
              </a:rPr>
              <a:t>VERSION AS OF gives the transaction-time axis natively — which is why Delta rather than a plain warehouse table is the right substrate for a regulated feature store. Because both clocks are recorded, the platform can also answer the question that arises when a source is restated: </a:t>
            </a:r>
            <a:r>
              <a:rPr sz="1200" b="1" i="0">
                <a:solidFill>
                  <a:srgbClr val="1C1C1E"/>
                </a:solidFill>
                <a:latin typeface="Calibri"/>
              </a:rPr>
              <a:t>which historical training sets, model versions and decisions used the superseded values?</a:t>
            </a:r>
            <a:r>
              <a:rPr sz="1200" b="0" i="0">
                <a:solidFill>
                  <a:srgbClr val="1C1C1E"/>
                </a:solidFill>
                <a:latin typeface="Calibri"/>
              </a:rPr>
              <a:t> With one clock, that question is unanswerable.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LEAKAGE VERIFICATION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Three layers, and what each actually proves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95</a:t>
            </a:r>
          </a:p>
        </p:txBody>
      </p:sp>
      <p:graphicFrame>
        <p:nvGraphicFramePr>
          <p:cNvPr id="10" name="Table 9"/>
          <p:cNvGraphicFramePr>
            <a:graphicFrameLocks noGrp="1"/>
          </p:cNvGraphicFramePr>
          <p:nvPr/>
        </p:nvGraphicFramePr>
        <p:xfrm>
          <a:off x="777240" y="1353312"/>
          <a:ext cx="10637214" cy="2150808"/>
        </p:xfrm>
        <a:graphic>
          <a:graphicData uri="http://schemas.openxmlformats.org/drawingml/2006/table">
            <a:tbl>
              <a:tblPr firstRow="1">
                <a:tableStyleId>{5C22544A-7EE6-4342-B048-85BDC9FD1C3A}</a:tableStyleId>
              </a:tblPr>
              <a:tblGrid>
                <a:gridCol w="2109103"/>
                <a:gridCol w="4585006"/>
                <a:gridCol w="3943105"/>
              </a:tblGrid>
              <a:tr h="333781">
                <a:tc>
                  <a:txBody>
                    <a:bodyPr wrap="square"/>
                    <a:lstStyle/>
                    <a:p>
                      <a:pPr algn="l"/>
                      <a:r>
                        <a:rPr sz="1100" b="1">
                          <a:solidFill>
                            <a:srgbClr val="FFFFFF"/>
                          </a:solidFill>
                          <a:latin typeface="Calibri"/>
                        </a:rPr>
                        <a:t>Layer</a:t>
                      </a:r>
                    </a:p>
                  </a:txBody>
                  <a:tcPr marL="82296" marR="64008" marT="32004" marB="32004" anchor="ctr">
                    <a:solidFill>
                      <a:srgbClr val="A51C30"/>
                    </a:solidFill>
                  </a:tcPr>
                </a:tc>
                <a:tc>
                  <a:txBody>
                    <a:bodyPr wrap="square"/>
                    <a:lstStyle/>
                    <a:p>
                      <a:pPr algn="l"/>
                      <a:r>
                        <a:rPr sz="1100" b="1">
                          <a:solidFill>
                            <a:srgbClr val="FFFFFF"/>
                          </a:solidFill>
                          <a:latin typeface="Calibri"/>
                        </a:rPr>
                        <a:t>What it does</a:t>
                      </a:r>
                    </a:p>
                  </a:txBody>
                  <a:tcPr marL="82296" marR="64008" marT="32004" marB="32004" anchor="ctr">
                    <a:solidFill>
                      <a:srgbClr val="A51C30"/>
                    </a:solidFill>
                  </a:tcPr>
                </a:tc>
                <a:tc>
                  <a:txBody>
                    <a:bodyPr wrap="square"/>
                    <a:lstStyle/>
                    <a:p>
                      <a:pPr algn="l"/>
                      <a:r>
                        <a:rPr sz="1100" b="1">
                          <a:solidFill>
                            <a:srgbClr val="FFFFFF"/>
                          </a:solidFill>
                          <a:latin typeface="Calibri"/>
                        </a:rPr>
                        <a:t>What it proves</a:t>
                      </a:r>
                    </a:p>
                  </a:txBody>
                  <a:tcPr marL="82296" marR="64008" marT="32004" marB="32004" anchor="ctr">
                    <a:solidFill>
                      <a:srgbClr val="A51C30"/>
                    </a:solidFill>
                  </a:tcPr>
                </a:tc>
              </a:tr>
              <a:tr h="683171">
                <a:tc>
                  <a:txBody>
                    <a:bodyPr wrap="square"/>
                    <a:lstStyle/>
                    <a:p>
                      <a:pPr algn="l"/>
                      <a:r>
                        <a:rPr sz="1050" b="1">
                          <a:solidFill>
                            <a:srgbClr val="A51C30"/>
                          </a:solidFill>
                          <a:latin typeface="Calibri"/>
                        </a:rPr>
                        <a:t>1 · Static analysis</a:t>
                      </a:r>
                    </a:p>
                  </a:txBody>
                  <a:tcPr marL="82296" marR="64008" marT="32004" marB="32004" anchor="ctr">
                    <a:solidFill>
                      <a:srgbClr val="FFFFFF"/>
                    </a:solidFill>
                  </a:tcPr>
                </a:tc>
                <a:tc>
                  <a:txBody>
                    <a:bodyPr wrap="square"/>
                    <a:lstStyle/>
                    <a:p>
                      <a:pPr algn="l"/>
                      <a:r>
                        <a:rPr sz="1050" b="0">
                          <a:solidFill>
                            <a:srgbClr val="1C1C1E"/>
                          </a:solidFill>
                          <a:latin typeface="Calibri"/>
                        </a:rPr>
                        <a:t>Parses the assembly query and requires BOTH a valid-time and a transaction-time bound. An assembly lacking either is rejected outright</a:t>
                      </a:r>
                    </a:p>
                  </a:txBody>
                  <a:tcPr marL="82296" marR="64008" marT="32004" marB="32004" anchor="ctr">
                    <a:solidFill>
                      <a:srgbClr val="FFFFFF"/>
                    </a:solidFill>
                  </a:tcPr>
                </a:tc>
                <a:tc>
                  <a:txBody>
                    <a:bodyPr wrap="square"/>
                    <a:lstStyle/>
                    <a:p>
                      <a:pPr algn="l"/>
                      <a:r>
                        <a:rPr sz="1050" b="0">
                          <a:solidFill>
                            <a:srgbClr val="1C1C1E"/>
                          </a:solidFill>
                          <a:latin typeface="Calibri"/>
                        </a:rPr>
                        <a:t>A genuine proof for the dominant leakage class. This is the strong check</a:t>
                      </a:r>
                    </a:p>
                  </a:txBody>
                  <a:tcPr marL="82296" marR="64008" marT="32004" marB="32004" anchor="ctr">
                    <a:solidFill>
                      <a:srgbClr val="FFFFFF"/>
                    </a:solidFill>
                  </a:tcPr>
                </a:tc>
              </a:tr>
              <a:tr h="566928">
                <a:tc>
                  <a:txBody>
                    <a:bodyPr wrap="square"/>
                    <a:lstStyle/>
                    <a:p>
                      <a:pPr algn="l"/>
                      <a:r>
                        <a:rPr sz="1050" b="1">
                          <a:solidFill>
                            <a:srgbClr val="A51C30"/>
                          </a:solidFill>
                          <a:latin typeface="Calibri"/>
                        </a:rPr>
                        <a:t>2 · Stratified sampling</a:t>
                      </a:r>
                    </a:p>
                  </a:txBody>
                  <a:tcPr marL="82296" marR="64008" marT="32004" marB="32004" anchor="ctr">
                    <a:solidFill>
                      <a:srgbClr val="F6F3EF"/>
                    </a:solidFill>
                  </a:tcPr>
                </a:tc>
                <a:tc>
                  <a:txBody>
                    <a:bodyPr wrap="square"/>
                    <a:lstStyle/>
                    <a:p>
                      <a:pPr algn="l"/>
                      <a:r>
                        <a:rPr sz="1050" b="0">
                          <a:solidFill>
                            <a:srgbClr val="1C1C1E"/>
                          </a:solidFill>
                          <a:latin typeface="Calibri"/>
                        </a:rPr>
                        <a:t>Independent recomputation over strata across label period, entity type and label value</a:t>
                      </a:r>
                    </a:p>
                  </a:txBody>
                  <a:tcPr marL="82296" marR="64008" marT="32004" marB="32004" anchor="ctr">
                    <a:solidFill>
                      <a:srgbClr val="F6F3EF"/>
                    </a:solidFill>
                  </a:tcPr>
                </a:tc>
                <a:tc>
                  <a:txBody>
                    <a:bodyPr wrap="square"/>
                    <a:lstStyle/>
                    <a:p>
                      <a:pPr algn="l"/>
                      <a:r>
                        <a:rPr sz="1050" b="0">
                          <a:solidFill>
                            <a:srgbClr val="1C1C1E"/>
                          </a:solidFill>
                          <a:latin typeface="Calibri"/>
                        </a:rPr>
                        <a:t>Detects systematic violations at a stated statistical power. Does not prove absence</a:t>
                      </a:r>
                    </a:p>
                  </a:txBody>
                  <a:tcPr marL="82296" marR="64008" marT="32004" marB="32004" anchor="ctr">
                    <a:solidFill>
                      <a:srgbClr val="F6F3EF"/>
                    </a:solidFill>
                  </a:tcPr>
                </a:tc>
              </a:tr>
              <a:tr h="566928">
                <a:tc>
                  <a:txBody>
                    <a:bodyPr wrap="square"/>
                    <a:lstStyle/>
                    <a:p>
                      <a:pPr algn="l"/>
                      <a:r>
                        <a:rPr sz="1050" b="1">
                          <a:solidFill>
                            <a:srgbClr val="A51C30"/>
                          </a:solidFill>
                          <a:latin typeface="Calibri"/>
                        </a:rPr>
                        <a:t>3 · Adversarial injection</a:t>
                      </a:r>
                    </a:p>
                  </a:txBody>
                  <a:tcPr marL="82296" marR="64008" marT="32004" marB="32004" anchor="ctr">
                    <a:solidFill>
                      <a:srgbClr val="FFFFFF"/>
                    </a:solidFill>
                  </a:tcPr>
                </a:tc>
                <a:tc>
                  <a:txBody>
                    <a:bodyPr wrap="square"/>
                    <a:lstStyle/>
                    <a:p>
                      <a:pPr algn="l"/>
                      <a:r>
                        <a:rPr sz="1050" b="0">
                          <a:solidFill>
                            <a:srgbClr val="1C1C1E"/>
                          </a:solidFill>
                          <a:latin typeface="Calibri"/>
                        </a:rPr>
                        <a:t>CI injects a deliberately leaky feature the verifier must catch</a:t>
                      </a:r>
                    </a:p>
                  </a:txBody>
                  <a:tcPr marL="82296" marR="64008" marT="32004" marB="32004" anchor="ctr">
                    <a:solidFill>
                      <a:srgbClr val="FFFFFF"/>
                    </a:solidFill>
                  </a:tcPr>
                </a:tc>
                <a:tc>
                  <a:txBody>
                    <a:bodyPr wrap="square"/>
                    <a:lstStyle/>
                    <a:p>
                      <a:pPr algn="l"/>
                      <a:r>
                        <a:rPr sz="1050" b="0">
                          <a:solidFill>
                            <a:srgbClr val="1C1C1E"/>
                          </a:solidFill>
                          <a:latin typeface="Calibri"/>
                        </a:rPr>
                        <a:t>Proves the verifier still works — the failure mode that would otherwise be silent and catastrophic</a:t>
                      </a:r>
                    </a:p>
                  </a:txBody>
                  <a:tcPr marL="82296" marR="64008" marT="32004" marB="32004" anchor="ctr">
                    <a:solidFill>
                      <a:srgbClr val="FFFFFF"/>
                    </a:solidFill>
                  </a:tcPr>
                </a:tc>
              </a:tr>
            </a:tbl>
          </a:graphicData>
        </a:graphic>
      </p:graphicFrame>
      <p:sp>
        <p:nvSpPr>
          <p:cNvPr id="11" name="Rectangle 10"/>
          <p:cNvSpPr/>
          <p:nvPr/>
        </p:nvSpPr>
        <p:spPr>
          <a:xfrm>
            <a:off x="777240" y="3778440"/>
            <a:ext cx="10637215"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1097280" y="3906456"/>
            <a:ext cx="9997135" cy="868680"/>
          </a:xfrm>
          <a:prstGeom prst="rect">
            <a:avLst/>
          </a:prstGeom>
          <a:noFill/>
        </p:spPr>
        <p:txBody>
          <a:bodyPr wrap="square" lIns="0" rIns="0" tIns="0" bIns="0" anchor="t">
            <a:spAutoFit/>
          </a:bodyPr>
          <a:lstStyle/>
          <a:p>
            <a:pPr algn="l">
              <a:spcBef>
                <a:spcPts val="0"/>
              </a:spcBef>
              <a:spcAft>
                <a:spcPts val="600"/>
              </a:spcAft>
            </a:pPr>
            <a:r>
              <a:rPr sz="1350" b="1" i="0">
                <a:solidFill>
                  <a:srgbClr val="FFFFFF"/>
                </a:solidFill>
                <a:latin typeface="Georgia"/>
              </a:rPr>
              <a:t>Law L-10, restated honestly</a:t>
            </a:r>
          </a:p>
          <a:p>
            <a:pPr>
              <a:lnSpc>
                <a:spcPct val="126000"/>
              </a:lnSpc>
              <a:spcBef>
                <a:spcPts val="0"/>
              </a:spcBef>
              <a:spcAft>
                <a:spcPts val="0"/>
              </a:spcAft>
            </a:pPr>
            <a:r>
              <a:rPr sz="1150" b="1" i="0">
                <a:solidFill>
                  <a:srgbClr val="FFFFFF"/>
                </a:solidFill>
                <a:latin typeface="Calibri"/>
              </a:rPr>
              <a:t>“No assembly passes without a static temporal bound, and sampling detects systematic violations at stated power.”  </a:t>
            </a:r>
            <a:r>
              <a:rPr sz="1150" b="0" i="0">
                <a:solidFill>
                  <a:srgbClr val="F6E0E4"/>
                </a:solidFill>
                <a:latin typeface="Calibri"/>
              </a:rPr>
              <a:t>Weaker than the original wording — and true. Adversarial review rejected the single-layer claim, because a leak confined to a rare, high-value segment is exactly where sampling fails and where the damage is greatest.</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THE DEFECT THAT REPORTED GREEN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online store must be version-namespaced</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96</a:t>
            </a:r>
          </a:p>
        </p:txBody>
      </p:sp>
      <p:sp>
        <p:nvSpPr>
          <p:cNvPr id="10" name="Rectangle 9"/>
          <p:cNvSpPr/>
          <p:nvPr/>
        </p:nvSpPr>
        <p:spPr>
          <a:xfrm>
            <a:off x="777240" y="1353312"/>
            <a:ext cx="10637215" cy="1188720"/>
          </a:xfrm>
          <a:prstGeom prst="rect">
            <a:avLst/>
          </a:prstGeom>
          <a:solidFill>
            <a:srgbClr val="8B2F2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TextBox 10"/>
          <p:cNvSpPr txBox="1"/>
          <p:nvPr/>
        </p:nvSpPr>
        <p:spPr>
          <a:xfrm>
            <a:off x="1097280" y="1499616"/>
            <a:ext cx="9997135" cy="960120"/>
          </a:xfrm>
          <a:prstGeom prst="rect">
            <a:avLst/>
          </a:prstGeom>
          <a:noFill/>
        </p:spPr>
        <p:txBody>
          <a:bodyPr wrap="square" lIns="0" rIns="0" tIns="0" bIns="0" anchor="t">
            <a:spAutoFit/>
          </a:bodyPr>
          <a:lstStyle/>
          <a:p>
            <a:pPr algn="l">
              <a:spcBef>
                <a:spcPts val="0"/>
              </a:spcBef>
              <a:spcAft>
                <a:spcPts val="600"/>
              </a:spcAft>
            </a:pPr>
            <a:r>
              <a:rPr sz="1350" b="1" i="0">
                <a:solidFill>
                  <a:srgbClr val="FFFFFF"/>
                </a:solidFill>
                <a:latin typeface="Georgia"/>
              </a:rPr>
              <a:t>Finding C-2 — the most serious defect adversarial review found</a:t>
            </a:r>
          </a:p>
          <a:p>
            <a:pPr>
              <a:lnSpc>
                <a:spcPct val="126000"/>
              </a:lnSpc>
              <a:spcBef>
                <a:spcPts val="0"/>
              </a:spcBef>
              <a:spcAft>
                <a:spcPts val="0"/>
              </a:spcAft>
            </a:pPr>
            <a:r>
              <a:rPr sz="1150" b="0" i="0">
                <a:solidFill>
                  <a:srgbClr val="F6E0E4"/>
                </a:solidFill>
                <a:latin typeface="Calibri"/>
              </a:rPr>
              <a:t>Contracts pinned feature view v7. The online store served whatever was latest. On a transformation change, a model would be served features it was never fitted on — </a:t>
            </a:r>
            <a:r>
              <a:rPr sz="1150" b="1" i="0">
                <a:solidFill>
                  <a:srgbClr val="FFFFFF"/>
                </a:solidFill>
                <a:latin typeface="Calibri"/>
              </a:rPr>
              <a:t>with the contract digest still matching and every monitor green.</a:t>
            </a:r>
            <a:r>
              <a:rPr sz="1150" b="0" i="0">
                <a:solidFill>
                  <a:srgbClr val="F6E0E4"/>
                </a:solidFill>
                <a:latin typeface="Calibri"/>
              </a:rPr>
              <a:t>  Silently wrong production scoring, introduced by the very platform that exists to prevent it.</a:t>
            </a:r>
          </a:p>
        </p:txBody>
      </p:sp>
      <p:sp>
        <p:nvSpPr>
          <p:cNvPr id="12" name="Rectangle 11"/>
          <p:cNvSpPr/>
          <p:nvPr/>
        </p:nvSpPr>
        <p:spPr>
          <a:xfrm>
            <a:off x="777240" y="2770632"/>
            <a:ext cx="4893118" cy="80279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77240" y="2770632"/>
            <a:ext cx="41148" cy="80279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978408" y="2862072"/>
            <a:ext cx="4527358"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THE FIX — VERSION IS PART OF THE KEY</a:t>
            </a:r>
          </a:p>
        </p:txBody>
      </p:sp>
      <p:sp>
        <p:nvSpPr>
          <p:cNvPr id="15" name="TextBox 14"/>
          <p:cNvSpPr txBox="1"/>
          <p:nvPr/>
        </p:nvSpPr>
        <p:spPr>
          <a:xfrm>
            <a:off x="978408" y="3163824"/>
            <a:ext cx="4527358" cy="327309"/>
          </a:xfrm>
          <a:prstGeom prst="rect">
            <a:avLst/>
          </a:prstGeom>
          <a:noFill/>
        </p:spPr>
        <p:txBody>
          <a:bodyPr wrap="square" lIns="0" rIns="0" tIns="0" bIns="0" anchor="t">
            <a:spAutoFit/>
          </a:bodyPr>
          <a:lstStyle/>
          <a:p>
            <a:pPr algn="l">
              <a:lnSpc>
                <a:spcPct val="134000"/>
              </a:lnSpc>
              <a:spcBef>
                <a:spcPts val="0"/>
              </a:spcBef>
              <a:spcAft>
                <a:spcPts val="0"/>
              </a:spcAft>
            </a:pPr>
            <a:r>
              <a:rPr sz="1100" b="0" i="0">
                <a:solidFill>
                  <a:srgbClr val="1C1C1E"/>
                </a:solidFill>
                <a:latin typeface="Consolas"/>
              </a:rPr>
              <a:t>key = f"fv:{feature_view_id}:v{version}:{entity_id}"</a:t>
            </a:r>
          </a:p>
        </p:txBody>
      </p:sp>
      <p:graphicFrame>
        <p:nvGraphicFramePr>
          <p:cNvPr id="16" name="Table 15"/>
          <p:cNvGraphicFramePr>
            <a:graphicFrameLocks noGrp="1"/>
          </p:cNvGraphicFramePr>
          <p:nvPr/>
        </p:nvGraphicFramePr>
        <p:xfrm>
          <a:off x="6095847" y="2724912"/>
          <a:ext cx="5318606" cy="1703374"/>
        </p:xfrm>
        <a:graphic>
          <a:graphicData uri="http://schemas.openxmlformats.org/drawingml/2006/table">
            <a:tbl>
              <a:tblPr firstRow="1">
                <a:tableStyleId>{5C22544A-7EE6-4342-B048-85BDC9FD1C3A}</a:tableStyleId>
              </a:tblPr>
              <a:tblGrid>
                <a:gridCol w="1506938"/>
                <a:gridCol w="3811668"/>
              </a:tblGrid>
              <a:tr h="329184">
                <a:tc>
                  <a:txBody>
                    <a:bodyPr wrap="square"/>
                    <a:lstStyle/>
                    <a:p>
                      <a:pPr algn="l"/>
                      <a:r>
                        <a:rPr sz="1050" b="1">
                          <a:solidFill>
                            <a:srgbClr val="FFFFFF"/>
                          </a:solidFill>
                          <a:latin typeface="Calibri"/>
                        </a:rPr>
                        <a:t>Phase</a:t>
                      </a:r>
                    </a:p>
                  </a:txBody>
                  <a:tcPr marL="82296" marR="64008" marT="32004" marB="32004" anchor="ctr">
                    <a:solidFill>
                      <a:srgbClr val="A51C30"/>
                    </a:solidFill>
                  </a:tcPr>
                </a:tc>
                <a:tc>
                  <a:txBody>
                    <a:bodyPr wrap="square"/>
                    <a:lstStyle/>
                    <a:p>
                      <a:pPr algn="l"/>
                      <a:r>
                        <a:rPr sz="1050" b="1">
                          <a:solidFill>
                            <a:srgbClr val="FFFFFF"/>
                          </a:solidFill>
                          <a:latin typeface="Calibri"/>
                        </a:rPr>
                        <a:t>Behaviour</a:t>
                      </a:r>
                    </a:p>
                  </a:txBody>
                  <a:tcPr marL="82296" marR="64008" marT="32004" marB="32004" anchor="ctr">
                    <a:solidFill>
                      <a:srgbClr val="A51C30"/>
                    </a:solidFill>
                  </a:tcPr>
                </a:tc>
              </a:tr>
              <a:tr h="365760">
                <a:tc>
                  <a:txBody>
                    <a:bodyPr wrap="square"/>
                    <a:lstStyle/>
                    <a:p>
                      <a:pPr algn="l"/>
                      <a:r>
                        <a:rPr sz="1050" b="1">
                          <a:solidFill>
                            <a:srgbClr val="A51C30"/>
                          </a:solidFill>
                          <a:latin typeface="Calibri"/>
                        </a:rPr>
                        <a:t>Publish v(n+1)</a:t>
                      </a:r>
                    </a:p>
                  </a:txBody>
                  <a:tcPr marL="82296" marR="64008" marT="32004" marB="32004" anchor="ctr">
                    <a:solidFill>
                      <a:srgbClr val="FFFFFF"/>
                    </a:solidFill>
                  </a:tcPr>
                </a:tc>
                <a:tc>
                  <a:txBody>
                    <a:bodyPr wrap="square"/>
                    <a:lstStyle/>
                    <a:p>
                      <a:pPr algn="l"/>
                      <a:r>
                        <a:rPr sz="1050" b="0">
                          <a:solidFill>
                            <a:srgbClr val="1C1C1E"/>
                          </a:solidFill>
                          <a:latin typeface="Calibri"/>
                        </a:rPr>
                        <a:t>Begin dual-write to both namespaces</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Steady state</a:t>
                      </a:r>
                    </a:p>
                  </a:txBody>
                  <a:tcPr marL="82296" marR="64008" marT="32004" marB="32004" anchor="ctr">
                    <a:solidFill>
                      <a:srgbClr val="F6F3EF"/>
                    </a:solidFill>
                  </a:tcPr>
                </a:tc>
                <a:tc>
                  <a:txBody>
                    <a:bodyPr wrap="square"/>
                    <a:lstStyle/>
                    <a:p>
                      <a:pPr algn="l"/>
                      <a:r>
                        <a:rPr sz="1050" b="0">
                          <a:solidFill>
                            <a:srgbClr val="1C1C1E"/>
                          </a:solidFill>
                          <a:latin typeface="Calibri"/>
                        </a:rPr>
                        <a:t>Serving reads the namespace PINNED BY THE CONTRACT, never “latest”</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Retire v(n)</a:t>
                      </a:r>
                    </a:p>
                  </a:txBody>
                  <a:tcPr marL="82296" marR="64008" marT="32004" marB="32004" anchor="ctr">
                    <a:solidFill>
                      <a:srgbClr val="FFFFFF"/>
                    </a:solidFill>
                  </a:tcPr>
                </a:tc>
                <a:tc>
                  <a:txBody>
                    <a:bodyPr wrap="square"/>
                    <a:lstStyle/>
                    <a:p>
                      <a:pPr algn="l"/>
                      <a:r>
                        <a:rPr sz="1050" b="0">
                          <a:solidFill>
                            <a:srgbClr val="1C1C1E"/>
                          </a:solidFill>
                          <a:latin typeface="Calibri"/>
                        </a:rPr>
                        <a:t>Only when zero active contracts reference it — a governed action with consumer-impact check</a:t>
                      </a:r>
                    </a:p>
                  </a:txBody>
                  <a:tcPr marL="82296" marR="64008" marT="32004" marB="32004" anchor="ctr">
                    <a:solidFill>
                      <a:srgbClr val="FFFFFF"/>
                    </a:solidFill>
                  </a:tcPr>
                </a:tc>
              </a:tr>
            </a:tbl>
          </a:graphicData>
        </a:graphic>
      </p:graphicFrame>
      <p:sp>
        <p:nvSpPr>
          <p:cNvPr id="17" name="TextBox 16"/>
          <p:cNvSpPr txBox="1"/>
          <p:nvPr/>
        </p:nvSpPr>
        <p:spPr>
          <a:xfrm>
            <a:off x="777240" y="3822191"/>
            <a:ext cx="4893118" cy="1188720"/>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A51C30"/>
                </a:solidFill>
                <a:latin typeface="Calibri"/>
              </a:rPr>
              <a:t>Law L-17 checks this in production, continuously. </a:t>
            </a:r>
            <a:r>
              <a:rPr sz="1150" b="0" i="0">
                <a:solidFill>
                  <a:srgbClr val="1C1C1E"/>
                </a:solidFill>
                <a:latin typeface="Calibri"/>
              </a:rPr>
              <a:t>The namespace served must equal the namespace pinned. C-2 was invisible to every design-time check, so its guard is a runtime one.</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EVALUATION AT SCALE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Monitoring pipeline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97</a:t>
            </a:r>
          </a:p>
        </p:txBody>
      </p:sp>
      <p:sp>
        <p:nvSpPr>
          <p:cNvPr id="10" name="Rectangle 9"/>
          <p:cNvSpPr/>
          <p:nvPr/>
        </p:nvSpPr>
        <p:spPr>
          <a:xfrm>
            <a:off x="777240" y="1444752"/>
            <a:ext cx="1347172" cy="777240"/>
          </a:xfrm>
          <a:prstGeom prst="rect">
            <a:avLst/>
          </a:prstGeom>
          <a:solidFill>
            <a:srgbClr val="4A3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TextBox 10"/>
          <p:cNvSpPr txBox="1"/>
          <p:nvPr/>
        </p:nvSpPr>
        <p:spPr>
          <a:xfrm>
            <a:off x="850392" y="1517904"/>
            <a:ext cx="1200868" cy="640080"/>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Calibri"/>
              </a:rPr>
              <a:t>inference_log</a:t>
            </a:r>
          </a:p>
          <a:p>
            <a:pPr algn="ctr">
              <a:spcBef>
                <a:spcPts val="0"/>
              </a:spcBef>
              <a:spcAft>
                <a:spcPts val="0"/>
              </a:spcAft>
            </a:pPr>
            <a:r>
              <a:rPr sz="900" b="0" i="0">
                <a:solidFill>
                  <a:srgbClr val="FFFFFF"/>
                </a:solidFill>
                <a:latin typeface="Calibri"/>
              </a:rPr>
              <a:t>Delta + CDF</a:t>
            </a:r>
          </a:p>
        </p:txBody>
      </p:sp>
      <p:cxnSp>
        <p:nvCxnSpPr>
          <p:cNvPr id="12" name="Connector 11"/>
          <p:cNvCxnSpPr/>
          <p:nvPr/>
        </p:nvCxnSpPr>
        <p:spPr>
          <a:xfrm>
            <a:off x="2124412" y="1833372"/>
            <a:ext cx="201168" cy="0"/>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325580" y="1444752"/>
            <a:ext cx="1347172" cy="77724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2398732" y="1517904"/>
            <a:ext cx="1200868" cy="640080"/>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Calibri"/>
              </a:rPr>
              <a:t>Incremental reader</a:t>
            </a:r>
          </a:p>
          <a:p>
            <a:pPr algn="ctr">
              <a:spcBef>
                <a:spcPts val="0"/>
              </a:spcBef>
              <a:spcAft>
                <a:spcPts val="0"/>
              </a:spcAft>
            </a:pPr>
            <a:r>
              <a:rPr sz="900" b="0" i="0">
                <a:solidFill>
                  <a:srgbClr val="FFFFFF"/>
                </a:solidFill>
                <a:latin typeface="Calibri"/>
              </a:rPr>
              <a:t>changed partitions only</a:t>
            </a:r>
          </a:p>
        </p:txBody>
      </p:sp>
      <p:cxnSp>
        <p:nvCxnSpPr>
          <p:cNvPr id="15" name="Connector 14"/>
          <p:cNvCxnSpPr/>
          <p:nvPr/>
        </p:nvCxnSpPr>
        <p:spPr>
          <a:xfrm>
            <a:off x="3672752" y="1833372"/>
            <a:ext cx="201168" cy="0"/>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3873920" y="1444752"/>
            <a:ext cx="1347172" cy="77724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3947072" y="1517904"/>
            <a:ext cx="1200868" cy="640080"/>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Calibri"/>
              </a:rPr>
              <a:t>Metric compute</a:t>
            </a:r>
          </a:p>
          <a:p>
            <a:pPr algn="ctr">
              <a:spcBef>
                <a:spcPts val="0"/>
              </a:spcBef>
              <a:spcAft>
                <a:spcPts val="0"/>
              </a:spcAft>
            </a:pPr>
            <a:r>
              <a:rPr sz="900" b="0" i="0">
                <a:solidFill>
                  <a:srgbClr val="FFFFFF"/>
                </a:solidFill>
                <a:latin typeface="Calibri"/>
              </a:rPr>
              <a:t>Spark · per monitor × slice</a:t>
            </a:r>
          </a:p>
        </p:txBody>
      </p:sp>
      <p:cxnSp>
        <p:nvCxnSpPr>
          <p:cNvPr id="18" name="Connector 17"/>
          <p:cNvCxnSpPr/>
          <p:nvPr/>
        </p:nvCxnSpPr>
        <p:spPr>
          <a:xfrm>
            <a:off x="5221093" y="1833372"/>
            <a:ext cx="201168" cy="0"/>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5422261" y="1444752"/>
            <a:ext cx="1347172" cy="777240"/>
          </a:xfrm>
          <a:prstGeom prst="rect">
            <a:avLst/>
          </a:prstGeom>
          <a:solidFill>
            <a:srgbClr val="4A3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5495413" y="1517904"/>
            <a:ext cx="1200868" cy="640080"/>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Calibri"/>
              </a:rPr>
              <a:t>observations</a:t>
            </a:r>
          </a:p>
          <a:p>
            <a:pPr algn="ctr">
              <a:spcBef>
                <a:spcPts val="0"/>
              </a:spcBef>
              <a:spcAft>
                <a:spcPts val="0"/>
              </a:spcAft>
            </a:pPr>
            <a:r>
              <a:rPr sz="900" b="0" i="0">
                <a:solidFill>
                  <a:srgbClr val="FFFFFF"/>
                </a:solidFill>
                <a:latin typeface="Calibri"/>
              </a:rPr>
              <a:t>Delta</a:t>
            </a:r>
          </a:p>
        </p:txBody>
      </p:sp>
      <p:cxnSp>
        <p:nvCxnSpPr>
          <p:cNvPr id="21" name="Connector 20"/>
          <p:cNvCxnSpPr/>
          <p:nvPr/>
        </p:nvCxnSpPr>
        <p:spPr>
          <a:xfrm>
            <a:off x="6769433" y="1833372"/>
            <a:ext cx="201168" cy="0"/>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6970601" y="1444752"/>
            <a:ext cx="1347172" cy="77724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7043753" y="1517904"/>
            <a:ext cx="1200868" cy="640080"/>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Calibri"/>
              </a:rPr>
              <a:t>Threshold ladder</a:t>
            </a:r>
          </a:p>
          <a:p>
            <a:pPr algn="ctr">
              <a:spcBef>
                <a:spcPts val="0"/>
              </a:spcBef>
              <a:spcAft>
                <a:spcPts val="0"/>
              </a:spcAft>
            </a:pPr>
            <a:r>
              <a:rPr sz="900" b="0" i="0">
                <a:solidFill>
                  <a:srgbClr val="FFFFFF"/>
                </a:solidFill>
                <a:latin typeface="Calibri"/>
              </a:rPr>
              <a:t>per tier</a:t>
            </a:r>
          </a:p>
        </p:txBody>
      </p:sp>
      <p:cxnSp>
        <p:nvCxnSpPr>
          <p:cNvPr id="24" name="Connector 23"/>
          <p:cNvCxnSpPr/>
          <p:nvPr/>
        </p:nvCxnSpPr>
        <p:spPr>
          <a:xfrm>
            <a:off x="8317774" y="1833372"/>
            <a:ext cx="201168" cy="0"/>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8518942" y="1444752"/>
            <a:ext cx="1347172" cy="7772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TextBox 25"/>
          <p:cNvSpPr txBox="1"/>
          <p:nvPr/>
        </p:nvSpPr>
        <p:spPr>
          <a:xfrm>
            <a:off x="8592094" y="1517904"/>
            <a:ext cx="1200868" cy="640080"/>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Calibri"/>
              </a:rPr>
              <a:t>Correlated finding</a:t>
            </a:r>
          </a:p>
        </p:txBody>
      </p:sp>
      <p:cxnSp>
        <p:nvCxnSpPr>
          <p:cNvPr id="27" name="Connector 26"/>
          <p:cNvCxnSpPr/>
          <p:nvPr/>
        </p:nvCxnSpPr>
        <p:spPr>
          <a:xfrm>
            <a:off x="9866114" y="1833372"/>
            <a:ext cx="201168" cy="0"/>
          </a:xfrm>
          <a:prstGeom prst="line">
            <a:avLst/>
          </a:prstGeom>
          <a:ln w="19050">
            <a:solidFill>
              <a:srgbClr val="4A4F57"/>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10067282" y="1444752"/>
            <a:ext cx="1347172" cy="777240"/>
          </a:xfrm>
          <a:prstGeom prst="rect">
            <a:avLst/>
          </a:prstGeom>
          <a:solidFill>
            <a:srgbClr val="2D501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9" name="TextBox 28"/>
          <p:cNvSpPr txBox="1"/>
          <p:nvPr/>
        </p:nvSpPr>
        <p:spPr>
          <a:xfrm>
            <a:off x="10140434" y="1517904"/>
            <a:ext cx="1200868" cy="640080"/>
          </a:xfrm>
          <a:prstGeom prst="rect">
            <a:avLst/>
          </a:prstGeom>
          <a:noFill/>
        </p:spPr>
        <p:txBody>
          <a:bodyPr wrap="square" lIns="0" rIns="0" tIns="0" bIns="0" anchor="ctr">
            <a:spAutoFit/>
          </a:bodyPr>
          <a:lstStyle/>
          <a:p>
            <a:pPr algn="ctr">
              <a:spcBef>
                <a:spcPts val="0"/>
              </a:spcBef>
              <a:spcAft>
                <a:spcPts val="0"/>
              </a:spcAft>
            </a:pPr>
            <a:r>
              <a:rPr sz="1000" b="1" i="0">
                <a:solidFill>
                  <a:srgbClr val="FFFFFF"/>
                </a:solidFill>
                <a:latin typeface="Calibri"/>
              </a:rPr>
              <a:t>Warrant restriction</a:t>
            </a:r>
          </a:p>
        </p:txBody>
      </p:sp>
      <p:sp>
        <p:nvSpPr>
          <p:cNvPr id="30" name="TextBox 29"/>
          <p:cNvSpPr txBox="1"/>
          <p:nvPr/>
        </p:nvSpPr>
        <p:spPr>
          <a:xfrm>
            <a:off x="777240" y="2450591"/>
            <a:ext cx="4999491" cy="219456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Delayed labels are the hard part</a:t>
            </a:r>
          </a:p>
          <a:p>
            <a:pPr>
              <a:lnSpc>
                <a:spcPct val="126000"/>
              </a:lnSpc>
              <a:spcBef>
                <a:spcPts val="0"/>
              </a:spcBef>
              <a:spcAft>
                <a:spcPts val="800"/>
              </a:spcAft>
            </a:pPr>
            <a:r>
              <a:rPr sz="1150" b="0" i="0">
                <a:solidFill>
                  <a:srgbClr val="4A4F57"/>
                </a:solidFill>
                <a:latin typeface="Calibri"/>
              </a:rPr>
              <a:t>Credit outcomes mature over months. Monitors declare a label_delay; performance metrics are computed on vintage cohorts whose outcome window has closed, and the UI shows both the metric and the maturity of the cohort it came from.</a:t>
            </a:r>
          </a:p>
          <a:p>
            <a:pPr>
              <a:lnSpc>
                <a:spcPct val="126000"/>
              </a:lnSpc>
              <a:spcBef>
                <a:spcPts val="0"/>
              </a:spcBef>
              <a:spcAft>
                <a:spcPts val="600"/>
              </a:spcAft>
            </a:pPr>
            <a:r>
              <a:rPr sz="1150" b="1" i="0">
                <a:solidFill>
                  <a:srgbClr val="1C1C1E"/>
                </a:solidFill>
                <a:latin typeface="Calibri"/>
              </a:rPr>
              <a:t>Reporting an AUC on immature outcomes is worse than reporting nothing</a:t>
            </a:r>
            <a:r>
              <a:rPr sz="1150" b="0" i="0">
                <a:solidFill>
                  <a:srgbClr val="4A4F57"/>
                </a:solidFill>
                <a:latin typeface="Calibri"/>
              </a:rPr>
              <a:t> — it is confidently wrong in a direction nobody checks.</a:t>
            </a:r>
          </a:p>
        </p:txBody>
      </p:sp>
      <p:sp>
        <p:nvSpPr>
          <p:cNvPr id="31" name="TextBox 30"/>
          <p:cNvSpPr txBox="1"/>
          <p:nvPr/>
        </p:nvSpPr>
        <p:spPr>
          <a:xfrm>
            <a:off x="6414964" y="2450591"/>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Metric sets are seeded per trainability class</a:t>
            </a:r>
          </a:p>
        </p:txBody>
      </p:sp>
      <p:graphicFrame>
        <p:nvGraphicFramePr>
          <p:cNvPr id="32" name="Table 31"/>
          <p:cNvGraphicFramePr>
            <a:graphicFrameLocks noGrp="1"/>
          </p:cNvGraphicFramePr>
          <p:nvPr/>
        </p:nvGraphicFramePr>
        <p:xfrm>
          <a:off x="6414964" y="2798064"/>
          <a:ext cx="4999490" cy="2570480"/>
        </p:xfrm>
        <a:graphic>
          <a:graphicData uri="http://schemas.openxmlformats.org/drawingml/2006/table">
            <a:tbl>
              <a:tblPr firstRow="1">
                <a:tableStyleId>{5C22544A-7EE6-4342-B048-85BDC9FD1C3A}</a:tableStyleId>
              </a:tblPr>
              <a:tblGrid>
                <a:gridCol w="1491076"/>
                <a:gridCol w="3508414"/>
              </a:tblGrid>
              <a:tr h="329184">
                <a:tc>
                  <a:txBody>
                    <a:bodyPr wrap="square"/>
                    <a:lstStyle/>
                    <a:p>
                      <a:pPr algn="l"/>
                      <a:r>
                        <a:rPr sz="1000" b="1">
                          <a:solidFill>
                            <a:srgbClr val="FFFFFF"/>
                          </a:solidFill>
                          <a:latin typeface="Calibri"/>
                        </a:rPr>
                        <a:t>Class</a:t>
                      </a:r>
                    </a:p>
                  </a:txBody>
                  <a:tcPr marL="82296" marR="64008" marT="32004" marB="32004" anchor="ctr">
                    <a:solidFill>
                      <a:srgbClr val="A51C30"/>
                    </a:solidFill>
                  </a:tcPr>
                </a:tc>
                <a:tc>
                  <a:txBody>
                    <a:bodyPr wrap="square"/>
                    <a:lstStyle/>
                    <a:p>
                      <a:pPr algn="l"/>
                      <a:r>
                        <a:rPr sz="1000" b="1">
                          <a:solidFill>
                            <a:srgbClr val="FFFFFF"/>
                          </a:solidFill>
                          <a:latin typeface="Calibri"/>
                        </a:rPr>
                        <a:t>Default metrics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T1 calibrated</a:t>
                      </a:r>
                    </a:p>
                  </a:txBody>
                  <a:tcPr marL="82296" marR="64008" marT="32004" marB="32004" anchor="ctr">
                    <a:solidFill>
                      <a:srgbClr val="FFFFFF"/>
                    </a:solidFill>
                  </a:tcPr>
                </a:tc>
                <a:tc>
                  <a:txBody>
                    <a:bodyPr wrap="square"/>
                    <a:lstStyle/>
                    <a:p>
                      <a:pPr algn="l"/>
                      <a:r>
                        <a:rPr sz="1000" b="0">
                          <a:solidFill>
                            <a:srgbClr val="1C1C1E"/>
                          </a:solidFill>
                          <a:latin typeface="Calibri"/>
                        </a:rPr>
                        <a:t>Calibration error, arbitrage-free checks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T2 / T3</a:t>
                      </a:r>
                    </a:p>
                  </a:txBody>
                  <a:tcPr marL="82296" marR="64008" marT="32004" marB="32004" anchor="ctr">
                    <a:solidFill>
                      <a:srgbClr val="F6F3EF"/>
                    </a:solidFill>
                  </a:tcPr>
                </a:tc>
                <a:tc>
                  <a:txBody>
                    <a:bodyPr wrap="square"/>
                    <a:lstStyle/>
                    <a:p>
                      <a:pPr algn="l"/>
                      <a:r>
                        <a:rPr sz="1000" b="0">
                          <a:solidFill>
                            <a:srgbClr val="1C1C1E"/>
                          </a:solidFill>
                          <a:latin typeface="Calibri"/>
                        </a:rPr>
                        <a:t>KS, AUC, PSI, Hosmer–Lemeshow</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T4 adaptive</a:t>
                      </a:r>
                    </a:p>
                  </a:txBody>
                  <a:tcPr marL="82296" marR="64008" marT="32004" marB="32004" anchor="ctr">
                    <a:solidFill>
                      <a:srgbClr val="FFFFFF"/>
                    </a:solidFill>
                  </a:tcPr>
                </a:tc>
                <a:tc>
                  <a:txBody>
                    <a:bodyPr wrap="square"/>
                    <a:lstStyle/>
                    <a:p>
                      <a:pPr algn="l"/>
                      <a:r>
                        <a:rPr sz="1000" b="0">
                          <a:solidFill>
                            <a:srgbClr val="1C1C1E"/>
                          </a:solidFill>
                          <a:latin typeface="Calibri"/>
                        </a:rPr>
                        <a:t>Parameter-change magnitude, parallel outcomes analysis</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T5 foundation</a:t>
                      </a:r>
                    </a:p>
                  </a:txBody>
                  <a:tcPr marL="82296" marR="64008" marT="32004" marB="32004" anchor="ctr">
                    <a:solidFill>
                      <a:srgbClr val="F6F3EF"/>
                    </a:solidFill>
                  </a:tcPr>
                </a:tc>
                <a:tc>
                  <a:txBody>
                    <a:bodyPr wrap="square"/>
                    <a:lstStyle/>
                    <a:p>
                      <a:pPr algn="l"/>
                      <a:r>
                        <a:rPr sz="1000" b="0">
                          <a:solidFill>
                            <a:srgbClr val="1C1C1E"/>
                          </a:solidFill>
                          <a:latin typeface="Calibri"/>
                        </a:rPr>
                        <a:t>Groundedness, hallucination rate, human edit distance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T6 opaque</a:t>
                      </a:r>
                    </a:p>
                  </a:txBody>
                  <a:tcPr marL="82296" marR="64008" marT="32004" marB="32004" anchor="ctr">
                    <a:solidFill>
                      <a:srgbClr val="FFFFFF"/>
                    </a:solidFill>
                  </a:tcPr>
                </a:tc>
                <a:tc>
                  <a:txBody>
                    <a:bodyPr wrap="square"/>
                    <a:lstStyle/>
                    <a:p>
                      <a:pPr algn="l"/>
                      <a:r>
                        <a:rPr sz="1000" b="0">
                          <a:solidFill>
                            <a:srgbClr val="1C1C1E"/>
                          </a:solidFill>
                          <a:latin typeface="Calibri"/>
                        </a:rPr>
                        <a:t>Own-outcomes divergence</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T8 authored</a:t>
                      </a:r>
                    </a:p>
                  </a:txBody>
                  <a:tcPr marL="82296" marR="64008" marT="32004" marB="32004" anchor="ctr">
                    <a:solidFill>
                      <a:srgbClr val="F6F3EF"/>
                    </a:solidFill>
                  </a:tcPr>
                </a:tc>
                <a:tc>
                  <a:txBody>
                    <a:bodyPr wrap="square"/>
                    <a:lstStyle/>
                    <a:p>
                      <a:pPr algn="l"/>
                      <a:r>
                        <a:rPr sz="1000" b="0">
                          <a:solidFill>
                            <a:srgbClr val="1C1C1E"/>
                          </a:solidFill>
                          <a:latin typeface="Calibri"/>
                        </a:rPr>
                        <a:t>Rule-fire distribution, exception rate</a:t>
                      </a:r>
                    </a:p>
                  </a:txBody>
                  <a:tcPr marL="82296" marR="64008" marT="32004" marB="32004" anchor="ctr">
                    <a:solidFill>
                      <a:srgbClr val="F6F3EF"/>
                    </a:solidFill>
                  </a:tcPr>
                </a:tc>
              </a:tr>
            </a:tbl>
          </a:graphicData>
        </a:graphic>
      </p:graphicFrame>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INGESTION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Telemetry — monitoring's missing half</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98</a:t>
            </a:r>
          </a:p>
        </p:txBody>
      </p:sp>
      <p:sp>
        <p:nvSpPr>
          <p:cNvPr id="10" name="TextBox 9"/>
          <p:cNvSpPr txBox="1"/>
          <p:nvPr/>
        </p:nvSpPr>
        <p:spPr>
          <a:xfrm>
            <a:off x="777240" y="1353312"/>
            <a:ext cx="10637215" cy="45720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C1C1E"/>
                </a:solidFill>
                <a:latin typeface="Calibri"/>
              </a:rPr>
              <a:t>Monitors could always be evaluated. They had to be </a:t>
            </a:r>
            <a:r>
              <a:rPr sz="1250" b="1" i="0">
                <a:solidFill>
                  <a:srgbClr val="1C1C1E"/>
                </a:solidFill>
                <a:latin typeface="Calibri"/>
              </a:rPr>
              <a:t>handed</a:t>
            </a:r>
            <a:r>
              <a:rPr sz="1250" b="0" i="0">
                <a:solidFill>
                  <a:srgbClr val="1C1C1E"/>
                </a:solidFill>
                <a:latin typeface="Calibri"/>
              </a:rPr>
              <a:t> their rows — which made monitoring something somebody remembered to do, and left the scheduler able only to record that a monitor had stopped.</a:t>
            </a:r>
          </a:p>
        </p:txBody>
      </p:sp>
      <p:sp>
        <p:nvSpPr>
          <p:cNvPr id="11" name="Rectangle 10"/>
          <p:cNvSpPr/>
          <p:nvPr/>
        </p:nvSpPr>
        <p:spPr>
          <a:xfrm>
            <a:off x="777240" y="1920240"/>
            <a:ext cx="5090007" cy="105156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920240"/>
            <a:ext cx="509000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2048256"/>
            <a:ext cx="4614519" cy="868680"/>
          </a:xfrm>
          <a:prstGeom prst="rect">
            <a:avLst/>
          </a:prstGeom>
          <a:noFill/>
        </p:spPr>
        <p:txBody>
          <a:bodyPr wrap="square" lIns="0" rIns="0" tIns="0" bIns="0" anchor="t">
            <a:spAutoFit/>
          </a:bodyPr>
          <a:lstStyle/>
          <a:p>
            <a:pPr algn="l">
              <a:spcBef>
                <a:spcPts val="0"/>
              </a:spcBef>
              <a:spcAft>
                <a:spcPts val="300"/>
              </a:spcAft>
            </a:pPr>
            <a:r>
              <a:rPr sz="1300" b="1" i="0">
                <a:solidFill>
                  <a:srgbClr val="A51C30"/>
                </a:solidFill>
                <a:latin typeface="Consolas"/>
              </a:rPr>
              <a:t>scores</a:t>
            </a:r>
          </a:p>
          <a:p>
            <a:pPr>
              <a:lnSpc>
                <a:spcPct val="120000"/>
              </a:lnSpc>
              <a:spcBef>
                <a:spcPts val="0"/>
              </a:spcBef>
              <a:spcAft>
                <a:spcPts val="0"/>
              </a:spcAft>
            </a:pPr>
            <a:r>
              <a:rPr sz="1050" b="0" i="0">
                <a:solidFill>
                  <a:srgbClr val="4A4F57"/>
                </a:solidFill>
                <a:latin typeface="Calibri"/>
              </a:rPr>
              <a:t>What the model produced, when it produced it. entity_id · scored_at · score</a:t>
            </a:r>
          </a:p>
        </p:txBody>
      </p:sp>
      <p:sp>
        <p:nvSpPr>
          <p:cNvPr id="14" name="Rectangle 13"/>
          <p:cNvSpPr/>
          <p:nvPr/>
        </p:nvSpPr>
        <p:spPr>
          <a:xfrm>
            <a:off x="6324447" y="1920240"/>
            <a:ext cx="5090007" cy="105156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324447" y="1920240"/>
            <a:ext cx="5090007" cy="45720"/>
          </a:xfrm>
          <a:prstGeom prst="rect">
            <a:avLst/>
          </a:prstGeom>
          <a:solidFill>
            <a:srgbClr val="2E40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562191" y="2048256"/>
            <a:ext cx="4614519" cy="868680"/>
          </a:xfrm>
          <a:prstGeom prst="rect">
            <a:avLst/>
          </a:prstGeom>
          <a:noFill/>
        </p:spPr>
        <p:txBody>
          <a:bodyPr wrap="square" lIns="0" rIns="0" tIns="0" bIns="0" anchor="t">
            <a:spAutoFit/>
          </a:bodyPr>
          <a:lstStyle/>
          <a:p>
            <a:pPr algn="l">
              <a:spcBef>
                <a:spcPts val="0"/>
              </a:spcBef>
              <a:spcAft>
                <a:spcPts val="300"/>
              </a:spcAft>
            </a:pPr>
            <a:r>
              <a:rPr sz="1300" b="1" i="0">
                <a:solidFill>
                  <a:srgbClr val="2E4057"/>
                </a:solidFill>
                <a:latin typeface="Consolas"/>
              </a:rPr>
              <a:t>outcomes</a:t>
            </a:r>
          </a:p>
          <a:p>
            <a:pPr>
              <a:lnSpc>
                <a:spcPct val="120000"/>
              </a:lnSpc>
              <a:spcBef>
                <a:spcPts val="0"/>
              </a:spcBef>
              <a:spcAft>
                <a:spcPts val="0"/>
              </a:spcAft>
            </a:pPr>
            <a:r>
              <a:rPr sz="1050" b="0" i="0">
                <a:solidFill>
                  <a:srgbClr val="4A4F57"/>
                </a:solidFill>
                <a:latin typeface="Calibri"/>
              </a:rPr>
              <a:t>What actually happened, learned later. entity_id · label · label_ts</a:t>
            </a:r>
          </a:p>
        </p:txBody>
      </p:sp>
      <p:sp>
        <p:nvSpPr>
          <p:cNvPr id="17" name="TextBox 16"/>
          <p:cNvSpPr txBox="1"/>
          <p:nvPr/>
        </p:nvSpPr>
        <p:spPr>
          <a:xfrm>
            <a:off x="777240" y="3090672"/>
            <a:ext cx="10637215" cy="384048"/>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A51C30"/>
                </a:solidFill>
                <a:latin typeface="Calibri"/>
              </a:rPr>
              <a:t>Two streams, never one. </a:t>
            </a:r>
            <a:r>
              <a:rPr sz="1150" b="0" i="0">
                <a:solidFill>
                  <a:srgbClr val="1C1C1E"/>
                </a:solidFill>
                <a:latin typeface="Calibri"/>
              </a:rPr>
              <a:t>The gap between them is precisely what the delayed-label discipline reasons about, so flattening them would take that reasoning away before it started.</a:t>
            </a:r>
          </a:p>
        </p:txBody>
      </p:sp>
      <p:graphicFrame>
        <p:nvGraphicFramePr>
          <p:cNvPr id="18" name="Table 17"/>
          <p:cNvGraphicFramePr>
            <a:graphicFrameLocks noGrp="1"/>
          </p:cNvGraphicFramePr>
          <p:nvPr/>
        </p:nvGraphicFramePr>
        <p:xfrm>
          <a:off x="777240" y="3547872"/>
          <a:ext cx="10637214" cy="2845562"/>
        </p:xfrm>
        <a:graphic>
          <a:graphicData uri="http://schemas.openxmlformats.org/drawingml/2006/table">
            <a:tbl>
              <a:tblPr firstRow="1">
                <a:tableStyleId>{5C22544A-7EE6-4342-B048-85BDC9FD1C3A}</a:tableStyleId>
              </a:tblPr>
              <a:tblGrid>
                <a:gridCol w="3301204"/>
                <a:gridCol w="7336010"/>
              </a:tblGrid>
              <a:tr h="329184">
                <a:tc>
                  <a:txBody>
                    <a:bodyPr wrap="square"/>
                    <a:lstStyle/>
                    <a:p>
                      <a:pPr algn="l"/>
                      <a:r>
                        <a:rPr sz="1050" b="1">
                          <a:solidFill>
                            <a:srgbClr val="FFFFFF"/>
                          </a:solidFill>
                          <a:latin typeface="Calibri"/>
                        </a:rPr>
                        <a:t>Rule</a:t>
                      </a:r>
                    </a:p>
                  </a:txBody>
                  <a:tcPr marL="82296" marR="64008" marT="32004" marB="32004" anchor="ctr">
                    <a:solidFill>
                      <a:srgbClr val="A51C30"/>
                    </a:solidFill>
                  </a:tcPr>
                </a:tc>
                <a:tc>
                  <a:txBody>
                    <a:bodyPr wrap="square"/>
                    <a:lstStyle/>
                    <a:p>
                      <a:pPr algn="l"/>
                      <a:r>
                        <a:rPr sz="1050" b="1">
                          <a:solidFill>
                            <a:srgbClr val="FFFFFF"/>
                          </a:solidFill>
                          <a:latin typeface="Calibri"/>
                        </a:rPr>
                        <a:t>The failure it prevents</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Idempotent on the digest of the batch's own rows</a:t>
                      </a:r>
                    </a:p>
                  </a:txBody>
                  <a:tcPr marL="82296" marR="64008" marT="32004" marB="32004" anchor="ctr">
                    <a:solidFill>
                      <a:srgbClr val="FFFFFF"/>
                    </a:solidFill>
                  </a:tcPr>
                </a:tc>
                <a:tc>
                  <a:txBody>
                    <a:bodyPr wrap="square"/>
                    <a:lstStyle/>
                    <a:p>
                      <a:pPr algn="l"/>
                      <a:r>
                        <a:rPr sz="1000" b="0">
                          <a:solidFill>
                            <a:srgbClr val="1C1C1E"/>
                          </a:solidFill>
                          <a:latin typeface="Calibri"/>
                        </a:rPr>
                        <a:t>Real collectors deliver at least once. A monitor that double-counts a redelivered batch reports a population that never existed</a:t>
                      </a:r>
                    </a:p>
                  </a:txBody>
                  <a:tcPr marL="82296" marR="64008" marT="32004" marB="32004" anchor="ctr">
                    <a:solidFill>
                      <a:srgbClr val="FFFFFF"/>
                    </a:solidFill>
                  </a:tcPr>
                </a:tc>
              </a:tr>
              <a:tr h="457200">
                <a:tc>
                  <a:txBody>
                    <a:bodyPr wrap="square"/>
                    <a:lstStyle/>
                    <a:p>
                      <a:pPr algn="l"/>
                      <a:r>
                        <a:rPr sz="1000" b="1">
                          <a:solidFill>
                            <a:srgbClr val="A51C30"/>
                          </a:solidFill>
                          <a:latin typeface="Calibri"/>
                        </a:rPr>
                        <a:t>A row without its OWN timestamp is refused</a:t>
                      </a:r>
                    </a:p>
                  </a:txBody>
                  <a:tcPr marL="82296" marR="64008" marT="32004" marB="32004" anchor="ctr">
                    <a:solidFill>
                      <a:srgbClr val="F6F3EF"/>
                    </a:solidFill>
                  </a:tcPr>
                </a:tc>
                <a:tc>
                  <a:txBody>
                    <a:bodyPr wrap="square"/>
                    <a:lstStyle/>
                    <a:p>
                      <a:pPr algn="l"/>
                      <a:r>
                        <a:rPr sz="1000" b="0">
                          <a:solidFill>
                            <a:srgbClr val="1C1C1E"/>
                          </a:solidFill>
                          <a:latin typeface="Calibri"/>
                        </a:rPr>
                        <a:t>Stamping it with the batch's arrival time is how every window silently becomes wrong</a:t>
                      </a:r>
                    </a:p>
                  </a:txBody>
                  <a:tcPr marL="82296" marR="64008" marT="32004" marB="32004" anchor="ctr">
                    <a:solidFill>
                      <a:srgbClr val="F6F3EF"/>
                    </a:solidFill>
                  </a:tcPr>
                </a:tc>
              </a:tr>
              <a:tr h="457200">
                <a:tc>
                  <a:txBody>
                    <a:bodyPr wrap="square"/>
                    <a:lstStyle/>
                    <a:p>
                      <a:pPr algn="l"/>
                      <a:r>
                        <a:rPr sz="1000" b="1">
                          <a:solidFill>
                            <a:srgbClr val="A51C30"/>
                          </a:solidFill>
                          <a:latin typeface="Calibri"/>
                        </a:rPr>
                        <a:t>The sample rate travels on every row</a:t>
                      </a:r>
                    </a:p>
                  </a:txBody>
                  <a:tcPr marL="82296" marR="64008" marT="32004" marB="32004" anchor="ctr">
                    <a:solidFill>
                      <a:srgbClr val="FFFFFF"/>
                    </a:solidFill>
                  </a:tcPr>
                </a:tc>
                <a:tc>
                  <a:txBody>
                    <a:bodyPr wrap="square"/>
                    <a:lstStyle/>
                    <a:p>
                      <a:pPr algn="l"/>
                      <a:r>
                        <a:rPr sz="1000" b="0">
                          <a:solidFill>
                            <a:srgbClr val="1C1C1E"/>
                          </a:solidFill>
                          <a:latin typeface="Calibri"/>
                        </a:rPr>
                        <a:t>A statistic that cannot say what population it speaks for</a:t>
                      </a:r>
                    </a:p>
                  </a:txBody>
                  <a:tcPr marL="82296" marR="64008" marT="32004" marB="32004" anchor="ctr">
                    <a:solidFill>
                      <a:srgbClr val="FFFFFF"/>
                    </a:solidFill>
                  </a:tcPr>
                </a:tc>
              </a:tr>
              <a:tr h="657606">
                <a:tc>
                  <a:txBody>
                    <a:bodyPr wrap="square"/>
                    <a:lstStyle/>
                    <a:p>
                      <a:pPr algn="l"/>
                      <a:r>
                        <a:rPr sz="1000" b="1">
                          <a:solidFill>
                            <a:srgbClr val="A51C30"/>
                          </a:solidFill>
                          <a:latin typeface="Calibri"/>
                        </a:rPr>
                        <a:t>The join happens at READ time against a stated moment, and unlabelled rows come back unlabelled</a:t>
                      </a:r>
                    </a:p>
                  </a:txBody>
                  <a:tcPr marL="82296" marR="64008" marT="32004" marB="32004" anchor="ctr">
                    <a:solidFill>
                      <a:srgbClr val="F6F3EF"/>
                    </a:solidFill>
                  </a:tcPr>
                </a:tc>
                <a:tc>
                  <a:txBody>
                    <a:bodyPr wrap="square"/>
                    <a:lstStyle/>
                    <a:p>
                      <a:pPr algn="l"/>
                      <a:r>
                        <a:rPr sz="1000" b="0">
                          <a:solidFill>
                            <a:srgbClr val="1C1C1E"/>
                          </a:solidFill>
                          <a:latin typeface="Calibri"/>
                        </a:rPr>
                        <a:t>A cohort that looks complete and is not — the monitor decides maturity per row, and a join that dropped the unlabelled would decide for it</a:t>
                      </a:r>
                    </a:p>
                  </a:txBody>
                  <a:tcPr marL="82296" marR="64008" marT="32004" marB="32004" anchor="ctr">
                    <a:solidFill>
                      <a:srgbClr val="F6F3EF"/>
                    </a:solidFill>
                  </a:tcPr>
                </a:tc>
              </a:tr>
              <a:tr h="457200">
                <a:tc>
                  <a:txBody>
                    <a:bodyPr wrap="square"/>
                    <a:lstStyle/>
                    <a:p>
                      <a:pPr algn="l"/>
                      <a:r>
                        <a:rPr sz="1000" b="1">
                          <a:solidFill>
                            <a:srgbClr val="A51C30"/>
                          </a:solidFill>
                          <a:latin typeface="Calibri"/>
                        </a:rPr>
                        <a:t>A drift monitor's reference window is STATED</a:t>
                      </a:r>
                    </a:p>
                  </a:txBody>
                  <a:tcPr marL="82296" marR="64008" marT="32004" marB="32004" anchor="ctr">
                    <a:solidFill>
                      <a:srgbClr val="FFFFFF"/>
                    </a:solidFill>
                  </a:tcPr>
                </a:tc>
                <a:tc>
                  <a:txBody>
                    <a:bodyPr wrap="square"/>
                    <a:lstStyle/>
                    <a:p>
                      <a:pPr algn="l"/>
                      <a:r>
                        <a:rPr sz="1000" b="0">
                          <a:solidFill>
                            <a:srgbClr val="1C1C1E"/>
                          </a:solidFill>
                          <a:latin typeface="Calibri"/>
                        </a:rPr>
                        <a:t>“What is this drifting from” being part of whoever ran it rather than part of the record</a:t>
                      </a:r>
                    </a:p>
                  </a:txBody>
                  <a:tcPr marL="82296" marR="64008" marT="32004" marB="32004" anchor="ctr">
                    <a:solidFill>
                      <a:srgbClr val="FFFFFF"/>
                    </a:solidFill>
                  </a:tcPr>
                </a:tc>
              </a:tr>
            </a:tbl>
          </a:graphicData>
        </a:graphic>
      </p:graphicFrame>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APPROVAL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Version approval is a quorum, and its depth follows the tier</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99</a:t>
            </a:r>
          </a:p>
        </p:txBody>
      </p:sp>
      <p:sp>
        <p:nvSpPr>
          <p:cNvPr id="10" name="TextBox 9"/>
          <p:cNvSpPr txBox="1"/>
          <p:nvPr/>
        </p:nvSpPr>
        <p:spPr>
          <a:xfrm>
            <a:off x="777240" y="1764792"/>
            <a:ext cx="10637215" cy="438912"/>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C1C1E"/>
                </a:solidFill>
                <a:latin typeface="Calibri"/>
              </a:rPr>
              <a:t>The model </a:t>
            </a:r>
            <a:r>
              <a:rPr sz="1250" b="1" i="0">
                <a:solidFill>
                  <a:srgbClr val="1C1C1E"/>
                </a:solidFill>
                <a:latin typeface="Calibri"/>
              </a:rPr>
              <a:t>record</a:t>
            </a:r>
            <a:r>
              <a:rPr sz="1250" b="0" i="0">
                <a:solidFill>
                  <a:srgbClr val="1C1C1E"/>
                </a:solidFill>
                <a:latin typeface="Calibri"/>
              </a:rPr>
              <a:t> was attested by several people while the </a:t>
            </a:r>
            <a:r>
              <a:rPr sz="1250" b="1" i="0">
                <a:solidFill>
                  <a:srgbClr val="1C1C1E"/>
                </a:solidFill>
                <a:latin typeface="Calibri"/>
              </a:rPr>
              <a:t>version</a:t>
            </a:r>
            <a:r>
              <a:rPr sz="1250" b="0" i="0">
                <a:solidFill>
                  <a:srgbClr val="1C1C1E"/>
                </a:solidFill>
                <a:latin typeface="Calibri"/>
              </a:rPr>
              <a:t> — the thing that actually runs — was approved by one.</a:t>
            </a:r>
          </a:p>
        </p:txBody>
      </p:sp>
      <p:graphicFrame>
        <p:nvGraphicFramePr>
          <p:cNvPr id="11" name="Table 10"/>
          <p:cNvGraphicFramePr>
            <a:graphicFrameLocks noGrp="1"/>
          </p:cNvGraphicFramePr>
          <p:nvPr/>
        </p:nvGraphicFramePr>
        <p:xfrm>
          <a:off x="777240" y="2295144"/>
          <a:ext cx="10637214" cy="2034565"/>
        </p:xfrm>
        <a:graphic>
          <a:graphicData uri="http://schemas.openxmlformats.org/drawingml/2006/table">
            <a:tbl>
              <a:tblPr firstRow="1">
                <a:tableStyleId>{5C22544A-7EE6-4342-B048-85BDC9FD1C3A}</a:tableStyleId>
              </a:tblPr>
              <a:tblGrid>
                <a:gridCol w="1192101"/>
                <a:gridCol w="3117804"/>
                <a:gridCol w="6327309"/>
              </a:tblGrid>
              <a:tr h="333781">
                <a:tc>
                  <a:txBody>
                    <a:bodyPr wrap="square"/>
                    <a:lstStyle/>
                    <a:p>
                      <a:pPr algn="l"/>
                      <a:r>
                        <a:rPr sz="1100" b="1">
                          <a:solidFill>
                            <a:srgbClr val="FFFFFF"/>
                          </a:solidFill>
                          <a:latin typeface="Calibri"/>
                        </a:rPr>
                        <a:t>Tier</a:t>
                      </a:r>
                    </a:p>
                  </a:txBody>
                  <a:tcPr marL="82296" marR="64008" marT="32004" marB="32004" anchor="ctr">
                    <a:solidFill>
                      <a:srgbClr val="A51C30"/>
                    </a:solidFill>
                  </a:tcPr>
                </a:tc>
                <a:tc>
                  <a:txBody>
                    <a:bodyPr wrap="square"/>
                    <a:lstStyle/>
                    <a:p>
                      <a:pPr algn="l"/>
                      <a:r>
                        <a:rPr sz="1100" b="1">
                          <a:solidFill>
                            <a:srgbClr val="FFFFFF"/>
                          </a:solidFill>
                          <a:latin typeface="Calibri"/>
                        </a:rPr>
                        <a:t>Who must sign</a:t>
                      </a:r>
                    </a:p>
                  </a:txBody>
                  <a:tcPr marL="82296" marR="64008" marT="32004" marB="32004" anchor="ctr">
                    <a:solidFill>
                      <a:srgbClr val="A51C30"/>
                    </a:solidFill>
                  </a:tcPr>
                </a:tc>
                <a:tc>
                  <a:txBody>
                    <a:bodyPr wrap="square"/>
                    <a:lstStyle/>
                    <a:p>
                      <a:pPr algn="l"/>
                      <a:r>
                        <a:rPr sz="1100" b="1">
                          <a:solidFill>
                            <a:srgbClr val="FFFFFF"/>
                          </a:solidFill>
                          <a:latin typeface="Calibri"/>
                        </a:rPr>
                        <a:t>Why</a:t>
                      </a:r>
                    </a:p>
                  </a:txBody>
                  <a:tcPr marL="82296" marR="64008" marT="32004" marB="32004" anchor="ctr">
                    <a:solidFill>
                      <a:srgbClr val="A51C30"/>
                    </a:solidFill>
                  </a:tcPr>
                </a:tc>
              </a:tr>
              <a:tr h="566928">
                <a:tc>
                  <a:txBody>
                    <a:bodyPr wrap="square"/>
                    <a:lstStyle/>
                    <a:p>
                      <a:pPr algn="l"/>
                      <a:r>
                        <a:rPr sz="1050" b="1">
                          <a:solidFill>
                            <a:srgbClr val="A51C30"/>
                          </a:solidFill>
                          <a:latin typeface="Calibri"/>
                        </a:rPr>
                        <a:t>1 and 2</a:t>
                      </a:r>
                    </a:p>
                  </a:txBody>
                  <a:tcPr marL="82296" marR="64008" marT="32004" marB="32004" anchor="ctr">
                    <a:solidFill>
                      <a:srgbClr val="FFFFFF"/>
                    </a:solidFill>
                  </a:tcPr>
                </a:tc>
                <a:tc>
                  <a:txBody>
                    <a:bodyPr wrap="square"/>
                    <a:lstStyle/>
                    <a:p>
                      <a:pPr algn="l"/>
                      <a:r>
                        <a:rPr sz="1050" b="0">
                          <a:solidFill>
                            <a:srgbClr val="1C1C1E"/>
                          </a:solidFill>
                          <a:latin typeface="Calibri"/>
                        </a:rPr>
                        <a:t>model_risk_manager AND validator</a:t>
                      </a:r>
                    </a:p>
                  </a:txBody>
                  <a:tcPr marL="82296" marR="64008" marT="32004" marB="32004" anchor="ctr">
                    <a:solidFill>
                      <a:srgbClr val="FFFFFF"/>
                    </a:solidFill>
                  </a:tcPr>
                </a:tc>
                <a:tc>
                  <a:txBody>
                    <a:bodyPr wrap="square"/>
                    <a:lstStyle/>
                    <a:p>
                      <a:pPr algn="l"/>
                      <a:r>
                        <a:rPr sz="1050" b="0">
                          <a:solidFill>
                            <a:srgbClr val="1C1C1E"/>
                          </a:solidFill>
                          <a:latin typeface="Calibri"/>
                        </a:rPr>
                        <a:t>The same adjunction (L-5) that decides every other control set. Depth of control follows materiality</a:t>
                      </a:r>
                    </a:p>
                  </a:txBody>
                  <a:tcPr marL="82296" marR="64008" marT="32004" marB="32004" anchor="ctr">
                    <a:solidFill>
                      <a:srgbClr val="FFFFFF"/>
                    </a:solidFill>
                  </a:tcPr>
                </a:tc>
              </a:tr>
              <a:tr h="566928">
                <a:tc>
                  <a:txBody>
                    <a:bodyPr wrap="square"/>
                    <a:lstStyle/>
                    <a:p>
                      <a:pPr algn="l"/>
                      <a:r>
                        <a:rPr sz="1050" b="1">
                          <a:solidFill>
                            <a:srgbClr val="A51C30"/>
                          </a:solidFill>
                          <a:latin typeface="Calibri"/>
                        </a:rPr>
                        <a:t>3 and 4</a:t>
                      </a:r>
                    </a:p>
                  </a:txBody>
                  <a:tcPr marL="82296" marR="64008" marT="32004" marB="32004" anchor="ctr">
                    <a:solidFill>
                      <a:srgbClr val="F6F3EF"/>
                    </a:solidFill>
                  </a:tcPr>
                </a:tc>
                <a:tc>
                  <a:txBody>
                    <a:bodyPr wrap="square"/>
                    <a:lstStyle/>
                    <a:p>
                      <a:pPr algn="l"/>
                      <a:r>
                        <a:rPr sz="1050" b="0">
                          <a:solidFill>
                            <a:srgbClr val="1C1C1E"/>
                          </a:solidFill>
                          <a:latin typeface="Calibri"/>
                        </a:rPr>
                        <a:t>one authorised person</a:t>
                      </a:r>
                    </a:p>
                  </a:txBody>
                  <a:tcPr marL="82296" marR="64008" marT="32004" marB="32004" anchor="ctr">
                    <a:solidFill>
                      <a:srgbClr val="F6F3EF"/>
                    </a:solidFill>
                  </a:tcPr>
                </a:tc>
                <a:tc>
                  <a:txBody>
                    <a:bodyPr wrap="square"/>
                    <a:lstStyle/>
                    <a:p>
                      <a:pPr algn="l"/>
                      <a:r>
                        <a:rPr sz="1050" b="0">
                          <a:solidFill>
                            <a:srgbClr val="1C1C1E"/>
                          </a:solidFill>
                          <a:latin typeface="Calibri"/>
                        </a:rPr>
                        <a:t>Saying so beats pretending a scheduling heuristic deserves the ceremony of a capital model</a:t>
                      </a:r>
                    </a:p>
                  </a:txBody>
                  <a:tcPr marL="82296" marR="64008" marT="32004" marB="32004" anchor="ctr">
                    <a:solidFill>
                      <a:srgbClr val="F6F3EF"/>
                    </a:solidFill>
                  </a:tcPr>
                </a:tc>
              </a:tr>
              <a:tr h="566928">
                <a:tc>
                  <a:txBody>
                    <a:bodyPr wrap="square"/>
                    <a:lstStyle/>
                    <a:p>
                      <a:pPr algn="l"/>
                      <a:r>
                        <a:rPr sz="1050" b="1">
                          <a:solidFill>
                            <a:srgbClr val="A51C30"/>
                          </a:solidFill>
                          <a:latin typeface="Calibri"/>
                        </a:rPr>
                        <a:t>no tier</a:t>
                      </a:r>
                    </a:p>
                  </a:txBody>
                  <a:tcPr marL="82296" marR="64008" marT="32004" marB="32004" anchor="ctr">
                    <a:solidFill>
                      <a:srgbClr val="FFFFFF"/>
                    </a:solidFill>
                  </a:tcPr>
                </a:tc>
                <a:tc>
                  <a:txBody>
                    <a:bodyPr wrap="square"/>
                    <a:lstStyle/>
                    <a:p>
                      <a:pPr algn="l"/>
                      <a:r>
                        <a:rPr sz="1050" b="0">
                          <a:solidFill>
                            <a:srgbClr val="1C1C1E"/>
                          </a:solidFill>
                          <a:latin typeface="Calibri"/>
                        </a:rPr>
                        <a:t>— refused outright —</a:t>
                      </a:r>
                    </a:p>
                  </a:txBody>
                  <a:tcPr marL="82296" marR="64008" marT="32004" marB="32004" anchor="ctr">
                    <a:solidFill>
                      <a:srgbClr val="FFFFFF"/>
                    </a:solidFill>
                  </a:tcPr>
                </a:tc>
                <a:tc>
                  <a:txBody>
                    <a:bodyPr wrap="square"/>
                    <a:lstStyle/>
                    <a:p>
                      <a:pPr algn="l"/>
                      <a:r>
                        <a:rPr sz="1050" b="0">
                          <a:solidFill>
                            <a:srgbClr val="1C1C1E"/>
                          </a:solidFill>
                          <a:latin typeface="Calibri"/>
                        </a:rPr>
                        <a:t>Approving first and assessing afterwards would be a way of choosing your own control depth, and it is the obvious way to game a rule like this one</a:t>
                      </a:r>
                    </a:p>
                  </a:txBody>
                  <a:tcPr marL="82296" marR="64008" marT="32004" marB="32004" anchor="ctr">
                    <a:solidFill>
                      <a:srgbClr val="FFFFFF"/>
                    </a:solidFill>
                  </a:tcPr>
                </a:tc>
              </a:tr>
            </a:tbl>
          </a:graphicData>
        </a:graphic>
      </p:graphicFrame>
      <p:sp>
        <p:nvSpPr>
          <p:cNvPr id="12" name="TextBox 11"/>
          <p:cNvSpPr txBox="1"/>
          <p:nvPr/>
        </p:nvSpPr>
        <p:spPr>
          <a:xfrm>
            <a:off x="777240" y="4549165"/>
            <a:ext cx="5105863" cy="1554480"/>
          </a:xfrm>
          <a:prstGeom prst="rect">
            <a:avLst/>
          </a:prstGeom>
          <a:noFill/>
        </p:spPr>
        <p:txBody>
          <a:bodyPr wrap="square" lIns="0" rIns="0" tIns="0" bIns="0" anchor="t">
            <a:spAutoFit/>
          </a:bodyPr>
          <a:lstStyle/>
          <a:p>
            <a:pPr algn="l">
              <a:spcBef>
                <a:spcPts val="0"/>
              </a:spcBef>
              <a:spcAft>
                <a:spcPts val="600"/>
              </a:spcAft>
            </a:pPr>
            <a:r>
              <a:rPr sz="1200" b="1" i="0">
                <a:solidFill>
                  <a:srgbClr val="1C1C1E"/>
                </a:solidFill>
                <a:latin typeface="Georgia"/>
              </a:rPr>
              <a:t>Three refusals worth the code</a:t>
            </a:r>
          </a:p>
          <a:p>
            <a:pPr>
              <a:spcBef>
                <a:spcPts val="500"/>
              </a:spcBef>
              <a:spcAft>
                <a:spcPts val="300"/>
              </a:spcAft>
            </a:pPr>
            <a:r>
              <a:rPr sz="1000" b="1">
                <a:solidFill>
                  <a:srgbClr val="A51C30"/>
                </a:solidFill>
                <a:latin typeface="Calibri"/>
              </a:rPr>
              <a:t>▪  </a:t>
            </a:r>
            <a:r>
              <a:rPr sz="1000" b="1">
                <a:solidFill>
                  <a:srgbClr val="1C1C1E"/>
                </a:solidFill>
                <a:latin typeface="Calibri"/>
              </a:rPr>
              <a:t>One decline closes it</a:t>
            </a:r>
          </a:p>
          <a:p>
            <a:pPr lvl="1">
              <a:spcBef>
                <a:spcPts val="0"/>
              </a:spcBef>
              <a:spcAft>
                <a:spcPts val="0"/>
              </a:spcAft>
            </a:pPr>
            <a:r>
              <a:rPr sz="900">
                <a:solidFill>
                  <a:srgbClr val="4A4F57"/>
                </a:solidFill>
                <a:latin typeface="Calibri"/>
              </a:rPr>
              <a:t>the version returns to its author, and the decline is counted before the quorum is</a:t>
            </a:r>
          </a:p>
          <a:p>
            <a:pPr>
              <a:spcBef>
                <a:spcPts val="500"/>
              </a:spcBef>
              <a:spcAft>
                <a:spcPts val="300"/>
              </a:spcAft>
            </a:pPr>
            <a:r>
              <a:rPr sz="1000" b="1">
                <a:solidFill>
                  <a:srgbClr val="A51C30"/>
                </a:solidFill>
                <a:latin typeface="Calibri"/>
              </a:rPr>
              <a:t>▪  </a:t>
            </a:r>
            <a:r>
              <a:rPr sz="1000" b="1">
                <a:solidFill>
                  <a:srgbClr val="1C1C1E"/>
                </a:solidFill>
                <a:latin typeface="Calibri"/>
              </a:rPr>
              <a:t>No signing twice under two roles</a:t>
            </a:r>
          </a:p>
          <a:p>
            <a:pPr lvl="1">
              <a:spcBef>
                <a:spcPts val="0"/>
              </a:spcBef>
              <a:spcAft>
                <a:spcPts val="0"/>
              </a:spcAft>
            </a:pPr>
            <a:r>
              <a:rPr sz="900">
                <a:solidFill>
                  <a:srgbClr val="4A4F57"/>
                </a:solidFill>
                <a:latin typeface="Calibri"/>
              </a:rPr>
              <a:t>a quorum is a number of people, not a number of hats</a:t>
            </a:r>
          </a:p>
          <a:p>
            <a:pPr>
              <a:spcBef>
                <a:spcPts val="500"/>
              </a:spcBef>
              <a:spcAft>
                <a:spcPts val="300"/>
              </a:spcAft>
            </a:pPr>
            <a:r>
              <a:rPr sz="1000" b="1">
                <a:solidFill>
                  <a:srgbClr val="A51C30"/>
                </a:solidFill>
                <a:latin typeface="Calibri"/>
              </a:rPr>
              <a:t>▪  </a:t>
            </a:r>
            <a:r>
              <a:rPr sz="1000" b="1">
                <a:solidFill>
                  <a:srgbClr val="1C1C1E"/>
                </a:solidFill>
                <a:latin typeface="Calibri"/>
              </a:rPr>
              <a:t>Signing is its own permission</a:t>
            </a:r>
          </a:p>
          <a:p>
            <a:pPr lvl="1">
              <a:spcBef>
                <a:spcPts val="0"/>
              </a:spcBef>
              <a:spcAft>
                <a:spcPts val="0"/>
              </a:spcAft>
            </a:pPr>
            <a:r>
              <a:rPr sz="900">
                <a:solidFill>
                  <a:srgbClr val="4A4F57"/>
                </a:solidFill>
                <a:latin typeface="Calibri"/>
              </a:rPr>
              <a:t>a validator signs a quorum and may never approve alone</a:t>
            </a:r>
          </a:p>
        </p:txBody>
      </p:sp>
      <p:sp>
        <p:nvSpPr>
          <p:cNvPr id="13" name="Rectangle 12"/>
          <p:cNvSpPr/>
          <p:nvPr/>
        </p:nvSpPr>
        <p:spPr>
          <a:xfrm>
            <a:off x="6414964" y="4549165"/>
            <a:ext cx="4999491" cy="13258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6414964" y="4549165"/>
            <a:ext cx="41148" cy="13258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6652708" y="4658893"/>
            <a:ext cx="4542291" cy="1115568"/>
          </a:xfrm>
          <a:prstGeom prst="rect">
            <a:avLst/>
          </a:prstGeom>
          <a:noFill/>
        </p:spPr>
        <p:txBody>
          <a:bodyPr wrap="square" lIns="0" rIns="0" tIns="0" bIns="0" anchor="t">
            <a:spAutoFit/>
          </a:bodyPr>
          <a:lstStyle/>
          <a:p>
            <a:pPr algn="l">
              <a:lnSpc>
                <a:spcPct val="122000"/>
              </a:lnSpc>
              <a:spcBef>
                <a:spcPts val="0"/>
              </a:spcBef>
              <a:spcAft>
                <a:spcPts val="0"/>
              </a:spcAft>
            </a:pPr>
            <a:r>
              <a:rPr sz="1050" b="1" i="0">
                <a:solidFill>
                  <a:srgbClr val="A51C30"/>
                </a:solidFill>
                <a:latin typeface="Calibri"/>
              </a:rPr>
              <a:t>The schema does half of it. </a:t>
            </a:r>
            <a:r>
              <a:rPr sz="1050" b="0" i="0">
                <a:solidFill>
                  <a:srgbClr val="1C1C1E"/>
                </a:solidFill>
                <a:latin typeface="Calibri"/>
              </a:rPr>
              <a:t>UNIQUE (approval, role) enforces one signature per role. The other half — that one person may not sign twice under two hats — </a:t>
            </a:r>
            <a:r>
              <a:rPr sz="1050" b="1" i="0">
                <a:solidFill>
                  <a:srgbClr val="1C1C1E"/>
                </a:solidFill>
                <a:latin typeface="Calibri"/>
              </a:rPr>
              <a:t>cannot be a constraint</a:t>
            </a:r>
            <a:r>
              <a:rPr sz="1050" b="0" i="0">
                <a:solidFill>
                  <a:srgbClr val="1C1C1E"/>
                </a:solidFill>
                <a:latin typeface="Calibri"/>
              </a:rPr>
              <a:t> and lives in the service, because it is about people rather than about rows.</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THE FEATURE PLATFORM</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Featuresets — X becomes an object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100</a:t>
            </a:r>
          </a:p>
        </p:txBody>
      </p:sp>
      <p:sp>
        <p:nvSpPr>
          <p:cNvPr id="10" name="TextBox 9"/>
          <p:cNvSpPr txBox="1"/>
          <p:nvPr/>
        </p:nvSpPr>
        <p:spPr>
          <a:xfrm>
            <a:off x="777240" y="1353312"/>
            <a:ext cx="5956840"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A featureset declares a schema; a version fills it</a:t>
            </a:r>
          </a:p>
        </p:txBody>
      </p:sp>
      <p:sp>
        <p:nvSpPr>
          <p:cNvPr id="11" name="Rectangle 10"/>
          <p:cNvSpPr/>
          <p:nvPr/>
        </p:nvSpPr>
        <p:spPr>
          <a:xfrm>
            <a:off x="777240" y="1737360"/>
            <a:ext cx="5956840" cy="1903963"/>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737360"/>
            <a:ext cx="41148" cy="1903963"/>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1837943"/>
            <a:ext cx="5591080" cy="1721083"/>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inflation   slots: {gb_index, us_index, daily_index}</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@v1  gb_index→UKRPI  us_index→USCPI  daily→DAILY_INFL</a:t>
            </a:r>
          </a:p>
          <a:p>
            <a:pPr>
              <a:lnSpc>
                <a:spcPct val="134000"/>
              </a:lnSpc>
              <a:spcBef>
                <a:spcPts val="0"/>
              </a:spcBef>
              <a:spcAft>
                <a:spcPts val="0"/>
              </a:spcAft>
            </a:pPr>
            <a:r>
              <a:rPr sz="950" b="0" i="0">
                <a:solidFill>
                  <a:srgbClr val="1C1C1E"/>
                </a:solidFill>
                <a:latin typeface="Consolas"/>
              </a:rPr>
              <a:t>@v2  gb_index→UKRPI  us_index→USCPI  daily→EUHICP</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7A7F87"/>
                </a:solidFill>
                <a:latin typeface="Consolas"/>
              </a:rPr>
              <a:t># the model reads daily_index, and always did.</a:t>
            </a:r>
          </a:p>
          <a:p>
            <a:pPr>
              <a:lnSpc>
                <a:spcPct val="134000"/>
              </a:lnSpc>
              <a:spcBef>
                <a:spcPts val="0"/>
              </a:spcBef>
              <a:spcAft>
                <a:spcPts val="0"/>
              </a:spcAft>
            </a:pPr>
            <a:r>
              <a:rPr sz="950" b="0" i="0">
                <a:solidFill>
                  <a:srgbClr val="7A7F87"/>
                </a:solidFill>
                <a:latin typeface="Consolas"/>
              </a:rPr>
              <a:t># a version that CANNOT fill the schema is refused:</a:t>
            </a:r>
          </a:p>
          <a:p>
            <a:pPr>
              <a:lnSpc>
                <a:spcPct val="134000"/>
              </a:lnSpc>
              <a:spcBef>
                <a:spcPts val="0"/>
              </a:spcBef>
              <a:spcAft>
                <a:spcPts val="0"/>
              </a:spcAft>
            </a:pPr>
            <a:r>
              <a:rPr sz="950" b="0" i="0">
                <a:solidFill>
                  <a:srgbClr val="7A7F87"/>
                </a:solidFill>
                <a:latin typeface="Consolas"/>
              </a:rPr>
              <a:t># it is a different set, or it is a model change.</a:t>
            </a:r>
          </a:p>
        </p:txBody>
      </p:sp>
      <p:sp>
        <p:nvSpPr>
          <p:cNvPr id="14" name="TextBox 13"/>
          <p:cNvSpPr txBox="1"/>
          <p:nvPr/>
        </p:nvSpPr>
        <p:spPr>
          <a:xfrm>
            <a:off x="777240" y="3879067"/>
            <a:ext cx="5956840" cy="1645920"/>
          </a:xfrm>
          <a:prstGeom prst="rect">
            <a:avLst/>
          </a:prstGeom>
          <a:noFill/>
        </p:spPr>
        <p:txBody>
          <a:bodyPr wrap="square" lIns="0" rIns="0" tIns="0" bIns="0" anchor="t">
            <a:spAutoFit/>
          </a:bodyPr>
          <a:lstStyle/>
          <a:p>
            <a:pPr algn="l">
              <a:lnSpc>
                <a:spcPct val="124000"/>
              </a:lnSpc>
              <a:spcBef>
                <a:spcPts val="0"/>
              </a:spcBef>
              <a:spcAft>
                <a:spcPts val="600"/>
              </a:spcAft>
            </a:pPr>
            <a:r>
              <a:rPr sz="1050" b="0" i="0">
                <a:solidFill>
                  <a:srgbClr val="4A4F57"/>
                </a:solidFill>
                <a:latin typeface="Calibri"/>
              </a:rPr>
              <a:t>Every slot pins the feature AND the feature view version supplying it. A set that named views without pinning them would resolve to different bytes next month with its digest unchanged — finding C-2, one level out from the view.</a:t>
            </a:r>
          </a:p>
          <a:p>
            <a:pPr>
              <a:lnSpc>
                <a:spcPct val="124000"/>
              </a:lnSpc>
              <a:spcBef>
                <a:spcPts val="0"/>
              </a:spcBef>
              <a:spcAft>
                <a:spcPts val="0"/>
              </a:spcAft>
            </a:pPr>
            <a:r>
              <a:rPr sz="1050" b="0" i="0">
                <a:solidFill>
                  <a:srgbClr val="4A4F57"/>
                </a:solidFill>
                <a:latin typeface="Calibri"/>
              </a:rPr>
              <a:t>The set owns the shape; the warrant owns the window. Otherwise “same features, 2019–23 vs 2020–24” would be two featuresets.</a:t>
            </a:r>
          </a:p>
        </p:txBody>
      </p:sp>
      <p:sp>
        <p:nvSpPr>
          <p:cNvPr id="15" name="TextBox 14"/>
          <p:cNvSpPr txBox="1"/>
          <p:nvPr/>
        </p:nvSpPr>
        <p:spPr>
          <a:xfrm>
            <a:off x="7159569" y="1353312"/>
            <a:ext cx="4254886"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Derived features: Z = f(X, Y)</a:t>
            </a:r>
          </a:p>
        </p:txBody>
      </p:sp>
      <p:graphicFrame>
        <p:nvGraphicFramePr>
          <p:cNvPr id="16" name="Table 15"/>
          <p:cNvGraphicFramePr>
            <a:graphicFrameLocks noGrp="1"/>
          </p:cNvGraphicFramePr>
          <p:nvPr/>
        </p:nvGraphicFramePr>
        <p:xfrm>
          <a:off x="7159569" y="1737360"/>
          <a:ext cx="4254885" cy="2047784"/>
        </p:xfrm>
        <a:graphic>
          <a:graphicData uri="http://schemas.openxmlformats.org/drawingml/2006/table">
            <a:tbl>
              <a:tblPr firstRow="1">
                <a:tableStyleId>{5C22544A-7EE6-4342-B048-85BDC9FD1C3A}</a:tableStyleId>
              </a:tblPr>
              <a:tblGrid>
                <a:gridCol w="1731639"/>
                <a:gridCol w="2523246"/>
              </a:tblGrid>
              <a:tr h="329184">
                <a:tc>
                  <a:txBody>
                    <a:bodyPr wrap="square"/>
                    <a:lstStyle/>
                    <a:p>
                      <a:pPr algn="l"/>
                      <a:r>
                        <a:rPr sz="950" b="1">
                          <a:solidFill>
                            <a:srgbClr val="FFFFFF"/>
                          </a:solidFill>
                          <a:latin typeface="Calibri"/>
                        </a:rPr>
                        <a:t>Rule</a:t>
                      </a:r>
                    </a:p>
                  </a:txBody>
                  <a:tcPr marL="82296" marR="64008" marT="32004" marB="32004" anchor="ctr">
                    <a:solidFill>
                      <a:srgbClr val="A51C30"/>
                    </a:solidFill>
                  </a:tcPr>
                </a:tc>
                <a:tc>
                  <a:txBody>
                    <a:bodyPr wrap="square"/>
                    <a:lstStyle/>
                    <a:p>
                      <a:pPr algn="l"/>
                      <a:r>
                        <a:rPr sz="950" b="1">
                          <a:solidFill>
                            <a:srgbClr val="FFFFFF"/>
                          </a:solidFill>
                          <a:latin typeface="Calibri"/>
                        </a:rPr>
                        <a:t>What it prevents</a:t>
                      </a:r>
                    </a:p>
                  </a:txBody>
                  <a:tcPr marL="82296" marR="64008" marT="32004" marB="32004" anchor="ctr">
                    <a:solidFill>
                      <a:srgbClr val="A51C30"/>
                    </a:solidFill>
                  </a:tcPr>
                </a:tc>
              </a:tr>
              <a:tr h="470128">
                <a:tc>
                  <a:txBody>
                    <a:bodyPr wrap="square"/>
                    <a:lstStyle/>
                    <a:p>
                      <a:pPr algn="l"/>
                      <a:r>
                        <a:rPr sz="950" b="1">
                          <a:solidFill>
                            <a:srgbClr val="A51C30"/>
                          </a:solidFill>
                          <a:latin typeface="Calibri"/>
                        </a:rPr>
                        <a:t>Lineage is transitive</a:t>
                      </a:r>
                    </a:p>
                  </a:txBody>
                  <a:tcPr marL="82296" marR="64008" marT="32004" marB="32004" anchor="ctr">
                    <a:solidFill>
                      <a:srgbClr val="FFFFFF"/>
                    </a:solidFill>
                  </a:tcPr>
                </a:tc>
                <a:tc>
                  <a:txBody>
                    <a:bodyPr wrap="square"/>
                    <a:lstStyle/>
                    <a:p>
                      <a:pPr algn="l"/>
                      <a:r>
                        <a:rPr sz="950" b="0">
                          <a:solidFill>
                            <a:srgbClr val="1C1C1E"/>
                          </a:solidFill>
                          <a:latin typeface="Calibri"/>
                        </a:rPr>
                        <a:t>A primitive retired under something deriving from it</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ingest_ts(Z) = max(inputs)</a:t>
                      </a:r>
                    </a:p>
                  </a:txBody>
                  <a:tcPr marL="82296" marR="64008" marT="32004" marB="32004" anchor="ctr">
                    <a:solidFill>
                      <a:srgbClr val="F6F3EF"/>
                    </a:solidFill>
                  </a:tcPr>
                </a:tc>
                <a:tc>
                  <a:txBody>
                    <a:bodyPr wrap="square"/>
                    <a:lstStyle/>
                    <a:p>
                      <a:pPr algn="l"/>
                      <a:r>
                        <a:rPr sz="950" b="0">
                          <a:solidFill>
                            <a:srgbClr val="1C1C1E"/>
                          </a:solidFill>
                          <a:latin typeface="Calibri"/>
                        </a:rPr>
                        <a:t>A value appearing knowable before its inputs were</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No slot from the label</a:t>
                      </a:r>
                    </a:p>
                  </a:txBody>
                  <a:tcPr marL="82296" marR="64008" marT="32004" marB="32004" anchor="ctr">
                    <a:solidFill>
                      <a:srgbClr val="FFFFFF"/>
                    </a:solidFill>
                  </a:tcPr>
                </a:tc>
                <a:tc>
                  <a:txBody>
                    <a:bodyPr wrap="square"/>
                    <a:lstStyle/>
                    <a:p>
                      <a:pPr algn="l"/>
                      <a:r>
                        <a:rPr sz="950" b="0">
                          <a:solidFill>
                            <a:srgbClr val="1C1C1E"/>
                          </a:solidFill>
                          <a:latin typeface="Calibri"/>
                        </a:rPr>
                        <a:t>Leakage with a division sign in front</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Certification is the meet</a:t>
                      </a:r>
                    </a:p>
                  </a:txBody>
                  <a:tcPr marL="82296" marR="64008" marT="32004" marB="32004" anchor="ctr">
                    <a:solidFill>
                      <a:srgbClr val="F6F3EF"/>
                    </a:solidFill>
                  </a:tcPr>
                </a:tc>
                <a:tc>
                  <a:txBody>
                    <a:bodyPr wrap="square"/>
                    <a:lstStyle/>
                    <a:p>
                      <a:pPr algn="l"/>
                      <a:r>
                        <a:rPr sz="950" b="0">
                          <a:solidFill>
                            <a:srgbClr val="1C1C1E"/>
                          </a:solidFill>
                          <a:latin typeface="Calibri"/>
                        </a:rPr>
                        <a:t>Laundering an uncertified input</a:t>
                      </a:r>
                    </a:p>
                  </a:txBody>
                  <a:tcPr marL="82296" marR="64008" marT="32004" marB="32004" anchor="ctr">
                    <a:solidFill>
                      <a:srgbClr val="F6F3EF"/>
                    </a:solidFill>
                  </a:tcPr>
                </a:tc>
              </a:tr>
            </a:tbl>
          </a:graphicData>
        </a:graphic>
      </p:graphicFrame>
      <p:sp>
        <p:nvSpPr>
          <p:cNvPr id="17" name="Rectangle 16"/>
          <p:cNvSpPr/>
          <p:nvPr/>
        </p:nvSpPr>
        <p:spPr>
          <a:xfrm>
            <a:off x="777240" y="5029200"/>
            <a:ext cx="10637215" cy="65836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777240" y="5029200"/>
            <a:ext cx="41148" cy="6583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1014983" y="5138927"/>
            <a:ext cx="10180015" cy="54864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The language is small on purpose. </a:t>
            </a:r>
            <a:r>
              <a:rPr sz="1100" b="0" i="0">
                <a:solidFill>
                  <a:srgbClr val="1C1C1E"/>
                </a:solidFill>
                <a:latin typeface="Calibri"/>
              </a:rPr>
              <a:t>Arithmetic, nine total functions, the row’s own clock — whitelisted at the AST, so what cannot be expressed cannot be smuggled in. MAYA transforms features it holds; </a:t>
            </a:r>
            <a:r>
              <a:rPr sz="1100" b="1" i="0">
                <a:solidFill>
                  <a:srgbClr val="1C1C1E"/>
                </a:solidFill>
                <a:latin typeface="Calibri"/>
              </a:rPr>
              <a:t>it does not run models.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DATA · THE FEATURE PLATFORM</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parameter object — an inhabitant of P</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18 · The Feature Platform</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101</a:t>
            </a:r>
          </a:p>
        </p:txBody>
      </p:sp>
      <p:sp>
        <p:nvSpPr>
          <p:cNvPr id="10" name="TextBox 9"/>
          <p:cNvSpPr txBox="1"/>
          <p:nvPr/>
        </p:nvSpPr>
        <p:spPr>
          <a:xfrm>
            <a:off x="777240" y="1353312"/>
            <a:ext cx="553135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Fitting does not change the kernel</a:t>
            </a:r>
          </a:p>
        </p:txBody>
      </p:sp>
      <p:sp>
        <p:nvSpPr>
          <p:cNvPr id="11" name="Rectangle 10"/>
          <p:cNvSpPr/>
          <p:nvPr/>
        </p:nvSpPr>
        <p:spPr>
          <a:xfrm>
            <a:off x="777240" y="1737360"/>
            <a:ext cx="5531351" cy="1903963"/>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737360"/>
            <a:ext cx="41148" cy="1903963"/>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1837943"/>
            <a:ext cx="5165591" cy="1721083"/>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 : P ⊗ X → D(Y)      the kernel</a:t>
            </a:r>
          </a:p>
          <a:p>
            <a:pPr>
              <a:lnSpc>
                <a:spcPct val="134000"/>
              </a:lnSpc>
              <a:spcBef>
                <a:spcPts val="0"/>
              </a:spcBef>
              <a:spcAft>
                <a:spcPts val="0"/>
              </a:spcAft>
            </a:pPr>
            <a:r>
              <a:rPr sz="950" b="0" i="0">
                <a:solidFill>
                  <a:srgbClr val="1C1C1E"/>
                </a:solidFill>
                <a:latin typeface="Consolas"/>
              </a:rPr>
              <a:t>fit           picks a point in P</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a fit produces a PARAMETER SET,</a:t>
            </a:r>
          </a:p>
          <a:p>
            <a:pPr>
              <a:lnSpc>
                <a:spcPct val="134000"/>
              </a:lnSpc>
              <a:spcBef>
                <a:spcPts val="0"/>
              </a:spcBef>
              <a:spcAft>
                <a:spcPts val="0"/>
              </a:spcAft>
            </a:pPr>
            <a:r>
              <a:rPr sz="950" b="0" i="0">
                <a:solidFill>
                  <a:srgbClr val="1C1C1E"/>
                </a:solidFill>
                <a:latin typeface="Consolas"/>
              </a:rPr>
              <a:t>  not a model version.</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warrant(fit)   model_version × featureset@v × window</a:t>
            </a:r>
          </a:p>
          <a:p>
            <a:pPr>
              <a:lnSpc>
                <a:spcPct val="134000"/>
              </a:lnSpc>
              <a:spcBef>
                <a:spcPts val="0"/>
              </a:spcBef>
              <a:spcAft>
                <a:spcPts val="0"/>
              </a:spcAft>
            </a:pPr>
            <a:r>
              <a:rPr sz="950" b="0" i="0">
                <a:solidFill>
                  <a:srgbClr val="1C1C1E"/>
                </a:solidFill>
                <a:latin typeface="Consolas"/>
              </a:rPr>
              <a:t>warrant(score) model_version × parameter_set@v</a:t>
            </a:r>
          </a:p>
        </p:txBody>
      </p:sp>
      <p:sp>
        <p:nvSpPr>
          <p:cNvPr id="14" name="TextBox 13"/>
          <p:cNvSpPr txBox="1"/>
          <p:nvPr/>
        </p:nvSpPr>
        <p:spPr>
          <a:xfrm>
            <a:off x="777240" y="3879067"/>
            <a:ext cx="5531351" cy="1737360"/>
          </a:xfrm>
          <a:prstGeom prst="rect">
            <a:avLst/>
          </a:prstGeom>
          <a:noFill/>
        </p:spPr>
        <p:txBody>
          <a:bodyPr wrap="square" lIns="0" rIns="0" tIns="0" bIns="0" anchor="t">
            <a:spAutoFit/>
          </a:bodyPr>
          <a:lstStyle/>
          <a:p>
            <a:pPr algn="l">
              <a:lnSpc>
                <a:spcPct val="124000"/>
              </a:lnSpc>
              <a:spcBef>
                <a:spcPts val="0"/>
              </a:spcBef>
              <a:spcAft>
                <a:spcPts val="0"/>
              </a:spcAft>
            </a:pPr>
            <a:r>
              <a:rPr sz="1050" b="0" i="0">
                <a:solidFill>
                  <a:srgbClr val="4A4F57"/>
                </a:solidFill>
                <a:latin typeface="Calibri"/>
              </a:rPr>
              <a:t>Minting a model version per retrain would make “the model changed” mean two different things. But a parameter set changes behaviour, so it is immutable, versioned, and cannot be run on until somebody other than whoever recorded it has approved — the gate that governs versions, applied to the other half of the pair.</a:t>
            </a:r>
          </a:p>
        </p:txBody>
      </p:sp>
      <p:sp>
        <p:nvSpPr>
          <p:cNvPr id="15" name="TextBox 14"/>
          <p:cNvSpPr txBox="1"/>
          <p:nvPr/>
        </p:nvSpPr>
        <p:spPr>
          <a:xfrm>
            <a:off x="6840452" y="1353312"/>
            <a:ext cx="4574002"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Three routes, three depths of governance</a:t>
            </a:r>
          </a:p>
        </p:txBody>
      </p:sp>
      <p:graphicFrame>
        <p:nvGraphicFramePr>
          <p:cNvPr id="16" name="Table 15"/>
          <p:cNvGraphicFramePr>
            <a:graphicFrameLocks noGrp="1"/>
          </p:cNvGraphicFramePr>
          <p:nvPr/>
        </p:nvGraphicFramePr>
        <p:xfrm>
          <a:off x="6840452" y="1737360"/>
          <a:ext cx="4574002" cy="1253832"/>
        </p:xfrm>
        <a:graphic>
          <a:graphicData uri="http://schemas.openxmlformats.org/drawingml/2006/table">
            <a:tbl>
              <a:tblPr firstRow="1">
                <a:tableStyleId>{5C22544A-7EE6-4342-B048-85BDC9FD1C3A}</a:tableStyleId>
              </a:tblPr>
              <a:tblGrid>
                <a:gridCol w="1327936"/>
                <a:gridCol w="1918130"/>
                <a:gridCol w="1327936"/>
              </a:tblGrid>
              <a:tr h="329184">
                <a:tc>
                  <a:txBody>
                    <a:bodyPr wrap="square"/>
                    <a:lstStyle/>
                    <a:p>
                      <a:pPr algn="l"/>
                      <a:r>
                        <a:rPr sz="950" b="1">
                          <a:solidFill>
                            <a:srgbClr val="FFFFFF"/>
                          </a:solidFill>
                          <a:latin typeface="Calibri"/>
                        </a:rPr>
                        <a:t>Provenance</a:t>
                      </a:r>
                    </a:p>
                  </a:txBody>
                  <a:tcPr marL="82296" marR="64008" marT="32004" marB="32004" anchor="ctr">
                    <a:solidFill>
                      <a:srgbClr val="A51C30"/>
                    </a:solidFill>
                  </a:tcPr>
                </a:tc>
                <a:tc>
                  <a:txBody>
                    <a:bodyPr wrap="square"/>
                    <a:lstStyle/>
                    <a:p>
                      <a:pPr algn="l"/>
                      <a:r>
                        <a:rPr sz="950" b="1">
                          <a:solidFill>
                            <a:srgbClr val="FFFFFF"/>
                          </a:solidFill>
                          <a:latin typeface="Calibri"/>
                        </a:rPr>
                        <a:t>Evidence</a:t>
                      </a:r>
                    </a:p>
                  </a:txBody>
                  <a:tcPr marL="82296" marR="64008" marT="32004" marB="32004" anchor="ctr">
                    <a:solidFill>
                      <a:srgbClr val="A51C30"/>
                    </a:solidFill>
                  </a:tcPr>
                </a:tc>
                <a:tc>
                  <a:txBody>
                    <a:bodyPr wrap="square"/>
                    <a:lstStyle/>
                    <a:p>
                      <a:pPr algn="l"/>
                      <a:r>
                        <a:rPr sz="950" b="1">
                          <a:solidFill>
                            <a:srgbClr val="FFFFFF"/>
                          </a:solidFill>
                          <a:latin typeface="Calibri"/>
                        </a:rPr>
                        <a:t>Governed</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fitted</a:t>
                      </a:r>
                    </a:p>
                  </a:txBody>
                  <a:tcPr marL="82296" marR="64008" marT="32004" marB="32004" anchor="ctr">
                    <a:solidFill>
                      <a:srgbClr val="FFFFFF"/>
                    </a:solidFill>
                  </a:tcPr>
                </a:tc>
                <a:tc>
                  <a:txBody>
                    <a:bodyPr wrap="square"/>
                    <a:lstStyle/>
                    <a:p>
                      <a:pPr algn="l"/>
                      <a:r>
                        <a:rPr sz="950" b="0">
                          <a:solidFill>
                            <a:srgbClr val="1C1C1E"/>
                          </a:solidFill>
                          <a:latin typeface="Calibri"/>
                        </a:rPr>
                        <a:t>A warrant MAYA issued</a:t>
                      </a:r>
                    </a:p>
                  </a:txBody>
                  <a:tcPr marL="82296" marR="64008" marT="32004" marB="32004" anchor="ctr">
                    <a:solidFill>
                      <a:srgbClr val="FFFFFF"/>
                    </a:solidFill>
                  </a:tcPr>
                </a:tc>
                <a:tc>
                  <a:txBody>
                    <a:bodyPr wrap="square"/>
                    <a:lstStyle/>
                    <a:p>
                      <a:pPr algn="l"/>
                      <a:r>
                        <a:rPr sz="950" b="0">
                          <a:solidFill>
                            <a:srgbClr val="1C1C1E"/>
                          </a:solidFill>
                          <a:latin typeface="Calibri"/>
                        </a:rPr>
                        <a:t>Each set</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calibrated</a:t>
                      </a:r>
                    </a:p>
                  </a:txBody>
                  <a:tcPr marL="82296" marR="64008" marT="32004" marB="32004" anchor="ctr">
                    <a:solidFill>
                      <a:srgbClr val="F6F3EF"/>
                    </a:solidFill>
                  </a:tcPr>
                </a:tc>
                <a:tc>
                  <a:txBody>
                    <a:bodyPr wrap="square"/>
                    <a:lstStyle/>
                    <a:p>
                      <a:pPr algn="l"/>
                      <a:r>
                        <a:rPr sz="950" b="0">
                          <a:solidFill>
                            <a:srgbClr val="1C1C1E"/>
                          </a:solidFill>
                          <a:latin typeface="Calibri"/>
                        </a:rPr>
                        <a:t>Market data, daily</a:t>
                      </a:r>
                    </a:p>
                  </a:txBody>
                  <a:tcPr marL="82296" marR="64008" marT="32004" marB="32004" anchor="ctr">
                    <a:solidFill>
                      <a:srgbClr val="F6F3EF"/>
                    </a:solidFill>
                  </a:tcPr>
                </a:tc>
                <a:tc>
                  <a:txBody>
                    <a:bodyPr wrap="square"/>
                    <a:lstStyle/>
                    <a:p>
                      <a:pPr algn="l"/>
                      <a:r>
                        <a:rPr sz="950" b="0">
                          <a:solidFill>
                            <a:srgbClr val="1C1C1E"/>
                          </a:solidFill>
                          <a:latin typeface="Calibri"/>
                        </a:rPr>
                        <a:t>The procedure</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declared</a:t>
                      </a:r>
                    </a:p>
                  </a:txBody>
                  <a:tcPr marL="82296" marR="64008" marT="32004" marB="32004" anchor="ctr">
                    <a:solidFill>
                      <a:srgbClr val="FFFFFF"/>
                    </a:solidFill>
                  </a:tcPr>
                </a:tc>
                <a:tc>
                  <a:txBody>
                    <a:bodyPr wrap="square"/>
                    <a:lstStyle/>
                    <a:p>
                      <a:pPr algn="l"/>
                      <a:r>
                        <a:rPr sz="950" b="0">
                          <a:solidFill>
                            <a:srgbClr val="1C1C1E"/>
                          </a:solidFill>
                          <a:latin typeface="Calibri"/>
                        </a:rPr>
                        <a:t>A person’s assertion</a:t>
                      </a:r>
                    </a:p>
                  </a:txBody>
                  <a:tcPr marL="82296" marR="64008" marT="32004" marB="32004" anchor="ctr">
                    <a:solidFill>
                      <a:srgbClr val="FFFFFF"/>
                    </a:solidFill>
                  </a:tcPr>
                </a:tc>
                <a:tc>
                  <a:txBody>
                    <a:bodyPr wrap="square"/>
                    <a:lstStyle/>
                    <a:p>
                      <a:pPr algn="l"/>
                      <a:r>
                        <a:rPr sz="950" b="0">
                          <a:solidFill>
                            <a:srgbClr val="1C1C1E"/>
                          </a:solidFill>
                          <a:latin typeface="Calibri"/>
                        </a:rPr>
                        <a:t>Attestation</a:t>
                      </a:r>
                    </a:p>
                  </a:txBody>
                  <a:tcPr marL="82296" marR="64008" marT="32004" marB="32004" anchor="ctr">
                    <a:solidFill>
                      <a:srgbClr val="FFFFFF"/>
                    </a:solidFill>
                  </a:tcPr>
                </a:tc>
              </a:tr>
            </a:tbl>
          </a:graphicData>
        </a:graphic>
      </p:graphicFrame>
      <p:sp>
        <p:nvSpPr>
          <p:cNvPr id="17" name="TextBox 16"/>
          <p:cNvSpPr txBox="1"/>
          <p:nvPr/>
        </p:nvSpPr>
        <p:spPr>
          <a:xfrm>
            <a:off x="6840452" y="3136391"/>
            <a:ext cx="4574002" cy="1737360"/>
          </a:xfrm>
          <a:prstGeom prst="rect">
            <a:avLst/>
          </a:prstGeom>
          <a:noFill/>
        </p:spPr>
        <p:txBody>
          <a:bodyPr wrap="square" lIns="0" rIns="0" tIns="0" bIns="0" anchor="t">
            <a:spAutoFit/>
          </a:bodyPr>
          <a:lstStyle/>
          <a:p>
            <a:pPr algn="l">
              <a:lnSpc>
                <a:spcPct val="124000"/>
              </a:lnSpc>
              <a:spcBef>
                <a:spcPts val="0"/>
              </a:spcBef>
              <a:spcAft>
                <a:spcPts val="0"/>
              </a:spcAft>
            </a:pPr>
            <a:r>
              <a:rPr sz="1050" b="0" i="0">
                <a:solidFill>
                  <a:srgbClr val="4A4F57"/>
                </a:solidFill>
                <a:latin typeface="Calibri"/>
              </a:rPr>
              <a:t>The middle row is why provenance is not cosmetic: a Hull–White model recalibrated every morning would drown the register if each day needed a committee. The bottom row is the model that never trains — a closed form arrives with its parameters, and L-W1 refuses it a fit warrant as a type error.</a:t>
            </a:r>
          </a:p>
        </p:txBody>
      </p:sp>
      <p:sp>
        <p:nvSpPr>
          <p:cNvPr id="18" name="Rectangle 17"/>
          <p:cNvSpPr/>
          <p:nvPr/>
        </p:nvSpPr>
        <p:spPr>
          <a:xfrm>
            <a:off x="777240" y="5029200"/>
            <a:ext cx="10637215" cy="65836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5029200"/>
            <a:ext cx="41148" cy="65836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1014983" y="5138927"/>
            <a:ext cx="10180015" cy="54864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Accepted only against a warrant we issued. </a:t>
            </a:r>
            <a:r>
              <a:rPr sz="1100" b="0" i="0">
                <a:solidFill>
                  <a:srgbClr val="1C1C1E"/>
                </a:solidFill>
                <a:latin typeface="Calibri"/>
              </a:rPr>
              <a:t>No back door. Without it, </a:t>
            </a:r>
            <a:r>
              <a:rPr sz="1100" b="1" i="0">
                <a:solidFill>
                  <a:srgbClr val="1C1C1E"/>
                </a:solidFill>
                <a:latin typeface="Calibri"/>
              </a:rPr>
              <a:t>“which data produced these numbers” has no answer</a:t>
            </a:r>
            <a:r>
              <a:rPr sz="1100" b="0" i="0">
                <a:solidFill>
                  <a:srgbClr val="1C1C1E"/>
                </a:solidFill>
                <a:latin typeface="Calibri"/>
              </a:rPr>
              <a:t>, and the lineage the pinned versions and bitemporal clocks exist to establish stops one step short of the thing it was for.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19</a:t>
            </a:r>
          </a:p>
        </p:txBody>
      </p:sp>
      <p:sp>
        <p:nvSpPr>
          <p:cNvPr id="5" name="TextBox 4"/>
          <p:cNvSpPr txBox="1"/>
          <p:nvPr/>
        </p:nvSpPr>
        <p:spPr>
          <a:xfrm>
            <a:off x="1005840" y="2390241"/>
            <a:ext cx="6169584" cy="1188720"/>
          </a:xfrm>
          <a:prstGeom prst="rect">
            <a:avLst/>
          </a:prstGeom>
          <a:noFill/>
        </p:spPr>
        <p:txBody>
          <a:bodyPr wrap="square" lIns="0" rIns="0" tIns="0" bIns="0" anchor="t">
            <a:spAutoFit/>
          </a:bodyPr>
          <a:lstStyle/>
          <a:p>
            <a:pPr algn="l">
              <a:spcBef>
                <a:spcPts val="0"/>
              </a:spcBef>
              <a:spcAft>
                <a:spcPts val="0"/>
              </a:spcAft>
            </a:pPr>
            <a:r>
              <a:rPr sz="3800" b="0" i="0">
                <a:solidFill>
                  <a:srgbClr val="FFFFFF"/>
                </a:solidFill>
                <a:latin typeface="Georgia"/>
              </a:rPr>
              <a:t>Governance Subsystems</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Evidence, risk, regimes, lifecycle, validation.</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Evidence append and chain</a:t>
            </a:r>
          </a:p>
          <a:p>
            <a:pPr>
              <a:lnSpc>
                <a:spcPct val="115000"/>
              </a:lnSpc>
              <a:spcBef>
                <a:spcPts val="0"/>
              </a:spcBef>
              <a:spcAft>
                <a:spcPts val="700"/>
              </a:spcAft>
            </a:pPr>
            <a:r>
              <a:rPr sz="1150" b="0" i="0">
                <a:solidFill>
                  <a:srgbClr val="F6E6E9"/>
                </a:solidFill>
                <a:latin typeface="Calibri"/>
              </a:rPr>
              <a:t>Semiring evaluation</a:t>
            </a:r>
          </a:p>
          <a:p>
            <a:pPr>
              <a:lnSpc>
                <a:spcPct val="115000"/>
              </a:lnSpc>
              <a:spcBef>
                <a:spcPts val="0"/>
              </a:spcBef>
              <a:spcAft>
                <a:spcPts val="700"/>
              </a:spcAft>
            </a:pPr>
            <a:r>
              <a:rPr sz="1150" b="0" i="0">
                <a:solidFill>
                  <a:srgbClr val="F6E6E9"/>
                </a:solidFill>
                <a:latin typeface="Calibri"/>
              </a:rPr>
              <a:t>The tiering algorithm</a:t>
            </a:r>
          </a:p>
          <a:p>
            <a:pPr>
              <a:lnSpc>
                <a:spcPct val="115000"/>
              </a:lnSpc>
              <a:spcBef>
                <a:spcPts val="0"/>
              </a:spcBef>
              <a:spcAft>
                <a:spcPts val="700"/>
              </a:spcAft>
            </a:pPr>
            <a:r>
              <a:rPr sz="1150" b="0" i="0">
                <a:solidFill>
                  <a:srgbClr val="F6E6E9"/>
                </a:solidFill>
                <a:latin typeface="Calibri"/>
              </a:rPr>
              <a:t>Anti-gaming</a:t>
            </a:r>
          </a:p>
          <a:p>
            <a:pPr>
              <a:lnSpc>
                <a:spcPct val="115000"/>
              </a:lnSpc>
              <a:spcBef>
                <a:spcPts val="0"/>
              </a:spcBef>
              <a:spcAft>
                <a:spcPts val="700"/>
              </a:spcAft>
            </a:pPr>
            <a:r>
              <a:rPr sz="1150" b="0" i="0">
                <a:solidFill>
                  <a:srgbClr val="F6E6E9"/>
                </a:solidFill>
                <a:latin typeface="Calibri"/>
              </a:rPr>
              <a:t>Institutions in code</a:t>
            </a:r>
          </a:p>
          <a:p>
            <a:pPr>
              <a:lnSpc>
                <a:spcPct val="115000"/>
              </a:lnSpc>
              <a:spcBef>
                <a:spcPts val="0"/>
              </a:spcBef>
              <a:spcAft>
                <a:spcPts val="700"/>
              </a:spcAft>
            </a:pPr>
            <a:r>
              <a:rPr sz="1150" b="0" i="0">
                <a:solidFill>
                  <a:srgbClr val="F6E6E9"/>
                </a:solidFill>
                <a:latin typeface="Calibri"/>
              </a:rPr>
              <a:t>Lifecycle and baseline import</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EVIDENCE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Evidence engine — append and chain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103</a:t>
            </a:r>
          </a:p>
        </p:txBody>
      </p:sp>
      <p:sp>
        <p:nvSpPr>
          <p:cNvPr id="10" name="Rectangle 9"/>
          <p:cNvSpPr/>
          <p:nvPr/>
        </p:nvSpPr>
        <p:spPr>
          <a:xfrm>
            <a:off x="777240" y="1353312"/>
            <a:ext cx="6382329" cy="3011393"/>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011393"/>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6016569"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APPEND PATH</a:t>
            </a:r>
          </a:p>
        </p:txBody>
      </p:sp>
      <p:sp>
        <p:nvSpPr>
          <p:cNvPr id="13" name="TextBox 12"/>
          <p:cNvSpPr txBox="1"/>
          <p:nvPr/>
        </p:nvSpPr>
        <p:spPr>
          <a:xfrm>
            <a:off x="978408" y="1746504"/>
            <a:ext cx="6016569" cy="2535905"/>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with uow.lock("evidence_chain"):        # serialises seq only</a:t>
            </a:r>
          </a:p>
          <a:p>
            <a:pPr>
              <a:lnSpc>
                <a:spcPct val="134000"/>
              </a:lnSpc>
              <a:spcBef>
                <a:spcPts val="0"/>
              </a:spcBef>
              <a:spcAft>
                <a:spcPts val="0"/>
              </a:spcAft>
            </a:pPr>
            <a:r>
              <a:rPr sz="950" b="0" i="0">
                <a:solidFill>
                  <a:srgbClr val="1C1C1E"/>
                </a:solidFill>
                <a:latin typeface="Consolas"/>
              </a:rPr>
              <a:t>    prev = evidence.head()</a:t>
            </a:r>
          </a:p>
          <a:p>
            <a:pPr>
              <a:lnSpc>
                <a:spcPct val="134000"/>
              </a:lnSpc>
              <a:spcBef>
                <a:spcPts val="0"/>
              </a:spcBef>
              <a:spcAft>
                <a:spcPts val="0"/>
              </a:spcAft>
            </a:pPr>
            <a:r>
              <a:rPr sz="950" b="0" i="0">
                <a:solidFill>
                  <a:srgbClr val="1C1C1E"/>
                </a:solidFill>
                <a:latin typeface="Consolas"/>
              </a:rPr>
              <a:t>    node = EvidenceNode(</a:t>
            </a:r>
          </a:p>
          <a:p>
            <a:pPr>
              <a:lnSpc>
                <a:spcPct val="134000"/>
              </a:lnSpc>
              <a:spcBef>
                <a:spcPts val="0"/>
              </a:spcBef>
              <a:spcAft>
                <a:spcPts val="0"/>
              </a:spcAft>
            </a:pPr>
            <a:r>
              <a:rPr sz="950" b="0" i="0">
                <a:solidFill>
                  <a:srgbClr val="1C1C1E"/>
                </a:solidFill>
                <a:latin typeface="Consolas"/>
              </a:rPr>
              <a:t>        seq = prev.seq + 1,</a:t>
            </a:r>
          </a:p>
          <a:p>
            <a:pPr>
              <a:lnSpc>
                <a:spcPct val="134000"/>
              </a:lnSpc>
              <a:spcBef>
                <a:spcPts val="0"/>
              </a:spcBef>
              <a:spcAft>
                <a:spcPts val="0"/>
              </a:spcAft>
            </a:pPr>
            <a:r>
              <a:rPr sz="950" b="0" i="0">
                <a:solidFill>
                  <a:srgbClr val="1C1C1E"/>
                </a:solidFill>
                <a:latin typeface="Consolas"/>
              </a:rPr>
              <a:t>        payload = {} if personal_data else payload,     # law L-18</a:t>
            </a:r>
          </a:p>
          <a:p>
            <a:pPr>
              <a:lnSpc>
                <a:spcPct val="134000"/>
              </a:lnSpc>
              <a:spcBef>
                <a:spcPts val="0"/>
              </a:spcBef>
              <a:spcAft>
                <a:spcPts val="0"/>
              </a:spcAft>
            </a:pPr>
            <a:r>
              <a:rPr sz="950" b="0" i="0">
                <a:solidFill>
                  <a:srgbClr val="1C1C1E"/>
                </a:solidFill>
                <a:latin typeface="Consolas"/>
              </a:rPr>
              <a:t>        payload_uri = delta.put(payload) if personal_data else None,</a:t>
            </a:r>
          </a:p>
          <a:p>
            <a:pPr>
              <a:lnSpc>
                <a:spcPct val="134000"/>
              </a:lnSpc>
              <a:spcBef>
                <a:spcPts val="0"/>
              </a:spcBef>
              <a:spcAft>
                <a:spcPts val="0"/>
              </a:spcAft>
            </a:pPr>
            <a:r>
              <a:rPr sz="950" b="0" i="0">
                <a:solidFill>
                  <a:srgbClr val="1C1C1E"/>
                </a:solidFill>
                <a:latin typeface="Consolas"/>
              </a:rPr>
              <a:t>        content_hash = sha256(canonical_json(...)),</a:t>
            </a:r>
          </a:p>
          <a:p>
            <a:pPr>
              <a:lnSpc>
                <a:spcPct val="134000"/>
              </a:lnSpc>
              <a:spcBef>
                <a:spcPts val="0"/>
              </a:spcBef>
              <a:spcAft>
                <a:spcPts val="0"/>
              </a:spcAft>
            </a:pPr>
            <a:r>
              <a:rPr sz="950" b="0" i="0">
                <a:solidFill>
                  <a:srgbClr val="1C1C1E"/>
                </a:solidFill>
                <a:latin typeface="Consolas"/>
              </a:rPr>
              <a:t>        prev_hash    = prev.chain_hash,</a:t>
            </a:r>
          </a:p>
          <a:p>
            <a:pPr>
              <a:lnSpc>
                <a:spcPct val="134000"/>
              </a:lnSpc>
              <a:spcBef>
                <a:spcPts val="0"/>
              </a:spcBef>
              <a:spcAft>
                <a:spcPts val="0"/>
              </a:spcAft>
            </a:pPr>
            <a:r>
              <a:rPr sz="950" b="0" i="0">
                <a:solidFill>
                  <a:srgbClr val="1C1C1E"/>
                </a:solidFill>
                <a:latin typeface="Consolas"/>
              </a:rPr>
              <a:t>        chain_hash   = sha256(f"{seq}|{prev_hash}|{content_hash}|"</a:t>
            </a:r>
          </a:p>
          <a:p>
            <a:pPr>
              <a:lnSpc>
                <a:spcPct val="134000"/>
              </a:lnSpc>
              <a:spcBef>
                <a:spcPts val="0"/>
              </a:spcBef>
              <a:spcAft>
                <a:spcPts val="0"/>
              </a:spcAft>
            </a:pPr>
            <a:r>
              <a:rPr sz="950" b="0" i="0">
                <a:solidFill>
                  <a:srgbClr val="1C1C1E"/>
                </a:solidFill>
                <a:latin typeface="Consolas"/>
              </a:rPr>
              <a:t>                              f"{sorted(parent.chain_hash)}"),</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    evidence.insert(node)                # INSERT-only database role</a:t>
            </a:r>
          </a:p>
        </p:txBody>
      </p:sp>
      <p:sp>
        <p:nvSpPr>
          <p:cNvPr id="14" name="TextBox 13"/>
          <p:cNvSpPr txBox="1"/>
          <p:nvPr/>
        </p:nvSpPr>
        <p:spPr>
          <a:xfrm>
            <a:off x="7585057" y="1353312"/>
            <a:ext cx="3829397" cy="320040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Chain over DAG — why both</a:t>
            </a:r>
          </a:p>
          <a:p>
            <a:pPr>
              <a:spcBef>
                <a:spcPts val="700"/>
              </a:spcBef>
              <a:spcAft>
                <a:spcPts val="300"/>
              </a:spcAft>
            </a:pPr>
            <a:r>
              <a:rPr sz="1100" b="1">
                <a:solidFill>
                  <a:srgbClr val="A51C30"/>
                </a:solidFill>
                <a:latin typeface="Calibri"/>
              </a:rPr>
              <a:t>▪  </a:t>
            </a:r>
            <a:r>
              <a:rPr sz="1100" b="1">
                <a:solidFill>
                  <a:srgbClr val="1C1C1E"/>
                </a:solidFill>
                <a:latin typeface="Calibri"/>
              </a:rPr>
              <a:t>The DAG expresses derivation</a:t>
            </a:r>
          </a:p>
          <a:p>
            <a:pPr lvl="1">
              <a:spcBef>
                <a:spcPts val="0"/>
              </a:spcBef>
              <a:spcAft>
                <a:spcPts val="0"/>
              </a:spcAft>
            </a:pPr>
            <a:r>
              <a:rPr sz="950">
                <a:solidFill>
                  <a:srgbClr val="4A4F57"/>
                </a:solidFill>
                <a:latin typeface="Calibri"/>
              </a:rPr>
              <a:t>what supports what</a:t>
            </a:r>
          </a:p>
          <a:p>
            <a:pPr>
              <a:spcBef>
                <a:spcPts val="700"/>
              </a:spcBef>
              <a:spcAft>
                <a:spcPts val="300"/>
              </a:spcAft>
            </a:pPr>
            <a:r>
              <a:rPr sz="1100" b="1">
                <a:solidFill>
                  <a:srgbClr val="A51C30"/>
                </a:solidFill>
                <a:latin typeface="Calibri"/>
              </a:rPr>
              <a:t>▪  </a:t>
            </a:r>
            <a:r>
              <a:rPr sz="1100" b="1">
                <a:solidFill>
                  <a:srgbClr val="1C1C1E"/>
                </a:solidFill>
                <a:latin typeface="Calibri"/>
              </a:rPr>
              <a:t>The linear chain expresses order</a:t>
            </a:r>
          </a:p>
          <a:p>
            <a:pPr lvl="1">
              <a:spcBef>
                <a:spcPts val="0"/>
              </a:spcBef>
              <a:spcAft>
                <a:spcPts val="0"/>
              </a:spcAft>
            </a:pPr>
            <a:r>
              <a:rPr sz="950">
                <a:solidFill>
                  <a:srgbClr val="4A4F57"/>
                </a:solidFill>
                <a:latin typeface="Calibri"/>
              </a:rPr>
              <a:t>so deletion of a leaf and insertion into the past become detectable</a:t>
            </a:r>
          </a:p>
          <a:p>
            <a:pPr>
              <a:spcBef>
                <a:spcPts val="700"/>
              </a:spcBef>
              <a:spcAft>
                <a:spcPts val="300"/>
              </a:spcAft>
            </a:pPr>
            <a:r>
              <a:rPr sz="1100" b="1">
                <a:solidFill>
                  <a:srgbClr val="A51C30"/>
                </a:solidFill>
                <a:latin typeface="Calibri"/>
              </a:rPr>
              <a:t>▪  </a:t>
            </a:r>
            <a:r>
              <a:rPr sz="1100" b="1">
                <a:solidFill>
                  <a:srgbClr val="1C1C1E"/>
                </a:solidFill>
                <a:latin typeface="Calibri"/>
              </a:rPr>
              <a:t>Anchored daily</a:t>
            </a:r>
          </a:p>
          <a:p>
            <a:pPr lvl="1">
              <a:spcBef>
                <a:spcPts val="0"/>
              </a:spcBef>
              <a:spcAft>
                <a:spcPts val="0"/>
              </a:spcAft>
            </a:pPr>
            <a:r>
              <a:rPr sz="950">
                <a:solidFill>
                  <a:srgbClr val="4A4F57"/>
                </a:solidFill>
                <a:latin typeface="Calibri"/>
              </a:rPr>
              <a:t>chain head written to WORM and an RFC-3161 timestamp — self-consistency of a chain an attacker controls proves nothing</a:t>
            </a:r>
          </a:p>
          <a:p>
            <a:pPr>
              <a:spcBef>
                <a:spcPts val="700"/>
              </a:spcBef>
              <a:spcAft>
                <a:spcPts val="300"/>
              </a:spcAft>
            </a:pPr>
            <a:r>
              <a:rPr sz="1100" b="1">
                <a:solidFill>
                  <a:srgbClr val="A51C30"/>
                </a:solidFill>
                <a:latin typeface="Calibri"/>
              </a:rPr>
              <a:t>▪  </a:t>
            </a:r>
            <a:r>
              <a:rPr sz="1100" b="1">
                <a:solidFill>
                  <a:srgbClr val="1C1C1E"/>
                </a:solidFill>
                <a:latin typeface="Calibri"/>
              </a:rPr>
              <a:t>Personal data is never inline</a:t>
            </a:r>
          </a:p>
          <a:p>
            <a:pPr lvl="1">
              <a:spcBef>
                <a:spcPts val="0"/>
              </a:spcBef>
              <a:spcAft>
                <a:spcPts val="0"/>
              </a:spcAft>
            </a:pPr>
            <a:r>
              <a:rPr sz="950">
                <a:solidFill>
                  <a:srgbClr val="4A4F57"/>
                </a:solidFill>
                <a:latin typeface="Calibri"/>
              </a:rPr>
              <a:t>only an erasable pointer, so crypto-shredding leaves the chain valid</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SEMIRING EVALUATION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One engine, six questions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104</a:t>
            </a:r>
          </a:p>
        </p:txBody>
      </p:sp>
      <p:sp>
        <p:nvSpPr>
          <p:cNvPr id="10" name="Rectangle 9"/>
          <p:cNvSpPr/>
          <p:nvPr/>
        </p:nvSpPr>
        <p:spPr>
          <a:xfrm>
            <a:off x="777240" y="1353312"/>
            <a:ext cx="5850468" cy="3011393"/>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011393"/>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484708"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core/evidence/engine.py</a:t>
            </a:r>
          </a:p>
        </p:txBody>
      </p:sp>
      <p:sp>
        <p:nvSpPr>
          <p:cNvPr id="13" name="TextBox 12"/>
          <p:cNvSpPr txBox="1"/>
          <p:nvPr/>
        </p:nvSpPr>
        <p:spPr>
          <a:xfrm>
            <a:off x="978408" y="1746504"/>
            <a:ext cx="5484708" cy="2535905"/>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evaluate(claim, K: Semiring[T], valuation) -&gt; T:</a:t>
            </a:r>
          </a:p>
          <a:p>
            <a:pPr>
              <a:lnSpc>
                <a:spcPct val="134000"/>
              </a:lnSpc>
              <a:spcBef>
                <a:spcPts val="0"/>
              </a:spcBef>
              <a:spcAft>
                <a:spcPts val="0"/>
              </a:spcAft>
            </a:pPr>
            <a:r>
              <a:rPr sz="950" b="0" i="0">
                <a:solidFill>
                  <a:srgbClr val="1C1C1E"/>
                </a:solidFill>
                <a:latin typeface="Consolas"/>
              </a:rPr>
              <a:t>    def go(node):</a:t>
            </a:r>
          </a:p>
          <a:p>
            <a:pPr>
              <a:lnSpc>
                <a:spcPct val="134000"/>
              </a:lnSpc>
              <a:spcBef>
                <a:spcPts val="0"/>
              </a:spcBef>
              <a:spcAft>
                <a:spcPts val="0"/>
              </a:spcAft>
            </a:pPr>
            <a:r>
              <a:rPr sz="950" b="0" i="0">
                <a:solidFill>
                  <a:srgbClr val="1C1C1E"/>
                </a:solidFill>
                <a:latin typeface="Consolas"/>
              </a:rPr>
              <a:t>        d = derivations[node]</a:t>
            </a:r>
          </a:p>
          <a:p>
            <a:pPr>
              <a:lnSpc>
                <a:spcPct val="134000"/>
              </a:lnSpc>
              <a:spcBef>
                <a:spcPts val="0"/>
              </a:spcBef>
              <a:spcAft>
                <a:spcPts val="0"/>
              </a:spcAft>
            </a:pPr>
            <a:r>
              <a:rPr sz="950" b="0" i="0">
                <a:solidFill>
                  <a:srgbClr val="1C1C1E"/>
                </a:solidFill>
                <a:latin typeface="Consolas"/>
              </a:rPr>
              <a:t>        if d.is_leaf: return valuation(node)</a:t>
            </a:r>
          </a:p>
          <a:p>
            <a:pPr>
              <a:lnSpc>
                <a:spcPct val="134000"/>
              </a:lnSpc>
              <a:spcBef>
                <a:spcPts val="0"/>
              </a:spcBef>
              <a:spcAft>
                <a:spcPts val="0"/>
              </a:spcAft>
            </a:pPr>
            <a:r>
              <a:rPr sz="950" b="0" i="0">
                <a:solidFill>
                  <a:srgbClr val="1C1C1E"/>
                </a:solidFill>
                <a:latin typeface="Consolas"/>
              </a:rPr>
              <a:t>        r = K.zero</a:t>
            </a:r>
          </a:p>
          <a:p>
            <a:pPr>
              <a:lnSpc>
                <a:spcPct val="134000"/>
              </a:lnSpc>
              <a:spcBef>
                <a:spcPts val="0"/>
              </a:spcBef>
              <a:spcAft>
                <a:spcPts val="0"/>
              </a:spcAft>
            </a:pPr>
            <a:r>
              <a:rPr sz="950" b="0" i="0">
                <a:solidFill>
                  <a:srgbClr val="1C1C1E"/>
                </a:solidFill>
                <a:latin typeface="Consolas"/>
              </a:rPr>
              <a:t>        for alt in d.alternatives:            # OR</a:t>
            </a:r>
          </a:p>
          <a:p>
            <a:pPr>
              <a:lnSpc>
                <a:spcPct val="134000"/>
              </a:lnSpc>
              <a:spcBef>
                <a:spcPts val="0"/>
              </a:spcBef>
              <a:spcAft>
                <a:spcPts val="0"/>
              </a:spcAft>
            </a:pPr>
            <a:r>
              <a:rPr sz="950" b="0" i="0">
                <a:solidFill>
                  <a:srgbClr val="1C1C1E"/>
                </a:solidFill>
                <a:latin typeface="Consolas"/>
              </a:rPr>
              <a:t>            t = K.one</a:t>
            </a:r>
          </a:p>
          <a:p>
            <a:pPr>
              <a:lnSpc>
                <a:spcPct val="134000"/>
              </a:lnSpc>
              <a:spcBef>
                <a:spcPts val="0"/>
              </a:spcBef>
              <a:spcAft>
                <a:spcPts val="0"/>
              </a:spcAft>
            </a:pPr>
            <a:r>
              <a:rPr sz="950" b="0" i="0">
                <a:solidFill>
                  <a:srgbClr val="1C1C1E"/>
                </a:solidFill>
                <a:latin typeface="Consolas"/>
              </a:rPr>
              <a:t>            for dep in alt.requires:          # AND</a:t>
            </a:r>
          </a:p>
          <a:p>
            <a:pPr>
              <a:lnSpc>
                <a:spcPct val="134000"/>
              </a:lnSpc>
              <a:spcBef>
                <a:spcPts val="0"/>
              </a:spcBef>
              <a:spcAft>
                <a:spcPts val="0"/>
              </a:spcAft>
            </a:pPr>
            <a:r>
              <a:rPr sz="950" b="0" i="0">
                <a:solidFill>
                  <a:srgbClr val="1C1C1E"/>
                </a:solidFill>
                <a:latin typeface="Consolas"/>
              </a:rPr>
              <a:t>                t = K.times(t, go(dep))</a:t>
            </a:r>
          </a:p>
          <a:p>
            <a:pPr>
              <a:lnSpc>
                <a:spcPct val="134000"/>
              </a:lnSpc>
              <a:spcBef>
                <a:spcPts val="0"/>
              </a:spcBef>
              <a:spcAft>
                <a:spcPts val="0"/>
              </a:spcAft>
            </a:pPr>
            <a:r>
              <a:rPr sz="950" b="0" i="0">
                <a:solidFill>
                  <a:srgbClr val="1C1C1E"/>
                </a:solidFill>
                <a:latin typeface="Consolas"/>
              </a:rPr>
              <a:t>            r = K.plus(r, t)</a:t>
            </a:r>
          </a:p>
          <a:p>
            <a:pPr>
              <a:lnSpc>
                <a:spcPct val="134000"/>
              </a:lnSpc>
              <a:spcBef>
                <a:spcPts val="0"/>
              </a:spcBef>
              <a:spcAft>
                <a:spcPts val="0"/>
              </a:spcAft>
            </a:pPr>
            <a:r>
              <a:rPr sz="950" b="0" i="0">
                <a:solidFill>
                  <a:srgbClr val="1C1C1E"/>
                </a:solidFill>
                <a:latin typeface="Consolas"/>
              </a:rPr>
              <a:t>        return r</a:t>
            </a:r>
          </a:p>
          <a:p>
            <a:pPr>
              <a:lnSpc>
                <a:spcPct val="134000"/>
              </a:lnSpc>
              <a:spcBef>
                <a:spcPts val="0"/>
              </a:spcBef>
              <a:spcAft>
                <a:spcPts val="0"/>
              </a:spcAft>
            </a:pPr>
            <a:r>
              <a:rPr sz="950" b="0" i="0">
                <a:solidFill>
                  <a:srgbClr val="1C1C1E"/>
                </a:solidFill>
                <a:latin typeface="Consolas"/>
              </a:rPr>
              <a:t>    return go(claim.root)                     # memoised</a:t>
            </a:r>
          </a:p>
        </p:txBody>
      </p:sp>
      <p:graphicFrame>
        <p:nvGraphicFramePr>
          <p:cNvPr id="14" name="Table 13"/>
          <p:cNvGraphicFramePr>
            <a:graphicFrameLocks noGrp="1"/>
          </p:cNvGraphicFramePr>
          <p:nvPr/>
        </p:nvGraphicFramePr>
        <p:xfrm>
          <a:off x="7053196" y="1353312"/>
          <a:ext cx="4361257" cy="2546350"/>
        </p:xfrm>
        <a:graphic>
          <a:graphicData uri="http://schemas.openxmlformats.org/drawingml/2006/table">
            <a:tbl>
              <a:tblPr firstRow="1">
                <a:tableStyleId>{5C22544A-7EE6-4342-B048-85BDC9FD1C3A}</a:tableStyleId>
              </a:tblPr>
              <a:tblGrid>
                <a:gridCol w="1453752"/>
                <a:gridCol w="2907505"/>
              </a:tblGrid>
              <a:tr h="329184">
                <a:tc>
                  <a:txBody>
                    <a:bodyPr wrap="square"/>
                    <a:lstStyle/>
                    <a:p>
                      <a:pPr algn="l"/>
                      <a:r>
                        <a:rPr sz="1000" b="1">
                          <a:solidFill>
                            <a:srgbClr val="FFFFFF"/>
                          </a:solidFill>
                          <a:latin typeface="Calibri"/>
                        </a:rPr>
                        <a:t>Semiring</a:t>
                      </a:r>
                    </a:p>
                  </a:txBody>
                  <a:tcPr marL="82296" marR="64008" marT="32004" marB="32004" anchor="ctr">
                    <a:solidFill>
                      <a:srgbClr val="A51C30"/>
                    </a:solidFill>
                  </a:tcPr>
                </a:tc>
                <a:tc>
                  <a:txBody>
                    <a:bodyPr wrap="square"/>
                    <a:lstStyle/>
                    <a:p>
                      <a:pPr algn="l"/>
                      <a:r>
                        <a:rPr sz="1000" b="1">
                          <a:solidFill>
                            <a:srgbClr val="FFFFFF"/>
                          </a:solidFill>
                          <a:latin typeface="Calibri"/>
                        </a:rPr>
                        <a:t>Used by</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boolean</a:t>
                      </a:r>
                    </a:p>
                  </a:txBody>
                  <a:tcPr marL="82296" marR="64008" marT="32004" marB="32004" anchor="ctr">
                    <a:solidFill>
                      <a:srgbClr val="FFFFFF"/>
                    </a:solidFill>
                  </a:tcPr>
                </a:tc>
                <a:tc>
                  <a:txBody>
                    <a:bodyPr wrap="square"/>
                    <a:lstStyle/>
                    <a:p>
                      <a:pPr algn="l"/>
                      <a:r>
                        <a:rPr sz="1000" b="0">
                          <a:solidFill>
                            <a:srgbClr val="1C1C1E"/>
                          </a:solidFill>
                          <a:latin typeface="Calibri"/>
                        </a:rPr>
                        <a:t>Lifecycle gates, warrant resolution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why</a:t>
                      </a:r>
                    </a:p>
                  </a:txBody>
                  <a:tcPr marL="82296" marR="64008" marT="32004" marB="32004" anchor="ctr">
                    <a:solidFill>
                      <a:srgbClr val="F6F3EF"/>
                    </a:solidFill>
                  </a:tcPr>
                </a:tc>
                <a:tc>
                  <a:txBody>
                    <a:bodyPr wrap="square"/>
                    <a:lstStyle/>
                    <a:p>
                      <a:pPr algn="l"/>
                      <a:r>
                        <a:rPr sz="1000" b="0">
                          <a:solidFill>
                            <a:srgbClr val="1C1C1E"/>
                          </a:solidFill>
                          <a:latin typeface="Calibri"/>
                        </a:rPr>
                        <a:t>Examiner packs — what must be shown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counting</a:t>
                      </a:r>
                    </a:p>
                  </a:txBody>
                  <a:tcPr marL="82296" marR="64008" marT="32004" marB="32004" anchor="ctr">
                    <a:solidFill>
                      <a:srgbClr val="FFFFFF"/>
                    </a:solidFill>
                  </a:tcPr>
                </a:tc>
                <a:tc>
                  <a:txBody>
                    <a:bodyPr wrap="square"/>
                    <a:lstStyle/>
                    <a:p>
                      <a:pPr algn="l"/>
                      <a:r>
                        <a:rPr sz="1000" b="0">
                          <a:solidFill>
                            <a:srgbClr val="1C1C1E"/>
                          </a:solidFill>
                          <a:latin typeface="Calibri"/>
                        </a:rPr>
                        <a:t>Corroboration depth</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trust</a:t>
                      </a:r>
                    </a:p>
                  </a:txBody>
                  <a:tcPr marL="82296" marR="64008" marT="32004" marB="32004" anchor="ctr">
                    <a:solidFill>
                      <a:srgbClr val="F6F3EF"/>
                    </a:solidFill>
                  </a:tcPr>
                </a:tc>
                <a:tc>
                  <a:txBody>
                    <a:bodyPr wrap="square"/>
                    <a:lstStyle/>
                    <a:p>
                      <a:pPr algn="l"/>
                      <a:r>
                        <a:rPr sz="1000" b="0">
                          <a:solidFill>
                            <a:srgbClr val="1C1C1E"/>
                          </a:solidFill>
                          <a:latin typeface="Calibri"/>
                        </a:rPr>
                        <a:t>Health score, AI-draft discounting</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cost</a:t>
                      </a:r>
                    </a:p>
                  </a:txBody>
                  <a:tcPr marL="82296" marR="64008" marT="32004" marB="32004" anchor="ctr">
                    <a:solidFill>
                      <a:srgbClr val="FFFFFF"/>
                    </a:solidFill>
                  </a:tcPr>
                </a:tc>
                <a:tc>
                  <a:txBody>
                    <a:bodyPr wrap="square"/>
                    <a:lstStyle/>
                    <a:p>
                      <a:pPr algn="l"/>
                      <a:r>
                        <a:rPr sz="1000" b="0">
                          <a:solidFill>
                            <a:srgbClr val="1C1C1E"/>
                          </a:solidFill>
                          <a:latin typeface="Calibri"/>
                        </a:rPr>
                        <a:t>Remediation planning, capacity</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freshness</a:t>
                      </a:r>
                    </a:p>
                  </a:txBody>
                  <a:tcPr marL="82296" marR="64008" marT="32004" marB="32004" anchor="ctr">
                    <a:solidFill>
                      <a:srgbClr val="F6F3EF"/>
                    </a:solidFill>
                  </a:tcPr>
                </a:tc>
                <a:tc>
                  <a:txBody>
                    <a:bodyPr wrap="square"/>
                    <a:lstStyle/>
                    <a:p>
                      <a:pPr algn="l"/>
                      <a:r>
                        <a:rPr sz="1000" b="0">
                          <a:solidFill>
                            <a:srgbClr val="1C1C1E"/>
                          </a:solidFill>
                          <a:latin typeface="Calibri"/>
                        </a:rPr>
                        <a:t>Document staleness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 not built —</a:t>
                      </a:r>
                    </a:p>
                  </a:txBody>
                  <a:tcPr marL="82296" marR="64008" marT="32004" marB="32004" anchor="ctr">
                    <a:solidFill>
                      <a:srgbClr val="FFFFFF"/>
                    </a:solidFill>
                  </a:tcPr>
                </a:tc>
                <a:tc>
                  <a:txBody>
                    <a:bodyPr wrap="square"/>
                    <a:lstStyle/>
                    <a:p>
                      <a:pPr algn="l"/>
                      <a:r>
                        <a:rPr sz="1000" b="0">
                          <a:solidFill>
                            <a:srgbClr val="1C1C1E"/>
                          </a:solidFill>
                          <a:latin typeface="Calibri"/>
                        </a:rPr>
                        <a:t>ℕ[X], classification, regime admissibility</a:t>
                      </a:r>
                    </a:p>
                  </a:txBody>
                  <a:tcPr marL="82296" marR="64008" marT="32004" marB="32004" anchor="ctr">
                    <a:solidFill>
                      <a:srgbClr val="FFFFFF"/>
                    </a:solidFill>
                  </a:tcPr>
                </a:tc>
              </a:tr>
            </a:tbl>
          </a:graphicData>
        </a:graphic>
      </p:graphicFrame>
      <p:sp>
        <p:nvSpPr>
          <p:cNvPr id="15" name="TextBox 14"/>
          <p:cNvSpPr txBox="1"/>
          <p:nvPr/>
        </p:nvSpPr>
        <p:spPr>
          <a:xfrm>
            <a:off x="7053196" y="4100829"/>
            <a:ext cx="4361258" cy="86868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Without ℕ[X] there is no universal object, </a:t>
            </a:r>
            <a:r>
              <a:rPr sz="1000" b="0" i="0">
                <a:solidFill>
                  <a:srgbClr val="1C1C1E"/>
                </a:solidFill>
                <a:latin typeface="Calibri"/>
              </a:rPr>
              <a:t>so each semiring is its own traversal of the same memoised DAG rather than a homomorphic image of one. Six questions, one implementation — and the honest count.</a:t>
            </a:r>
          </a:p>
        </p:txBody>
      </p:sp>
      <p:sp>
        <p:nvSpPr>
          <p:cNvPr id="16" name="Rectangle 15"/>
          <p:cNvSpPr/>
          <p:nvPr/>
        </p:nvSpPr>
        <p:spPr>
          <a:xfrm>
            <a:off x="777240" y="4620737"/>
            <a:ext cx="10637215" cy="86868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777240" y="4620737"/>
            <a:ext cx="41148" cy="8686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1051560" y="4748753"/>
            <a:ext cx="10088575" cy="68580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Complexity, stated honestly. </a:t>
            </a:r>
            <a:r>
              <a:rPr sz="1100" b="0" i="0">
                <a:solidFill>
                  <a:srgbClr val="1C1C1E"/>
                </a:solidFill>
                <a:latin typeface="Calibri"/>
              </a:rPr>
              <a:t>Why-provenance is worst-case exponential in the number of alternatives. Controls: absorption (a ⊕ ab = a), memoisation, and a hard 4,096-term cap beyond which evaluation stops accumulating and returns truncated=true. </a:t>
            </a:r>
            <a:r>
              <a:rPr sz="1100" b="1" i="0">
                <a:solidFill>
                  <a:srgbClr val="A51C30"/>
                </a:solidFill>
                <a:latin typeface="Calibri"/>
              </a:rPr>
              <a:t>It marks the answer partial — it does not fall back to a cheaper semiring. The marker is the control.</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RISK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tiering algorithm</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105</a:t>
            </a:r>
          </a:p>
        </p:txBody>
      </p:sp>
      <p:sp>
        <p:nvSpPr>
          <p:cNvPr id="10" name="Rectangle 9"/>
          <p:cNvSpPr/>
          <p:nvPr/>
        </p:nvSpPr>
        <p:spPr>
          <a:xfrm>
            <a:off x="777240" y="1353312"/>
            <a:ext cx="6169584" cy="382621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826215"/>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80382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core/risk/tiering.py</a:t>
            </a:r>
          </a:p>
        </p:txBody>
      </p:sp>
      <p:sp>
        <p:nvSpPr>
          <p:cNvPr id="13" name="TextBox 12"/>
          <p:cNvSpPr txBox="1"/>
          <p:nvPr/>
        </p:nvSpPr>
        <p:spPr>
          <a:xfrm>
            <a:off x="978408" y="1746504"/>
            <a:ext cx="5803824" cy="3350727"/>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facts = FactCollector(model_id).collect()      # sourced where possible</a:t>
            </a:r>
          </a:p>
          <a:p>
            <a:pPr>
              <a:lnSpc>
                <a:spcPct val="134000"/>
              </a:lnSpc>
              <a:spcBef>
                <a:spcPts val="0"/>
              </a:spcBef>
              <a:spcAft>
                <a:spcPts val="0"/>
              </a:spcAft>
            </a:pPr>
            <a:r>
              <a:rPr sz="950" b="0" i="0">
                <a:solidFill>
                  <a:srgbClr val="1C1C1E"/>
                </a:solidFill>
                <a:latin typeface="Consolas"/>
              </a:rPr>
              <a:t>rules = rulesets.get(ruleset_version)          # immutable, versioned, tested</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m = Materiality(quantitative = rules.exposure_band(...),</a:t>
            </a:r>
          </a:p>
          <a:p>
            <a:pPr>
              <a:lnSpc>
                <a:spcPct val="134000"/>
              </a:lnSpc>
              <a:spcBef>
                <a:spcPts val="0"/>
              </a:spcBef>
              <a:spcAft>
                <a:spcPts val="0"/>
              </a:spcAft>
            </a:pPr>
            <a:r>
              <a:rPr sz="950" b="0" i="0">
                <a:solidFill>
                  <a:srgbClr val="1C1C1E"/>
                </a:solidFill>
                <a:latin typeface="Consolas"/>
              </a:rPr>
              <a:t>                qualitative  = rules.purpose_class(...)).join()</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c = Complexity.meet(data=..., methodology=..., implementation=...,</a:t>
            </a:r>
          </a:p>
          <a:p>
            <a:pPr>
              <a:lnSpc>
                <a:spcPct val="134000"/>
              </a:lnSpc>
              <a:spcBef>
                <a:spcPts val="0"/>
              </a:spcBef>
              <a:spcAft>
                <a:spcPts val="0"/>
              </a:spcAft>
            </a:pPr>
            <a:r>
              <a:rPr sz="950" b="0" i="0">
                <a:solidFill>
                  <a:srgbClr val="1C1C1E"/>
                </a:solidFill>
                <a:latin typeface="Consolas"/>
              </a:rPr>
              <a:t>                    use_intensity=..., interpretability=...,</a:t>
            </a:r>
          </a:p>
          <a:p>
            <a:pPr>
              <a:lnSpc>
                <a:spcPct val="134000"/>
              </a:lnSpc>
              <a:spcBef>
                <a:spcPts val="0"/>
              </a:spcBef>
              <a:spcAft>
                <a:spcPts val="0"/>
              </a:spcAft>
            </a:pPr>
            <a:r>
              <a:rPr sz="950" b="0" i="0">
                <a:solidFill>
                  <a:srgbClr val="1C1C1E"/>
                </a:solidFill>
                <a:latin typeface="Consolas"/>
              </a:rPr>
              <a:t>                    transparency=..., bias_potential=...)</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tier     = rules.tau(m, c)      # monotone — law L-4</a:t>
            </a:r>
          </a:p>
          <a:p>
            <a:pPr>
              <a:lnSpc>
                <a:spcPct val="134000"/>
              </a:lnSpc>
              <a:spcBef>
                <a:spcPts val="0"/>
              </a:spcBef>
              <a:spcAft>
                <a:spcPts val="0"/>
              </a:spcAft>
            </a:pPr>
            <a:r>
              <a:rPr sz="950" b="0" i="0">
                <a:solidFill>
                  <a:srgbClr val="1C1C1E"/>
                </a:solidFill>
                <a:latin typeface="Consolas"/>
              </a:rPr>
              <a:t>controls = rules.req(tier)      # Galois adjoint — law L-5</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return RiskAssessment(fact_snapshot=..., ruleset_version=...,</a:t>
            </a:r>
          </a:p>
          <a:p>
            <a:pPr>
              <a:lnSpc>
                <a:spcPct val="134000"/>
              </a:lnSpc>
              <a:spcBef>
                <a:spcPts val="0"/>
              </a:spcBef>
              <a:spcAft>
                <a:spcPts val="0"/>
              </a:spcAft>
            </a:pPr>
            <a:r>
              <a:rPr sz="950" b="0" i="0">
                <a:solidFill>
                  <a:srgbClr val="1C1C1E"/>
                </a:solidFill>
                <a:latin typeface="Consolas"/>
              </a:rPr>
              <a:t>                      rationale=rules.explain(m, c, tier),   # DR-4</a:t>
            </a:r>
          </a:p>
          <a:p>
            <a:pPr>
              <a:lnSpc>
                <a:spcPct val="134000"/>
              </a:lnSpc>
              <a:spcBef>
                <a:spcPts val="0"/>
              </a:spcBef>
              <a:spcAft>
                <a:spcPts val="0"/>
              </a:spcAft>
            </a:pPr>
            <a:r>
              <a:rPr sz="950" b="0" i="0">
                <a:solidFill>
                  <a:srgbClr val="1C1C1E"/>
                </a:solidFill>
                <a:latin typeface="Consolas"/>
              </a:rPr>
              <a:t>                      next_review_due=..., triggers=...)</a:t>
            </a:r>
          </a:p>
        </p:txBody>
      </p:sp>
      <p:sp>
        <p:nvSpPr>
          <p:cNvPr id="14" name="TextBox 13"/>
          <p:cNvSpPr txBox="1"/>
          <p:nvPr/>
        </p:nvSpPr>
        <p:spPr>
          <a:xfrm>
            <a:off x="7372313" y="1353312"/>
            <a:ext cx="4042141" cy="329184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Two axes, never one score</a:t>
            </a:r>
          </a:p>
          <a:p>
            <a:pPr>
              <a:lnSpc>
                <a:spcPct val="126000"/>
              </a:lnSpc>
              <a:spcBef>
                <a:spcPts val="0"/>
              </a:spcBef>
              <a:spcAft>
                <a:spcPts val="1000"/>
              </a:spcAft>
            </a:pPr>
            <a:r>
              <a:rPr sz="1100" b="0" i="0">
                <a:solidFill>
                  <a:srgbClr val="4A4F57"/>
                </a:solidFill>
                <a:latin typeface="Calibri"/>
              </a:rPr>
              <a:t>Materiality and complexity are separate lattices. Collapsing them into a product lets a very complex model with modest exposure land beside a simple model with enormous exposure.</a:t>
            </a:r>
          </a:p>
          <a:p>
            <a:pPr>
              <a:spcBef>
                <a:spcPts val="0"/>
              </a:spcBef>
              <a:spcAft>
                <a:spcPts val="700"/>
              </a:spcAft>
            </a:pPr>
            <a:r>
              <a:rPr sz="1250" b="1" i="0">
                <a:solidFill>
                  <a:srgbClr val="1C1C1E"/>
                </a:solidFill>
                <a:latin typeface="Georgia"/>
              </a:rPr>
              <a:t>The guarantee</a:t>
            </a:r>
          </a:p>
          <a:p>
            <a:pPr>
              <a:lnSpc>
                <a:spcPct val="126000"/>
              </a:lnSpc>
              <a:spcBef>
                <a:spcPts val="0"/>
              </a:spcBef>
              <a:spcAft>
                <a:spcPts val="600"/>
              </a:spcAft>
            </a:pPr>
            <a:r>
              <a:rPr sz="1100" b="0" i="0">
                <a:solidFill>
                  <a:srgbClr val="4A4F57"/>
                </a:solidFill>
                <a:latin typeface="Calibri"/>
              </a:rPr>
              <a:t>τ is monotone, so </a:t>
            </a:r>
            <a:r>
              <a:rPr sz="1100" b="1" i="0">
                <a:solidFill>
                  <a:srgbClr val="1C1C1E"/>
                </a:solidFill>
                <a:latin typeface="Calibri"/>
              </a:rPr>
              <a:t>nothing we can learn about a model that makes it more consequential or more complicated will ever move it into a lighter control regime.</a:t>
            </a:r>
            <a:r>
              <a:rPr sz="1100" b="0" i="0">
                <a:solidFill>
                  <a:srgbClr val="4A4F57"/>
                </a:solidFill>
                <a:latin typeface="Calibri"/>
              </a:rPr>
              <a:t> An unconstrained scoring formula cannot make that promise, and typically cannot even be checked.</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RISK</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Anti-gaming: where the facts come from</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106</a:t>
            </a:r>
          </a:p>
        </p:txBody>
      </p:sp>
      <p:graphicFrame>
        <p:nvGraphicFramePr>
          <p:cNvPr id="10" name="Table 9"/>
          <p:cNvGraphicFramePr>
            <a:graphicFrameLocks noGrp="1"/>
          </p:cNvGraphicFramePr>
          <p:nvPr/>
        </p:nvGraphicFramePr>
        <p:xfrm>
          <a:off x="777240" y="1353312"/>
          <a:ext cx="10637214" cy="1846426"/>
        </p:xfrm>
        <a:graphic>
          <a:graphicData uri="http://schemas.openxmlformats.org/drawingml/2006/table">
            <a:tbl>
              <a:tblPr firstRow="1">
                <a:tableStyleId>{5C22544A-7EE6-4342-B048-85BDC9FD1C3A}</a:tableStyleId>
              </a:tblPr>
              <a:tblGrid>
                <a:gridCol w="2200803"/>
                <a:gridCol w="4951807"/>
                <a:gridCol w="3484604"/>
              </a:tblGrid>
              <a:tr h="333781">
                <a:tc>
                  <a:txBody>
                    <a:bodyPr wrap="square"/>
                    <a:lstStyle/>
                    <a:p>
                      <a:pPr algn="l"/>
                      <a:r>
                        <a:rPr sz="1100" b="1">
                          <a:solidFill>
                            <a:srgbClr val="FFFFFF"/>
                          </a:solidFill>
                          <a:latin typeface="Calibri"/>
                        </a:rPr>
                        <a:t>Fact</a:t>
                      </a:r>
                    </a:p>
                  </a:txBody>
                  <a:tcPr marL="82296" marR="64008" marT="32004" marB="32004" anchor="ctr">
                    <a:solidFill>
                      <a:srgbClr val="A51C30"/>
                    </a:solidFill>
                  </a:tcPr>
                </a:tc>
                <a:tc>
                  <a:txBody>
                    <a:bodyPr wrap="square"/>
                    <a:lstStyle/>
                    <a:p>
                      <a:pPr algn="l"/>
                      <a:r>
                        <a:rPr sz="1100" b="1">
                          <a:solidFill>
                            <a:srgbClr val="FFFFFF"/>
                          </a:solidFill>
                          <a:latin typeface="Calibri"/>
                        </a:rPr>
                        <a:t>Source</a:t>
                      </a:r>
                    </a:p>
                  </a:txBody>
                  <a:tcPr marL="82296" marR="64008" marT="32004" marB="32004" anchor="ctr">
                    <a:solidFill>
                      <a:srgbClr val="A51C30"/>
                    </a:solidFill>
                  </a:tcPr>
                </a:tc>
                <a:tc>
                  <a:txBody>
                    <a:bodyPr wrap="square"/>
                    <a:lstStyle/>
                    <a:p>
                      <a:pPr algn="l"/>
                      <a:r>
                        <a:rPr sz="1100" b="1">
                          <a:solidFill>
                            <a:srgbClr val="FFFFFF"/>
                          </a:solidFill>
                          <a:latin typeface="Calibri"/>
                        </a:rPr>
                        <a:t>If unavailable</a:t>
                      </a:r>
                    </a:p>
                  </a:txBody>
                  <a:tcPr marL="82296" marR="64008" marT="32004" marB="32004" anchor="ctr">
                    <a:solidFill>
                      <a:srgbClr val="A51C30"/>
                    </a:solidFill>
                  </a:tcPr>
                </a:tc>
              </a:tr>
              <a:tr h="504215">
                <a:tc>
                  <a:txBody>
                    <a:bodyPr wrap="square"/>
                    <a:lstStyle/>
                    <a:p>
                      <a:pPr algn="l"/>
                      <a:r>
                        <a:rPr sz="1050" b="1">
                          <a:solidFill>
                            <a:srgbClr val="A51C30"/>
                          </a:solidFill>
                          <a:latin typeface="Calibri"/>
                        </a:rPr>
                        <a:t>exposure_measure</a:t>
                      </a:r>
                    </a:p>
                  </a:txBody>
                  <a:tcPr marL="82296" marR="64008" marT="32004" marB="32004" anchor="ctr">
                    <a:solidFill>
                      <a:srgbClr val="FFFFFF"/>
                    </a:solidFill>
                  </a:tcPr>
                </a:tc>
                <a:tc>
                  <a:txBody>
                    <a:bodyPr wrap="square"/>
                    <a:lstStyle/>
                    <a:p>
                      <a:pPr algn="l"/>
                      <a:r>
                        <a:rPr sz="1050" b="0">
                          <a:solidFill>
                            <a:srgbClr val="1C1C1E"/>
                          </a:solidFill>
                          <a:latin typeface="Calibri"/>
                        </a:rPr>
                        <a:t>Bound to a system of record — risk data mart, GL, portfolio system — with nightly reconciliation</a:t>
                      </a:r>
                    </a:p>
                  </a:txBody>
                  <a:tcPr marL="82296" marR="64008" marT="32004" marB="32004" anchor="ctr">
                    <a:solidFill>
                      <a:srgbClr val="FFFFFF"/>
                    </a:solidFill>
                  </a:tcPr>
                </a:tc>
                <a:tc>
                  <a:txBody>
                    <a:bodyPr wrap="square"/>
                    <a:lstStyle/>
                    <a:p>
                      <a:pPr algn="l"/>
                      <a:r>
                        <a:rPr sz="1050" b="0">
                          <a:solidFill>
                            <a:srgbClr val="1C1C1E"/>
                          </a:solidFill>
                          <a:latin typeface="Calibri"/>
                        </a:rPr>
                        <a:t>Marked unsourced; peer-cohort outlier detection applies; flagged on the model page</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purpose_class</a:t>
                      </a:r>
                    </a:p>
                  </a:txBody>
                  <a:tcPr marL="82296" marR="64008" marT="32004" marB="32004" anchor="ctr">
                    <a:solidFill>
                      <a:srgbClr val="F6F3EF"/>
                    </a:solidFill>
                  </a:tcPr>
                </a:tc>
                <a:tc>
                  <a:txBody>
                    <a:bodyPr wrap="square"/>
                    <a:lstStyle/>
                    <a:p>
                      <a:pPr algn="l"/>
                      <a:r>
                        <a:rPr sz="1050" b="0">
                          <a:solidFill>
                            <a:srgbClr val="1C1C1E"/>
                          </a:solidFill>
                          <a:latin typeface="Calibri"/>
                        </a:rPr>
                        <a:t>Human — but a change requires approval at the tier being LEFT, not the tier being entered</a:t>
                      </a:r>
                    </a:p>
                  </a:txBody>
                  <a:tcPr marL="82296" marR="64008" marT="32004" marB="32004" anchor="ctr">
                    <a:solidFill>
                      <a:srgbClr val="F6F3EF"/>
                    </a:solidFill>
                  </a:tcPr>
                </a:tc>
                <a:tc>
                  <a:txBody>
                    <a:bodyPr wrap="square"/>
                    <a:lstStyle/>
                    <a:p>
                      <a:pPr algn="l"/>
                      <a:r>
                        <a:rPr sz="1050" b="0">
                          <a:solidFill>
                            <a:srgbClr val="1C1C1E"/>
                          </a:solidFill>
                          <a:latin typeface="Calibri"/>
                        </a:rPr>
                        <a:t>—</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complexity components</a:t>
                      </a:r>
                    </a:p>
                  </a:txBody>
                  <a:tcPr marL="82296" marR="64008" marT="32004" marB="32004" anchor="ctr">
                    <a:solidFill>
                      <a:srgbClr val="FFFFFF"/>
                    </a:solidFill>
                  </a:tcPr>
                </a:tc>
                <a:tc>
                  <a:txBody>
                    <a:bodyPr wrap="square"/>
                    <a:lstStyle/>
                    <a:p>
                      <a:pPr algn="l"/>
                      <a:r>
                        <a:rPr sz="1050" b="0">
                          <a:solidFill>
                            <a:srgbClr val="1C1C1E"/>
                          </a:solidFill>
                          <a:latin typeface="Calibri"/>
                        </a:rPr>
                        <a:t>Derived from artifact introspection, feature contract and lineage where possible</a:t>
                      </a:r>
                    </a:p>
                  </a:txBody>
                  <a:tcPr marL="82296" marR="64008" marT="32004" marB="32004" anchor="ctr">
                    <a:solidFill>
                      <a:srgbClr val="FFFFFF"/>
                    </a:solidFill>
                  </a:tcPr>
                </a:tc>
                <a:tc>
                  <a:txBody>
                    <a:bodyPr wrap="square"/>
                    <a:lstStyle/>
                    <a:p>
                      <a:pPr algn="l"/>
                      <a:r>
                        <a:rPr sz="1050" b="0">
                          <a:solidFill>
                            <a:srgbClr val="1C1C1E"/>
                          </a:solidFill>
                          <a:latin typeface="Calibri"/>
                        </a:rPr>
                        <a:t>Human, with recorded rationale</a:t>
                      </a:r>
                    </a:p>
                  </a:txBody>
                  <a:tcPr marL="82296" marR="64008" marT="32004" marB="32004" anchor="ctr">
                    <a:solidFill>
                      <a:srgbClr val="FFFFFF"/>
                    </a:solidFill>
                  </a:tcPr>
                </a:tc>
              </a:tr>
            </a:tbl>
          </a:graphicData>
        </a:graphic>
      </p:graphicFrame>
      <p:sp>
        <p:nvSpPr>
          <p:cNvPr id="11" name="TextBox 10"/>
          <p:cNvSpPr txBox="1"/>
          <p:nvPr/>
        </p:nvSpPr>
        <p:spPr>
          <a:xfrm>
            <a:off x="777240" y="3474059"/>
            <a:ext cx="5105863" cy="173736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The attack the obvious control misses</a:t>
            </a:r>
          </a:p>
          <a:p>
            <a:pPr>
              <a:lnSpc>
                <a:spcPct val="126000"/>
              </a:lnSpc>
              <a:spcBef>
                <a:spcPts val="0"/>
              </a:spcBef>
              <a:spcAft>
                <a:spcPts val="0"/>
              </a:spcAft>
            </a:pPr>
            <a:r>
              <a:rPr sz="1150" b="0" i="0">
                <a:solidFill>
                  <a:srgbClr val="4A4F57"/>
                </a:solidFill>
                <a:latin typeface="Calibri"/>
              </a:rPr>
              <a:t>Tier is derived, traced and monotone — so overriding it is visible. But it is derived from facts, and understating an exposure lowers the tier through a perfectly valid, fully audited derivation.</a:t>
            </a:r>
          </a:p>
        </p:txBody>
      </p:sp>
      <p:sp>
        <p:nvSpPr>
          <p:cNvPr id="12" name="Rectangle 11"/>
          <p:cNvSpPr/>
          <p:nvPr/>
        </p:nvSpPr>
        <p:spPr>
          <a:xfrm>
            <a:off x="6521336" y="3474059"/>
            <a:ext cx="4893118" cy="16002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6521336" y="3474059"/>
            <a:ext cx="41148" cy="16002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6759080" y="3602075"/>
            <a:ext cx="4435918" cy="1371600"/>
          </a:xfrm>
          <a:prstGeom prst="rect">
            <a:avLst/>
          </a:prstGeom>
          <a:noFill/>
        </p:spPr>
        <p:txBody>
          <a:bodyPr wrap="square" lIns="0" rIns="0" tIns="0" bIns="0" anchor="t">
            <a:spAutoFit/>
          </a:bodyPr>
          <a:lstStyle/>
          <a:p>
            <a:pPr algn="l">
              <a:spcBef>
                <a:spcPts val="0"/>
              </a:spcBef>
              <a:spcAft>
                <a:spcPts val="700"/>
              </a:spcAft>
            </a:pPr>
            <a:r>
              <a:rPr sz="1250" b="1" i="0">
                <a:solidFill>
                  <a:srgbClr val="A51C30"/>
                </a:solidFill>
                <a:latin typeface="Georgia"/>
              </a:rPr>
              <a:t>Retrospective calibration</a:t>
            </a:r>
          </a:p>
          <a:p>
            <a:pPr>
              <a:lnSpc>
                <a:spcPct val="126000"/>
              </a:lnSpc>
              <a:spcBef>
                <a:spcPts val="0"/>
              </a:spcBef>
              <a:spcAft>
                <a:spcPts val="0"/>
              </a:spcAft>
            </a:pPr>
            <a:r>
              <a:rPr sz="1150" b="0" i="0">
                <a:solidFill>
                  <a:srgbClr val="1C1C1E"/>
                </a:solidFill>
                <a:latin typeface="Calibri"/>
              </a:rPr>
              <a:t>Annually, tier assignments are back-tested against realised incidents, findings and losses. </a:t>
            </a:r>
            <a:r>
              <a:rPr sz="1150" b="1" i="0">
                <a:solidFill>
                  <a:srgbClr val="1C1C1E"/>
                </a:solidFill>
                <a:latin typeface="Calibri"/>
              </a:rPr>
              <a:t>A tier that never predicts anything is evidence of systematic understatement — not of a quiet portfolio.</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REGIMES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Institutions in code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107</a:t>
            </a:r>
          </a:p>
        </p:txBody>
      </p:sp>
      <p:sp>
        <p:nvSpPr>
          <p:cNvPr id="10" name="Rectangle 9"/>
          <p:cNvSpPr/>
          <p:nvPr/>
        </p:nvSpPr>
        <p:spPr>
          <a:xfrm>
            <a:off x="777240" y="1353312"/>
            <a:ext cx="10637215" cy="28076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8076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10271455"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core/regimes/engine.py</a:t>
            </a:r>
          </a:p>
        </p:txBody>
      </p:sp>
      <p:sp>
        <p:nvSpPr>
          <p:cNvPr id="13" name="TextBox 12"/>
          <p:cNvSpPr txBox="1"/>
          <p:nvPr/>
        </p:nvSpPr>
        <p:spPr>
          <a:xfrm>
            <a:off x="978408" y="1746504"/>
            <a:ext cx="10271455" cy="233220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determine(model_id: str, inst: Institution) -&gt; ScopeDetermination:</a:t>
            </a:r>
          </a:p>
          <a:p>
            <a:pPr>
              <a:lnSpc>
                <a:spcPct val="134000"/>
              </a:lnSpc>
              <a:spcBef>
                <a:spcPts val="0"/>
              </a:spcBef>
              <a:spcAft>
                <a:spcPts val="0"/>
              </a:spcAft>
            </a:pPr>
            <a:r>
              <a:rPr sz="950" b="0" i="0">
                <a:solidFill>
                  <a:srgbClr val="1C1C1E"/>
                </a:solidFill>
                <a:latin typeface="Consolas"/>
              </a:rPr>
              <a:t>    core   = CoreFacts.for_model(model_id)</a:t>
            </a:r>
          </a:p>
          <a:p>
            <a:pPr>
              <a:lnSpc>
                <a:spcPct val="134000"/>
              </a:lnSpc>
              <a:spcBef>
                <a:spcPts val="0"/>
              </a:spcBef>
              <a:spcAft>
                <a:spcPts val="0"/>
              </a:spcAft>
            </a:pPr>
            <a:r>
              <a:rPr sz="950" b="0" i="0">
                <a:solidFill>
                  <a:srgbClr val="1C1C1E"/>
                </a:solidFill>
                <a:latin typeface="Consolas"/>
              </a:rPr>
              <a:t>    local  = inst.translate(core)                    # the comorphism component</a:t>
            </a:r>
          </a:p>
          <a:p>
            <a:pPr>
              <a:lnSpc>
                <a:spcPct val="134000"/>
              </a:lnSpc>
              <a:spcBef>
                <a:spcPts val="0"/>
              </a:spcBef>
              <a:spcAft>
                <a:spcPts val="0"/>
              </a:spcAft>
            </a:pPr>
            <a:r>
              <a:rPr sz="950" b="0" i="0">
                <a:solidFill>
                  <a:srgbClr val="1C1C1E"/>
                </a:solidFill>
                <a:latin typeface="Consolas"/>
              </a:rPr>
              <a:t>    result = inst.sentences["is_model"].evaluate(local)</a:t>
            </a:r>
          </a:p>
          <a:p>
            <a:pPr>
              <a:lnSpc>
                <a:spcPct val="134000"/>
              </a:lnSpc>
              <a:spcBef>
                <a:spcPts val="0"/>
              </a:spcBef>
              <a:spcAft>
                <a:spcPts val="0"/>
              </a:spcAft>
            </a:pPr>
            <a:r>
              <a:rPr sz="950" b="0" i="0">
                <a:solidFill>
                  <a:srgbClr val="1C1C1E"/>
                </a:solidFill>
                <a:latin typeface="Consolas"/>
              </a:rPr>
              <a:t>    return ScopeDetermination(</a:t>
            </a:r>
          </a:p>
          <a:p>
            <a:pPr>
              <a:lnSpc>
                <a:spcPct val="134000"/>
              </a:lnSpc>
              <a:spcBef>
                <a:spcPts val="0"/>
              </a:spcBef>
              <a:spcAft>
                <a:spcPts val="0"/>
              </a:spcAft>
            </a:pPr>
            <a:r>
              <a:rPr sz="950" b="0" i="0">
                <a:solidFill>
                  <a:srgbClr val="1C1C1E"/>
                </a:solidFill>
                <a:latin typeface="Consolas"/>
              </a:rPr>
              <a:t>        regime_key=inst.key, regime_version=inst.version,</a:t>
            </a:r>
          </a:p>
          <a:p>
            <a:pPr>
              <a:lnSpc>
                <a:spcPct val="134000"/>
              </a:lnSpc>
              <a:spcBef>
                <a:spcPts val="0"/>
              </a:spcBef>
              <a:spcAft>
                <a:spcPts val="0"/>
              </a:spcAft>
            </a:pPr>
            <a:r>
              <a:rPr sz="950" b="0" i="0">
                <a:solidFill>
                  <a:srgbClr val="1C1C1E"/>
                </a:solidFill>
                <a:latin typeface="Consolas"/>
              </a:rPr>
              <a:t>        determination = "in_scope" if result.value else "out_of_scope",</a:t>
            </a:r>
          </a:p>
          <a:p>
            <a:pPr>
              <a:lnSpc>
                <a:spcPct val="134000"/>
              </a:lnSpc>
              <a:spcBef>
                <a:spcPts val="0"/>
              </a:spcBef>
              <a:spcAft>
                <a:spcPts val="0"/>
              </a:spcAft>
            </a:pPr>
            <a:r>
              <a:rPr sz="950" b="0" i="0">
                <a:solidFill>
                  <a:srgbClr val="1C1C1E"/>
                </a:solidFill>
                <a:latin typeface="Consolas"/>
              </a:rPr>
              <a:t>        derivation = {"sentence": "is_model", "evaluated": result.value,</a:t>
            </a:r>
          </a:p>
          <a:p>
            <a:pPr>
              <a:lnSpc>
                <a:spcPct val="134000"/>
              </a:lnSpc>
              <a:spcBef>
                <a:spcPts val="0"/>
              </a:spcBef>
              <a:spcAft>
                <a:spcPts val="0"/>
              </a:spcAft>
            </a:pPr>
            <a:r>
              <a:rPr sz="950" b="0" i="0">
                <a:solidFill>
                  <a:srgbClr val="1C1C1E"/>
                </a:solidFill>
                <a:latin typeface="Consolas"/>
              </a:rPr>
              <a:t>                      "failing_conjunct": result.first_false_conjunct,</a:t>
            </a:r>
          </a:p>
          <a:p>
            <a:pPr>
              <a:lnSpc>
                <a:spcPct val="134000"/>
              </a:lnSpc>
              <a:spcBef>
                <a:spcPts val="0"/>
              </a:spcBef>
              <a:spcAft>
                <a:spcPts val="0"/>
              </a:spcAft>
            </a:pPr>
            <a:r>
              <a:rPr sz="950" b="0" i="0">
                <a:solidFill>
                  <a:srgbClr val="1C1C1E"/>
                </a:solidFill>
                <a:latin typeface="Consolas"/>
              </a:rPr>
              <a:t>                      "facts": local.as_dict(), "citation": result.citation},</a:t>
            </a:r>
          </a:p>
          <a:p>
            <a:pPr>
              <a:lnSpc>
                <a:spcPct val="134000"/>
              </a:lnSpc>
              <a:spcBef>
                <a:spcPts val="0"/>
              </a:spcBef>
              <a:spcAft>
                <a:spcPts val="0"/>
              </a:spcAft>
            </a:pPr>
            <a:r>
              <a:rPr sz="950" b="0" i="0">
                <a:solidFill>
                  <a:srgbClr val="1C1C1E"/>
                </a:solidFill>
                <a:latin typeface="Consolas"/>
              </a:rPr>
              <a:t>        obligations = [s.key for s in inst.sentences if s.is_obligation and s.evaluate(local).value])</a:t>
            </a:r>
          </a:p>
        </p:txBody>
      </p:sp>
      <p:sp>
        <p:nvSpPr>
          <p:cNvPr id="14" name="TextBox 13"/>
          <p:cNvSpPr txBox="1"/>
          <p:nvPr/>
        </p:nvSpPr>
        <p:spPr>
          <a:xfrm>
            <a:off x="777240" y="4417032"/>
            <a:ext cx="5531351" cy="173736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A determination is a derivation, not a flag</a:t>
            </a:r>
          </a:p>
          <a:p>
            <a:pPr>
              <a:lnSpc>
                <a:spcPct val="126000"/>
              </a:lnSpc>
              <a:spcBef>
                <a:spcPts val="0"/>
              </a:spcBef>
              <a:spcAft>
                <a:spcPts val="0"/>
              </a:spcAft>
            </a:pPr>
            <a:r>
              <a:rPr sz="1150" b="0" i="0">
                <a:solidFill>
                  <a:srgbClr val="4A4F57"/>
                </a:solidFill>
                <a:latin typeface="Calibri"/>
              </a:rPr>
              <a:t>“Why is this out of scope?” is answered by the failing conjunct and a clause citation — the same answer, every time it is asked, including in five years by someone who was not there.</a:t>
            </a:r>
          </a:p>
        </p:txBody>
      </p:sp>
      <p:sp>
        <p:nvSpPr>
          <p:cNvPr id="15" name="Rectangle 14"/>
          <p:cNvSpPr/>
          <p:nvPr/>
        </p:nvSpPr>
        <p:spPr>
          <a:xfrm>
            <a:off x="6734080" y="4417032"/>
            <a:ext cx="4680374" cy="16002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734080" y="4417032"/>
            <a:ext cx="41148" cy="16002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971824" y="4545048"/>
            <a:ext cx="4223174" cy="1371600"/>
          </a:xfrm>
          <a:prstGeom prst="rect">
            <a:avLst/>
          </a:prstGeom>
          <a:noFill/>
        </p:spPr>
        <p:txBody>
          <a:bodyPr wrap="square" lIns="0" rIns="0" tIns="0" bIns="0" anchor="t">
            <a:spAutoFit/>
          </a:bodyPr>
          <a:lstStyle/>
          <a:p>
            <a:pPr algn="l">
              <a:spcBef>
                <a:spcPts val="0"/>
              </a:spcBef>
              <a:spcAft>
                <a:spcPts val="700"/>
              </a:spcAft>
            </a:pPr>
            <a:r>
              <a:rPr sz="1250" b="1" i="0">
                <a:solidFill>
                  <a:srgbClr val="A51C30"/>
                </a:solidFill>
                <a:latin typeface="Georgia"/>
              </a:rPr>
              <a:t>Law L-8 runs in CI</a:t>
            </a:r>
          </a:p>
          <a:p>
            <a:pPr>
              <a:lnSpc>
                <a:spcPct val="126000"/>
              </a:lnSpc>
              <a:spcBef>
                <a:spcPts val="0"/>
              </a:spcBef>
              <a:spcAft>
                <a:spcPts val="0"/>
              </a:spcAft>
            </a:pPr>
            <a:r>
              <a:rPr sz="1100" b="0" i="0">
                <a:solidFill>
                  <a:srgbClr val="1C1C1E"/>
                </a:solidFill>
                <a:latin typeface="Calibri"/>
              </a:rPr>
              <a:t>Hypothesis generates inventory states. For each regime and sentence, evaluating natively and evaluating the translation must agree. </a:t>
            </a:r>
            <a:r>
              <a:rPr sz="1100" b="1" i="0">
                <a:solidFill>
                  <a:srgbClr val="1C1C1E"/>
                </a:solidFill>
                <a:latin typeface="Calibri"/>
              </a:rPr>
              <a:t>A disagreement is a defective encoding — exactly the bug that produces an indefensible scope determination.</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WORKFLOW</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Lifecycle, segregation of duties, and day one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108</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Transitions are guarded, and guards explain</a:t>
            </a:r>
          </a:p>
        </p:txBody>
      </p:sp>
      <p:sp>
        <p:nvSpPr>
          <p:cNvPr id="11" name="Rectangle 10"/>
          <p:cNvSpPr/>
          <p:nvPr/>
        </p:nvSpPr>
        <p:spPr>
          <a:xfrm>
            <a:off x="777240" y="1719072"/>
            <a:ext cx="4999491" cy="149655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719072"/>
            <a:ext cx="41148" cy="149655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1819656"/>
            <a:ext cx="4633731" cy="1313672"/>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unmet = [g for g in t.guards</a:t>
            </a:r>
          </a:p>
          <a:p>
            <a:pPr>
              <a:lnSpc>
                <a:spcPct val="134000"/>
              </a:lnSpc>
              <a:spcBef>
                <a:spcPts val="0"/>
              </a:spcBef>
              <a:spcAft>
                <a:spcPts val="0"/>
              </a:spcAft>
            </a:pPr>
            <a:r>
              <a:rPr sz="950" b="0" i="0">
                <a:solidFill>
                  <a:srgbClr val="1C1C1E"/>
                </a:solidFill>
                <a:latin typeface="Consolas"/>
              </a:rPr>
              <a:t>         if not policy.evaluate(g, ctx).allow]</a:t>
            </a:r>
          </a:p>
          <a:p>
            <a:pPr>
              <a:lnSpc>
                <a:spcPct val="134000"/>
              </a:lnSpc>
              <a:spcBef>
                <a:spcPts val="0"/>
              </a:spcBef>
              <a:spcAft>
                <a:spcPts val="0"/>
              </a:spcAft>
            </a:pPr>
            <a:r>
              <a:rPr sz="950" b="0" i="0">
                <a:solidFill>
                  <a:srgbClr val="1C1C1E"/>
                </a:solidFill>
                <a:latin typeface="Consolas"/>
              </a:rPr>
              <a:t>sod   = sod_engine.violations(actor, t, m)</a:t>
            </a:r>
          </a:p>
          <a:p>
            <a:pPr>
              <a:lnSpc>
                <a:spcPct val="134000"/>
              </a:lnSpc>
              <a:spcBef>
                <a:spcPts val="0"/>
              </a:spcBef>
              <a:spcAft>
                <a:spcPts val="0"/>
              </a:spcAft>
            </a:pPr>
            <a:r>
              <a:rPr sz="950" b="0" i="0">
                <a:solidFill>
                  <a:srgbClr val="1C1C1E"/>
                </a:solidFill>
                <a:latin typeface="Consolas"/>
              </a:rPr>
              <a:t>if unmet or sod:</a:t>
            </a:r>
          </a:p>
          <a:p>
            <a:pPr>
              <a:lnSpc>
                <a:spcPct val="134000"/>
              </a:lnSpc>
              <a:spcBef>
                <a:spcPts val="0"/>
              </a:spcBef>
              <a:spcAft>
                <a:spcPts val="0"/>
              </a:spcAft>
            </a:pPr>
            <a:r>
              <a:rPr sz="950" b="0" i="0">
                <a:solidFill>
                  <a:srgbClr val="1C1C1E"/>
                </a:solidFill>
                <a:latin typeface="Consolas"/>
              </a:rPr>
              <a:t>    raise TransitionBlocked(unmet, sod)</a:t>
            </a:r>
          </a:p>
          <a:p>
            <a:pPr>
              <a:lnSpc>
                <a:spcPct val="134000"/>
              </a:lnSpc>
              <a:spcBef>
                <a:spcPts val="0"/>
              </a:spcBef>
              <a:spcAft>
                <a:spcPts val="0"/>
              </a:spcAft>
            </a:pPr>
            <a:r>
              <a:rPr sz="950" b="0" i="0">
                <a:solidFill>
                  <a:srgbClr val="7A7F87"/>
                </a:solidFill>
                <a:latin typeface="Consolas"/>
              </a:rPr>
              <a:t>    # each entry carries a remediation link — DR-7</a:t>
            </a:r>
          </a:p>
        </p:txBody>
      </p:sp>
      <p:sp>
        <p:nvSpPr>
          <p:cNvPr id="14" name="TextBox 13"/>
          <p:cNvSpPr txBox="1"/>
          <p:nvPr/>
        </p:nvSpPr>
        <p:spPr>
          <a:xfrm>
            <a:off x="777240" y="3453368"/>
            <a:ext cx="4999491" cy="1463040"/>
          </a:xfrm>
          <a:prstGeom prst="rect">
            <a:avLst/>
          </a:prstGeom>
          <a:noFill/>
        </p:spPr>
        <p:txBody>
          <a:bodyPr wrap="square" lIns="0" rIns="0" tIns="0" bIns="0" anchor="t">
            <a:spAutoFit/>
          </a:bodyPr>
          <a:lstStyle/>
          <a:p>
            <a:pPr algn="l">
              <a:spcBef>
                <a:spcPts val="0"/>
              </a:spcBef>
              <a:spcAft>
                <a:spcPts val="600"/>
              </a:spcAft>
            </a:pPr>
            <a:r>
              <a:rPr sz="1200" b="1" i="0">
                <a:solidFill>
                  <a:srgbClr val="1C1C1E"/>
                </a:solidFill>
                <a:latin typeface="Georgia"/>
              </a:rPr>
              <a:t>Four SoD rules, read from the chain</a:t>
            </a:r>
          </a:p>
          <a:p>
            <a:pPr>
              <a:lnSpc>
                <a:spcPct val="124000"/>
              </a:lnSpc>
              <a:spcBef>
                <a:spcPts val="0"/>
              </a:spcBef>
              <a:spcAft>
                <a:spcPts val="600"/>
              </a:spcAft>
            </a:pPr>
            <a:r>
              <a:rPr sz="1050" b="0" i="0">
                <a:solidFill>
                  <a:srgbClr val="4A4F57"/>
                </a:solidFill>
                <a:latin typeface="Calibri"/>
              </a:rPr>
              <a:t>creator ≠ approver · creator ≠ promoter · creator ≠ concluder of its validation · raiser ≠ closer of a finding</a:t>
            </a:r>
          </a:p>
          <a:p>
            <a:pPr>
              <a:lnSpc>
                <a:spcPct val="124000"/>
              </a:lnSpc>
              <a:spcBef>
                <a:spcPts val="0"/>
              </a:spcBef>
              <a:spcAft>
                <a:spcPts val="0"/>
              </a:spcAft>
            </a:pPr>
            <a:r>
              <a:rPr sz="1050" b="1" i="0">
                <a:solidFill>
                  <a:srgbClr val="A51C30"/>
                </a:solidFill>
                <a:latin typeface="Calibri"/>
              </a:rPr>
              <a:t>Read from the evidence chain, not a second table. </a:t>
            </a:r>
            <a:r>
              <a:rPr sz="1050" b="0" i="0">
                <a:solidFill>
                  <a:srgbClr val="4A4F57"/>
                </a:solidFill>
                <a:latin typeface="Calibri"/>
              </a:rPr>
              <a:t>A rule may name the payload field carrying the identity it is about — a finding is raised against the model, while the act concerns one finding. Without that, raiser ≠ closer was </a:t>
            </a:r>
            <a:r>
              <a:rPr sz="1050" b="1" i="0">
                <a:solidFill>
                  <a:srgbClr val="1C1C1E"/>
                </a:solidFill>
                <a:latin typeface="Calibri"/>
              </a:rPr>
              <a:t>inert over HTTP</a:t>
            </a:r>
            <a:r>
              <a:rPr sz="1050" b="0" i="0">
                <a:solidFill>
                  <a:srgbClr val="4A4F57"/>
                </a:solidFill>
                <a:latin typeface="Calibri"/>
              </a:rPr>
              <a:t>: it searched under the finding's own id, found nothing, and permitted everything.</a:t>
            </a:r>
          </a:p>
        </p:txBody>
      </p:sp>
      <p:sp>
        <p:nvSpPr>
          <p:cNvPr id="15" name="TextBox 14"/>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Baseline import — the day-one problem</a:t>
            </a:r>
          </a:p>
        </p:txBody>
      </p:sp>
      <p:sp>
        <p:nvSpPr>
          <p:cNvPr id="16" name="Rectangle 15"/>
          <p:cNvSpPr/>
          <p:nvPr/>
        </p:nvSpPr>
        <p:spPr>
          <a:xfrm>
            <a:off x="6414964" y="1737360"/>
            <a:ext cx="1544577" cy="11887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414964" y="1737360"/>
            <a:ext cx="154457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561268" y="1883664"/>
            <a:ext cx="1251969" cy="9144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1</a:t>
            </a:r>
          </a:p>
          <a:p>
            <a:pPr>
              <a:spcBef>
                <a:spcPts val="0"/>
              </a:spcBef>
              <a:spcAft>
                <a:spcPts val="400"/>
              </a:spcAft>
            </a:pPr>
            <a:r>
              <a:rPr sz="1100" b="1" i="0">
                <a:solidFill>
                  <a:srgbClr val="1C1C1E"/>
                </a:solidFill>
                <a:latin typeface="Calibri"/>
              </a:rPr>
              <a:t>Imported</a:t>
            </a:r>
          </a:p>
          <a:p>
            <a:pPr>
              <a:lnSpc>
                <a:spcPct val="115000"/>
              </a:lnSpc>
              <a:spcBef>
                <a:spcPts val="0"/>
              </a:spcBef>
              <a:spcAft>
                <a:spcPts val="600"/>
              </a:spcAft>
            </a:pPr>
            <a:r>
              <a:rPr sz="850" b="0" i="0">
                <a:solidFill>
                  <a:srgbClr val="4A4F57"/>
                </a:solidFill>
                <a:latin typeface="Calibri"/>
              </a:rPr>
              <a:t>Bulk / connector</a:t>
            </a:r>
          </a:p>
        </p:txBody>
      </p:sp>
      <p:sp>
        <p:nvSpPr>
          <p:cNvPr id="19" name="Rectangle 18"/>
          <p:cNvSpPr/>
          <p:nvPr/>
        </p:nvSpPr>
        <p:spPr>
          <a:xfrm>
            <a:off x="8142421" y="1737360"/>
            <a:ext cx="1544577" cy="11887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8142421" y="1737360"/>
            <a:ext cx="154457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8288725" y="1883664"/>
            <a:ext cx="1251969" cy="9144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2</a:t>
            </a:r>
          </a:p>
          <a:p>
            <a:pPr>
              <a:spcBef>
                <a:spcPts val="0"/>
              </a:spcBef>
              <a:spcAft>
                <a:spcPts val="400"/>
              </a:spcAft>
            </a:pPr>
            <a:r>
              <a:rPr sz="1100" b="1" i="0">
                <a:solidFill>
                  <a:srgbClr val="1C1C1E"/>
                </a:solidFill>
                <a:latin typeface="Calibri"/>
              </a:rPr>
              <a:t>Baselined</a:t>
            </a:r>
          </a:p>
          <a:p>
            <a:pPr>
              <a:lnSpc>
                <a:spcPct val="115000"/>
              </a:lnSpc>
              <a:spcBef>
                <a:spcPts val="0"/>
              </a:spcBef>
              <a:spcAft>
                <a:spcPts val="600"/>
              </a:spcAft>
            </a:pPr>
            <a:r>
              <a:rPr sz="850" b="0" i="0">
                <a:solidFill>
                  <a:srgbClr val="4A4F57"/>
                </a:solidFill>
                <a:latin typeface="Calibri"/>
              </a:rPr>
              <a:t>Tiered, owner confirmed, debt recorded</a:t>
            </a:r>
          </a:p>
        </p:txBody>
      </p:sp>
      <p:sp>
        <p:nvSpPr>
          <p:cNvPr id="22" name="Rectangle 21"/>
          <p:cNvSpPr/>
          <p:nvPr/>
        </p:nvSpPr>
        <p:spPr>
          <a:xfrm>
            <a:off x="9869878" y="1737360"/>
            <a:ext cx="1544577" cy="1188720"/>
          </a:xfrm>
          <a:prstGeom prst="rect">
            <a:avLst/>
          </a:prstGeom>
          <a:solidFill>
            <a:srgbClr val="FFFFF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Rectangle 22"/>
          <p:cNvSpPr/>
          <p:nvPr/>
        </p:nvSpPr>
        <p:spPr>
          <a:xfrm>
            <a:off x="9869878" y="1737360"/>
            <a:ext cx="1544577"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TextBox 23"/>
          <p:cNvSpPr txBox="1"/>
          <p:nvPr/>
        </p:nvSpPr>
        <p:spPr>
          <a:xfrm>
            <a:off x="10016182" y="1883664"/>
            <a:ext cx="1251969" cy="914400"/>
          </a:xfrm>
          <a:prstGeom prst="rect">
            <a:avLst/>
          </a:prstGeom>
          <a:noFill/>
        </p:spPr>
        <p:txBody>
          <a:bodyPr wrap="square" lIns="0" rIns="0" tIns="0" bIns="0" anchor="t">
            <a:spAutoFit/>
          </a:bodyPr>
          <a:lstStyle/>
          <a:p>
            <a:pPr algn="l">
              <a:spcBef>
                <a:spcPts val="0"/>
              </a:spcBef>
              <a:spcAft>
                <a:spcPts val="200"/>
              </a:spcAft>
            </a:pPr>
            <a:r>
              <a:rPr sz="1400" b="1" i="0">
                <a:solidFill>
                  <a:srgbClr val="A51C30"/>
                </a:solidFill>
                <a:latin typeface="Georgia"/>
              </a:rPr>
              <a:t>3</a:t>
            </a:r>
          </a:p>
          <a:p>
            <a:pPr>
              <a:spcBef>
                <a:spcPts val="0"/>
              </a:spcBef>
              <a:spcAft>
                <a:spcPts val="400"/>
              </a:spcAft>
            </a:pPr>
            <a:r>
              <a:rPr sz="1100" b="1" i="0">
                <a:solidFill>
                  <a:srgbClr val="1C1C1E"/>
                </a:solidFill>
                <a:latin typeface="Calibri"/>
              </a:rPr>
              <a:t>Gate bites</a:t>
            </a:r>
          </a:p>
          <a:p>
            <a:pPr>
              <a:lnSpc>
                <a:spcPct val="115000"/>
              </a:lnSpc>
              <a:spcBef>
                <a:spcPts val="0"/>
              </a:spcBef>
              <a:spcAft>
                <a:spcPts val="600"/>
              </a:spcAft>
            </a:pPr>
            <a:r>
              <a:rPr sz="850" b="0" i="0">
                <a:solidFill>
                  <a:srgbClr val="4A4F57"/>
                </a:solidFill>
                <a:latin typeface="Calibri"/>
              </a:rPr>
              <a:t>On the next MATERIAL change</a:t>
            </a:r>
          </a:p>
        </p:txBody>
      </p:sp>
      <p:sp>
        <p:nvSpPr>
          <p:cNvPr id="25" name="Rectangle 24"/>
          <p:cNvSpPr/>
          <p:nvPr/>
        </p:nvSpPr>
        <p:spPr>
          <a:xfrm>
            <a:off x="6414964" y="3182112"/>
            <a:ext cx="4999491" cy="14173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6414964" y="3182112"/>
            <a:ext cx="41148" cy="14173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6652708" y="3310128"/>
            <a:ext cx="4542291" cy="118872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Why this exists. </a:t>
            </a:r>
            <a:r>
              <a:rPr sz="1100" b="0" i="0">
                <a:solidFill>
                  <a:srgbClr val="1C1C1E"/>
                </a:solidFill>
                <a:latin typeface="Calibri"/>
              </a:rPr>
              <a:t>On import, 1,200 legacy models arrive with no evidence. Without a baseline path every gate fails, every dashboard is red, and the programme dies by month seven. Debt is a tracked burn-down with a board-approved expiry — </a:t>
            </a:r>
            <a:r>
              <a:rPr sz="1100" b="1" i="0">
                <a:solidFill>
                  <a:srgbClr val="1C1C1E"/>
                </a:solidFill>
                <a:latin typeface="Calibri"/>
              </a:rPr>
              <a:t>never rendered in the same colour as a breach.</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POLICY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Versioned gates — changing a control without weakening it quietly</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109</a:t>
            </a:r>
          </a:p>
        </p:txBody>
      </p:sp>
      <p:sp>
        <p:nvSpPr>
          <p:cNvPr id="10" name="TextBox 9"/>
          <p:cNvSpPr txBox="1"/>
          <p:nvPr/>
        </p:nvSpPr>
        <p:spPr>
          <a:xfrm>
            <a:off x="777240" y="1764792"/>
            <a:ext cx="10637215" cy="475488"/>
          </a:xfrm>
          <a:prstGeom prst="rect">
            <a:avLst/>
          </a:prstGeom>
          <a:noFill/>
        </p:spPr>
        <p:txBody>
          <a:bodyPr wrap="square" lIns="0" rIns="0" tIns="0" bIns="0" anchor="t">
            <a:spAutoFit/>
          </a:bodyPr>
          <a:lstStyle/>
          <a:p>
            <a:pPr algn="l">
              <a:lnSpc>
                <a:spcPct val="126000"/>
              </a:lnSpc>
              <a:spcBef>
                <a:spcPts val="0"/>
              </a:spcBef>
              <a:spcAft>
                <a:spcPts val="0"/>
              </a:spcAft>
            </a:pPr>
            <a:r>
              <a:rPr sz="1200" b="0" i="0">
                <a:solidFill>
                  <a:srgbClr val="1C1C1E"/>
                </a:solidFill>
                <a:latin typeface="Calibri"/>
              </a:rPr>
              <a:t>A gate that cannot change without a release is a gate people work around. A gate that </a:t>
            </a:r>
            <a:r>
              <a:rPr sz="1200" b="1" i="0">
                <a:solidFill>
                  <a:srgbClr val="1C1C1E"/>
                </a:solidFill>
                <a:latin typeface="Calibri"/>
              </a:rPr>
              <a:t>can</a:t>
            </a:r>
            <a:r>
              <a:rPr sz="1200" b="0" i="0">
                <a:solidFill>
                  <a:srgbClr val="1C1C1E"/>
                </a:solidFill>
                <a:latin typeface="Calibri"/>
              </a:rPr>
              <a:t> change without one is a gate that can be </a:t>
            </a:r>
            <a:r>
              <a:rPr sz="1200" b="1" i="0">
                <a:solidFill>
                  <a:srgbClr val="A51C30"/>
                </a:solidFill>
                <a:latin typeface="Calibri"/>
              </a:rPr>
              <a:t>weakened</a:t>
            </a:r>
            <a:r>
              <a:rPr sz="1200" b="0" i="0">
                <a:solidFill>
                  <a:srgbClr val="1C1C1E"/>
                </a:solidFill>
                <a:latin typeface="Calibri"/>
              </a:rPr>
              <a:t> without one, which is worse. Everything here makes the first possible without making the second silent.</a:t>
            </a:r>
          </a:p>
        </p:txBody>
      </p:sp>
      <p:sp>
        <p:nvSpPr>
          <p:cNvPr id="11" name="Rectangle 10"/>
          <p:cNvSpPr/>
          <p:nvPr/>
        </p:nvSpPr>
        <p:spPr>
          <a:xfrm>
            <a:off x="777240" y="2331720"/>
            <a:ext cx="5637724" cy="211080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331720"/>
            <a:ext cx="41148" cy="211080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423160"/>
            <a:ext cx="527196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core/policy/language.py</a:t>
            </a:r>
          </a:p>
        </p:txBody>
      </p:sp>
      <p:sp>
        <p:nvSpPr>
          <p:cNvPr id="14" name="TextBox 13"/>
          <p:cNvSpPr txBox="1"/>
          <p:nvPr/>
        </p:nvSpPr>
        <p:spPr>
          <a:xfrm>
            <a:off x="978408" y="2724911"/>
            <a:ext cx="5271964"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7A7F87"/>
                </a:solidFill>
                <a:latin typeface="Consolas"/>
              </a:rPr>
              <a:t># a rule is a PREDICATE, not a program</a:t>
            </a:r>
          </a:p>
          <a:p>
            <a:pPr>
              <a:lnSpc>
                <a:spcPct val="134000"/>
              </a:lnSpc>
              <a:spcBef>
                <a:spcPts val="0"/>
              </a:spcBef>
              <a:spcAft>
                <a:spcPts val="0"/>
              </a:spcAft>
            </a:pPr>
            <a:r>
              <a:rPr sz="900" b="0" i="0">
                <a:solidFill>
                  <a:srgbClr val="1C1C1E"/>
                </a:solidFill>
                <a:latin typeface="Consolas"/>
              </a:rPr>
              <a:t>blocking_findings == 0 and tier is not None</a:t>
            </a:r>
          </a:p>
          <a:p>
            <a:pPr>
              <a:lnSpc>
                <a:spcPct val="134000"/>
              </a:lnSpc>
              <a:spcBef>
                <a:spcPts val="0"/>
              </a:spcBef>
              <a:spcAft>
                <a:spcPts val="0"/>
              </a:spcAft>
            </a:pPr>
            <a:r>
              <a:rPr sz="900" b="0" i="0">
                <a:solidFill>
                  <a:srgbClr val="1C1C1E"/>
                </a:solidFill>
                <a:latin typeface="Consolas"/>
              </a:rPr>
              <a:t>  and all(d in accepted for d in required_docs)</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whitelisted at the AST: comparison, membership,</a:t>
            </a:r>
          </a:p>
          <a:p>
            <a:pPr>
              <a:lnSpc>
                <a:spcPct val="134000"/>
              </a:lnSpc>
              <a:spcBef>
                <a:spcPts val="0"/>
              </a:spcBef>
              <a:spcAft>
                <a:spcPts val="0"/>
              </a:spcAft>
            </a:pPr>
            <a:r>
              <a:rPr sz="900" b="0" i="0">
                <a:solidFill>
                  <a:srgbClr val="7A7F87"/>
                </a:solidFill>
                <a:latin typeface="Consolas"/>
              </a:rPr>
              <a:t>#   and / or / not, any / all, six functions.</a:t>
            </a:r>
          </a:p>
          <a:p>
            <a:pPr>
              <a:lnSpc>
                <a:spcPct val="134000"/>
              </a:lnSpc>
              <a:spcBef>
                <a:spcPts val="0"/>
              </a:spcBef>
              <a:spcAft>
                <a:spcPts val="0"/>
              </a:spcAft>
            </a:pPr>
            <a:r>
              <a:rPr sz="900" b="0" i="0">
                <a:solidFill>
                  <a:srgbClr val="7A7F87"/>
                </a:solidFill>
                <a:latin typeface="Consolas"/>
              </a:rPr>
              <a:t># NO loops, assignment, def, attribute access,</a:t>
            </a:r>
          </a:p>
          <a:p>
            <a:pPr>
              <a:lnSpc>
                <a:spcPct val="134000"/>
              </a:lnSpc>
              <a:spcBef>
                <a:spcPts val="0"/>
              </a:spcBef>
              <a:spcAft>
                <a:spcPts val="0"/>
              </a:spcAft>
            </a:pPr>
            <a:r>
              <a:rPr sz="900" b="0" i="0">
                <a:solidFill>
                  <a:srgbClr val="7A7F87"/>
                </a:solidFill>
                <a:latin typeface="Consolas"/>
              </a:rPr>
              <a:t>#   subscripting.</a:t>
            </a:r>
          </a:p>
        </p:txBody>
      </p:sp>
      <p:sp>
        <p:nvSpPr>
          <p:cNvPr id="15" name="TextBox 14"/>
          <p:cNvSpPr txBox="1"/>
          <p:nvPr/>
        </p:nvSpPr>
        <p:spPr>
          <a:xfrm>
            <a:off x="777240" y="4643688"/>
            <a:ext cx="5637724" cy="114300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Rego was the obvious answer and was not taken. </a:t>
            </a:r>
            <a:r>
              <a:rPr sz="1050" b="0" i="0">
                <a:solidFill>
                  <a:srgbClr val="1C1C1E"/>
                </a:solidFill>
                <a:latin typeface="Calibri"/>
              </a:rPr>
              <a:t>A gate written in a general language is a program, and a reviewer signing off a governance control would have to run it to know what it does.</a:t>
            </a:r>
          </a:p>
        </p:txBody>
      </p:sp>
      <p:graphicFrame>
        <p:nvGraphicFramePr>
          <p:cNvPr id="16" name="Table 15"/>
          <p:cNvGraphicFramePr>
            <a:graphicFrameLocks noGrp="1"/>
          </p:cNvGraphicFramePr>
          <p:nvPr/>
        </p:nvGraphicFramePr>
        <p:xfrm>
          <a:off x="6840452" y="2331720"/>
          <a:ext cx="4574002" cy="2889504"/>
        </p:xfrm>
        <a:graphic>
          <a:graphicData uri="http://schemas.openxmlformats.org/drawingml/2006/table">
            <a:tbl>
              <a:tblPr firstRow="1">
                <a:tableStyleId>{5C22544A-7EE6-4342-B048-85BDC9FD1C3A}</a:tableStyleId>
              </a:tblPr>
              <a:tblGrid>
                <a:gridCol w="2243850"/>
                <a:gridCol w="2330152"/>
              </a:tblGrid>
              <a:tr h="329184">
                <a:tc>
                  <a:txBody>
                    <a:bodyPr wrap="square"/>
                    <a:lstStyle/>
                    <a:p>
                      <a:pPr algn="l"/>
                      <a:r>
                        <a:rPr sz="950" b="1">
                          <a:solidFill>
                            <a:srgbClr val="FFFFFF"/>
                          </a:solidFill>
                          <a:latin typeface="Calibri"/>
                        </a:rPr>
                        <a:t>Property</a:t>
                      </a:r>
                    </a:p>
                  </a:txBody>
                  <a:tcPr marL="82296" marR="64008" marT="32004" marB="32004" anchor="ctr">
                    <a:solidFill>
                      <a:srgbClr val="A51C30"/>
                    </a:solidFill>
                  </a:tcPr>
                </a:tc>
                <a:tc>
                  <a:txBody>
                    <a:bodyPr wrap="square"/>
                    <a:lstStyle/>
                    <a:p>
                      <a:pPr algn="l"/>
                      <a:r>
                        <a:rPr sz="950" b="1">
                          <a:solidFill>
                            <a:srgbClr val="FFFFFF"/>
                          </a:solidFill>
                          <a:latin typeface="Calibri"/>
                        </a:rPr>
                        <a:t>What it prevents</a:t>
                      </a:r>
                    </a:p>
                  </a:txBody>
                  <a:tcPr marL="82296" marR="64008" marT="32004" marB="32004" anchor="ctr">
                    <a:solidFill>
                      <a:srgbClr val="A51C30"/>
                    </a:solidFill>
                  </a:tcPr>
                </a:tc>
              </a:tr>
              <a:tr h="640080">
                <a:tc>
                  <a:txBody>
                    <a:bodyPr wrap="square"/>
                    <a:lstStyle/>
                    <a:p>
                      <a:pPr algn="l"/>
                      <a:r>
                        <a:rPr sz="900" b="1">
                          <a:solidFill>
                            <a:srgbClr val="A51C30"/>
                          </a:solidFill>
                          <a:latin typeface="Calibri"/>
                        </a:rPr>
                        <a:t>A fact the gate does not publish is refused when the rule is WRITTEN</a:t>
                      </a:r>
                    </a:p>
                  </a:txBody>
                  <a:tcPr marL="82296" marR="64008" marT="32004" marB="32004" anchor="ctr">
                    <a:solidFill>
                      <a:srgbClr val="FFFFFF"/>
                    </a:solidFill>
                  </a:tcPr>
                </a:tc>
                <a:tc>
                  <a:txBody>
                    <a:bodyPr wrap="square"/>
                    <a:lstStyle/>
                    <a:p>
                      <a:pPr algn="l"/>
                      <a:r>
                        <a:rPr sz="900" b="0">
                          <a:solidFill>
                            <a:srgbClr val="1C1C1E"/>
                          </a:solidFill>
                          <a:latin typeface="Calibri"/>
                        </a:rPr>
                        <a:t>A rule failing at the moment of a governance decision</a:t>
                      </a:r>
                    </a:p>
                  </a:txBody>
                  <a:tcPr marL="82296" marR="64008" marT="32004" marB="32004" anchor="ctr">
                    <a:solidFill>
                      <a:srgbClr val="FFFFFF"/>
                    </a:solidFill>
                  </a:tcPr>
                </a:tc>
              </a:tr>
              <a:tr h="640080">
                <a:tc>
                  <a:txBody>
                    <a:bodyPr wrap="square"/>
                    <a:lstStyle/>
                    <a:p>
                      <a:pPr algn="l"/>
                      <a:r>
                        <a:rPr sz="900" b="1">
                          <a:solidFill>
                            <a:srgbClr val="A51C30"/>
                          </a:solidFill>
                          <a:latin typeface="Calibri"/>
                        </a:rPr>
                        <a:t>A policy ships with its cases, and one must REFUSE</a:t>
                      </a:r>
                    </a:p>
                  </a:txBody>
                  <a:tcPr marL="82296" marR="64008" marT="32004" marB="32004" anchor="ctr">
                    <a:solidFill>
                      <a:srgbClr val="F6F3EF"/>
                    </a:solidFill>
                  </a:tcPr>
                </a:tc>
                <a:tc>
                  <a:txBody>
                    <a:bodyPr wrap="square"/>
                    <a:lstStyle/>
                    <a:p>
                      <a:pPr algn="l"/>
                      <a:r>
                        <a:rPr sz="900" b="0">
                          <a:solidFill>
                            <a:srgbClr val="1C1C1E"/>
                          </a:solidFill>
                          <a:latin typeface="Calibri"/>
                        </a:rPr>
                        <a:t>A policy nobody has shown to be a gate</a:t>
                      </a:r>
                    </a:p>
                  </a:txBody>
                  <a:tcPr marL="82296" marR="64008" marT="32004" marB="32004" anchor="ctr">
                    <a:solidFill>
                      <a:srgbClr val="F6F3EF"/>
                    </a:solidFill>
                  </a:tcPr>
                </a:tc>
              </a:tr>
              <a:tr h="640080">
                <a:tc>
                  <a:txBody>
                    <a:bodyPr wrap="square"/>
                    <a:lstStyle/>
                    <a:p>
                      <a:pPr algn="l"/>
                      <a:r>
                        <a:rPr sz="900" b="1">
                          <a:solidFill>
                            <a:srgbClr val="A51C30"/>
                          </a:solidFill>
                          <a:latin typeface="Calibri"/>
                        </a:rPr>
                        <a:t>Publishing replays the OUTGOING version's cases against the new rule</a:t>
                      </a:r>
                    </a:p>
                  </a:txBody>
                  <a:tcPr marL="82296" marR="64008" marT="32004" marB="32004" anchor="ctr">
                    <a:solidFill>
                      <a:srgbClr val="FFFFFF"/>
                    </a:solidFill>
                  </a:tcPr>
                </a:tc>
                <a:tc>
                  <a:txBody>
                    <a:bodyPr wrap="square"/>
                    <a:lstStyle/>
                    <a:p>
                      <a:pPr algn="l"/>
                      <a:r>
                        <a:rPr sz="900" b="0">
                          <a:solidFill>
                            <a:srgbClr val="1C1C1E"/>
                          </a:solidFill>
                          <a:latin typeface="Calibri"/>
                        </a:rPr>
                        <a:t>A loosened gate discovered rather than decided</a:t>
                      </a:r>
                    </a:p>
                  </a:txBody>
                  <a:tcPr marL="82296" marR="64008" marT="32004" marB="32004" anchor="ctr">
                    <a:solidFill>
                      <a:srgbClr val="FFFFFF"/>
                    </a:solidFill>
                  </a:tcPr>
                </a:tc>
              </a:tr>
              <a:tr h="640080">
                <a:tc>
                  <a:txBody>
                    <a:bodyPr wrap="square"/>
                    <a:lstStyle/>
                    <a:p>
                      <a:pPr algn="l"/>
                      <a:r>
                        <a:rPr sz="900" b="1">
                          <a:solidFill>
                            <a:srgbClr val="A51C30"/>
                          </a:solidFill>
                          <a:latin typeface="Calibri"/>
                        </a:rPr>
                        <a:t>Authoring and publishing are separate; a published version supersedes, never edits</a:t>
                      </a:r>
                    </a:p>
                  </a:txBody>
                  <a:tcPr marL="82296" marR="64008" marT="32004" marB="32004" anchor="ctr">
                    <a:solidFill>
                      <a:srgbClr val="F6F3EF"/>
                    </a:solidFill>
                  </a:tcPr>
                </a:tc>
                <a:tc>
                  <a:txBody>
                    <a:bodyPr wrap="square"/>
                    <a:lstStyle/>
                    <a:p>
                      <a:pPr algn="l"/>
                      <a:r>
                        <a:rPr sz="900" b="0">
                          <a:solidFill>
                            <a:srgbClr val="1C1C1E"/>
                          </a:solidFill>
                          <a:latin typeface="Calibri"/>
                        </a:rPr>
                        <a:t>One person changing a control end to end</a:t>
                      </a:r>
                    </a:p>
                  </a:txBody>
                  <a:tcPr marL="82296" marR="64008" marT="32004" marB="32004" anchor="ctr">
                    <a:solidFill>
                      <a:srgbClr val="F6F3EF"/>
                    </a:solidFill>
                  </a:tcPr>
                </a:tc>
              </a:tr>
            </a:tbl>
          </a:graphicData>
        </a:graphic>
      </p:graphicFrame>
      <p:sp>
        <p:nvSpPr>
          <p:cNvPr id="17" name="Rectangle 16"/>
          <p:cNvSpPr/>
          <p:nvPr/>
        </p:nvSpPr>
        <p:spPr>
          <a:xfrm>
            <a:off x="777240" y="5440679"/>
            <a:ext cx="10637215" cy="64008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1069848" y="5541264"/>
            <a:ext cx="10051999" cy="512064"/>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FFFFFF"/>
                </a:solidFill>
                <a:latin typeface="Calibri"/>
              </a:rPr>
              <a:t>The honest boundary. </a:t>
            </a:r>
            <a:r>
              <a:rPr sz="1100" b="0" i="0">
                <a:solidFill>
                  <a:srgbClr val="F6E0E4"/>
                </a:solidFill>
                <a:latin typeface="Calibri"/>
              </a:rPr>
              <a:t>Policy tightens; the code's invariants are the floor. A rule runs in addition to the registry's checks, never instead of them — because replacing an invariant with a line of configuration means a typo can weaken the platform while the deployment looks successful.</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GOVERNANCE · DOCUMENTATION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Documentation — two kinds, held apart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19 · Governance Subsystems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110</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Compiled — what the register knows</a:t>
            </a:r>
          </a:p>
        </p:txBody>
      </p:sp>
      <p:sp>
        <p:nvSpPr>
          <p:cNvPr id="11" name="Rectangle 10"/>
          <p:cNvSpPr/>
          <p:nvPr/>
        </p:nvSpPr>
        <p:spPr>
          <a:xfrm>
            <a:off x="777240" y="1737360"/>
            <a:ext cx="4999491" cy="1089141"/>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1737360"/>
            <a:ext cx="41148" cy="1089141"/>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1837943"/>
            <a:ext cx="4633731" cy="906261"/>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gen = [lens.render(ctx) for lens in template]</a:t>
            </a:r>
          </a:p>
          <a:p>
            <a:pPr>
              <a:lnSpc>
                <a:spcPct val="134000"/>
              </a:lnSpc>
              <a:spcBef>
                <a:spcPts val="0"/>
              </a:spcBef>
              <a:spcAft>
                <a:spcPts val="0"/>
              </a:spcAft>
            </a:pPr>
            <a:r>
              <a:rPr sz="950" b="0" i="0">
                <a:solidFill>
                  <a:srgbClr val="1C1C1E"/>
                </a:solidFill>
                <a:latin typeface="Consolas"/>
              </a:rPr>
              <a:t>doc.stale = ev.digest != prev.evidence_digest</a:t>
            </a:r>
          </a:p>
          <a:p>
            <a:pPr>
              <a:lnSpc>
                <a:spcPct val="134000"/>
              </a:lnSpc>
              <a:spcBef>
                <a:spcPts val="0"/>
              </a:spcBef>
              <a:spcAft>
                <a:spcPts val="0"/>
              </a:spcAft>
            </a:pPr>
            <a:r>
              <a:rPr sz="950" b="0" i="0">
                <a:solidFill>
                  <a:srgbClr val="7A7F87"/>
                </a:solidFill>
                <a:latin typeface="Consolas"/>
              </a:rPr>
              <a:t># a lens that cannot fill its section says so,</a:t>
            </a:r>
          </a:p>
          <a:p>
            <a:pPr>
              <a:lnSpc>
                <a:spcPct val="134000"/>
              </a:lnSpc>
              <a:spcBef>
                <a:spcPts val="0"/>
              </a:spcBef>
              <a:spcAft>
                <a:spcPts val="0"/>
              </a:spcAft>
            </a:pPr>
            <a:r>
              <a:rPr sz="950" b="0" i="0">
                <a:solidFill>
                  <a:srgbClr val="7A7F87"/>
                </a:solidFill>
                <a:latin typeface="Consolas"/>
              </a:rPr>
              <a:t># so a gap in the evidence is visible, not blank</a:t>
            </a:r>
          </a:p>
        </p:txBody>
      </p:sp>
      <p:sp>
        <p:nvSpPr>
          <p:cNvPr id="14" name="TextBox 13"/>
          <p:cNvSpPr txBox="1"/>
          <p:nvPr/>
        </p:nvSpPr>
        <p:spPr>
          <a:xfrm>
            <a:off x="777240" y="3064245"/>
            <a:ext cx="4999491" cy="1463040"/>
          </a:xfrm>
          <a:prstGeom prst="rect">
            <a:avLst/>
          </a:prstGeom>
          <a:noFill/>
        </p:spPr>
        <p:txBody>
          <a:bodyPr wrap="square" lIns="0" rIns="0" tIns="0" bIns="0" anchor="t">
            <a:spAutoFit/>
          </a:bodyPr>
          <a:lstStyle/>
          <a:p>
            <a:pPr algn="l">
              <a:lnSpc>
                <a:spcPct val="124000"/>
              </a:lnSpc>
              <a:spcBef>
                <a:spcPts val="0"/>
              </a:spcBef>
              <a:spcAft>
                <a:spcPts val="0"/>
              </a:spcAft>
            </a:pPr>
            <a:r>
              <a:rPr sz="1050" b="0" i="0">
                <a:solidFill>
                  <a:srgbClr val="4A4F57"/>
                </a:solidFill>
                <a:latin typeface="Calibri"/>
              </a:rPr>
              <a:t>Four kinds, fifteen lenses. Every section records the evidence it rested on, so citation soundness is a Boolean evaluation rather than a claim. Staleness is computed from the chain head at compile time, never remembered.</a:t>
            </a:r>
          </a:p>
        </p:txBody>
      </p:sp>
      <p:sp>
        <p:nvSpPr>
          <p:cNvPr id="15" name="TextBox 14"/>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Attached — what a person wrote</a:t>
            </a:r>
          </a:p>
        </p:txBody>
      </p:sp>
      <p:sp>
        <p:nvSpPr>
          <p:cNvPr id="16" name="Rectangle 15"/>
          <p:cNvSpPr/>
          <p:nvPr/>
        </p:nvSpPr>
        <p:spPr>
          <a:xfrm>
            <a:off x="6414964" y="1737360"/>
            <a:ext cx="4999491" cy="129284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6414964" y="1737360"/>
            <a:ext cx="41148" cy="129284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6616132" y="1837943"/>
            <a:ext cx="4633731" cy="1109967"/>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digest, size = store.put(bytes)   # sha256 IS the key</a:t>
            </a:r>
          </a:p>
          <a:p>
            <a:pPr>
              <a:lnSpc>
                <a:spcPct val="134000"/>
              </a:lnSpc>
              <a:spcBef>
                <a:spcPts val="0"/>
              </a:spcBef>
              <a:spcAft>
                <a:spcPts val="0"/>
              </a:spcAft>
            </a:pPr>
            <a:r>
              <a:rPr sz="950" b="0" i="0">
                <a:solidFill>
                  <a:srgbClr val="1C1C1E"/>
                </a:solidFill>
                <a:latin typeface="Consolas"/>
              </a:rPr>
              <a:t>version_id = current_version(urn) # not the model</a:t>
            </a:r>
          </a:p>
          <a:p>
            <a:pPr>
              <a:lnSpc>
                <a:spcPct val="134000"/>
              </a:lnSpc>
              <a:spcBef>
                <a:spcPts val="0"/>
              </a:spcBef>
              <a:spcAft>
                <a:spcPts val="0"/>
              </a:spcAft>
            </a:pPr>
            <a:r>
              <a:rPr sz="950" b="0" i="0">
                <a:solidFill>
                  <a:srgbClr val="1C1C1E"/>
                </a:solidFill>
                <a:latin typeface="Consolas"/>
              </a:rPr>
              <a:t>...</a:t>
            </a:r>
          </a:p>
          <a:p>
            <a:pPr>
              <a:lnSpc>
                <a:spcPct val="134000"/>
              </a:lnSpc>
              <a:spcBef>
                <a:spcPts val="0"/>
              </a:spcBef>
              <a:spcAft>
                <a:spcPts val="0"/>
              </a:spcAft>
            </a:pPr>
            <a:r>
              <a:rPr sz="950" b="0" i="0">
                <a:solidFill>
                  <a:srgbClr val="1C1C1E"/>
                </a:solidFill>
                <a:latin typeface="Consolas"/>
              </a:rPr>
              <a:t>refuse_if(actor == row.attached_by, "self_review")</a:t>
            </a:r>
          </a:p>
          <a:p>
            <a:pPr>
              <a:lnSpc>
                <a:spcPct val="134000"/>
              </a:lnSpc>
              <a:spcBef>
                <a:spcPts val="0"/>
              </a:spcBef>
              <a:spcAft>
                <a:spcPts val="0"/>
              </a:spcAft>
            </a:pPr>
            <a:r>
              <a:rPr sz="950" b="0" i="0">
                <a:solidFill>
                  <a:srgbClr val="1C1C1E"/>
                </a:solidFill>
                <a:latin typeface="Consolas"/>
              </a:rPr>
              <a:t>refuse_if(not accept and not note, "reason_required")</a:t>
            </a:r>
          </a:p>
        </p:txBody>
      </p:sp>
      <p:sp>
        <p:nvSpPr>
          <p:cNvPr id="19" name="TextBox 18"/>
          <p:cNvSpPr txBox="1"/>
          <p:nvPr/>
        </p:nvSpPr>
        <p:spPr>
          <a:xfrm>
            <a:off x="6414964" y="3267951"/>
            <a:ext cx="4999491" cy="1463040"/>
          </a:xfrm>
          <a:prstGeom prst="rect">
            <a:avLst/>
          </a:prstGeom>
          <a:noFill/>
        </p:spPr>
        <p:txBody>
          <a:bodyPr wrap="square" lIns="0" rIns="0" tIns="0" bIns="0" anchor="t">
            <a:spAutoFit/>
          </a:bodyPr>
          <a:lstStyle/>
          <a:p>
            <a:pPr algn="l">
              <a:lnSpc>
                <a:spcPct val="124000"/>
              </a:lnSpc>
              <a:spcBef>
                <a:spcPts val="0"/>
              </a:spcBef>
              <a:spcAft>
                <a:spcPts val="0"/>
              </a:spcAft>
            </a:pPr>
            <a:r>
              <a:rPr sz="1050" b="0" i="0">
                <a:solidFill>
                  <a:srgbClr val="4A4F57"/>
                </a:solidFill>
                <a:latin typeface="Calibri"/>
              </a:rPr>
              <a:t>Filed against the version it describes, because an MDD describes the coefficients it printed — not their replacement. Re-hashed on read: what was accepted is what is served.</a:t>
            </a:r>
          </a:p>
        </p:txBody>
      </p:sp>
      <p:sp>
        <p:nvSpPr>
          <p:cNvPr id="20" name="Rectangle 19"/>
          <p:cNvSpPr/>
          <p:nvPr/>
        </p:nvSpPr>
        <p:spPr>
          <a:xfrm>
            <a:off x="777240" y="4663440"/>
            <a:ext cx="10637215" cy="896112"/>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777240" y="4663440"/>
            <a:ext cx="41148" cy="89611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1014983" y="4791456"/>
            <a:ext cx="10180015" cy="73152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Why both. </a:t>
            </a:r>
            <a:r>
              <a:rPr sz="1100" b="0" i="0">
                <a:solidFill>
                  <a:srgbClr val="1C1C1E"/>
                </a:solidFill>
                <a:latin typeface="Calibri"/>
              </a:rPr>
              <a:t>A platform that only compiles cannot hold the paper the quant actually wrote; one that only stores files is a share drive with a database in front. Held apart, the register can say which is which — and </a:t>
            </a:r>
            <a:r>
              <a:rPr sz="1100" b="1" i="0">
                <a:solidFill>
                  <a:srgbClr val="1C1C1E"/>
                </a:solidFill>
                <a:latin typeface="Calibri"/>
              </a:rPr>
              <a:t>a rejected document stays on file with its reason</a:t>
            </a:r>
            <a:r>
              <a:rPr sz="1100" b="0" i="0">
                <a:solidFill>
                  <a:srgbClr val="1C1C1E"/>
                </a:solidFill>
                <a:latin typeface="Calibri"/>
              </a:rPr>
              <a:t>, because the papers that did not pass are the ones a supervisor asks about.</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20</a:t>
            </a:r>
          </a:p>
        </p:txBody>
      </p:sp>
      <p:sp>
        <p:nvSpPr>
          <p:cNvPr id="5" name="TextBox 4"/>
          <p:cNvSpPr txBox="1"/>
          <p:nvPr/>
        </p:nvSpPr>
        <p:spPr>
          <a:xfrm>
            <a:off x="1005840" y="2346350"/>
            <a:ext cx="6169584" cy="1188720"/>
          </a:xfrm>
          <a:prstGeom prst="rect">
            <a:avLst/>
          </a:prstGeom>
          <a:noFill/>
        </p:spPr>
        <p:txBody>
          <a:bodyPr wrap="square" lIns="0" rIns="0" tIns="0" bIns="0" anchor="t">
            <a:spAutoFit/>
          </a:bodyPr>
          <a:lstStyle/>
          <a:p>
            <a:pPr algn="l">
              <a:spcBef>
                <a:spcPts val="0"/>
              </a:spcBef>
              <a:spcAft>
                <a:spcPts val="0"/>
              </a:spcAft>
            </a:pPr>
            <a:r>
              <a:rPr sz="4400" b="0" i="0">
                <a:solidFill>
                  <a:srgbClr val="FFFFFF"/>
                </a:solidFill>
                <a:latin typeface="Georgia"/>
              </a:rPr>
              <a:t>The Execution Plane</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How a governed model actually gets run — and stopped.</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warrant grammar</a:t>
            </a:r>
          </a:p>
          <a:p>
            <a:pPr>
              <a:lnSpc>
                <a:spcPct val="115000"/>
              </a:lnSpc>
              <a:spcBef>
                <a:spcPts val="0"/>
              </a:spcBef>
              <a:spcAft>
                <a:spcPts val="700"/>
              </a:spcAft>
            </a:pPr>
            <a:r>
              <a:rPr sz="1150" b="0" i="0">
                <a:solidFill>
                  <a:srgbClr val="F6E6E9"/>
                </a:solidFill>
                <a:latin typeface="Calibri"/>
              </a:rPr>
              <a:t>Resolution algorithm</a:t>
            </a:r>
          </a:p>
          <a:p>
            <a:pPr>
              <a:lnSpc>
                <a:spcPct val="115000"/>
              </a:lnSpc>
              <a:spcBef>
                <a:spcPts val="0"/>
              </a:spcBef>
              <a:spcAft>
                <a:spcPts val="700"/>
              </a:spcAft>
            </a:pPr>
            <a:r>
              <a:rPr sz="1150" b="0" i="0">
                <a:solidFill>
                  <a:srgbClr val="F6E6E9"/>
                </a:solidFill>
                <a:latin typeface="Calibri"/>
              </a:rPr>
              <a:t>Caching and stampede control</a:t>
            </a:r>
          </a:p>
          <a:p>
            <a:pPr>
              <a:lnSpc>
                <a:spcPct val="115000"/>
              </a:lnSpc>
              <a:spcBef>
                <a:spcPts val="0"/>
              </a:spcBef>
              <a:spcAft>
                <a:spcPts val="700"/>
              </a:spcAft>
            </a:pPr>
            <a:r>
              <a:rPr sz="1150" b="0" i="0">
                <a:solidFill>
                  <a:srgbClr val="F6E6E9"/>
                </a:solidFill>
                <a:latin typeface="Calibri"/>
              </a:rPr>
              <a:t>Revocation</a:t>
            </a:r>
          </a:p>
          <a:p>
            <a:pPr>
              <a:lnSpc>
                <a:spcPct val="115000"/>
              </a:lnSpc>
              <a:spcBef>
                <a:spcPts val="0"/>
              </a:spcBef>
              <a:spcAft>
                <a:spcPts val="700"/>
              </a:spcAft>
            </a:pPr>
            <a:r>
              <a:rPr sz="1150" b="0" i="0">
                <a:solidFill>
                  <a:srgbClr val="F6E6E9"/>
                </a:solidFill>
                <a:latin typeface="Calibri"/>
              </a:rPr>
              <a:t>Use reconciliation</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THE CONTRACT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warrant grammar — a product, not a union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112</a:t>
            </a:r>
          </a:p>
        </p:txBody>
      </p:sp>
      <p:sp>
        <p:nvSpPr>
          <p:cNvPr id="10" name="TextBox 9"/>
          <p:cNvSpPr txBox="1"/>
          <p:nvPr/>
        </p:nvSpPr>
        <p:spPr>
          <a:xfrm>
            <a:off x="777240" y="1353312"/>
            <a:ext cx="10637215" cy="566928"/>
          </a:xfrm>
          <a:prstGeom prst="rect">
            <a:avLst/>
          </a:prstGeom>
          <a:noFill/>
        </p:spPr>
        <p:txBody>
          <a:bodyPr wrap="square" lIns="0" rIns="0" tIns="0" bIns="0" anchor="t">
            <a:spAutoFit/>
          </a:bodyPr>
          <a:lstStyle/>
          <a:p>
            <a:pPr algn="l">
              <a:lnSpc>
                <a:spcPct val="130000"/>
              </a:lnSpc>
              <a:spcBef>
                <a:spcPts val="0"/>
              </a:spcBef>
              <a:spcAft>
                <a:spcPts val="0"/>
              </a:spcAft>
            </a:pPr>
            <a:r>
              <a:rPr sz="1250" b="0" i="0">
                <a:solidFill>
                  <a:srgbClr val="4A4F57"/>
                </a:solidFill>
                <a:latin typeface="Calibri"/>
              </a:rPr>
              <a:t>Every model a bank runs differs along exactly four independent axes. The grammar is their PRODUCT, so a new model technology is a new value in one vocabulary — not a new document type.</a:t>
            </a:r>
          </a:p>
        </p:txBody>
      </p:sp>
      <p:sp>
        <p:nvSpPr>
          <p:cNvPr id="11" name="Rectangle 10"/>
          <p:cNvSpPr/>
          <p:nvPr/>
        </p:nvSpPr>
        <p:spPr>
          <a:xfrm>
            <a:off x="777240" y="2011680"/>
            <a:ext cx="10637215" cy="731520"/>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011680"/>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066544"/>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1  Parameter object  ·  8</a:t>
            </a:r>
          </a:p>
          <a:p>
            <a:pPr>
              <a:spcBef>
                <a:spcPts val="0"/>
              </a:spcBef>
              <a:spcAft>
                <a:spcPts val="0"/>
              </a:spcAft>
            </a:pPr>
            <a:r>
              <a:rPr sz="950" b="0" i="1">
                <a:solidFill>
                  <a:srgbClr val="7A7F87"/>
                </a:solidFill>
                <a:latin typeface="Calibri"/>
              </a:rPr>
              <a:t>how P is inhabited</a:t>
            </a:r>
          </a:p>
        </p:txBody>
      </p:sp>
      <p:sp>
        <p:nvSpPr>
          <p:cNvPr id="14" name="TextBox 13"/>
          <p:cNvSpPr txBox="1"/>
          <p:nvPr/>
        </p:nvSpPr>
        <p:spPr>
          <a:xfrm>
            <a:off x="3968404" y="2103120"/>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none · calibration_set · estimated_coefficients · learned_weights · llm_configuration · rule_set · elicited_weights · opaque</a:t>
            </a:r>
          </a:p>
        </p:txBody>
      </p:sp>
      <p:sp>
        <p:nvSpPr>
          <p:cNvPr id="15" name="Rectangle 14"/>
          <p:cNvSpPr/>
          <p:nvPr/>
        </p:nvSpPr>
        <p:spPr>
          <a:xfrm>
            <a:off x="777240" y="2798064"/>
            <a:ext cx="10637215" cy="731520"/>
          </a:xfrm>
          <a:prstGeom prst="rect">
            <a:avLst/>
          </a:prstGeom>
          <a:no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777240" y="2798064"/>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978408" y="2852928"/>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2  Realisation  ·  17</a:t>
            </a:r>
          </a:p>
          <a:p>
            <a:pPr>
              <a:spcBef>
                <a:spcPts val="0"/>
              </a:spcBef>
              <a:spcAft>
                <a:spcPts val="0"/>
              </a:spcAft>
            </a:pPr>
            <a:r>
              <a:rPr sz="950" b="0" i="1">
                <a:solidFill>
                  <a:srgbClr val="7A7F87"/>
                </a:solidFill>
                <a:latin typeface="Calibri"/>
              </a:rPr>
              <a:t>how the kernel becomes runnable</a:t>
            </a:r>
          </a:p>
        </p:txBody>
      </p:sp>
      <p:sp>
        <p:nvSpPr>
          <p:cNvPr id="18" name="TextBox 17"/>
          <p:cNvSpPr txBox="1"/>
          <p:nvPr/>
        </p:nvSpPr>
        <p:spPr>
          <a:xfrm>
            <a:off x="3968404" y="2889504"/>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quantlib · onnx · pmml · pfa · python.callable · container · rest · sql · spreadsheet · rules · solver · sas · r · matlab · llm.prompt · llm.agent · descriptor_only</a:t>
            </a:r>
          </a:p>
        </p:txBody>
      </p:sp>
      <p:sp>
        <p:nvSpPr>
          <p:cNvPr id="19" name="Rectangle 18"/>
          <p:cNvSpPr/>
          <p:nvPr/>
        </p:nvSpPr>
        <p:spPr>
          <a:xfrm>
            <a:off x="777240" y="3584448"/>
            <a:ext cx="10637215" cy="731520"/>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77240" y="3584448"/>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978408" y="3639312"/>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3  Operation  ·  10</a:t>
            </a:r>
          </a:p>
          <a:p>
            <a:pPr>
              <a:spcBef>
                <a:spcPts val="0"/>
              </a:spcBef>
              <a:spcAft>
                <a:spcPts val="0"/>
              </a:spcAft>
            </a:pPr>
            <a:r>
              <a:rPr sz="950" b="0" i="1">
                <a:solidFill>
                  <a:srgbClr val="7A7F87"/>
                </a:solidFill>
                <a:latin typeface="Calibri"/>
              </a:rPr>
              <a:t>what is asked of it</a:t>
            </a:r>
          </a:p>
        </p:txBody>
      </p:sp>
      <p:sp>
        <p:nvSpPr>
          <p:cNvPr id="22" name="TextBox 21"/>
          <p:cNvSpPr txBox="1"/>
          <p:nvPr/>
        </p:nvSpPr>
        <p:spPr>
          <a:xfrm>
            <a:off x="3968404" y="3675887"/>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score · fit · validate · backtest · explain · simulate · stress · optimise · generate · monitor</a:t>
            </a:r>
          </a:p>
        </p:txBody>
      </p:sp>
      <p:sp>
        <p:nvSpPr>
          <p:cNvPr id="23" name="Rectangle 22"/>
          <p:cNvSpPr/>
          <p:nvPr/>
        </p:nvSpPr>
        <p:spPr>
          <a:xfrm>
            <a:off x="777240" y="4370832"/>
            <a:ext cx="10637215" cy="731520"/>
          </a:xfrm>
          <a:prstGeom prst="rect">
            <a:avLst/>
          </a:prstGeom>
          <a:no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4" name="Rectangle 23"/>
          <p:cNvSpPr/>
          <p:nvPr/>
        </p:nvSpPr>
        <p:spPr>
          <a:xfrm>
            <a:off x="777240" y="4370832"/>
            <a:ext cx="41148" cy="7315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5" name="TextBox 24"/>
          <p:cNvSpPr txBox="1"/>
          <p:nvPr/>
        </p:nvSpPr>
        <p:spPr>
          <a:xfrm>
            <a:off x="978408" y="4425696"/>
            <a:ext cx="2978420" cy="621792"/>
          </a:xfrm>
          <a:prstGeom prst="rect">
            <a:avLst/>
          </a:prstGeom>
          <a:noFill/>
        </p:spPr>
        <p:txBody>
          <a:bodyPr wrap="square" lIns="0" rIns="0" tIns="0" bIns="0" anchor="t">
            <a:spAutoFit/>
          </a:bodyPr>
          <a:lstStyle/>
          <a:p>
            <a:pPr algn="l">
              <a:spcBef>
                <a:spcPts val="0"/>
              </a:spcBef>
              <a:spcAft>
                <a:spcPts val="100"/>
              </a:spcAft>
            </a:pPr>
            <a:r>
              <a:rPr sz="1150" b="1" i="0">
                <a:solidFill>
                  <a:srgbClr val="A51C30"/>
                </a:solidFill>
                <a:latin typeface="Calibri"/>
              </a:rPr>
              <a:t>4  Data binding  ·  12</a:t>
            </a:r>
          </a:p>
          <a:p>
            <a:pPr>
              <a:spcBef>
                <a:spcPts val="0"/>
              </a:spcBef>
              <a:spcAft>
                <a:spcPts val="0"/>
              </a:spcAft>
            </a:pPr>
            <a:r>
              <a:rPr sz="950" b="0" i="1">
                <a:solidFill>
                  <a:srgbClr val="7A7F87"/>
                </a:solidFill>
                <a:latin typeface="Calibri"/>
              </a:rPr>
              <a:t>where its data comes from</a:t>
            </a:r>
          </a:p>
        </p:txBody>
      </p:sp>
      <p:sp>
        <p:nvSpPr>
          <p:cNvPr id="26" name="TextBox 25"/>
          <p:cNvSpPr txBox="1"/>
          <p:nvPr/>
        </p:nvSpPr>
        <p:spPr>
          <a:xfrm>
            <a:off x="3968404" y="4462272"/>
            <a:ext cx="7233306" cy="566928"/>
          </a:xfrm>
          <a:prstGeom prst="rect">
            <a:avLst/>
          </a:prstGeom>
          <a:noFill/>
        </p:spPr>
        <p:txBody>
          <a:bodyPr wrap="square" lIns="0" rIns="0" tIns="0" bIns="0" anchor="t">
            <a:spAutoFit/>
          </a:bodyPr>
          <a:lstStyle/>
          <a:p>
            <a:pPr algn="l">
              <a:lnSpc>
                <a:spcPct val="125000"/>
              </a:lnSpc>
              <a:spcBef>
                <a:spcPts val="0"/>
              </a:spcBef>
              <a:spcAft>
                <a:spcPts val="0"/>
              </a:spcAft>
            </a:pPr>
            <a:r>
              <a:rPr sz="950" b="0" i="0">
                <a:solidFill>
                  <a:srgbClr val="1C1C1E"/>
                </a:solidFill>
                <a:latin typeface="Calibri"/>
              </a:rPr>
              <a:t>inline · request · feature_namespace · featureset · dataset_snapshot · delta_table · sql_query · stream · market_data · document_corpus · scenario_set · artifact</a:t>
            </a:r>
          </a:p>
        </p:txBody>
      </p:sp>
      <p:sp>
        <p:nvSpPr>
          <p:cNvPr id="27" name="TextBox 26"/>
          <p:cNvSpPr txBox="1"/>
          <p:nvPr/>
        </p:nvSpPr>
        <p:spPr>
          <a:xfrm>
            <a:off x="777240" y="5376672"/>
            <a:ext cx="10637215" cy="457200"/>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A51C30"/>
                </a:solidFill>
                <a:latin typeface="Calibri"/>
              </a:rPr>
              <a:t>Extends the right way. </a:t>
            </a:r>
            <a:r>
              <a:rPr sz="1150" b="0" i="0">
                <a:solidFill>
                  <a:srgbClr val="1C1C1E"/>
                </a:solidFill>
                <a:latin typeface="Calibri"/>
              </a:rPr>
              <a:t>A model technology nobody anticipated is a new value in one vocabulary — almost always a runtime — not a new section, not a new document type, and not a change to anything that already works.</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ONE GRAMMAR</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same document, at different coordinates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113</a:t>
            </a:r>
          </a:p>
        </p:txBody>
      </p:sp>
      <p:graphicFrame>
        <p:nvGraphicFramePr>
          <p:cNvPr id="10" name="Table 9"/>
          <p:cNvGraphicFramePr>
            <a:graphicFrameLocks noGrp="1"/>
          </p:cNvGraphicFramePr>
          <p:nvPr/>
        </p:nvGraphicFramePr>
        <p:xfrm>
          <a:off x="777240" y="1353312"/>
          <a:ext cx="10637213" cy="3790213"/>
        </p:xfrm>
        <a:graphic>
          <a:graphicData uri="http://schemas.openxmlformats.org/drawingml/2006/table">
            <a:tbl>
              <a:tblPr firstRow="1">
                <a:tableStyleId>{5C22544A-7EE6-4342-B048-85BDC9FD1C3A}</a:tableStyleId>
              </a:tblPr>
              <a:tblGrid>
                <a:gridCol w="2727491"/>
                <a:gridCol w="2818407"/>
                <a:gridCol w="2181992"/>
                <a:gridCol w="1363745"/>
                <a:gridCol w="1545578"/>
              </a:tblGrid>
              <a:tr h="333781">
                <a:tc>
                  <a:txBody>
                    <a:bodyPr wrap="square"/>
                    <a:lstStyle/>
                    <a:p>
                      <a:pPr algn="l"/>
                      <a:r>
                        <a:rPr sz="1100" b="1">
                          <a:solidFill>
                            <a:srgbClr val="FFFFFF"/>
                          </a:solidFill>
                          <a:latin typeface="Calibri"/>
                        </a:rPr>
                        <a:t>Model</a:t>
                      </a:r>
                    </a:p>
                  </a:txBody>
                  <a:tcPr marL="82296" marR="64008" marT="32004" marB="32004" anchor="ctr">
                    <a:solidFill>
                      <a:srgbClr val="A51C30"/>
                    </a:solidFill>
                  </a:tcPr>
                </a:tc>
                <a:tc>
                  <a:txBody>
                    <a:bodyPr wrap="square"/>
                    <a:lstStyle/>
                    <a:p>
                      <a:pPr algn="l"/>
                      <a:r>
                        <a:rPr sz="1100" b="1">
                          <a:solidFill>
                            <a:srgbClr val="FFFFFF"/>
                          </a:solidFill>
                          <a:latin typeface="Calibri"/>
                        </a:rPr>
                        <a:t>1  parameters</a:t>
                      </a:r>
                    </a:p>
                  </a:txBody>
                  <a:tcPr marL="82296" marR="64008" marT="32004" marB="32004" anchor="ctr">
                    <a:solidFill>
                      <a:srgbClr val="A51C30"/>
                    </a:solidFill>
                  </a:tcPr>
                </a:tc>
                <a:tc>
                  <a:txBody>
                    <a:bodyPr wrap="square"/>
                    <a:lstStyle/>
                    <a:p>
                      <a:pPr algn="l"/>
                      <a:r>
                        <a:rPr sz="1100" b="1">
                          <a:solidFill>
                            <a:srgbClr val="FFFFFF"/>
                          </a:solidFill>
                          <a:latin typeface="Calibri"/>
                        </a:rPr>
                        <a:t>2  runtime</a:t>
                      </a:r>
                    </a:p>
                  </a:txBody>
                  <a:tcPr marL="82296" marR="64008" marT="32004" marB="32004" anchor="ctr">
                    <a:solidFill>
                      <a:srgbClr val="A51C30"/>
                    </a:solidFill>
                  </a:tcPr>
                </a:tc>
                <a:tc>
                  <a:txBody>
                    <a:bodyPr wrap="square"/>
                    <a:lstStyle/>
                    <a:p>
                      <a:pPr algn="l"/>
                      <a:r>
                        <a:rPr sz="1100" b="1">
                          <a:solidFill>
                            <a:srgbClr val="FFFFFF"/>
                          </a:solidFill>
                          <a:latin typeface="Calibri"/>
                        </a:rPr>
                        <a:t>3  verb</a:t>
                      </a:r>
                    </a:p>
                  </a:txBody>
                  <a:tcPr marL="82296" marR="64008" marT="32004" marB="32004" anchor="ctr">
                    <a:solidFill>
                      <a:srgbClr val="A51C30"/>
                    </a:solidFill>
                  </a:tcPr>
                </a:tc>
                <a:tc>
                  <a:txBody>
                    <a:bodyPr wrap="square"/>
                    <a:lstStyle/>
                    <a:p>
                      <a:pPr algn="l"/>
                      <a:r>
                        <a:rPr sz="1100" b="1">
                          <a:solidFill>
                            <a:srgbClr val="FFFFFF"/>
                          </a:solidFill>
                          <a:latin typeface="Calibri"/>
                        </a:rPr>
                        <a:t>4  data</a:t>
                      </a:r>
                    </a:p>
                  </a:txBody>
                  <a:tcPr marL="82296" marR="64008" marT="32004" marB="32004" anchor="ctr">
                    <a:solidFill>
                      <a:srgbClr val="A51C30"/>
                    </a:solidFill>
                  </a:tcPr>
                </a:tc>
              </a:tr>
              <a:tr h="384048">
                <a:tc>
                  <a:txBody>
                    <a:bodyPr wrap="square"/>
                    <a:lstStyle/>
                    <a:p>
                      <a:pPr algn="l"/>
                      <a:r>
                        <a:rPr sz="1050" b="1">
                          <a:solidFill>
                            <a:srgbClr val="A51C30"/>
                          </a:solidFill>
                          <a:latin typeface="Calibri"/>
                        </a:rPr>
                        <a:t>Black swaption pricer</a:t>
                      </a:r>
                    </a:p>
                  </a:txBody>
                  <a:tcPr marL="82296" marR="64008" marT="32004" marB="32004" anchor="ctr">
                    <a:solidFill>
                      <a:srgbClr val="FFFFFF"/>
                    </a:solidFill>
                  </a:tcPr>
                </a:tc>
                <a:tc>
                  <a:txBody>
                    <a:bodyPr wrap="square"/>
                    <a:lstStyle/>
                    <a:p>
                      <a:pPr algn="l"/>
                      <a:r>
                        <a:rPr sz="1050" b="0">
                          <a:solidFill>
                            <a:srgbClr val="1C1C1E"/>
                          </a:solidFill>
                          <a:latin typeface="Calibri"/>
                        </a:rPr>
                        <a:t>none  (T0)</a:t>
                      </a:r>
                    </a:p>
                  </a:txBody>
                  <a:tcPr marL="82296" marR="64008" marT="32004" marB="32004" anchor="ctr">
                    <a:solidFill>
                      <a:srgbClr val="FFFFFF"/>
                    </a:solidFill>
                  </a:tcPr>
                </a:tc>
                <a:tc>
                  <a:txBody>
                    <a:bodyPr wrap="square"/>
                    <a:lstStyle/>
                    <a:p>
                      <a:pPr algn="l"/>
                      <a:r>
                        <a:rPr sz="1050" b="0">
                          <a:solidFill>
                            <a:srgbClr val="1C1C1E"/>
                          </a:solidFill>
                          <a:latin typeface="Calibri"/>
                        </a:rPr>
                        <a:t>quantlib</a:t>
                      </a:r>
                    </a:p>
                  </a:txBody>
                  <a:tcPr marL="82296" marR="64008" marT="32004" marB="32004" anchor="ctr">
                    <a:solidFill>
                      <a:srgbClr val="FFFFFF"/>
                    </a:solidFill>
                  </a:tcPr>
                </a:tc>
                <a:tc>
                  <a:txBody>
                    <a:bodyPr wrap="square"/>
                    <a:lstStyle/>
                    <a:p>
                      <a:pPr algn="l"/>
                      <a:r>
                        <a:rPr sz="1050" b="0">
                          <a:solidFill>
                            <a:srgbClr val="1C1C1E"/>
                          </a:solidFill>
                          <a:latin typeface="Calibri"/>
                        </a:rPr>
                        <a:t>score</a:t>
                      </a:r>
                    </a:p>
                  </a:txBody>
                  <a:tcPr marL="82296" marR="64008" marT="32004" marB="32004" anchor="ctr">
                    <a:solidFill>
                      <a:srgbClr val="FFFFFF"/>
                    </a:solidFill>
                  </a:tcPr>
                </a:tc>
                <a:tc>
                  <a:txBody>
                    <a:bodyPr wrap="square"/>
                    <a:lstStyle/>
                    <a:p>
                      <a:pPr algn="l"/>
                      <a:r>
                        <a:rPr sz="1050" b="0">
                          <a:solidFill>
                            <a:srgbClr val="1C1C1E"/>
                          </a:solidFill>
                          <a:latin typeface="Calibri"/>
                        </a:rPr>
                        <a:t>market_data</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Hull-White calibration</a:t>
                      </a:r>
                    </a:p>
                  </a:txBody>
                  <a:tcPr marL="82296" marR="64008" marT="32004" marB="32004" anchor="ctr">
                    <a:solidFill>
                      <a:srgbClr val="F6F3EF"/>
                    </a:solidFill>
                  </a:tcPr>
                </a:tc>
                <a:tc>
                  <a:txBody>
                    <a:bodyPr wrap="square"/>
                    <a:lstStyle/>
                    <a:p>
                      <a:pPr algn="l"/>
                      <a:r>
                        <a:rPr sz="1050" b="0">
                          <a:solidFill>
                            <a:srgbClr val="1C1C1E"/>
                          </a:solidFill>
                          <a:latin typeface="Calibri"/>
                        </a:rPr>
                        <a:t>calibration_set  (T1)</a:t>
                      </a:r>
                    </a:p>
                  </a:txBody>
                  <a:tcPr marL="82296" marR="64008" marT="32004" marB="32004" anchor="ctr">
                    <a:solidFill>
                      <a:srgbClr val="F6F3EF"/>
                    </a:solidFill>
                  </a:tcPr>
                </a:tc>
                <a:tc>
                  <a:txBody>
                    <a:bodyPr wrap="square"/>
                    <a:lstStyle/>
                    <a:p>
                      <a:pPr algn="l"/>
                      <a:r>
                        <a:rPr sz="1050" b="0">
                          <a:solidFill>
                            <a:srgbClr val="1C1C1E"/>
                          </a:solidFill>
                          <a:latin typeface="Calibri"/>
                        </a:rPr>
                        <a:t>quantlib</a:t>
                      </a:r>
                    </a:p>
                  </a:txBody>
                  <a:tcPr marL="82296" marR="64008" marT="32004" marB="32004" anchor="ctr">
                    <a:solidFill>
                      <a:srgbClr val="F6F3EF"/>
                    </a:solidFill>
                  </a:tcPr>
                </a:tc>
                <a:tc>
                  <a:txBody>
                    <a:bodyPr wrap="square"/>
                    <a:lstStyle/>
                    <a:p>
                      <a:pPr algn="l"/>
                      <a:r>
                        <a:rPr sz="1050" b="0">
                          <a:solidFill>
                            <a:srgbClr val="1C1C1E"/>
                          </a:solidFill>
                          <a:latin typeface="Calibri"/>
                        </a:rPr>
                        <a:t>fit</a:t>
                      </a:r>
                    </a:p>
                  </a:txBody>
                  <a:tcPr marL="82296" marR="64008" marT="32004" marB="32004" anchor="ctr">
                    <a:solidFill>
                      <a:srgbClr val="F6F3EF"/>
                    </a:solidFill>
                  </a:tcPr>
                </a:tc>
                <a:tc>
                  <a:txBody>
                    <a:bodyPr wrap="square"/>
                    <a:lstStyle/>
                    <a:p>
                      <a:pPr algn="l"/>
                      <a:r>
                        <a:rPr sz="1050" b="0">
                          <a:solidFill>
                            <a:srgbClr val="1C1C1E"/>
                          </a:solidFill>
                          <a:latin typeface="Calibri"/>
                        </a:rPr>
                        <a:t>dataset_snapshot</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Gradient-boosted PD</a:t>
                      </a:r>
                    </a:p>
                  </a:txBody>
                  <a:tcPr marL="82296" marR="64008" marT="32004" marB="32004" anchor="ctr">
                    <a:solidFill>
                      <a:srgbClr val="FFFFFF"/>
                    </a:solidFill>
                  </a:tcPr>
                </a:tc>
                <a:tc>
                  <a:txBody>
                    <a:bodyPr wrap="square"/>
                    <a:lstStyle/>
                    <a:p>
                      <a:pPr algn="l"/>
                      <a:r>
                        <a:rPr sz="1050" b="0">
                          <a:solidFill>
                            <a:srgbClr val="1C1C1E"/>
                          </a:solidFill>
                          <a:latin typeface="Calibri"/>
                        </a:rPr>
                        <a:t>learned_weights  (T3)</a:t>
                      </a:r>
                    </a:p>
                  </a:txBody>
                  <a:tcPr marL="82296" marR="64008" marT="32004" marB="32004" anchor="ctr">
                    <a:solidFill>
                      <a:srgbClr val="FFFFFF"/>
                    </a:solidFill>
                  </a:tcPr>
                </a:tc>
                <a:tc>
                  <a:txBody>
                    <a:bodyPr wrap="square"/>
                    <a:lstStyle/>
                    <a:p>
                      <a:pPr algn="l"/>
                      <a:r>
                        <a:rPr sz="1050" b="0">
                          <a:solidFill>
                            <a:srgbClr val="1C1C1E"/>
                          </a:solidFill>
                          <a:latin typeface="Calibri"/>
                        </a:rPr>
                        <a:t>onnx</a:t>
                      </a:r>
                    </a:p>
                  </a:txBody>
                  <a:tcPr marL="82296" marR="64008" marT="32004" marB="32004" anchor="ctr">
                    <a:solidFill>
                      <a:srgbClr val="FFFFFF"/>
                    </a:solidFill>
                  </a:tcPr>
                </a:tc>
                <a:tc>
                  <a:txBody>
                    <a:bodyPr wrap="square"/>
                    <a:lstStyle/>
                    <a:p>
                      <a:pPr algn="l"/>
                      <a:r>
                        <a:rPr sz="1050" b="0">
                          <a:solidFill>
                            <a:srgbClr val="1C1C1E"/>
                          </a:solidFill>
                          <a:latin typeface="Calibri"/>
                        </a:rPr>
                        <a:t>score</a:t>
                      </a:r>
                    </a:p>
                  </a:txBody>
                  <a:tcPr marL="82296" marR="64008" marT="32004" marB="32004" anchor="ctr">
                    <a:solidFill>
                      <a:srgbClr val="FFFFFF"/>
                    </a:solidFill>
                  </a:tcPr>
                </a:tc>
                <a:tc>
                  <a:txBody>
                    <a:bodyPr wrap="square"/>
                    <a:lstStyle/>
                    <a:p>
                      <a:pPr algn="l"/>
                      <a:r>
                        <a:rPr sz="1050" b="0">
                          <a:solidFill>
                            <a:srgbClr val="1C1C1E"/>
                          </a:solidFill>
                          <a:latin typeface="Calibri"/>
                        </a:rPr>
                        <a:t>feature_namespace</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KYC summariser</a:t>
                      </a:r>
                    </a:p>
                  </a:txBody>
                  <a:tcPr marL="82296" marR="64008" marT="32004" marB="32004" anchor="ctr">
                    <a:solidFill>
                      <a:srgbClr val="F6F3EF"/>
                    </a:solidFill>
                  </a:tcPr>
                </a:tc>
                <a:tc>
                  <a:txBody>
                    <a:bodyPr wrap="square"/>
                    <a:lstStyle/>
                    <a:p>
                      <a:pPr algn="l"/>
                      <a:r>
                        <a:rPr sz="1050" b="0">
                          <a:solidFill>
                            <a:srgbClr val="1C1C1E"/>
                          </a:solidFill>
                          <a:latin typeface="Calibri"/>
                        </a:rPr>
                        <a:t>llm_configuration  (T5)</a:t>
                      </a:r>
                    </a:p>
                  </a:txBody>
                  <a:tcPr marL="82296" marR="64008" marT="32004" marB="32004" anchor="ctr">
                    <a:solidFill>
                      <a:srgbClr val="F6F3EF"/>
                    </a:solidFill>
                  </a:tcPr>
                </a:tc>
                <a:tc>
                  <a:txBody>
                    <a:bodyPr wrap="square"/>
                    <a:lstStyle/>
                    <a:p>
                      <a:pPr algn="l"/>
                      <a:r>
                        <a:rPr sz="1050" b="0">
                          <a:solidFill>
                            <a:srgbClr val="1C1C1E"/>
                          </a:solidFill>
                          <a:latin typeface="Calibri"/>
                        </a:rPr>
                        <a:t>llm.prompt</a:t>
                      </a:r>
                    </a:p>
                  </a:txBody>
                  <a:tcPr marL="82296" marR="64008" marT="32004" marB="32004" anchor="ctr">
                    <a:solidFill>
                      <a:srgbClr val="F6F3EF"/>
                    </a:solidFill>
                  </a:tcPr>
                </a:tc>
                <a:tc>
                  <a:txBody>
                    <a:bodyPr wrap="square"/>
                    <a:lstStyle/>
                    <a:p>
                      <a:pPr algn="l"/>
                      <a:r>
                        <a:rPr sz="1050" b="0">
                          <a:solidFill>
                            <a:srgbClr val="1C1C1E"/>
                          </a:solidFill>
                          <a:latin typeface="Calibri"/>
                        </a:rPr>
                        <a:t>generate</a:t>
                      </a:r>
                    </a:p>
                  </a:txBody>
                  <a:tcPr marL="82296" marR="64008" marT="32004" marB="32004" anchor="ctr">
                    <a:solidFill>
                      <a:srgbClr val="F6F3EF"/>
                    </a:solidFill>
                  </a:tcPr>
                </a:tc>
                <a:tc>
                  <a:txBody>
                    <a:bodyPr wrap="square"/>
                    <a:lstStyle/>
                    <a:p>
                      <a:pPr algn="l"/>
                      <a:r>
                        <a:rPr sz="1050" b="0">
                          <a:solidFill>
                            <a:srgbClr val="1C1C1E"/>
                          </a:solidFill>
                          <a:latin typeface="Calibri"/>
                        </a:rPr>
                        <a:t>document_corpus</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Vendor AML engine</a:t>
                      </a:r>
                    </a:p>
                  </a:txBody>
                  <a:tcPr marL="82296" marR="64008" marT="32004" marB="32004" anchor="ctr">
                    <a:solidFill>
                      <a:srgbClr val="FFFFFF"/>
                    </a:solidFill>
                  </a:tcPr>
                </a:tc>
                <a:tc>
                  <a:txBody>
                    <a:bodyPr wrap="square"/>
                    <a:lstStyle/>
                    <a:p>
                      <a:pPr algn="l"/>
                      <a:r>
                        <a:rPr sz="1050" b="0">
                          <a:solidFill>
                            <a:srgbClr val="1C1C1E"/>
                          </a:solidFill>
                          <a:latin typeface="Calibri"/>
                        </a:rPr>
                        <a:t>opaque  (T6)</a:t>
                      </a:r>
                    </a:p>
                  </a:txBody>
                  <a:tcPr marL="82296" marR="64008" marT="32004" marB="32004" anchor="ctr">
                    <a:solidFill>
                      <a:srgbClr val="FFFFFF"/>
                    </a:solidFill>
                  </a:tcPr>
                </a:tc>
                <a:tc>
                  <a:txBody>
                    <a:bodyPr wrap="square"/>
                    <a:lstStyle/>
                    <a:p>
                      <a:pPr algn="l"/>
                      <a:r>
                        <a:rPr sz="1050" b="0">
                          <a:solidFill>
                            <a:srgbClr val="1C1C1E"/>
                          </a:solidFill>
                          <a:latin typeface="Calibri"/>
                        </a:rPr>
                        <a:t>descriptor_only</a:t>
                      </a:r>
                    </a:p>
                  </a:txBody>
                  <a:tcPr marL="82296" marR="64008" marT="32004" marB="32004" anchor="ctr">
                    <a:solidFill>
                      <a:srgbClr val="FFFFFF"/>
                    </a:solidFill>
                  </a:tcPr>
                </a:tc>
                <a:tc>
                  <a:txBody>
                    <a:bodyPr wrap="square"/>
                    <a:lstStyle/>
                    <a:p>
                      <a:pPr algn="l"/>
                      <a:r>
                        <a:rPr sz="1050" b="0">
                          <a:solidFill>
                            <a:srgbClr val="1C1C1E"/>
                          </a:solidFill>
                          <a:latin typeface="Calibri"/>
                        </a:rPr>
                        <a:t>score</a:t>
                      </a:r>
                    </a:p>
                  </a:txBody>
                  <a:tcPr marL="82296" marR="64008" marT="32004" marB="32004" anchor="ctr">
                    <a:solidFill>
                      <a:srgbClr val="FFFFFF"/>
                    </a:solidFill>
                  </a:tcPr>
                </a:tc>
                <a:tc>
                  <a:txBody>
                    <a:bodyPr wrap="square"/>
                    <a:lstStyle/>
                    <a:p>
                      <a:pPr algn="l"/>
                      <a:r>
                        <a:rPr sz="1050" b="0">
                          <a:solidFill>
                            <a:srgbClr val="1C1C1E"/>
                          </a:solidFill>
                          <a:latin typeface="Calibri"/>
                        </a:rPr>
                        <a:t>stream</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Behaviour scorecard</a:t>
                      </a:r>
                    </a:p>
                  </a:txBody>
                  <a:tcPr marL="82296" marR="64008" marT="32004" marB="32004" anchor="ctr">
                    <a:solidFill>
                      <a:srgbClr val="F6F3EF"/>
                    </a:solidFill>
                  </a:tcPr>
                </a:tc>
                <a:tc>
                  <a:txBody>
                    <a:bodyPr wrap="square"/>
                    <a:lstStyle/>
                    <a:p>
                      <a:pPr algn="l"/>
                      <a:r>
                        <a:rPr sz="1050" b="0">
                          <a:solidFill>
                            <a:srgbClr val="1C1C1E"/>
                          </a:solidFill>
                          <a:latin typeface="Calibri"/>
                        </a:rPr>
                        <a:t>estimated_coefficients  (T2)</a:t>
                      </a:r>
                    </a:p>
                  </a:txBody>
                  <a:tcPr marL="82296" marR="64008" marT="32004" marB="32004" anchor="ctr">
                    <a:solidFill>
                      <a:srgbClr val="F6F3EF"/>
                    </a:solidFill>
                  </a:tcPr>
                </a:tc>
                <a:tc>
                  <a:txBody>
                    <a:bodyPr wrap="square"/>
                    <a:lstStyle/>
                    <a:p>
                      <a:pPr algn="l"/>
                      <a:r>
                        <a:rPr sz="1050" b="0">
                          <a:solidFill>
                            <a:srgbClr val="1C1C1E"/>
                          </a:solidFill>
                          <a:latin typeface="Calibri"/>
                        </a:rPr>
                        <a:t>pmml</a:t>
                      </a:r>
                    </a:p>
                  </a:txBody>
                  <a:tcPr marL="82296" marR="64008" marT="32004" marB="32004" anchor="ctr">
                    <a:solidFill>
                      <a:srgbClr val="F6F3EF"/>
                    </a:solidFill>
                  </a:tcPr>
                </a:tc>
                <a:tc>
                  <a:txBody>
                    <a:bodyPr wrap="square"/>
                    <a:lstStyle/>
                    <a:p>
                      <a:pPr algn="l"/>
                      <a:r>
                        <a:rPr sz="1050" b="0">
                          <a:solidFill>
                            <a:srgbClr val="1C1C1E"/>
                          </a:solidFill>
                          <a:latin typeface="Calibri"/>
                        </a:rPr>
                        <a:t>score</a:t>
                      </a:r>
                    </a:p>
                  </a:txBody>
                  <a:tcPr marL="82296" marR="64008" marT="32004" marB="32004" anchor="ctr">
                    <a:solidFill>
                      <a:srgbClr val="F6F3EF"/>
                    </a:solidFill>
                  </a:tcPr>
                </a:tc>
                <a:tc>
                  <a:txBody>
                    <a:bodyPr wrap="square"/>
                    <a:lstStyle/>
                    <a:p>
                      <a:pPr algn="l"/>
                      <a:r>
                        <a:rPr sz="1050" b="0">
                          <a:solidFill>
                            <a:srgbClr val="1C1C1E"/>
                          </a:solidFill>
                          <a:latin typeface="Calibri"/>
                        </a:rPr>
                        <a:t>feature_namespace</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Credit-memo agent</a:t>
                      </a:r>
                    </a:p>
                  </a:txBody>
                  <a:tcPr marL="82296" marR="64008" marT="32004" marB="32004" anchor="ctr">
                    <a:solidFill>
                      <a:srgbClr val="FFFFFF"/>
                    </a:solidFill>
                  </a:tcPr>
                </a:tc>
                <a:tc>
                  <a:txBody>
                    <a:bodyPr wrap="square"/>
                    <a:lstStyle/>
                    <a:p>
                      <a:pPr algn="l"/>
                      <a:r>
                        <a:rPr sz="1050" b="0">
                          <a:solidFill>
                            <a:srgbClr val="1C1C1E"/>
                          </a:solidFill>
                          <a:latin typeface="Calibri"/>
                        </a:rPr>
                        <a:t>llm_configuration  (T5)</a:t>
                      </a:r>
                    </a:p>
                  </a:txBody>
                  <a:tcPr marL="82296" marR="64008" marT="32004" marB="32004" anchor="ctr">
                    <a:solidFill>
                      <a:srgbClr val="FFFFFF"/>
                    </a:solidFill>
                  </a:tcPr>
                </a:tc>
                <a:tc>
                  <a:txBody>
                    <a:bodyPr wrap="square"/>
                    <a:lstStyle/>
                    <a:p>
                      <a:pPr algn="l"/>
                      <a:r>
                        <a:rPr sz="1050" b="0">
                          <a:solidFill>
                            <a:srgbClr val="1C1C1E"/>
                          </a:solidFill>
                          <a:latin typeface="Calibri"/>
                        </a:rPr>
                        <a:t>llm.agent</a:t>
                      </a:r>
                    </a:p>
                  </a:txBody>
                  <a:tcPr marL="82296" marR="64008" marT="32004" marB="32004" anchor="ctr">
                    <a:solidFill>
                      <a:srgbClr val="FFFFFF"/>
                    </a:solidFill>
                  </a:tcPr>
                </a:tc>
                <a:tc>
                  <a:txBody>
                    <a:bodyPr wrap="square"/>
                    <a:lstStyle/>
                    <a:p>
                      <a:pPr algn="l"/>
                      <a:r>
                        <a:rPr sz="1050" b="0">
                          <a:solidFill>
                            <a:srgbClr val="1C1C1E"/>
                          </a:solidFill>
                          <a:latin typeface="Calibri"/>
                        </a:rPr>
                        <a:t>generate</a:t>
                      </a:r>
                    </a:p>
                  </a:txBody>
                  <a:tcPr marL="82296" marR="64008" marT="32004" marB="32004" anchor="ctr">
                    <a:solidFill>
                      <a:srgbClr val="FFFFFF"/>
                    </a:solidFill>
                  </a:tcPr>
                </a:tc>
                <a:tc>
                  <a:txBody>
                    <a:bodyPr wrap="square"/>
                    <a:lstStyle/>
                    <a:p>
                      <a:pPr algn="l"/>
                      <a:r>
                        <a:rPr sz="1050" b="0">
                          <a:solidFill>
                            <a:srgbClr val="1C1C1E"/>
                          </a:solidFill>
                          <a:latin typeface="Calibri"/>
                        </a:rPr>
                        <a:t>document_corpus</a:t>
                      </a:r>
                    </a:p>
                  </a:txBody>
                  <a:tcPr marL="82296" marR="64008" marT="32004" marB="32004" anchor="ctr">
                    <a:solidFill>
                      <a:srgbClr val="FFFFFF"/>
                    </a:solidFill>
                  </a:tcPr>
                </a:tc>
              </a:tr>
              <a:tr h="384048">
                <a:tc>
                  <a:txBody>
                    <a:bodyPr wrap="square"/>
                    <a:lstStyle/>
                    <a:p>
                      <a:pPr algn="l"/>
                      <a:r>
                        <a:rPr sz="1050" b="1">
                          <a:solidFill>
                            <a:srgbClr val="A51C30"/>
                          </a:solidFill>
                          <a:latin typeface="Calibri"/>
                        </a:rPr>
                        <a:t>Treasury spreadsheet</a:t>
                      </a:r>
                    </a:p>
                  </a:txBody>
                  <a:tcPr marL="82296" marR="64008" marT="32004" marB="32004" anchor="ctr">
                    <a:solidFill>
                      <a:srgbClr val="F6F3EF"/>
                    </a:solidFill>
                  </a:tcPr>
                </a:tc>
                <a:tc>
                  <a:txBody>
                    <a:bodyPr wrap="square"/>
                    <a:lstStyle/>
                    <a:p>
                      <a:pPr algn="l"/>
                      <a:r>
                        <a:rPr sz="1050" b="0">
                          <a:solidFill>
                            <a:srgbClr val="1C1C1E"/>
                          </a:solidFill>
                          <a:latin typeface="Calibri"/>
                        </a:rPr>
                        <a:t>rule_set  (T8)</a:t>
                      </a:r>
                    </a:p>
                  </a:txBody>
                  <a:tcPr marL="82296" marR="64008" marT="32004" marB="32004" anchor="ctr">
                    <a:solidFill>
                      <a:srgbClr val="F6F3EF"/>
                    </a:solidFill>
                  </a:tcPr>
                </a:tc>
                <a:tc>
                  <a:txBody>
                    <a:bodyPr wrap="square"/>
                    <a:lstStyle/>
                    <a:p>
                      <a:pPr algn="l"/>
                      <a:r>
                        <a:rPr sz="1050" b="0">
                          <a:solidFill>
                            <a:srgbClr val="1C1C1E"/>
                          </a:solidFill>
                          <a:latin typeface="Calibri"/>
                        </a:rPr>
                        <a:t>spreadsheet</a:t>
                      </a:r>
                    </a:p>
                  </a:txBody>
                  <a:tcPr marL="82296" marR="64008" marT="32004" marB="32004" anchor="ctr">
                    <a:solidFill>
                      <a:srgbClr val="F6F3EF"/>
                    </a:solidFill>
                  </a:tcPr>
                </a:tc>
                <a:tc>
                  <a:txBody>
                    <a:bodyPr wrap="square"/>
                    <a:lstStyle/>
                    <a:p>
                      <a:pPr algn="l"/>
                      <a:r>
                        <a:rPr sz="1050" b="0">
                          <a:solidFill>
                            <a:srgbClr val="1C1C1E"/>
                          </a:solidFill>
                          <a:latin typeface="Calibri"/>
                        </a:rPr>
                        <a:t>score</a:t>
                      </a:r>
                    </a:p>
                  </a:txBody>
                  <a:tcPr marL="82296" marR="64008" marT="32004" marB="32004" anchor="ctr">
                    <a:solidFill>
                      <a:srgbClr val="F6F3EF"/>
                    </a:solidFill>
                  </a:tcPr>
                </a:tc>
                <a:tc>
                  <a:txBody>
                    <a:bodyPr wrap="square"/>
                    <a:lstStyle/>
                    <a:p>
                      <a:pPr algn="l"/>
                      <a:r>
                        <a:rPr sz="1050" b="0">
                          <a:solidFill>
                            <a:srgbClr val="1C1C1E"/>
                          </a:solidFill>
                          <a:latin typeface="Calibri"/>
                        </a:rPr>
                        <a:t>request</a:t>
                      </a:r>
                    </a:p>
                  </a:txBody>
                  <a:tcPr marL="82296" marR="64008" marT="32004" marB="32004" anchor="ctr">
                    <a:solidFill>
                      <a:srgbClr val="F6F3EF"/>
                    </a:solidFill>
                  </a:tcPr>
                </a:tc>
              </a:tr>
              <a:tr h="384048">
                <a:tc>
                  <a:txBody>
                    <a:bodyPr wrap="square"/>
                    <a:lstStyle/>
                    <a:p>
                      <a:pPr algn="l"/>
                      <a:r>
                        <a:rPr sz="1050" b="1">
                          <a:solidFill>
                            <a:srgbClr val="A51C30"/>
                          </a:solidFill>
                          <a:latin typeface="Calibri"/>
                        </a:rPr>
                        <a:t>VaR backtest</a:t>
                      </a:r>
                    </a:p>
                  </a:txBody>
                  <a:tcPr marL="82296" marR="64008" marT="32004" marB="32004" anchor="ctr">
                    <a:solidFill>
                      <a:srgbClr val="FFFFFF"/>
                    </a:solidFill>
                  </a:tcPr>
                </a:tc>
                <a:tc>
                  <a:txBody>
                    <a:bodyPr wrap="square"/>
                    <a:lstStyle/>
                    <a:p>
                      <a:pPr algn="l"/>
                      <a:r>
                        <a:rPr sz="1050" b="0">
                          <a:solidFill>
                            <a:srgbClr val="1C1C1E"/>
                          </a:solidFill>
                          <a:latin typeface="Calibri"/>
                        </a:rPr>
                        <a:t>calibration_set  (T1)</a:t>
                      </a:r>
                    </a:p>
                  </a:txBody>
                  <a:tcPr marL="82296" marR="64008" marT="32004" marB="32004" anchor="ctr">
                    <a:solidFill>
                      <a:srgbClr val="FFFFFF"/>
                    </a:solidFill>
                  </a:tcPr>
                </a:tc>
                <a:tc>
                  <a:txBody>
                    <a:bodyPr wrap="square"/>
                    <a:lstStyle/>
                    <a:p>
                      <a:pPr algn="l"/>
                      <a:r>
                        <a:rPr sz="1050" b="0">
                          <a:solidFill>
                            <a:srgbClr val="1C1C1E"/>
                          </a:solidFill>
                          <a:latin typeface="Calibri"/>
                        </a:rPr>
                        <a:t>python.callable</a:t>
                      </a:r>
                    </a:p>
                  </a:txBody>
                  <a:tcPr marL="82296" marR="64008" marT="32004" marB="32004" anchor="ctr">
                    <a:solidFill>
                      <a:srgbClr val="FFFFFF"/>
                    </a:solidFill>
                  </a:tcPr>
                </a:tc>
                <a:tc>
                  <a:txBody>
                    <a:bodyPr wrap="square"/>
                    <a:lstStyle/>
                    <a:p>
                      <a:pPr algn="l"/>
                      <a:r>
                        <a:rPr sz="1050" b="0">
                          <a:solidFill>
                            <a:srgbClr val="1C1C1E"/>
                          </a:solidFill>
                          <a:latin typeface="Calibri"/>
                        </a:rPr>
                        <a:t>backtest</a:t>
                      </a:r>
                    </a:p>
                  </a:txBody>
                  <a:tcPr marL="82296" marR="64008" marT="32004" marB="32004" anchor="ctr">
                    <a:solidFill>
                      <a:srgbClr val="FFFFFF"/>
                    </a:solidFill>
                  </a:tcPr>
                </a:tc>
                <a:tc>
                  <a:txBody>
                    <a:bodyPr wrap="square"/>
                    <a:lstStyle/>
                    <a:p>
                      <a:pPr algn="l"/>
                      <a:r>
                        <a:rPr sz="1050" b="0">
                          <a:solidFill>
                            <a:srgbClr val="1C1C1E"/>
                          </a:solidFill>
                          <a:latin typeface="Calibri"/>
                        </a:rPr>
                        <a:t>dataset_snapshot</a:t>
                      </a:r>
                    </a:p>
                  </a:txBody>
                  <a:tcPr marL="82296" marR="64008" marT="32004" marB="32004" anchor="ctr">
                    <a:solidFill>
                      <a:srgbClr val="FFFFFF"/>
                    </a:solidFill>
                  </a:tcPr>
                </a:tc>
              </a:tr>
            </a:tbl>
          </a:graphicData>
        </a:graphic>
      </p:graphicFrame>
      <p:sp>
        <p:nvSpPr>
          <p:cNvPr id="11" name="Rectangle 10"/>
          <p:cNvSpPr/>
          <p:nvPr/>
        </p:nvSpPr>
        <p:spPr>
          <a:xfrm>
            <a:off x="777240" y="5381269"/>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5381269"/>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51560" y="5490997"/>
            <a:ext cx="10088575" cy="621792"/>
          </a:xfrm>
          <a:prstGeom prst="rect">
            <a:avLst/>
          </a:prstGeom>
          <a:noFill/>
        </p:spPr>
        <p:txBody>
          <a:bodyPr wrap="square" lIns="0" rIns="0" tIns="0" bIns="0" anchor="t">
            <a:spAutoFit/>
          </a:bodyPr>
          <a:lstStyle/>
          <a:p>
            <a:pPr algn="l">
              <a:lnSpc>
                <a:spcPct val="126000"/>
              </a:lnSpc>
              <a:spcBef>
                <a:spcPts val="0"/>
              </a:spcBef>
              <a:spcAft>
                <a:spcPts val="0"/>
              </a:spcAft>
            </a:pPr>
            <a:r>
              <a:rPr sz="1100" b="1" i="0">
                <a:solidFill>
                  <a:srgbClr val="A51C30"/>
                </a:solidFill>
                <a:latin typeface="Calibri"/>
              </a:rPr>
              <a:t>The first two rows are the argument. </a:t>
            </a:r>
            <a:r>
              <a:rPr sz="1100" b="0" i="0">
                <a:solidFill>
                  <a:srgbClr val="1C1C1E"/>
                </a:solidFill>
                <a:latin typeface="Calibri"/>
              </a:rPr>
              <a:t>Same library, same runtime, and the grammar treats them completely differently — because the parameter axis differs. “Is it AI?” puts both in one bucket; “how is P inhabited?” separates them correctly, and that is what makes the evidence expectations right for each.</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ADMISSIBILITY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the grammar refuses, and why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114</a:t>
            </a:r>
          </a:p>
        </p:txBody>
      </p:sp>
      <p:sp>
        <p:nvSpPr>
          <p:cNvPr id="10" name="TextBox 9"/>
          <p:cNvSpPr txBox="1"/>
          <p:nvPr/>
        </p:nvSpPr>
        <p:spPr>
          <a:xfrm>
            <a:off x="777240" y="1353312"/>
            <a:ext cx="10637215" cy="512064"/>
          </a:xfrm>
          <a:prstGeom prst="rect">
            <a:avLst/>
          </a:prstGeom>
          <a:noFill/>
        </p:spPr>
        <p:txBody>
          <a:bodyPr wrap="square" lIns="0" rIns="0" tIns="0" bIns="0" anchor="t">
            <a:spAutoFit/>
          </a:bodyPr>
          <a:lstStyle/>
          <a:p>
            <a:pPr algn="l">
              <a:lnSpc>
                <a:spcPct val="125000"/>
              </a:lnSpc>
              <a:spcBef>
                <a:spcPts val="0"/>
              </a:spcBef>
              <a:spcAft>
                <a:spcPts val="0"/>
              </a:spcAft>
            </a:pPr>
            <a:r>
              <a:rPr sz="1150" b="0" i="0">
                <a:solidFill>
                  <a:srgbClr val="4A4F57"/>
                </a:solidFill>
                <a:latin typeface="Calibri"/>
              </a:rPr>
              <a:t>Not invented for the grammar. They fall out of the algebra: the trainability class is DERIVED from how the parameter object is inhabited, so what a class admits is what the class means.</a:t>
            </a:r>
          </a:p>
        </p:txBody>
      </p:sp>
      <p:graphicFrame>
        <p:nvGraphicFramePr>
          <p:cNvPr id="11" name="Table 10"/>
          <p:cNvGraphicFramePr>
            <a:graphicFrameLocks noGrp="1"/>
          </p:cNvGraphicFramePr>
          <p:nvPr/>
        </p:nvGraphicFramePr>
        <p:xfrm>
          <a:off x="777240" y="1755648"/>
          <a:ext cx="10637214" cy="4111552"/>
        </p:xfrm>
        <a:graphic>
          <a:graphicData uri="http://schemas.openxmlformats.org/drawingml/2006/table">
            <a:tbl>
              <a:tblPr firstRow="1">
                <a:tableStyleId>{5C22544A-7EE6-4342-B048-85BDC9FD1C3A}</a:tableStyleId>
              </a:tblPr>
              <a:tblGrid>
                <a:gridCol w="779451"/>
                <a:gridCol w="2888554"/>
                <a:gridCol w="6969209"/>
              </a:tblGrid>
              <a:tr h="329184">
                <a:tc>
                  <a:txBody>
                    <a:bodyPr wrap="square"/>
                    <a:lstStyle/>
                    <a:p>
                      <a:pPr algn="l"/>
                      <a:r>
                        <a:rPr sz="900" b="1">
                          <a:solidFill>
                            <a:srgbClr val="FFFFFF"/>
                          </a:solidFill>
                          <a:latin typeface="Calibri"/>
                        </a:rPr>
                        <a:t>Law</a:t>
                      </a:r>
                    </a:p>
                  </a:txBody>
                  <a:tcPr marL="82296" marR="64008" marT="32004" marB="32004" anchor="ctr">
                    <a:solidFill>
                      <a:srgbClr val="A51C30"/>
                    </a:solidFill>
                  </a:tcPr>
                </a:tc>
                <a:tc>
                  <a:txBody>
                    <a:bodyPr wrap="square"/>
                    <a:lstStyle/>
                    <a:p>
                      <a:pPr algn="l"/>
                      <a:r>
                        <a:rPr sz="900" b="1">
                          <a:solidFill>
                            <a:srgbClr val="FFFFFF"/>
                          </a:solidFill>
                          <a:latin typeface="Calibri"/>
                        </a:rPr>
                        <a:t>Refuses</a:t>
                      </a:r>
                    </a:p>
                  </a:txBody>
                  <a:tcPr marL="82296" marR="64008" marT="32004" marB="32004" anchor="ctr">
                    <a:solidFill>
                      <a:srgbClr val="A51C30"/>
                    </a:solidFill>
                  </a:tcPr>
                </a:tc>
                <a:tc>
                  <a:txBody>
                    <a:bodyPr wrap="square"/>
                    <a:lstStyle/>
                    <a:p>
                      <a:pPr algn="l"/>
                      <a:r>
                        <a:rPr sz="900" b="1">
                          <a:solidFill>
                            <a:srgbClr val="FFFFFF"/>
                          </a:solidFill>
                          <a:latin typeface="Calibri"/>
                        </a:rPr>
                        <a:t>Because</a:t>
                      </a:r>
                    </a:p>
                  </a:txBody>
                  <a:tcPr marL="82296" marR="64008" marT="32004" marB="32004" anchor="ctr">
                    <a:solidFill>
                      <a:srgbClr val="A51C30"/>
                    </a:solidFill>
                  </a:tcPr>
                </a:tc>
              </a:tr>
              <a:tr h="291172">
                <a:tc>
                  <a:txBody>
                    <a:bodyPr wrap="square"/>
                    <a:lstStyle/>
                    <a:p>
                      <a:pPr algn="l"/>
                      <a:r>
                        <a:rPr sz="850" b="1">
                          <a:solidFill>
                            <a:srgbClr val="A51C30"/>
                          </a:solidFill>
                          <a:latin typeface="Calibri"/>
                        </a:rPr>
                        <a:t>L-W0</a:t>
                      </a:r>
                    </a:p>
                  </a:txBody>
                  <a:tcPr marL="82296" marR="64008" marT="32004" marB="32004" anchor="ctr">
                    <a:solidFill>
                      <a:srgbClr val="FFFFFF"/>
                    </a:solidFill>
                  </a:tcPr>
                </a:tc>
                <a:tc>
                  <a:txBody>
                    <a:bodyPr wrap="square"/>
                    <a:lstStyle/>
                    <a:p>
                      <a:pPr algn="l"/>
                      <a:r>
                        <a:rPr sz="850" b="0">
                          <a:solidFill>
                            <a:srgbClr val="1C1C1E"/>
                          </a:solidFill>
                          <a:latin typeface="Calibri"/>
                        </a:rPr>
                        <a:t>a malformed document</a:t>
                      </a:r>
                    </a:p>
                  </a:txBody>
                  <a:tcPr marL="82296" marR="64008" marT="32004" marB="32004" anchor="ctr">
                    <a:solidFill>
                      <a:srgbClr val="FFFFFF"/>
                    </a:solidFill>
                  </a:tcPr>
                </a:tc>
                <a:tc>
                  <a:txBody>
                    <a:bodyPr wrap="square"/>
                    <a:lstStyle/>
                    <a:p>
                      <a:pPr algn="l"/>
                      <a:r>
                        <a:rPr sz="850" b="0">
                          <a:solidFill>
                            <a:srgbClr val="1C1C1E"/>
                          </a:solidFill>
                          <a:latin typeface="Calibri"/>
                        </a:rPr>
                        <a:t>ten sections, a known verb, a runtime without its entry keys</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L-W1</a:t>
                      </a:r>
                    </a:p>
                  </a:txBody>
                  <a:tcPr marL="82296" marR="64008" marT="32004" marB="32004" anchor="ctr">
                    <a:solidFill>
                      <a:srgbClr val="F6F3EF"/>
                    </a:solidFill>
                  </a:tcPr>
                </a:tc>
                <a:tc>
                  <a:txBody>
                    <a:bodyPr wrap="square"/>
                    <a:lstStyle/>
                    <a:p>
                      <a:pPr algn="l"/>
                      <a:r>
                        <a:rPr sz="850" b="0">
                          <a:solidFill>
                            <a:srgbClr val="1C1C1E"/>
                          </a:solidFill>
                          <a:latin typeface="Calibri"/>
                        </a:rPr>
                        <a:t>fit on T0 or T6</a:t>
                      </a:r>
                    </a:p>
                  </a:txBody>
                  <a:tcPr marL="82296" marR="64008" marT="32004" marB="32004" anchor="ctr">
                    <a:solidFill>
                      <a:srgbClr val="F6F3EF"/>
                    </a:solidFill>
                  </a:tcPr>
                </a:tc>
                <a:tc>
                  <a:txBody>
                    <a:bodyPr wrap="square"/>
                    <a:lstStyle/>
                    <a:p>
                      <a:pPr algn="l"/>
                      <a:r>
                        <a:rPr sz="850" b="0">
                          <a:solidFill>
                            <a:srgbClr val="1C1C1E"/>
                          </a:solidFill>
                          <a:latin typeface="Calibri"/>
                        </a:rPr>
                        <a:t>T0's parameters come from theory; T6's are inside a vendor black box</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L-W2</a:t>
                      </a:r>
                    </a:p>
                  </a:txBody>
                  <a:tcPr marL="82296" marR="64008" marT="32004" marB="32004" anchor="ctr">
                    <a:solidFill>
                      <a:srgbClr val="FFFFFF"/>
                    </a:solidFill>
                  </a:tcPr>
                </a:tc>
                <a:tc>
                  <a:txBody>
                    <a:bodyPr wrap="square"/>
                    <a:lstStyle/>
                    <a:p>
                      <a:pPr algn="l"/>
                      <a:r>
                        <a:rPr sz="850" b="0">
                          <a:solidFill>
                            <a:srgbClr val="1C1C1E"/>
                          </a:solidFill>
                          <a:latin typeface="Calibri"/>
                        </a:rPr>
                        <a:t>generate on a non-generative runtime</a:t>
                      </a:r>
                    </a:p>
                  </a:txBody>
                  <a:tcPr marL="82296" marR="64008" marT="32004" marB="32004" anchor="ctr">
                    <a:solidFill>
                      <a:srgbClr val="FFFFFF"/>
                    </a:solidFill>
                  </a:tcPr>
                </a:tc>
                <a:tc>
                  <a:txBody>
                    <a:bodyPr wrap="square"/>
                    <a:lstStyle/>
                    <a:p>
                      <a:pPr algn="l"/>
                      <a:r>
                        <a:rPr sz="850" b="0">
                          <a:solidFill>
                            <a:srgbClr val="1C1C1E"/>
                          </a:solidFill>
                          <a:latin typeface="Calibri"/>
                        </a:rPr>
                        <a:t>an ONNX graph does not produce prose</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L-W3</a:t>
                      </a:r>
                    </a:p>
                  </a:txBody>
                  <a:tcPr marL="82296" marR="64008" marT="32004" marB="32004" anchor="ctr">
                    <a:solidFill>
                      <a:srgbClr val="F6F3EF"/>
                    </a:solidFill>
                  </a:tcPr>
                </a:tc>
                <a:tc>
                  <a:txBody>
                    <a:bodyPr wrap="square"/>
                    <a:lstStyle/>
                    <a:p>
                      <a:pPr algn="l"/>
                      <a:r>
                        <a:rPr sz="850" b="0">
                          <a:solidFill>
                            <a:srgbClr val="1C1C1E"/>
                          </a:solidFill>
                          <a:latin typeface="Calibri"/>
                        </a:rPr>
                        <a:t>training from a non-bitemporal source</a:t>
                      </a:r>
                    </a:p>
                  </a:txBody>
                  <a:tcPr marL="82296" marR="64008" marT="32004" marB="32004" anchor="ctr">
                    <a:solidFill>
                      <a:srgbClr val="F6F3EF"/>
                    </a:solidFill>
                  </a:tcPr>
                </a:tc>
                <a:tc>
                  <a:txBody>
                    <a:bodyPr wrap="square"/>
                    <a:lstStyle/>
                    <a:p>
                      <a:pPr algn="l"/>
                      <a:r>
                        <a:rPr sz="850" b="0">
                          <a:solidFill>
                            <a:srgbClr val="1C1C1E"/>
                          </a:solidFill>
                          <a:latin typeface="Calibri"/>
                        </a:rPr>
                        <a:t>it cannot be shown point-in-time correct, so not shown leak-free</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L-W4</a:t>
                      </a:r>
                    </a:p>
                  </a:txBody>
                  <a:tcPr marL="82296" marR="64008" marT="32004" marB="32004" anchor="ctr">
                    <a:solidFill>
                      <a:srgbClr val="FFFFFF"/>
                    </a:solidFill>
                  </a:tcPr>
                </a:tc>
                <a:tc>
                  <a:txBody>
                    <a:bodyPr wrap="square"/>
                    <a:lstStyle/>
                    <a:p>
                      <a:pPr algn="l"/>
                      <a:r>
                        <a:rPr sz="850" b="0">
                          <a:solidFill>
                            <a:srgbClr val="1C1C1E"/>
                          </a:solidFill>
                          <a:latin typeface="Calibri"/>
                        </a:rPr>
                        <a:t>a fit with no parameter_object sink</a:t>
                      </a:r>
                    </a:p>
                  </a:txBody>
                  <a:tcPr marL="82296" marR="64008" marT="32004" marB="32004" anchor="ctr">
                    <a:solidFill>
                      <a:srgbClr val="FFFFFF"/>
                    </a:solidFill>
                  </a:tcPr>
                </a:tc>
                <a:tc>
                  <a:txBody>
                    <a:bodyPr wrap="square"/>
                    <a:lstStyle/>
                    <a:p>
                      <a:pPr algn="l"/>
                      <a:r>
                        <a:rPr sz="850" b="0">
                          <a:solidFill>
                            <a:srgbClr val="1C1C1E"/>
                          </a:solidFill>
                          <a:latin typeface="Calibri"/>
                        </a:rPr>
                        <a:t>a fit produces a NEW parameter object, it does not edit the old one</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L-W5</a:t>
                      </a:r>
                    </a:p>
                  </a:txBody>
                  <a:tcPr marL="82296" marR="64008" marT="32004" marB="32004" anchor="ctr">
                    <a:solidFill>
                      <a:srgbClr val="F6F3EF"/>
                    </a:solidFill>
                  </a:tcPr>
                </a:tc>
                <a:tc>
                  <a:txBody>
                    <a:bodyPr wrap="square"/>
                    <a:lstStyle/>
                    <a:p>
                      <a:pPr algn="l"/>
                      <a:r>
                        <a:rPr sz="850" b="0">
                          <a:solidFill>
                            <a:srgbClr val="1C1C1E"/>
                          </a:solidFill>
                          <a:latin typeface="Calibri"/>
                        </a:rPr>
                        <a:t>claimed determinism with no seed, runtime runs arbitrary code</a:t>
                      </a:r>
                    </a:p>
                  </a:txBody>
                  <a:tcPr marL="82296" marR="64008" marT="32004" marB="32004" anchor="ctr">
                    <a:solidFill>
                      <a:srgbClr val="F6F3EF"/>
                    </a:solidFill>
                  </a:tcPr>
                </a:tc>
                <a:tc>
                  <a:txBody>
                    <a:bodyPr wrap="square"/>
                    <a:lstStyle/>
                    <a:p>
                      <a:pPr algn="l"/>
                      <a:r>
                        <a:rPr sz="850" b="0">
                          <a:solidFill>
                            <a:srgbClr val="1C1C1E"/>
                          </a:solidFill>
                          <a:latin typeface="Calibri"/>
                        </a:rPr>
                        <a:t>an LLM at 0.7 is not reproducible and neither is an unseeded simulation</a:t>
                      </a:r>
                    </a:p>
                  </a:txBody>
                  <a:tcPr marL="82296" marR="64008" marT="32004" marB="32004" anchor="ctr">
                    <a:solidFill>
                      <a:srgbClr val="F6F3EF"/>
                    </a:solidFill>
                  </a:tcPr>
                </a:tc>
              </a:tr>
              <a:tr h="291172">
                <a:tc>
                  <a:txBody>
                    <a:bodyPr wrap="square"/>
                    <a:lstStyle/>
                    <a:p>
                      <a:pPr algn="l"/>
                      <a:r>
                        <a:rPr sz="850" b="1">
                          <a:solidFill>
                            <a:srgbClr val="A51C30"/>
                          </a:solidFill>
                          <a:latin typeface="Calibri"/>
                        </a:rPr>
                        <a:t>L-W6</a:t>
                      </a:r>
                    </a:p>
                  </a:txBody>
                  <a:tcPr marL="82296" marR="64008" marT="32004" marB="32004" anchor="ctr">
                    <a:solidFill>
                      <a:srgbClr val="FFFFFF"/>
                    </a:solidFill>
                  </a:tcPr>
                </a:tc>
                <a:tc>
                  <a:txBody>
                    <a:bodyPr wrap="square"/>
                    <a:lstStyle/>
                    <a:p>
                      <a:pPr algn="l"/>
                      <a:r>
                        <a:rPr sz="850" b="0">
                          <a:solidFill>
                            <a:srgbClr val="1C1C1E"/>
                          </a:solidFill>
                          <a:latin typeface="Calibri"/>
                        </a:rPr>
                        <a:t>fit on a descriptor-only model</a:t>
                      </a:r>
                    </a:p>
                  </a:txBody>
                  <a:tcPr marL="82296" marR="64008" marT="32004" marB="32004" anchor="ctr">
                    <a:solidFill>
                      <a:srgbClr val="FFFFFF"/>
                    </a:solidFill>
                  </a:tcPr>
                </a:tc>
                <a:tc>
                  <a:txBody>
                    <a:bodyPr wrap="square"/>
                    <a:lstStyle/>
                    <a:p>
                      <a:pPr algn="l"/>
                      <a:r>
                        <a:rPr sz="850" b="0">
                          <a:solidFill>
                            <a:srgbClr val="1C1C1E"/>
                          </a:solidFill>
                          <a:latin typeface="Calibri"/>
                        </a:rPr>
                        <a:t>you cannot inhabit what nothing on this side can reach</a:t>
                      </a:r>
                    </a:p>
                  </a:txBody>
                  <a:tcPr marL="82296" marR="64008" marT="32004" marB="32004" anchor="ctr">
                    <a:solidFill>
                      <a:srgbClr val="FFFFFF"/>
                    </a:solidFill>
                  </a:tcPr>
                </a:tc>
              </a:tr>
              <a:tr h="291172">
                <a:tc>
                  <a:txBody>
                    <a:bodyPr wrap="square"/>
                    <a:lstStyle/>
                    <a:p>
                      <a:pPr algn="l"/>
                      <a:r>
                        <a:rPr sz="850" b="1">
                          <a:solidFill>
                            <a:srgbClr val="A51C30"/>
                          </a:solidFill>
                          <a:latin typeface="Calibri"/>
                        </a:rPr>
                        <a:t>L-W7</a:t>
                      </a:r>
                    </a:p>
                  </a:txBody>
                  <a:tcPr marL="82296" marR="64008" marT="32004" marB="32004" anchor="ctr">
                    <a:solidFill>
                      <a:srgbClr val="F6F3EF"/>
                    </a:solidFill>
                  </a:tcPr>
                </a:tc>
                <a:tc>
                  <a:txBody>
                    <a:bodyPr wrap="square"/>
                    <a:lstStyle/>
                    <a:p>
                      <a:pPr algn="l"/>
                      <a:r>
                        <a:rPr sz="850" b="0">
                          <a:solidFill>
                            <a:srgbClr val="1C1C1E"/>
                          </a:solidFill>
                          <a:latin typeface="Calibri"/>
                        </a:rPr>
                        <a:t>a backtest with no outcomes</a:t>
                      </a:r>
                    </a:p>
                  </a:txBody>
                  <a:tcPr marL="82296" marR="64008" marT="32004" marB="32004" anchor="ctr">
                    <a:solidFill>
                      <a:srgbClr val="F6F3EF"/>
                    </a:solidFill>
                  </a:tcPr>
                </a:tc>
                <a:tc>
                  <a:txBody>
                    <a:bodyPr wrap="square"/>
                    <a:lstStyle/>
                    <a:p>
                      <a:pPr algn="l"/>
                      <a:r>
                        <a:rPr sz="850" b="0">
                          <a:solidFill>
                            <a:srgbClr val="1C1C1E"/>
                          </a:solidFill>
                          <a:latin typeface="Calibri"/>
                        </a:rPr>
                        <a:t>that is a re-score wearing a backtest's name</a:t>
                      </a:r>
                    </a:p>
                  </a:txBody>
                  <a:tcPr marL="82296" marR="64008" marT="32004" marB="32004" anchor="ctr">
                    <a:solidFill>
                      <a:srgbClr val="F6F3EF"/>
                    </a:solidFill>
                  </a:tcPr>
                </a:tc>
              </a:tr>
              <a:tr h="436041">
                <a:tc>
                  <a:txBody>
                    <a:bodyPr wrap="square"/>
                    <a:lstStyle/>
                    <a:p>
                      <a:pPr algn="l"/>
                      <a:r>
                        <a:rPr sz="850" b="1">
                          <a:solidFill>
                            <a:srgbClr val="A51C30"/>
                          </a:solidFill>
                          <a:latin typeface="Calibri"/>
                        </a:rPr>
                        <a:t>L-W8</a:t>
                      </a:r>
                    </a:p>
                  </a:txBody>
                  <a:tcPr marL="82296" marR="64008" marT="32004" marB="32004" anchor="ctr">
                    <a:solidFill>
                      <a:srgbClr val="FFFFFF"/>
                    </a:solidFill>
                  </a:tcPr>
                </a:tc>
                <a:tc>
                  <a:txBody>
                    <a:bodyPr wrap="square"/>
                    <a:lstStyle/>
                    <a:p>
                      <a:pPr algn="l"/>
                      <a:r>
                        <a:rPr sz="850" b="0">
                          <a:solidFill>
                            <a:srgbClr val="1C1C1E"/>
                          </a:solidFill>
                          <a:latin typeface="Calibri"/>
                        </a:rPr>
                        <a:t>a run that will not name its point in P</a:t>
                      </a:r>
                    </a:p>
                  </a:txBody>
                  <a:tcPr marL="82296" marR="64008" marT="32004" marB="32004" anchor="ctr">
                    <a:solidFill>
                      <a:srgbClr val="FFFFFF"/>
                    </a:solidFill>
                  </a:tcPr>
                </a:tc>
                <a:tc>
                  <a:txBody>
                    <a:bodyPr wrap="square"/>
                    <a:lstStyle/>
                    <a:p>
                      <a:pPr algn="l"/>
                      <a:r>
                        <a:rPr sz="850" b="0">
                          <a:solidFill>
                            <a:srgbClr val="1C1C1E"/>
                          </a:solidFill>
                          <a:latin typeface="Calibri"/>
                        </a:rPr>
                        <a:t>training does not change the kernel, so a run declining to say which inhabitant it runs at produces a number attributable to nothing</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L-W9</a:t>
                      </a:r>
                    </a:p>
                  </a:txBody>
                  <a:tcPr marL="82296" marR="64008" marT="32004" marB="32004" anchor="ctr">
                    <a:solidFill>
                      <a:srgbClr val="F6F3EF"/>
                    </a:solidFill>
                  </a:tcPr>
                </a:tc>
                <a:tc>
                  <a:txBody>
                    <a:bodyPr wrap="square"/>
                    <a:lstStyle/>
                    <a:p>
                      <a:pPr algn="l"/>
                      <a:r>
                        <a:rPr sz="850" b="0">
                          <a:solidFill>
                            <a:srgbClr val="1C1C1E"/>
                          </a:solidFill>
                          <a:latin typeface="Calibri"/>
                        </a:rPr>
                        <a:t>a featureset read for training, unbounded in either clock</a:t>
                      </a:r>
                    </a:p>
                  </a:txBody>
                  <a:tcPr marL="82296" marR="64008" marT="32004" marB="32004" anchor="ctr">
                    <a:solidFill>
                      <a:srgbClr val="F6F3EF"/>
                    </a:solidFill>
                  </a:tcPr>
                </a:tc>
                <a:tc>
                  <a:txBody>
                    <a:bodyPr wrap="square"/>
                    <a:lstStyle/>
                    <a:p>
                      <a:pPr algn="l"/>
                      <a:r>
                        <a:rPr sz="850" b="0">
                          <a:solidFill>
                            <a:srgbClr val="1C1C1E"/>
                          </a:solidFill>
                          <a:latin typeface="Calibri"/>
                        </a:rPr>
                        <a:t>the set fixes the columns; the warrant must fix the period</a:t>
                      </a:r>
                    </a:p>
                  </a:txBody>
                  <a:tcPr marL="82296" marR="64008" marT="32004" marB="32004" anchor="ctr">
                    <a:solidFill>
                      <a:srgbClr val="F6F3EF"/>
                    </a:solidFill>
                  </a:tcPr>
                </a:tc>
              </a:tr>
              <a:tr h="436041">
                <a:tc>
                  <a:txBody>
                    <a:bodyPr wrap="square"/>
                    <a:lstStyle/>
                    <a:p>
                      <a:pPr algn="l"/>
                      <a:r>
                        <a:rPr sz="850" b="1">
                          <a:solidFill>
                            <a:srgbClr val="A51C30"/>
                          </a:solidFill>
                          <a:latin typeface="Calibri"/>
                        </a:rPr>
                        <a:t>L-W10</a:t>
                      </a:r>
                    </a:p>
                  </a:txBody>
                  <a:tcPr marL="82296" marR="64008" marT="32004" marB="32004" anchor="ctr">
                    <a:solidFill>
                      <a:srgbClr val="FFFFFF"/>
                    </a:solidFill>
                  </a:tcPr>
                </a:tc>
                <a:tc>
                  <a:txBody>
                    <a:bodyPr wrap="square"/>
                    <a:lstStyle/>
                    <a:p>
                      <a:pPr algn="l"/>
                      <a:r>
                        <a:rPr sz="850" b="0">
                          <a:solidFill>
                            <a:srgbClr val="1C1C1E"/>
                          </a:solidFill>
                          <a:latin typeface="Calibri"/>
                        </a:rPr>
                        <a:t>a featureset that does not provide what the kernel reads</a:t>
                      </a:r>
                    </a:p>
                  </a:txBody>
                  <a:tcPr marL="82296" marR="64008" marT="32004" marB="32004" anchor="ctr">
                    <a:solidFill>
                      <a:srgbClr val="FFFFFF"/>
                    </a:solidFill>
                  </a:tcPr>
                </a:tc>
                <a:tc>
                  <a:txBody>
                    <a:bodyPr wrap="square"/>
                    <a:lstStyle/>
                    <a:p>
                      <a:pPr algn="l"/>
                      <a:r>
                        <a:rPr sz="850" b="0">
                          <a:solidFill>
                            <a:srgbClr val="1C1C1E"/>
                          </a:solidFill>
                          <a:latin typeface="Calibri"/>
                        </a:rPr>
                        <a:t>contravariance in inputs — L-12, one level out. Checked at issuance: it needs the register, not the document</a:t>
                      </a:r>
                    </a:p>
                  </a:txBody>
                  <a:tcPr marL="82296" marR="64008" marT="32004" marB="32004" anchor="ctr">
                    <a:solidFill>
                      <a:srgbClr val="FFFFFF"/>
                    </a:solidFill>
                  </a:tcPr>
                </a:tc>
              </a:tr>
            </a:tbl>
          </a:graphicData>
        </a:graphic>
      </p:graphicFrame>
      <p:sp>
        <p:nvSpPr>
          <p:cNvPr id="12" name="TextBox 11"/>
          <p:cNvSpPr txBox="1"/>
          <p:nvPr/>
        </p:nvSpPr>
        <p:spPr>
          <a:xfrm>
            <a:off x="777240" y="5922073"/>
            <a:ext cx="10637215" cy="402336"/>
          </a:xfrm>
          <a:prstGeom prst="rect">
            <a:avLst/>
          </a:prstGeom>
          <a:noFill/>
        </p:spPr>
        <p:txBody>
          <a:bodyPr wrap="square" lIns="0" rIns="0" tIns="0" bIns="0" anchor="t">
            <a:spAutoFit/>
          </a:bodyPr>
          <a:lstStyle/>
          <a:p>
            <a:pPr algn="l">
              <a:lnSpc>
                <a:spcPct val="118000"/>
              </a:lnSpc>
              <a:spcBef>
                <a:spcPts val="0"/>
              </a:spcBef>
              <a:spcAft>
                <a:spcPts val="0"/>
              </a:spcAft>
            </a:pPr>
            <a:r>
              <a:rPr sz="950" b="1" i="0">
                <a:solidFill>
                  <a:srgbClr val="A51C30"/>
                </a:solidFill>
                <a:latin typeface="Calibri"/>
              </a:rPr>
              <a:t>Validated before signed, never after. </a:t>
            </a:r>
            <a:r>
              <a:rPr sz="950" b="0" i="0">
                <a:solidFill>
                  <a:srgbClr val="1C1C1E"/>
                </a:solidFill>
                <a:latin typeface="Calibri"/>
              </a:rPr>
              <a:t>A signature over a non-conforming document would assure it is authentic and not that it is usable, and an engine would read it as both. </a:t>
            </a:r>
            <a:r>
              <a:rPr sz="950" b="1" i="0">
                <a:solidFill>
                  <a:srgbClr val="1C1C1E"/>
                </a:solidFill>
                <a:latin typeface="Calibri"/>
              </a:rPr>
              <a:t>L-W8 caught a real error in a shipped example the day it was written.</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THE HOT PATH</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Warrant resolution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115</a:t>
            </a:r>
          </a:p>
        </p:txBody>
      </p:sp>
      <p:sp>
        <p:nvSpPr>
          <p:cNvPr id="10" name="Rectangle 9"/>
          <p:cNvSpPr/>
          <p:nvPr/>
        </p:nvSpPr>
        <p:spPr>
          <a:xfrm>
            <a:off x="777240" y="1353312"/>
            <a:ext cx="6382329" cy="384765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84765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6016569"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core/execution/warrants.py</a:t>
            </a:r>
          </a:p>
        </p:txBody>
      </p:sp>
      <p:sp>
        <p:nvSpPr>
          <p:cNvPr id="13" name="TextBox 12"/>
          <p:cNvSpPr txBox="1"/>
          <p:nvPr/>
        </p:nvSpPr>
        <p:spPr>
          <a:xfrm>
            <a:off x="978408" y="1746504"/>
            <a:ext cx="6016569" cy="3372170"/>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def resolve(req) -&gt; WarrantDescriptor:</a:t>
            </a:r>
          </a:p>
          <a:p>
            <a:pPr>
              <a:lnSpc>
                <a:spcPct val="134000"/>
              </a:lnSpc>
              <a:spcBef>
                <a:spcPts val="0"/>
              </a:spcBef>
              <a:spcAft>
                <a:spcPts val="0"/>
              </a:spcAft>
            </a:pPr>
            <a:r>
              <a:rPr sz="900" b="0" i="0">
                <a:solidFill>
                  <a:srgbClr val="1C1C1E"/>
                </a:solidFill>
                <a:latin typeface="Consolas"/>
              </a:rPr>
              <a:t>    principal = authn.verify(req.token)      # workload identity</a:t>
            </a:r>
          </a:p>
          <a:p>
            <a:pPr>
              <a:lnSpc>
                <a:spcPct val="134000"/>
              </a:lnSpc>
              <a:spcBef>
                <a:spcPts val="0"/>
              </a:spcBef>
              <a:spcAft>
                <a:spcPts val="0"/>
              </a:spcAft>
            </a:pPr>
            <a:r>
              <a:rPr sz="900" b="0" i="0">
                <a:solidFill>
                  <a:srgbClr val="1C1C1E"/>
                </a:solidFill>
                <a:latin typeface="Consolas"/>
              </a:rPr>
              <a:t>    key = (req.urn, principal.id, req.environment, req.declared_use_id)</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    if (d := local_lru.get(key)) and d.fresh(): return d</a:t>
            </a:r>
          </a:p>
          <a:p>
            <a:pPr>
              <a:lnSpc>
                <a:spcPct val="134000"/>
              </a:lnSpc>
              <a:spcBef>
                <a:spcPts val="0"/>
              </a:spcBef>
              <a:spcAft>
                <a:spcPts val="0"/>
              </a:spcAft>
            </a:pPr>
            <a:r>
              <a:rPr sz="900" b="0" i="0">
                <a:solidFill>
                  <a:srgbClr val="1C1C1E"/>
                </a:solidFill>
                <a:latin typeface="Consolas"/>
              </a:rPr>
              <a:t>    if revocations.contains(d): raise Revoked(...)   # floor beats every cache</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    with singleflight(key):                  # coalesce concurrent misses</a:t>
            </a:r>
          </a:p>
          <a:p>
            <a:pPr>
              <a:lnSpc>
                <a:spcPct val="134000"/>
              </a:lnSpc>
              <a:spcBef>
                <a:spcPts val="0"/>
              </a:spcBef>
              <a:spcAft>
                <a:spcPts val="0"/>
              </a:spcAft>
            </a:pPr>
            <a:r>
              <a:rPr sz="900" b="0" i="0">
                <a:solidFill>
                  <a:srgbClr val="1C1C1E"/>
                </a:solidFill>
                <a:latin typeface="Consolas"/>
              </a:rPr>
              <a:t>        row = warrant_projection.get(req.urn, req.environment)  # ONLY table read</a:t>
            </a:r>
          </a:p>
          <a:p>
            <a:pPr>
              <a:lnSpc>
                <a:spcPct val="134000"/>
              </a:lnSpc>
              <a:spcBef>
                <a:spcPts val="0"/>
              </a:spcBef>
              <a:spcAft>
                <a:spcPts val="0"/>
              </a:spcAft>
            </a:pPr>
            <a:r>
              <a:rPr sz="900" b="0" i="0">
                <a:solidFill>
                  <a:srgbClr val="1C1C1E"/>
                </a:solidFill>
                <a:latin typeface="Consolas"/>
              </a:rPr>
              <a:t>        if row.revoked:                     raise Revoked(...)</a:t>
            </a:r>
          </a:p>
          <a:p>
            <a:pPr>
              <a:lnSpc>
                <a:spcPct val="134000"/>
              </a:lnSpc>
              <a:spcBef>
                <a:spcPts val="0"/>
              </a:spcBef>
              <a:spcAft>
                <a:spcPts val="0"/>
              </a:spcAft>
            </a:pPr>
            <a:r>
              <a:rPr sz="900" b="0" i="0">
                <a:solidFill>
                  <a:srgbClr val="1C1C1E"/>
                </a:solidFill>
                <a:latin typeface="Consolas"/>
              </a:rPr>
              <a:t>        ent = row.entitlements.get(principal.id)</a:t>
            </a:r>
          </a:p>
          <a:p>
            <a:pPr>
              <a:lnSpc>
                <a:spcPct val="134000"/>
              </a:lnSpc>
              <a:spcBef>
                <a:spcPts val="0"/>
              </a:spcBef>
              <a:spcAft>
                <a:spcPts val="0"/>
              </a:spcAft>
            </a:pPr>
            <a:r>
              <a:rPr sz="900" b="0" i="0">
                <a:solidFill>
                  <a:srgbClr val="1C1C1E"/>
                </a:solidFill>
                <a:latin typeface="Consolas"/>
              </a:rPr>
              <a:t>        if ent is None or ent.model_use_id != req.declared_use_id:</a:t>
            </a:r>
          </a:p>
          <a:p>
            <a:pPr>
              <a:lnSpc>
                <a:spcPct val="134000"/>
              </a:lnSpc>
              <a:spcBef>
                <a:spcPts val="0"/>
              </a:spcBef>
              <a:spcAft>
                <a:spcPts val="0"/>
              </a:spcAft>
            </a:pPr>
            <a:r>
              <a:rPr sz="900" b="0" i="0">
                <a:solidFill>
                  <a:srgbClr val="1C1C1E"/>
                </a:solidFill>
                <a:latin typeface="Consolas"/>
              </a:rPr>
              <a:t>                                            raise NoEntitlement(...)</a:t>
            </a:r>
          </a:p>
          <a:p>
            <a:pPr>
              <a:lnSpc>
                <a:spcPct val="134000"/>
              </a:lnSpc>
              <a:spcBef>
                <a:spcPts val="0"/>
              </a:spcBef>
              <a:spcAft>
                <a:spcPts val="0"/>
              </a:spcAft>
            </a:pPr>
            <a:r>
              <a:rPr sz="900" b="0" i="0">
                <a:solidFill>
                  <a:srgbClr val="1C1C1E"/>
                </a:solidFill>
                <a:latin typeface="Consolas"/>
              </a:rPr>
              <a:t>        if row.governance_snapshot.blocking_findings: raise Restricted(...)</a:t>
            </a:r>
          </a:p>
          <a:p>
            <a:pPr>
              <a:lnSpc>
                <a:spcPct val="134000"/>
              </a:lnSpc>
              <a:spcBef>
                <a:spcPts val="0"/>
              </a:spcBef>
              <a:spcAft>
                <a:spcPts val="0"/>
              </a:spcAft>
            </a:pPr>
            <a:r>
              <a:rPr sz="900" b="0" i="0">
                <a:solidFill>
                  <a:srgbClr val="1C1C1E"/>
                </a:solidFill>
                <a:latin typeface="Consolas"/>
              </a:rPr>
              <a:t>        d = sign(build_descriptor(row, ent, req))</a:t>
            </a:r>
          </a:p>
          <a:p>
            <a:pPr>
              <a:lnSpc>
                <a:spcPct val="134000"/>
              </a:lnSpc>
              <a:spcBef>
                <a:spcPts val="0"/>
              </a:spcBef>
              <a:spcAft>
                <a:spcPts val="0"/>
              </a:spcAft>
            </a:pPr>
            <a:r>
              <a:rPr sz="900" b="0" i="0">
                <a:solidFill>
                  <a:srgbClr val="1C1C1E"/>
                </a:solidFill>
                <a:latin typeface="Consolas"/>
              </a:rPr>
              <a:t>        redis.setex(key, ttl_with_jitter(row.tier), d)</a:t>
            </a:r>
          </a:p>
          <a:p>
            <a:pPr>
              <a:lnSpc>
                <a:spcPct val="134000"/>
              </a:lnSpc>
              <a:spcBef>
                <a:spcPts val="0"/>
              </a:spcBef>
              <a:spcAft>
                <a:spcPts val="0"/>
              </a:spcAft>
            </a:pPr>
            <a:r>
              <a:rPr sz="900" b="0" i="0">
                <a:solidFill>
                  <a:srgbClr val="1C1C1E"/>
                </a:solidFill>
                <a:latin typeface="Consolas"/>
              </a:rPr>
              <a:t>    return d</a:t>
            </a:r>
          </a:p>
        </p:txBody>
      </p:sp>
      <p:sp>
        <p:nvSpPr>
          <p:cNvPr id="14" name="TextBox 13"/>
          <p:cNvSpPr txBox="1"/>
          <p:nvPr/>
        </p:nvSpPr>
        <p:spPr>
          <a:xfrm>
            <a:off x="7585057" y="1353312"/>
            <a:ext cx="3829397" cy="338328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How p99 &lt; 50 ms is met</a:t>
            </a:r>
          </a:p>
          <a:p>
            <a:pPr>
              <a:spcBef>
                <a:spcPts val="700"/>
              </a:spcBef>
              <a:spcAft>
                <a:spcPts val="300"/>
              </a:spcAft>
            </a:pPr>
            <a:r>
              <a:rPr sz="1100" b="1">
                <a:solidFill>
                  <a:srgbClr val="A51C30"/>
                </a:solidFill>
                <a:latin typeface="Calibri"/>
              </a:rPr>
              <a:t>▪  </a:t>
            </a:r>
            <a:r>
              <a:rPr sz="1100" b="1">
                <a:solidFill>
                  <a:srgbClr val="1C1C1E"/>
                </a:solidFill>
                <a:latin typeface="Calibri"/>
              </a:rPr>
              <a:t>Never touch the primary</a:t>
            </a:r>
          </a:p>
          <a:p>
            <a:pPr lvl="1">
              <a:spcBef>
                <a:spcPts val="0"/>
              </a:spcBef>
              <a:spcAft>
                <a:spcPts val="0"/>
              </a:spcAft>
            </a:pPr>
            <a:r>
              <a:rPr sz="950">
                <a:solidFill>
                  <a:srgbClr val="4A4F57"/>
                </a:solidFill>
                <a:latin typeface="Calibri"/>
              </a:rPr>
              <a:t>warrant_projection is served from a read replica — and it is the ONLY table this service knows</a:t>
            </a:r>
          </a:p>
          <a:p>
            <a:pPr>
              <a:spcBef>
                <a:spcPts val="700"/>
              </a:spcBef>
              <a:spcAft>
                <a:spcPts val="300"/>
              </a:spcAft>
            </a:pPr>
            <a:r>
              <a:rPr sz="1100" b="1">
                <a:solidFill>
                  <a:srgbClr val="A51C30"/>
                </a:solidFill>
                <a:latin typeface="Calibri"/>
              </a:rPr>
              <a:t>▪  </a:t>
            </a:r>
            <a:r>
              <a:rPr sz="1100" b="1">
                <a:solidFill>
                  <a:srgbClr val="1C1C1E"/>
                </a:solidFill>
                <a:latin typeface="Calibri"/>
              </a:rPr>
              <a:t>Common case is a Redis GET</a:t>
            </a:r>
          </a:p>
          <a:p>
            <a:pPr lvl="1">
              <a:spcBef>
                <a:spcPts val="0"/>
              </a:spcBef>
              <a:spcAft>
                <a:spcPts val="0"/>
              </a:spcAft>
            </a:pPr>
            <a:r>
              <a:rPr sz="950">
                <a:solidFill>
                  <a:srgbClr val="4A4F57"/>
                </a:solidFill>
                <a:latin typeface="Calibri"/>
              </a:rPr>
              <a:t>plus one signature check — HMAC-SHA256 today, Ed25519 the production target</a:t>
            </a:r>
          </a:p>
          <a:p>
            <a:pPr>
              <a:spcBef>
                <a:spcPts val="700"/>
              </a:spcBef>
              <a:spcAft>
                <a:spcPts val="300"/>
              </a:spcAft>
            </a:pPr>
            <a:r>
              <a:rPr sz="1100" b="1">
                <a:solidFill>
                  <a:srgbClr val="A51C30"/>
                </a:solidFill>
                <a:latin typeface="Calibri"/>
              </a:rPr>
              <a:t>▪  </a:t>
            </a:r>
            <a:r>
              <a:rPr sz="1100" b="1">
                <a:solidFill>
                  <a:srgbClr val="1C1C1E"/>
                </a:solidFill>
                <a:latin typeface="Calibri"/>
              </a:rPr>
              <a:t>Two cache tiers</a:t>
            </a:r>
          </a:p>
          <a:p>
            <a:pPr lvl="1">
              <a:spcBef>
                <a:spcPts val="0"/>
              </a:spcBef>
              <a:spcAft>
                <a:spcPts val="0"/>
              </a:spcAft>
            </a:pPr>
            <a:r>
              <a:rPr sz="950">
                <a:solidFill>
                  <a:srgbClr val="4A4F57"/>
                </a:solidFill>
                <a:latin typeface="Calibri"/>
              </a:rPr>
              <a:t>in-process LRU in front of Redis</a:t>
            </a:r>
          </a:p>
          <a:p>
            <a:pPr>
              <a:spcBef>
                <a:spcPts val="700"/>
              </a:spcBef>
              <a:spcAft>
                <a:spcPts val="300"/>
              </a:spcAft>
            </a:pPr>
            <a:r>
              <a:rPr sz="1100" b="1">
                <a:solidFill>
                  <a:srgbClr val="A51C30"/>
                </a:solidFill>
                <a:latin typeface="Calibri"/>
              </a:rPr>
              <a:t>▪  </a:t>
            </a:r>
            <a:r>
              <a:rPr sz="1100" b="1">
                <a:solidFill>
                  <a:srgbClr val="1C1C1E"/>
                </a:solidFill>
                <a:latin typeface="Calibri"/>
              </a:rPr>
              <a:t>Schema decoupling</a:t>
            </a:r>
          </a:p>
          <a:p>
            <a:pPr lvl="1">
              <a:spcBef>
                <a:spcPts val="0"/>
              </a:spcBef>
              <a:spcAft>
                <a:spcPts val="0"/>
              </a:spcAft>
            </a:pPr>
            <a:r>
              <a:rPr sz="950">
                <a:solidFill>
                  <a:srgbClr val="4A4F57"/>
                </a:solidFill>
                <a:latin typeface="Calibri"/>
              </a:rPr>
              <a:t>the projection is a published contract with its own version, so a control-plane migration cannot break the one component that must never break</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THE TWO FAILURE MODES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Stampede control and revocation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116</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Stampede — a routine operation, not an incident</a:t>
            </a:r>
          </a:p>
        </p:txBody>
      </p:sp>
      <p:graphicFrame>
        <p:nvGraphicFramePr>
          <p:cNvPr id="11" name="Table 10"/>
          <p:cNvGraphicFramePr>
            <a:graphicFrameLocks noGrp="1"/>
          </p:cNvGraphicFramePr>
          <p:nvPr/>
        </p:nvGraphicFramePr>
        <p:xfrm>
          <a:off x="777240" y="1719072"/>
          <a:ext cx="4999490" cy="1820951"/>
        </p:xfrm>
        <a:graphic>
          <a:graphicData uri="http://schemas.openxmlformats.org/drawingml/2006/table">
            <a:tbl>
              <a:tblPr firstRow="1">
                <a:tableStyleId>{5C22544A-7EE6-4342-B048-85BDC9FD1C3A}</a:tableStyleId>
              </a:tblPr>
              <a:tblGrid>
                <a:gridCol w="1999796"/>
                <a:gridCol w="2999694"/>
              </a:tblGrid>
              <a:tr h="329184">
                <a:tc>
                  <a:txBody>
                    <a:bodyPr wrap="square"/>
                    <a:lstStyle/>
                    <a:p>
                      <a:pPr algn="l"/>
                      <a:r>
                        <a:rPr sz="1050" b="1">
                          <a:solidFill>
                            <a:srgbClr val="FFFFFF"/>
                          </a:solidFill>
                          <a:latin typeface="Calibri"/>
                        </a:rPr>
                        <a:t>Control</a:t>
                      </a:r>
                    </a:p>
                  </a:txBody>
                  <a:tcPr marL="82296" marR="64008" marT="32004" marB="32004" anchor="ctr">
                    <a:solidFill>
                      <a:srgbClr val="A51C30"/>
                    </a:solidFill>
                  </a:tcPr>
                </a:tc>
                <a:tc>
                  <a:txBody>
                    <a:bodyPr wrap="square"/>
                    <a:lstStyle/>
                    <a:p>
                      <a:pPr algn="l"/>
                      <a:r>
                        <a:rPr sz="1050" b="1">
                          <a:solidFill>
                            <a:srgbClr val="FFFFFF"/>
                          </a:solidFill>
                          <a:latin typeface="Calibri"/>
                        </a:rPr>
                        <a:t>What it prevents</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Pre-warm before invalidate</a:t>
                      </a:r>
                    </a:p>
                  </a:txBody>
                  <a:tcPr marL="82296" marR="64008" marT="32004" marB="32004" anchor="ctr">
                    <a:solidFill>
                      <a:srgbClr val="FFFFFF"/>
                    </a:solidFill>
                  </a:tcPr>
                </a:tc>
                <a:tc>
                  <a:txBody>
                    <a:bodyPr wrap="square"/>
                    <a:lstStyle/>
                    <a:p>
                      <a:pPr algn="l"/>
                      <a:r>
                        <a:rPr sz="1050" b="0">
                          <a:solidFill>
                            <a:srgbClr val="1C1C1E"/>
                          </a:solidFill>
                          <a:latin typeface="Calibri"/>
                        </a:rPr>
                        <a:t>The cache is never empty for a hot alias</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Single-flight coalescing</a:t>
                      </a:r>
                    </a:p>
                  </a:txBody>
                  <a:tcPr marL="82296" marR="64008" marT="32004" marB="32004" anchor="ctr">
                    <a:solidFill>
                      <a:srgbClr val="F6F3EF"/>
                    </a:solidFill>
                  </a:tcPr>
                </a:tc>
                <a:tc>
                  <a:txBody>
                    <a:bodyPr wrap="square"/>
                    <a:lstStyle/>
                    <a:p>
                      <a:pPr algn="l"/>
                      <a:r>
                        <a:rPr sz="1050" b="0">
                          <a:solidFill>
                            <a:srgbClr val="1C1C1E"/>
                          </a:solidFill>
                          <a:latin typeface="Calibri"/>
                        </a:rPr>
                        <a:t>N concurrent misses become one backend call</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TTL jitter ±20%</a:t>
                      </a:r>
                    </a:p>
                  </a:txBody>
                  <a:tcPr marL="82296" marR="64008" marT="32004" marB="32004" anchor="ctr">
                    <a:solidFill>
                      <a:srgbClr val="FFFFFF"/>
                    </a:solidFill>
                  </a:tcPr>
                </a:tc>
                <a:tc>
                  <a:txBody>
                    <a:bodyPr wrap="square"/>
                    <a:lstStyle/>
                    <a:p>
                      <a:pPr algn="l"/>
                      <a:r>
                        <a:rPr sz="1050" b="0">
                          <a:solidFill>
                            <a:srgbClr val="1C1C1E"/>
                          </a:solidFill>
                          <a:latin typeface="Calibri"/>
                        </a:rPr>
                        <a:t>Synchronised expiry across the fleet</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Stale-while-revalidate 5 s</a:t>
                      </a:r>
                    </a:p>
                  </a:txBody>
                  <a:tcPr marL="82296" marR="64008" marT="32004" marB="32004" anchor="ctr">
                    <a:solidFill>
                      <a:srgbClr val="F6F3EF"/>
                    </a:solidFill>
                  </a:tcPr>
                </a:tc>
                <a:tc>
                  <a:txBody>
                    <a:bodyPr wrap="square"/>
                    <a:lstStyle/>
                    <a:p>
                      <a:pPr algn="l"/>
                      <a:r>
                        <a:rPr sz="1050" b="0">
                          <a:solidFill>
                            <a:srgbClr val="1C1C1E"/>
                          </a:solidFill>
                          <a:latin typeface="Calibri"/>
                        </a:rPr>
                        <a:t>A latency cliff during rebuild</a:t>
                      </a:r>
                    </a:p>
                  </a:txBody>
                  <a:tcPr marL="82296" marR="64008" marT="32004" marB="32004" anchor="ctr">
                    <a:solidFill>
                      <a:srgbClr val="F6F3EF"/>
                    </a:solidFill>
                  </a:tcPr>
                </a:tc>
              </a:tr>
            </a:tbl>
          </a:graphicData>
        </a:graphic>
      </p:graphicFrame>
      <p:sp>
        <p:nvSpPr>
          <p:cNvPr id="12" name="TextBox 11"/>
          <p:cNvSpPr txBox="1"/>
          <p:nvPr/>
        </p:nvSpPr>
        <p:spPr>
          <a:xfrm>
            <a:off x="777240" y="3722903"/>
            <a:ext cx="4999491" cy="1280160"/>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A51C30"/>
                </a:solidFill>
                <a:latin typeface="Calibri"/>
              </a:rPr>
              <a:t>Why it matters. </a:t>
            </a:r>
            <a:r>
              <a:rPr sz="1150" b="0" i="0">
                <a:solidFill>
                  <a:srgbClr val="1C1C1E"/>
                </a:solidFill>
                <a:latin typeface="Calibri"/>
              </a:rPr>
              <a:t>An alias move on a model taking 14,000 requests/second causes every in-flight consumer to miss simultaneously. Without pre-warming, a governed, routine operation takes the database down.</a:t>
            </a:r>
          </a:p>
        </p:txBody>
      </p:sp>
      <p:sp>
        <p:nvSpPr>
          <p:cNvPr id="13" name="TextBox 12"/>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Revocation — four propagation paths</a:t>
            </a:r>
          </a:p>
        </p:txBody>
      </p:sp>
      <p:graphicFrame>
        <p:nvGraphicFramePr>
          <p:cNvPr id="14" name="Table 13"/>
          <p:cNvGraphicFramePr>
            <a:graphicFrameLocks noGrp="1"/>
          </p:cNvGraphicFramePr>
          <p:nvPr/>
        </p:nvGraphicFramePr>
        <p:xfrm>
          <a:off x="6414964" y="1719072"/>
          <a:ext cx="4999490" cy="1820951"/>
        </p:xfrm>
        <a:graphic>
          <a:graphicData uri="http://schemas.openxmlformats.org/drawingml/2006/table">
            <a:tbl>
              <a:tblPr firstRow="1">
                <a:tableStyleId>{5C22544A-7EE6-4342-B048-85BDC9FD1C3A}</a:tableStyleId>
              </a:tblPr>
              <a:tblGrid>
                <a:gridCol w="3635993"/>
                <a:gridCol w="1363497"/>
              </a:tblGrid>
              <a:tr h="329184">
                <a:tc>
                  <a:txBody>
                    <a:bodyPr wrap="square"/>
                    <a:lstStyle/>
                    <a:p>
                      <a:pPr algn="l"/>
                      <a:r>
                        <a:rPr sz="1050" b="1">
                          <a:solidFill>
                            <a:srgbClr val="FFFFFF"/>
                          </a:solidFill>
                          <a:latin typeface="Calibri"/>
                        </a:rPr>
                        <a:t>Path</a:t>
                      </a:r>
                    </a:p>
                  </a:txBody>
                  <a:tcPr marL="82296" marR="64008" marT="32004" marB="32004" anchor="ctr">
                    <a:solidFill>
                      <a:srgbClr val="A51C30"/>
                    </a:solidFill>
                  </a:tcPr>
                </a:tc>
                <a:tc>
                  <a:txBody>
                    <a:bodyPr wrap="square"/>
                    <a:lstStyle/>
                    <a:p>
                      <a:pPr algn="l"/>
                      <a:r>
                        <a:rPr sz="1050" b="1">
                          <a:solidFill>
                            <a:srgbClr val="FFFFFF"/>
                          </a:solidFill>
                          <a:latin typeface="Calibri"/>
                        </a:rPr>
                        <a:t>Latency</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Redis revocation set → resolvers fail closed</a:t>
                      </a:r>
                    </a:p>
                  </a:txBody>
                  <a:tcPr marL="82296" marR="64008" marT="32004" marB="32004" anchor="ctr">
                    <a:solidFill>
                      <a:srgbClr val="FFFFFF"/>
                    </a:solidFill>
                  </a:tcPr>
                </a:tc>
                <a:tc>
                  <a:txBody>
                    <a:bodyPr wrap="square"/>
                    <a:lstStyle/>
                    <a:p>
                      <a:pPr algn="l"/>
                      <a:r>
                        <a:rPr sz="1050" b="0">
                          <a:solidFill>
                            <a:srgbClr val="1C1C1E"/>
                          </a:solidFill>
                          <a:latin typeface="Calibri"/>
                        </a:rPr>
                        <a:t>immediate</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Kafka event → SDKs drop the descriptor</a:t>
                      </a:r>
                    </a:p>
                  </a:txBody>
                  <a:tcPr marL="82296" marR="64008" marT="32004" marB="32004" anchor="ctr">
                    <a:solidFill>
                      <a:srgbClr val="F6F3EF"/>
                    </a:solidFill>
                  </a:tcPr>
                </a:tc>
                <a:tc>
                  <a:txBody>
                    <a:bodyPr wrap="square"/>
                    <a:lstStyle/>
                    <a:p>
                      <a:pPr algn="l"/>
                      <a:r>
                        <a:rPr sz="1050" b="0">
                          <a:solidFill>
                            <a:srgbClr val="1C1C1E"/>
                          </a:solidFill>
                          <a:latin typeface="Calibri"/>
                        </a:rPr>
                        <a:t>≈ 1 s</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Epoch on every response → polling engines re-resolve</a:t>
                      </a:r>
                    </a:p>
                  </a:txBody>
                  <a:tcPr marL="82296" marR="64008" marT="32004" marB="32004" anchor="ctr">
                    <a:solidFill>
                      <a:srgbClr val="FFFFFF"/>
                    </a:solidFill>
                  </a:tcPr>
                </a:tc>
                <a:tc>
                  <a:txBody>
                    <a:bodyPr wrap="square"/>
                    <a:lstStyle/>
                    <a:p>
                      <a:pPr algn="l"/>
                      <a:r>
                        <a:rPr sz="1050" b="0">
                          <a:solidFill>
                            <a:srgbClr val="1C1C1E"/>
                          </a:solidFill>
                          <a:latin typeface="Calibri"/>
                        </a:rPr>
                        <a:t>≤ 30 s</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TTL expiry → fully partitioned engine</a:t>
                      </a:r>
                    </a:p>
                  </a:txBody>
                  <a:tcPr marL="82296" marR="64008" marT="32004" marB="32004" anchor="ctr">
                    <a:solidFill>
                      <a:srgbClr val="F6F3EF"/>
                    </a:solidFill>
                  </a:tcPr>
                </a:tc>
                <a:tc>
                  <a:txBody>
                    <a:bodyPr wrap="square"/>
                    <a:lstStyle/>
                    <a:p>
                      <a:pPr algn="l"/>
                      <a:r>
                        <a:rPr sz="1050" b="0">
                          <a:solidFill>
                            <a:srgbClr val="1C1C1E"/>
                          </a:solidFill>
                          <a:latin typeface="Calibri"/>
                        </a:rPr>
                        <a:t>≤ 60 s (Tier 1)</a:t>
                      </a:r>
                    </a:p>
                  </a:txBody>
                  <a:tcPr marL="82296" marR="64008" marT="32004" marB="32004" anchor="ctr">
                    <a:solidFill>
                      <a:srgbClr val="F6F3EF"/>
                    </a:solidFill>
                  </a:tcPr>
                </a:tc>
              </a:tr>
            </a:tbl>
          </a:graphicData>
        </a:graphic>
      </p:graphicFrame>
      <p:sp>
        <p:nvSpPr>
          <p:cNvPr id="15" name="Rectangle 14"/>
          <p:cNvSpPr/>
          <p:nvPr/>
        </p:nvSpPr>
        <p:spPr>
          <a:xfrm>
            <a:off x="6414964" y="3722903"/>
            <a:ext cx="4999491" cy="13716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414964" y="3722903"/>
            <a:ext cx="41148" cy="13716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652708" y="3850919"/>
            <a:ext cx="4542291" cy="114300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The revocation floor. </a:t>
            </a:r>
            <a:r>
              <a:rPr sz="1100" b="0" i="0">
                <a:solidFill>
                  <a:srgbClr val="1C1C1E"/>
                </a:solidFill>
                <a:latin typeface="Calibri"/>
              </a:rPr>
              <a:t>SDKs persist a local revocation list. A descriptor on that list is refused </a:t>
            </a:r>
            <a:r>
              <a:rPr sz="1100" b="1" i="0">
                <a:solidFill>
                  <a:srgbClr val="1C1C1E"/>
                </a:solidFill>
                <a:latin typeface="Calibri"/>
              </a:rPr>
              <a:t>regardless of grace state</a:t>
            </a:r>
            <a:r>
              <a:rPr sz="1100" b="0" i="0">
                <a:solidFill>
                  <a:srgbClr val="1C1C1E"/>
                </a:solidFill>
                <a:latin typeface="Calibri"/>
              </a:rPr>
              <a:t>. Grace extends authorisation currency; it never extends revocation ignorance. Tier 1 default grace is zero.</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EXECUTION · THE CAPABILITY NOBODY ELSE HAS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Approved use versus actual use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20 · The Execution Plane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117</a:t>
            </a:r>
          </a:p>
        </p:txBody>
      </p:sp>
      <p:sp>
        <p:nvSpPr>
          <p:cNvPr id="10" name="TextBox 9"/>
          <p:cNvSpPr txBox="1"/>
          <p:nvPr/>
        </p:nvSpPr>
        <p:spPr>
          <a:xfrm>
            <a:off x="777240" y="1353312"/>
            <a:ext cx="10637215" cy="411480"/>
          </a:xfrm>
          <a:prstGeom prst="rect">
            <a:avLst/>
          </a:prstGeom>
          <a:noFill/>
        </p:spPr>
        <p:txBody>
          <a:bodyPr wrap="square" lIns="0" rIns="0" tIns="0" bIns="0" anchor="t">
            <a:spAutoFit/>
          </a:bodyPr>
          <a:lstStyle/>
          <a:p>
            <a:pPr algn="l">
              <a:lnSpc>
                <a:spcPct val="128000"/>
              </a:lnSpc>
              <a:spcBef>
                <a:spcPts val="0"/>
              </a:spcBef>
              <a:spcAft>
                <a:spcPts val="0"/>
              </a:spcAft>
            </a:pPr>
            <a:r>
              <a:rPr sz="1250" b="0" i="0">
                <a:solidFill>
                  <a:srgbClr val="1C1C1E"/>
                </a:solidFill>
                <a:latin typeface="Calibri"/>
              </a:rPr>
              <a:t>SS1/23 asks the inventory to record intended use </a:t>
            </a:r>
            <a:r>
              <a:rPr sz="1250" b="1" i="1">
                <a:solidFill>
                  <a:srgbClr val="A51C30"/>
                </a:solidFill>
                <a:latin typeface="Calibri"/>
              </a:rPr>
              <a:t>compared to actual use</a:t>
            </a:r>
            <a:r>
              <a:rPr sz="1250" b="0" i="0">
                <a:solidFill>
                  <a:srgbClr val="1C1C1E"/>
                </a:solidFill>
                <a:latin typeface="Calibri"/>
              </a:rPr>
              <a:t>. Warrant telemetry makes that observable rather than aspirational. A nightly job compares the observed context distribution against approved model_use rows.</a:t>
            </a:r>
          </a:p>
        </p:txBody>
      </p:sp>
      <p:graphicFrame>
        <p:nvGraphicFramePr>
          <p:cNvPr id="11" name="Table 10"/>
          <p:cNvGraphicFramePr>
            <a:graphicFrameLocks noGrp="1"/>
          </p:cNvGraphicFramePr>
          <p:nvPr/>
        </p:nvGraphicFramePr>
        <p:xfrm>
          <a:off x="777240" y="1920240"/>
          <a:ext cx="10637214" cy="2418613"/>
        </p:xfrm>
        <a:graphic>
          <a:graphicData uri="http://schemas.openxmlformats.org/drawingml/2006/table">
            <a:tbl>
              <a:tblPr firstRow="1">
                <a:tableStyleId>{5C22544A-7EE6-4342-B048-85BDC9FD1C3A}</a:tableStyleId>
              </a:tblPr>
              <a:tblGrid>
                <a:gridCol w="2475903"/>
                <a:gridCol w="5135207"/>
                <a:gridCol w="3026104"/>
              </a:tblGrid>
              <a:tr h="333781">
                <a:tc>
                  <a:txBody>
                    <a:bodyPr wrap="square"/>
                    <a:lstStyle/>
                    <a:p>
                      <a:pPr algn="l"/>
                      <a:r>
                        <a:rPr sz="1100" b="1">
                          <a:solidFill>
                            <a:srgbClr val="FFFFFF"/>
                          </a:solidFill>
                          <a:latin typeface="Calibri"/>
                        </a:rPr>
                        <a:t>Exception</a:t>
                      </a:r>
                    </a:p>
                  </a:txBody>
                  <a:tcPr marL="82296" marR="64008" marT="32004" marB="32004" anchor="ctr">
                    <a:solidFill>
                      <a:srgbClr val="A51C30"/>
                    </a:solidFill>
                  </a:tcPr>
                </a:tc>
                <a:tc>
                  <a:txBody>
                    <a:bodyPr wrap="square"/>
                    <a:lstStyle/>
                    <a:p>
                      <a:pPr algn="l"/>
                      <a:r>
                        <a:rPr sz="1100" b="1">
                          <a:solidFill>
                            <a:srgbClr val="FFFFFF"/>
                          </a:solidFill>
                          <a:latin typeface="Calibri"/>
                        </a:rPr>
                        <a:t>Example</a:t>
                      </a:r>
                    </a:p>
                  </a:txBody>
                  <a:tcPr marL="82296" marR="64008" marT="32004" marB="32004" anchor="ctr">
                    <a:solidFill>
                      <a:srgbClr val="A51C30"/>
                    </a:solidFill>
                  </a:tcPr>
                </a:tc>
                <a:tc>
                  <a:txBody>
                    <a:bodyPr wrap="square"/>
                    <a:lstStyle/>
                    <a:p>
                      <a:pPr algn="l"/>
                      <a:r>
                        <a:rPr sz="1100" b="1">
                          <a:solidFill>
                            <a:srgbClr val="FFFFFF"/>
                          </a:solidFill>
                          <a:latin typeface="Calibri"/>
                        </a:rPr>
                        <a:t>Becomes</a:t>
                      </a:r>
                    </a:p>
                  </a:txBody>
                  <a:tcPr marL="82296" marR="64008" marT="32004" marB="32004" anchor="ctr">
                    <a:solidFill>
                      <a:srgbClr val="A51C30"/>
                    </a:solidFill>
                  </a:tcPr>
                </a:tc>
              </a:tr>
              <a:tr h="347472">
                <a:tc>
                  <a:txBody>
                    <a:bodyPr wrap="square"/>
                    <a:lstStyle/>
                    <a:p>
                      <a:pPr algn="l"/>
                      <a:r>
                        <a:rPr sz="1050" b="1">
                          <a:solidFill>
                            <a:srgbClr val="A51C30"/>
                          </a:solidFill>
                          <a:latin typeface="Calibri"/>
                        </a:rPr>
                        <a:t>Off-label portfolio</a:t>
                      </a:r>
                    </a:p>
                  </a:txBody>
                  <a:tcPr marL="82296" marR="64008" marT="32004" marB="32004" anchor="ctr">
                    <a:solidFill>
                      <a:srgbClr val="FFFFFF"/>
                    </a:solidFill>
                  </a:tcPr>
                </a:tc>
                <a:tc>
                  <a:txBody>
                    <a:bodyPr wrap="square"/>
                    <a:lstStyle/>
                    <a:p>
                      <a:pPr algn="l"/>
                      <a:r>
                        <a:rPr sz="1050" b="0">
                          <a:solidFill>
                            <a:srgbClr val="1C1C1E"/>
                          </a:solidFill>
                          <a:latin typeface="Calibri"/>
                        </a:rPr>
                        <a:t>223 calls for a portfolio that is not an approved use</a:t>
                      </a:r>
                    </a:p>
                  </a:txBody>
                  <a:tcPr marL="82296" marR="64008" marT="32004" marB="32004" anchor="ctr">
                    <a:solidFill>
                      <a:srgbClr val="FFFFFF"/>
                    </a:solidFill>
                  </a:tcPr>
                </a:tc>
                <a:tc>
                  <a:txBody>
                    <a:bodyPr wrap="square"/>
                    <a:lstStyle/>
                    <a:p>
                      <a:pPr algn="l"/>
                      <a:r>
                        <a:rPr sz="1050" b="0">
                          <a:solidFill>
                            <a:srgbClr val="1C1C1E"/>
                          </a:solidFill>
                          <a:latin typeface="Calibri"/>
                        </a:rPr>
                        <a:t>Finding, owner, due date</a:t>
                      </a:r>
                    </a:p>
                  </a:txBody>
                  <a:tcPr marL="82296" marR="64008" marT="32004" marB="32004" anchor="ctr">
                    <a:solidFill>
                      <a:srgbClr val="FFFFFF"/>
                    </a:solidFill>
                  </a:tcPr>
                </a:tc>
              </a:tr>
              <a:tr h="347472">
                <a:tc>
                  <a:txBody>
                    <a:bodyPr wrap="square"/>
                    <a:lstStyle/>
                    <a:p>
                      <a:pPr algn="l"/>
                      <a:r>
                        <a:rPr sz="1050" b="1">
                          <a:solidFill>
                            <a:srgbClr val="A51C30"/>
                          </a:solidFill>
                          <a:latin typeface="Calibri"/>
                        </a:rPr>
                        <a:t>Unapproved geography</a:t>
                      </a:r>
                    </a:p>
                  </a:txBody>
                  <a:tcPr marL="82296" marR="64008" marT="32004" marB="32004" anchor="ctr">
                    <a:solidFill>
                      <a:srgbClr val="F6F3EF"/>
                    </a:solidFill>
                  </a:tcPr>
                </a:tc>
                <a:tc>
                  <a:txBody>
                    <a:bodyPr wrap="square"/>
                    <a:lstStyle/>
                    <a:p>
                      <a:pPr algn="l"/>
                      <a:r>
                        <a:rPr sz="1050" b="0">
                          <a:solidFill>
                            <a:srgbClr val="1C1C1E"/>
                          </a:solidFill>
                          <a:latin typeface="Calibri"/>
                        </a:rPr>
                        <a:t>Calls originating outside the approval's scope</a:t>
                      </a:r>
                    </a:p>
                  </a:txBody>
                  <a:tcPr marL="82296" marR="64008" marT="32004" marB="32004" anchor="ctr">
                    <a:solidFill>
                      <a:srgbClr val="F6F3EF"/>
                    </a:solidFill>
                  </a:tcPr>
                </a:tc>
                <a:tc>
                  <a:txBody>
                    <a:bodyPr wrap="square"/>
                    <a:lstStyle/>
                    <a:p>
                      <a:pPr algn="l"/>
                      <a:r>
                        <a:rPr sz="1050" b="0">
                          <a:solidFill>
                            <a:srgbClr val="1C1C1E"/>
                          </a:solidFill>
                          <a:latin typeface="Calibri"/>
                        </a:rPr>
                        <a:t>Finding + scope review</a:t>
                      </a:r>
                    </a:p>
                  </a:txBody>
                  <a:tcPr marL="82296" marR="64008" marT="32004" marB="32004" anchor="ctr">
                    <a:solidFill>
                      <a:srgbClr val="F6F3EF"/>
                    </a:solidFill>
                  </a:tcPr>
                </a:tc>
              </a:tr>
              <a:tr h="347472">
                <a:tc>
                  <a:txBody>
                    <a:bodyPr wrap="square"/>
                    <a:lstStyle/>
                    <a:p>
                      <a:pPr algn="l"/>
                      <a:r>
                        <a:rPr sz="1050" b="1">
                          <a:solidFill>
                            <a:srgbClr val="A51C30"/>
                          </a:solidFill>
                          <a:latin typeface="Calibri"/>
                        </a:rPr>
                        <a:t>Volume anomaly</a:t>
                      </a:r>
                    </a:p>
                  </a:txBody>
                  <a:tcPr marL="82296" marR="64008" marT="32004" marB="32004" anchor="ctr">
                    <a:solidFill>
                      <a:srgbClr val="FFFFFF"/>
                    </a:solidFill>
                  </a:tcPr>
                </a:tc>
                <a:tc>
                  <a:txBody>
                    <a:bodyPr wrap="square"/>
                    <a:lstStyle/>
                    <a:p>
                      <a:pPr algn="l"/>
                      <a:r>
                        <a:rPr sz="1050" b="0">
                          <a:solidFill>
                            <a:srgbClr val="1C1C1E"/>
                          </a:solidFill>
                          <a:latin typeface="Calibri"/>
                        </a:rPr>
                        <a:t>40× expected daily volume — suggests a new, unassessed use</a:t>
                      </a:r>
                    </a:p>
                  </a:txBody>
                  <a:tcPr marL="82296" marR="64008" marT="32004" marB="32004" anchor="ctr">
                    <a:solidFill>
                      <a:srgbClr val="FFFFFF"/>
                    </a:solidFill>
                  </a:tcPr>
                </a:tc>
                <a:tc>
                  <a:txBody>
                    <a:bodyPr wrap="square"/>
                    <a:lstStyle/>
                    <a:p>
                      <a:pPr algn="l"/>
                      <a:r>
                        <a:rPr sz="1050" b="0">
                          <a:solidFill>
                            <a:srgbClr val="1C1C1E"/>
                          </a:solidFill>
                          <a:latin typeface="Calibri"/>
                        </a:rPr>
                        <a:t>Investigation task</a:t>
                      </a:r>
                    </a:p>
                  </a:txBody>
                  <a:tcPr marL="82296" marR="64008" marT="32004" marB="32004" anchor="ctr">
                    <a:solidFill>
                      <a:srgbClr val="FFFFFF"/>
                    </a:solidFill>
                  </a:tcPr>
                </a:tc>
              </a:tr>
              <a:tr h="347472">
                <a:tc>
                  <a:txBody>
                    <a:bodyPr wrap="square"/>
                    <a:lstStyle/>
                    <a:p>
                      <a:pPr algn="l"/>
                      <a:r>
                        <a:rPr sz="1050" b="1">
                          <a:solidFill>
                            <a:srgbClr val="A51C30"/>
                          </a:solidFill>
                          <a:latin typeface="Calibri"/>
                        </a:rPr>
                        <a:t>Boundary violation rate</a:t>
                      </a:r>
                    </a:p>
                  </a:txBody>
                  <a:tcPr marL="82296" marR="64008" marT="32004" marB="32004" anchor="ctr">
                    <a:solidFill>
                      <a:srgbClr val="F6F3EF"/>
                    </a:solidFill>
                  </a:tcPr>
                </a:tc>
                <a:tc>
                  <a:txBody>
                    <a:bodyPr wrap="square"/>
                    <a:lstStyle/>
                    <a:p>
                      <a:pPr algn="l"/>
                      <a:r>
                        <a:rPr sz="1050" b="0">
                          <a:solidFill>
                            <a:srgbClr val="1C1C1E"/>
                          </a:solidFill>
                          <a:latin typeface="Calibri"/>
                        </a:rPr>
                        <a:t>0.26% of inputs outside declared operating boundaries</a:t>
                      </a:r>
                    </a:p>
                  </a:txBody>
                  <a:tcPr marL="82296" marR="64008" marT="32004" marB="32004" anchor="ctr">
                    <a:solidFill>
                      <a:srgbClr val="F6F3EF"/>
                    </a:solidFill>
                  </a:tcPr>
                </a:tc>
                <a:tc>
                  <a:txBody>
                    <a:bodyPr wrap="square"/>
                    <a:lstStyle/>
                    <a:p>
                      <a:pPr algn="l"/>
                      <a:r>
                        <a:rPr sz="1050" b="0">
                          <a:solidFill>
                            <a:srgbClr val="1C1C1E"/>
                          </a:solidFill>
                          <a:latin typeface="Calibri"/>
                        </a:rPr>
                        <a:t>Contract assumption A is failing</a:t>
                      </a:r>
                    </a:p>
                  </a:txBody>
                  <a:tcPr marL="82296" marR="64008" marT="32004" marB="32004" anchor="ctr">
                    <a:solidFill>
                      <a:srgbClr val="F6F3EF"/>
                    </a:solidFill>
                  </a:tcPr>
                </a:tc>
              </a:tr>
              <a:tr h="347472">
                <a:tc>
                  <a:txBody>
                    <a:bodyPr wrap="square"/>
                    <a:lstStyle/>
                    <a:p>
                      <a:pPr algn="l"/>
                      <a:r>
                        <a:rPr sz="1050" b="1">
                          <a:solidFill>
                            <a:srgbClr val="A51C30"/>
                          </a:solidFill>
                          <a:latin typeface="Calibri"/>
                        </a:rPr>
                        <a:t>Dormant approval</a:t>
                      </a:r>
                    </a:p>
                  </a:txBody>
                  <a:tcPr marL="82296" marR="64008" marT="32004" marB="32004" anchor="ctr">
                    <a:solidFill>
                      <a:srgbClr val="FFFFFF"/>
                    </a:solidFill>
                  </a:tcPr>
                </a:tc>
                <a:tc>
                  <a:txBody>
                    <a:bodyPr wrap="square"/>
                    <a:lstStyle/>
                    <a:p>
                      <a:pPr algn="l"/>
                      <a:r>
                        <a:rPr sz="1050" b="0">
                          <a:solidFill>
                            <a:srgbClr val="1C1C1E"/>
                          </a:solidFill>
                          <a:latin typeface="Calibri"/>
                        </a:rPr>
                        <a:t>An approved use with zero calls for 180 days</a:t>
                      </a:r>
                    </a:p>
                  </a:txBody>
                  <a:tcPr marL="82296" marR="64008" marT="32004" marB="32004" anchor="ctr">
                    <a:solidFill>
                      <a:srgbClr val="FFFFFF"/>
                    </a:solidFill>
                  </a:tcPr>
                </a:tc>
                <a:tc>
                  <a:txBody>
                    <a:bodyPr wrap="square"/>
                    <a:lstStyle/>
                    <a:p>
                      <a:pPr algn="l"/>
                      <a:r>
                        <a:rPr sz="1050" b="0">
                          <a:solidFill>
                            <a:srgbClr val="1C1C1E"/>
                          </a:solidFill>
                          <a:latin typeface="Calibri"/>
                        </a:rPr>
                        <a:t>Candidate for withdrawal</a:t>
                      </a:r>
                    </a:p>
                  </a:txBody>
                  <a:tcPr marL="82296" marR="64008" marT="32004" marB="32004" anchor="ctr">
                    <a:solidFill>
                      <a:srgbClr val="FFFFFF"/>
                    </a:solidFill>
                  </a:tcPr>
                </a:tc>
              </a:tr>
              <a:tr h="347472">
                <a:tc>
                  <a:txBody>
                    <a:bodyPr wrap="square"/>
                    <a:lstStyle/>
                    <a:p>
                      <a:pPr algn="l"/>
                      <a:r>
                        <a:rPr sz="1050" b="1">
                          <a:solidFill>
                            <a:srgbClr val="A51C30"/>
                          </a:solidFill>
                          <a:latin typeface="Calibri"/>
                        </a:rPr>
                        <a:t>Undeclared consumer</a:t>
                      </a:r>
                    </a:p>
                  </a:txBody>
                  <a:tcPr marL="82296" marR="64008" marT="32004" marB="32004" anchor="ctr">
                    <a:solidFill>
                      <a:srgbClr val="F6F3EF"/>
                    </a:solidFill>
                  </a:tcPr>
                </a:tc>
                <a:tc>
                  <a:txBody>
                    <a:bodyPr wrap="square"/>
                    <a:lstStyle/>
                    <a:p>
                      <a:pPr algn="l"/>
                      <a:r>
                        <a:rPr sz="1050" b="0">
                          <a:solidFill>
                            <a:srgbClr val="1C1C1E"/>
                          </a:solidFill>
                          <a:latin typeface="Calibri"/>
                        </a:rPr>
                        <a:t>A new principal resolving the warrant</a:t>
                      </a:r>
                    </a:p>
                  </a:txBody>
                  <a:tcPr marL="82296" marR="64008" marT="32004" marB="32004" anchor="ctr">
                    <a:solidFill>
                      <a:srgbClr val="F6F3EF"/>
                    </a:solidFill>
                  </a:tcPr>
                </a:tc>
                <a:tc>
                  <a:txBody>
                    <a:bodyPr wrap="square"/>
                    <a:lstStyle/>
                    <a:p>
                      <a:pPr algn="l"/>
                      <a:r>
                        <a:rPr sz="1050" b="0">
                          <a:solidFill>
                            <a:srgbClr val="1C1C1E"/>
                          </a:solidFill>
                          <a:latin typeface="Calibri"/>
                        </a:rPr>
                        <a:t>Entitlement review</a:t>
                      </a:r>
                    </a:p>
                  </a:txBody>
                  <a:tcPr marL="82296" marR="64008" marT="32004" marB="32004" anchor="ctr">
                    <a:solidFill>
                      <a:srgbClr val="F6F3EF"/>
                    </a:solidFill>
                  </a:tcPr>
                </a:tc>
              </a:tr>
            </a:tbl>
          </a:graphicData>
        </a:graphic>
      </p:graphicFrame>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21</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Machine Assistance</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Where AI does the work, where it may not, and why that is structural.</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capability contract</a:t>
            </a:r>
          </a:p>
          <a:p>
            <a:pPr>
              <a:lnSpc>
                <a:spcPct val="115000"/>
              </a:lnSpc>
              <a:spcBef>
                <a:spcPts val="0"/>
              </a:spcBef>
              <a:spcAft>
                <a:spcPts val="700"/>
              </a:spcAft>
            </a:pPr>
            <a:r>
              <a:rPr sz="1150" b="0" i="0">
                <a:solidFill>
                  <a:srgbClr val="F6E6E9"/>
                </a:solidFill>
                <a:latin typeface="Calibri"/>
              </a:rPr>
              <a:t>The grounding gate</a:t>
            </a:r>
          </a:p>
          <a:p>
            <a:pPr>
              <a:lnSpc>
                <a:spcPct val="115000"/>
              </a:lnSpc>
              <a:spcBef>
                <a:spcPts val="0"/>
              </a:spcBef>
              <a:spcAft>
                <a:spcPts val="700"/>
              </a:spcAft>
            </a:pPr>
            <a:r>
              <a:rPr sz="1150" b="0" i="0">
                <a:solidFill>
                  <a:srgbClr val="F6E6E9"/>
                </a:solidFill>
                <a:latin typeface="Calibri"/>
              </a:rPr>
              <a:t>Structural prohibition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MACHINE ASSISTANCE · DESIGN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capability contract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21 · Machine Assistance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119</a:t>
            </a:r>
          </a:p>
        </p:txBody>
      </p:sp>
      <p:sp>
        <p:nvSpPr>
          <p:cNvPr id="10" name="Rectangle 9"/>
          <p:cNvSpPr/>
          <p:nvPr/>
        </p:nvSpPr>
        <p:spPr>
          <a:xfrm>
            <a:off x="777240" y="1353312"/>
            <a:ext cx="6169584" cy="382621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3826215"/>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80382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core/assist/capabilities.py</a:t>
            </a:r>
          </a:p>
        </p:txBody>
      </p:sp>
      <p:sp>
        <p:nvSpPr>
          <p:cNvPr id="13" name="TextBox 12"/>
          <p:cNvSpPr txBox="1"/>
          <p:nvPr/>
        </p:nvSpPr>
        <p:spPr>
          <a:xfrm>
            <a:off x="978408" y="1746504"/>
            <a:ext cx="5803824" cy="3350727"/>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class Capability(Protocol):</a:t>
            </a:r>
          </a:p>
          <a:p>
            <a:pPr>
              <a:lnSpc>
                <a:spcPct val="134000"/>
              </a:lnSpc>
              <a:spcBef>
                <a:spcPts val="0"/>
              </a:spcBef>
              <a:spcAft>
                <a:spcPts val="0"/>
              </a:spcAft>
            </a:pPr>
            <a:r>
              <a:rPr sz="950" b="0" i="0">
                <a:solidFill>
                  <a:srgbClr val="1C1C1E"/>
                </a:solidFill>
                <a:latin typeface="Consolas"/>
              </a:rPr>
              <a:t>    key: str</a:t>
            </a:r>
          </a:p>
          <a:p>
            <a:pPr>
              <a:lnSpc>
                <a:spcPct val="134000"/>
              </a:lnSpc>
              <a:spcBef>
                <a:spcPts val="0"/>
              </a:spcBef>
              <a:spcAft>
                <a:spcPts val="0"/>
              </a:spcAft>
            </a:pPr>
            <a:r>
              <a:rPr sz="950" b="0" i="0">
                <a:solidFill>
                  <a:srgbClr val="1C1C1E"/>
                </a:solidFill>
                <a:latin typeface="Consolas"/>
              </a:rPr>
              <a:t>    assist_tier: Literal["A", "B"]   # "C" is unrepresentable</a:t>
            </a:r>
          </a:p>
          <a:p>
            <a:pPr>
              <a:lnSpc>
                <a:spcPct val="134000"/>
              </a:lnSpc>
              <a:spcBef>
                <a:spcPts val="0"/>
              </a:spcBef>
              <a:spcAft>
                <a:spcPts val="0"/>
              </a:spcAft>
            </a:pPr>
            <a:r>
              <a:rPr sz="950" b="0" i="0">
                <a:solidFill>
                  <a:srgbClr val="1C1C1E"/>
                </a:solidFill>
                <a:latin typeface="Consolas"/>
              </a:rPr>
              <a:t>    oracle_key: str | None            # required for tier A</a:t>
            </a:r>
          </a:p>
          <a:p>
            <a:pPr>
              <a:lnSpc>
                <a:spcPct val="134000"/>
              </a:lnSpc>
              <a:spcBef>
                <a:spcPts val="0"/>
              </a:spcBef>
              <a:spcAft>
                <a:spcPts val="0"/>
              </a:spcAft>
            </a:pPr>
            <a:r>
              <a:rPr sz="950" b="0" i="0">
                <a:solidFill>
                  <a:srgbClr val="1C1C1E"/>
                </a:solidFill>
                <a:latin typeface="Consolas"/>
              </a:rPr>
              <a:t>    def generate(self, ctx) -&gt; Draft: ...</a:t>
            </a:r>
          </a:p>
          <a:p>
            <a:pPr>
              <a:lnSpc>
                <a:spcPct val="134000"/>
              </a:lnSpc>
              <a:spcBef>
                <a:spcPts val="0"/>
              </a:spcBef>
              <a:spcAft>
                <a:spcPts val="0"/>
              </a:spcAft>
            </a:pPr>
            <a:r>
              <a:rPr sz="950" b="0" i="0">
                <a:solidFill>
                  <a:srgbClr val="1C1C1E"/>
                </a:solidFill>
                <a:latin typeface="Consolas"/>
              </a:rPr>
              <a:t> </a:t>
            </a:r>
          </a:p>
          <a:p>
            <a:pPr>
              <a:lnSpc>
                <a:spcPct val="134000"/>
              </a:lnSpc>
              <a:spcBef>
                <a:spcPts val="0"/>
              </a:spcBef>
              <a:spcAft>
                <a:spcPts val="0"/>
              </a:spcAft>
            </a:pPr>
            <a:r>
              <a:rPr sz="950" b="0" i="0">
                <a:solidFill>
                  <a:srgbClr val="1C1C1E"/>
                </a:solidFill>
                <a:latin typeface="Consolas"/>
              </a:rPr>
              <a:t>def run(cap, ctx) -&gt; CapabilityResult:</a:t>
            </a:r>
          </a:p>
          <a:p>
            <a:pPr>
              <a:lnSpc>
                <a:spcPct val="134000"/>
              </a:lnSpc>
              <a:spcBef>
                <a:spcPts val="0"/>
              </a:spcBef>
              <a:spcAft>
                <a:spcPts val="0"/>
              </a:spcAft>
            </a:pPr>
            <a:r>
              <a:rPr sz="950" b="0" i="0">
                <a:solidFill>
                  <a:srgbClr val="1C1C1E"/>
                </a:solidFill>
                <a:latin typeface="Consolas"/>
              </a:rPr>
              <a:t>    draft = cap.generate(ctx)</a:t>
            </a:r>
          </a:p>
          <a:p>
            <a:pPr>
              <a:lnSpc>
                <a:spcPct val="134000"/>
              </a:lnSpc>
              <a:spcBef>
                <a:spcPts val="0"/>
              </a:spcBef>
              <a:spcAft>
                <a:spcPts val="0"/>
              </a:spcAft>
            </a:pPr>
            <a:r>
              <a:rPr sz="950" b="0" i="0">
                <a:solidFill>
                  <a:srgbClr val="1C1C1E"/>
                </a:solidFill>
                <a:latin typeface="Consolas"/>
              </a:rPr>
              <a:t>    if cap.assist_tier == "A":</a:t>
            </a:r>
          </a:p>
          <a:p>
            <a:pPr>
              <a:lnSpc>
                <a:spcPct val="134000"/>
              </a:lnSpc>
              <a:spcBef>
                <a:spcPts val="0"/>
              </a:spcBef>
              <a:spcAft>
                <a:spcPts val="0"/>
              </a:spcAft>
            </a:pPr>
            <a:r>
              <a:rPr sz="950" b="0" i="0">
                <a:solidFill>
                  <a:srgbClr val="1C1C1E"/>
                </a:solidFill>
                <a:latin typeface="Consolas"/>
              </a:rPr>
              <a:t>        ok = oracles.get(cap.oracle_key).check(draft, ctx)</a:t>
            </a:r>
          </a:p>
          <a:p>
            <a:pPr>
              <a:lnSpc>
                <a:spcPct val="134000"/>
              </a:lnSpc>
              <a:spcBef>
                <a:spcPts val="0"/>
              </a:spcBef>
              <a:spcAft>
                <a:spcPts val="0"/>
              </a:spcAft>
            </a:pPr>
            <a:r>
              <a:rPr sz="950" b="0" i="0">
                <a:solidFill>
                  <a:srgbClr val="1C1C1E"/>
                </a:solidFill>
                <a:latin typeface="Consolas"/>
              </a:rPr>
              <a:t>        if not ok.holds:</a:t>
            </a:r>
          </a:p>
          <a:p>
            <a:pPr>
              <a:lnSpc>
                <a:spcPct val="134000"/>
              </a:lnSpc>
              <a:spcBef>
                <a:spcPts val="0"/>
              </a:spcBef>
              <a:spcAft>
                <a:spcPts val="0"/>
              </a:spcAft>
            </a:pPr>
            <a:r>
              <a:rPr sz="950" b="0" i="0">
                <a:solidFill>
                  <a:srgbClr val="1C1C1E"/>
                </a:solidFill>
                <a:latin typeface="Consolas"/>
              </a:rPr>
              <a:t>            return CapabilityResult(rejected=True, reason=ok.detail)</a:t>
            </a:r>
          </a:p>
          <a:p>
            <a:pPr>
              <a:lnSpc>
                <a:spcPct val="134000"/>
              </a:lnSpc>
              <a:spcBef>
                <a:spcPts val="0"/>
              </a:spcBef>
              <a:spcAft>
                <a:spcPts val="0"/>
              </a:spcAft>
            </a:pPr>
            <a:r>
              <a:rPr sz="950" b="0" i="0">
                <a:solidFill>
                  <a:srgbClr val="1C1C1E"/>
                </a:solidFill>
                <a:latin typeface="Consolas"/>
              </a:rPr>
              <a:t>    else:</a:t>
            </a:r>
          </a:p>
          <a:p>
            <a:pPr>
              <a:lnSpc>
                <a:spcPct val="134000"/>
              </a:lnSpc>
              <a:spcBef>
                <a:spcPts val="0"/>
              </a:spcBef>
              <a:spcAft>
                <a:spcPts val="0"/>
              </a:spcAft>
            </a:pPr>
            <a:r>
              <a:rPr sz="950" b="0" i="0">
                <a:solidFill>
                  <a:srgbClr val="1C1C1E"/>
                </a:solidFill>
                <a:latin typeface="Consolas"/>
              </a:rPr>
              <a:t>        draft = grounding_gate(draft, ctx)</a:t>
            </a:r>
          </a:p>
          <a:p>
            <a:pPr>
              <a:lnSpc>
                <a:spcPct val="134000"/>
              </a:lnSpc>
              <a:spcBef>
                <a:spcPts val="0"/>
              </a:spcBef>
              <a:spcAft>
                <a:spcPts val="0"/>
              </a:spcAft>
            </a:pPr>
            <a:r>
              <a:rPr sz="950" b="0" i="0">
                <a:solidFill>
                  <a:srgbClr val="1C1C1E"/>
                </a:solidFill>
                <a:latin typeface="Consolas"/>
              </a:rPr>
              <a:t>    ai_generations.record(cap, draft, ctx)</a:t>
            </a:r>
          </a:p>
          <a:p>
            <a:pPr>
              <a:lnSpc>
                <a:spcPct val="134000"/>
              </a:lnSpc>
              <a:spcBef>
                <a:spcPts val="0"/>
              </a:spcBef>
              <a:spcAft>
                <a:spcPts val="0"/>
              </a:spcAft>
            </a:pPr>
            <a:r>
              <a:rPr sz="950" b="0" i="0">
                <a:solidFill>
                  <a:srgbClr val="1C1C1E"/>
                </a:solidFill>
                <a:latin typeface="Consolas"/>
              </a:rPr>
              <a:t>    return CapabilityResult(draft=draft, requires_attestation=True)</a:t>
            </a:r>
          </a:p>
        </p:txBody>
      </p:sp>
      <p:sp>
        <p:nvSpPr>
          <p:cNvPr id="14" name="TextBox 13"/>
          <p:cNvSpPr txBox="1"/>
          <p:nvPr/>
        </p:nvSpPr>
        <p:spPr>
          <a:xfrm>
            <a:off x="7372313" y="1353312"/>
            <a:ext cx="4042141" cy="329184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Two tiers, one criterion</a:t>
            </a:r>
          </a:p>
          <a:p>
            <a:pPr>
              <a:spcBef>
                <a:spcPts val="800"/>
              </a:spcBef>
              <a:spcAft>
                <a:spcPts val="300"/>
              </a:spcAft>
            </a:pPr>
            <a:r>
              <a:rPr sz="1150" b="1">
                <a:solidFill>
                  <a:srgbClr val="A51C30"/>
                </a:solidFill>
                <a:latin typeface="Calibri"/>
              </a:rPr>
              <a:t>▪  </a:t>
            </a:r>
            <a:r>
              <a:rPr sz="1150" b="1">
                <a:solidFill>
                  <a:srgbClr val="1C1C1E"/>
                </a:solidFill>
                <a:latin typeface="Calibri"/>
              </a:rPr>
              <a:t>Tier A — verified</a:t>
            </a:r>
          </a:p>
          <a:p>
            <a:pPr lvl="1">
              <a:spcBef>
                <a:spcPts val="0"/>
              </a:spcBef>
              <a:spcAft>
                <a:spcPts val="0"/>
              </a:spcAft>
            </a:pPr>
            <a:r>
              <a:rPr sz="1000">
                <a:solidFill>
                  <a:srgbClr val="4A4F57"/>
                </a:solidFill>
                <a:latin typeface="Calibri"/>
              </a:rPr>
              <a:t>A formal property checks the output. Encoding a regime, asserting equivalence, converting a format, generating probes, generating a query</a:t>
            </a:r>
          </a:p>
          <a:p>
            <a:pPr>
              <a:spcBef>
                <a:spcPts val="800"/>
              </a:spcBef>
              <a:spcAft>
                <a:spcPts val="300"/>
              </a:spcAft>
            </a:pPr>
            <a:r>
              <a:rPr sz="1150" b="1">
                <a:solidFill>
                  <a:srgbClr val="A51C30"/>
                </a:solidFill>
                <a:latin typeface="Calibri"/>
              </a:rPr>
              <a:t>▪  </a:t>
            </a:r>
            <a:r>
              <a:rPr sz="1150" b="1">
                <a:solidFill>
                  <a:srgbClr val="1C1C1E"/>
                </a:solidFill>
                <a:latin typeface="Calibri"/>
              </a:rPr>
              <a:t>Tier B — grounded</a:t>
            </a:r>
          </a:p>
          <a:p>
            <a:pPr lvl="1">
              <a:spcBef>
                <a:spcPts val="0"/>
              </a:spcBef>
              <a:spcAft>
                <a:spcPts val="0"/>
              </a:spcAft>
            </a:pPr>
            <a:r>
              <a:rPr sz="1000">
                <a:solidFill>
                  <a:srgbClr val="4A4F57"/>
                </a:solidFill>
                <a:latin typeface="Calibri"/>
              </a:rPr>
              <a:t>Every claim cites evidence; the citation is verified; a human attests. Documentation drafting, discovery, validation assistance</a:t>
            </a:r>
          </a:p>
          <a:p>
            <a:pPr>
              <a:lnSpc>
                <a:spcPct val="126000"/>
              </a:lnSpc>
              <a:spcBef>
                <a:spcPts val="0"/>
              </a:spcBef>
              <a:spcAft>
                <a:spcPts val="0"/>
              </a:spcAft>
            </a:pPr>
            <a:r>
              <a:rPr sz="1100" b="0" i="0">
                <a:solidFill>
                  <a:srgbClr val="4A4F57"/>
                </a:solidFill>
                <a:latin typeface="Calibri"/>
              </a:rPr>
              <a:t>The criterion is not the model's capability, nor the task's sensitivity. It is whether the structure supplies a decision procedure.</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MACHINE ASSISTANCE · CITATION VERIFICATION</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grounding gate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21 · Machine Assistance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120</a:t>
            </a:r>
          </a:p>
        </p:txBody>
      </p:sp>
      <p:sp>
        <p:nvSpPr>
          <p:cNvPr id="10" name="Rectangle 9"/>
          <p:cNvSpPr/>
          <p:nvPr/>
        </p:nvSpPr>
        <p:spPr>
          <a:xfrm>
            <a:off x="777240" y="1353312"/>
            <a:ext cx="6169584" cy="2807688"/>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807688"/>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803824"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core/assist/grounding.py</a:t>
            </a:r>
          </a:p>
        </p:txBody>
      </p:sp>
      <p:sp>
        <p:nvSpPr>
          <p:cNvPr id="13" name="TextBox 12"/>
          <p:cNvSpPr txBox="1"/>
          <p:nvPr/>
        </p:nvSpPr>
        <p:spPr>
          <a:xfrm>
            <a:off x="978408" y="1746504"/>
            <a:ext cx="5803824" cy="2332200"/>
          </a:xfrm>
          <a:prstGeom prst="rect">
            <a:avLst/>
          </a:prstGeom>
          <a:noFill/>
        </p:spPr>
        <p:txBody>
          <a:bodyPr wrap="square" lIns="0" rIns="0" tIns="0" bIns="0" anchor="t">
            <a:spAutoFit/>
          </a:bodyPr>
          <a:lstStyle/>
          <a:p>
            <a:pPr algn="l">
              <a:lnSpc>
                <a:spcPct val="134000"/>
              </a:lnSpc>
              <a:spcBef>
                <a:spcPts val="0"/>
              </a:spcBef>
              <a:spcAft>
                <a:spcPts val="0"/>
              </a:spcAft>
            </a:pPr>
            <a:r>
              <a:rPr sz="950" b="0" i="0">
                <a:solidFill>
                  <a:srgbClr val="1C1C1E"/>
                </a:solidFill>
                <a:latin typeface="Consolas"/>
              </a:rPr>
              <a:t>def grounding_gate(draft, ctx) -&gt; Draft:</a:t>
            </a:r>
          </a:p>
          <a:p>
            <a:pPr>
              <a:lnSpc>
                <a:spcPct val="134000"/>
              </a:lnSpc>
              <a:spcBef>
                <a:spcPts val="0"/>
              </a:spcBef>
              <a:spcAft>
                <a:spcPts val="0"/>
              </a:spcAft>
            </a:pPr>
            <a:r>
              <a:rPr sz="950" b="0" i="0">
                <a:solidFill>
                  <a:srgbClr val="1C1C1E"/>
                </a:solidFill>
                <a:latin typeface="Consolas"/>
              </a:rPr>
              <a:t>    for s in draft.sentences:</a:t>
            </a:r>
          </a:p>
          <a:p>
            <a:pPr>
              <a:lnSpc>
                <a:spcPct val="134000"/>
              </a:lnSpc>
              <a:spcBef>
                <a:spcPts val="0"/>
              </a:spcBef>
              <a:spcAft>
                <a:spcPts val="0"/>
              </a:spcAft>
            </a:pPr>
            <a:r>
              <a:rPr sz="950" b="0" i="0">
                <a:solidFill>
                  <a:srgbClr val="1C1C1E"/>
                </a:solidFill>
                <a:latin typeface="Consolas"/>
              </a:rPr>
              <a:t>        if not s.is_factual_claim: continue</a:t>
            </a:r>
          </a:p>
          <a:p>
            <a:pPr>
              <a:lnSpc>
                <a:spcPct val="134000"/>
              </a:lnSpc>
              <a:spcBef>
                <a:spcPts val="0"/>
              </a:spcBef>
              <a:spcAft>
                <a:spcPts val="0"/>
              </a:spcAft>
            </a:pPr>
            <a:r>
              <a:rPr sz="950" b="0" i="0">
                <a:solidFill>
                  <a:srgbClr val="1C1C1E"/>
                </a:solidFill>
                <a:latin typeface="Consolas"/>
              </a:rPr>
              <a:t>        supported = evidence.evaluate(</a:t>
            </a:r>
          </a:p>
          <a:p>
            <a:pPr>
              <a:lnSpc>
                <a:spcPct val="134000"/>
              </a:lnSpc>
              <a:spcBef>
                <a:spcPts val="0"/>
              </a:spcBef>
              <a:spcAft>
                <a:spcPts val="0"/>
              </a:spcAft>
            </a:pPr>
            <a:r>
              <a:rPr sz="950" b="0" i="0">
                <a:solidFill>
                  <a:srgbClr val="1C1C1E"/>
                </a:solidFill>
                <a:latin typeface="Consolas"/>
              </a:rPr>
              <a:t>            s.claim_ref, BOOLEAN,</a:t>
            </a:r>
          </a:p>
          <a:p>
            <a:pPr>
              <a:lnSpc>
                <a:spcPct val="134000"/>
              </a:lnSpc>
              <a:spcBef>
                <a:spcPts val="0"/>
              </a:spcBef>
              <a:spcAft>
                <a:spcPts val="0"/>
              </a:spcAft>
            </a:pPr>
            <a:r>
              <a:rPr sz="950" b="0" i="0">
                <a:solidFill>
                  <a:srgbClr val="1C1C1E"/>
                </a:solidFill>
                <a:latin typeface="Consolas"/>
              </a:rPr>
              <a:t>            valuation=lambda x: x in s.cited_evidence_ids)</a:t>
            </a:r>
          </a:p>
          <a:p>
            <a:pPr>
              <a:lnSpc>
                <a:spcPct val="134000"/>
              </a:lnSpc>
              <a:spcBef>
                <a:spcPts val="0"/>
              </a:spcBef>
              <a:spcAft>
                <a:spcPts val="0"/>
              </a:spcAft>
            </a:pPr>
            <a:r>
              <a:rPr sz="950" b="0" i="0">
                <a:solidFill>
                  <a:srgbClr val="1C1C1E"/>
                </a:solidFill>
                <a:latin typeface="Consolas"/>
              </a:rPr>
              <a:t>        if not supported:</a:t>
            </a:r>
          </a:p>
          <a:p>
            <a:pPr>
              <a:lnSpc>
                <a:spcPct val="134000"/>
              </a:lnSpc>
              <a:spcBef>
                <a:spcPts val="0"/>
              </a:spcBef>
              <a:spcAft>
                <a:spcPts val="0"/>
              </a:spcAft>
            </a:pPr>
            <a:r>
              <a:rPr sz="950" b="0" i="0">
                <a:solidFill>
                  <a:srgbClr val="1C1C1E"/>
                </a:solidFill>
                <a:latin typeface="Consolas"/>
              </a:rPr>
              <a:t>            draft.reject(s, missing=evidence.evaluate(s.claim_ref, WHY))</a:t>
            </a:r>
          </a:p>
          <a:p>
            <a:pPr>
              <a:lnSpc>
                <a:spcPct val="134000"/>
              </a:lnSpc>
              <a:spcBef>
                <a:spcPts val="0"/>
              </a:spcBef>
              <a:spcAft>
                <a:spcPts val="0"/>
              </a:spcAft>
            </a:pPr>
            <a:r>
              <a:rPr sz="950" b="0" i="0">
                <a:solidFill>
                  <a:srgbClr val="1C1C1E"/>
                </a:solidFill>
                <a:latin typeface="Consolas"/>
              </a:rPr>
              <a:t>    draft.numbers = interpolate_from_evidence(draft.number_slots, ctx)</a:t>
            </a:r>
          </a:p>
          <a:p>
            <a:pPr>
              <a:lnSpc>
                <a:spcPct val="134000"/>
              </a:lnSpc>
              <a:spcBef>
                <a:spcPts val="0"/>
              </a:spcBef>
              <a:spcAft>
                <a:spcPts val="0"/>
              </a:spcAft>
            </a:pPr>
            <a:r>
              <a:rPr sz="950" b="0" i="0">
                <a:solidFill>
                  <a:srgbClr val="1C1C1E"/>
                </a:solidFill>
                <a:latin typeface="Consolas"/>
              </a:rPr>
              <a:t>    draft.mark_unverified(draft.unmapped_sentences)</a:t>
            </a:r>
          </a:p>
          <a:p>
            <a:pPr>
              <a:lnSpc>
                <a:spcPct val="134000"/>
              </a:lnSpc>
              <a:spcBef>
                <a:spcPts val="0"/>
              </a:spcBef>
              <a:spcAft>
                <a:spcPts val="0"/>
              </a:spcAft>
            </a:pPr>
            <a:r>
              <a:rPr sz="950" b="0" i="0">
                <a:solidFill>
                  <a:srgbClr val="1C1C1E"/>
                </a:solidFill>
                <a:latin typeface="Consolas"/>
              </a:rPr>
              <a:t>    return draft</a:t>
            </a:r>
          </a:p>
        </p:txBody>
      </p:sp>
      <p:sp>
        <p:nvSpPr>
          <p:cNvPr id="14" name="TextBox 13"/>
          <p:cNvSpPr txBox="1"/>
          <p:nvPr/>
        </p:nvSpPr>
        <p:spPr>
          <a:xfrm>
            <a:off x="7372313" y="1353312"/>
            <a:ext cx="4042141" cy="329184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Verification, not another model call</a:t>
            </a:r>
          </a:p>
          <a:p>
            <a:pPr>
              <a:lnSpc>
                <a:spcPct val="126000"/>
              </a:lnSpc>
              <a:spcBef>
                <a:spcPts val="0"/>
              </a:spcBef>
              <a:spcAft>
                <a:spcPts val="1000"/>
              </a:spcAft>
            </a:pPr>
            <a:r>
              <a:rPr sz="1150" b="0" i="0">
                <a:solidFill>
                  <a:srgbClr val="4A4F57"/>
                </a:solidFill>
                <a:latin typeface="Calibri"/>
              </a:rPr>
              <a:t>Switch on exactly the cited identifiers, evaluate the claim's derivation in Boolean, and see whether it still holds. If it does, the citation is genuine. If not, the sentence is rejected — not flagged.</a:t>
            </a:r>
          </a:p>
          <a:p>
            <a:pPr>
              <a:lnSpc>
                <a:spcPct val="126000"/>
              </a:lnSpc>
              <a:spcBef>
                <a:spcPts val="0"/>
              </a:spcBef>
              <a:spcAft>
                <a:spcPts val="1000"/>
              </a:spcAft>
            </a:pPr>
            <a:r>
              <a:rPr sz="1150" b="1" i="0">
                <a:solidFill>
                  <a:srgbClr val="A51C30"/>
                </a:solidFill>
                <a:latin typeface="Calibri"/>
              </a:rPr>
              <a:t>Numbers are never generated. </a:t>
            </a:r>
            <a:r>
              <a:rPr sz="1150" b="0" i="0">
                <a:solidFill>
                  <a:srgbClr val="1C1C1E"/>
                </a:solidFill>
                <a:latin typeface="Calibri"/>
              </a:rPr>
              <a:t>They are interpolated from evidence, which removes the entire class of hallucinated statistics.</a:t>
            </a:r>
          </a:p>
          <a:p>
            <a:pPr>
              <a:lnSpc>
                <a:spcPct val="126000"/>
              </a:lnSpc>
              <a:spcBef>
                <a:spcPts val="0"/>
              </a:spcBef>
              <a:spcAft>
                <a:spcPts val="600"/>
              </a:spcAft>
            </a:pPr>
            <a:r>
              <a:rPr sz="1150" b="1" i="0">
                <a:solidFill>
                  <a:srgbClr val="A51C30"/>
                </a:solidFill>
                <a:latin typeface="Calibri"/>
              </a:rPr>
              <a:t>Unmapped sentences are marked, not hidden. </a:t>
            </a:r>
            <a:r>
              <a:rPr sz="1150" b="0" i="0">
                <a:solidFill>
                  <a:srgbClr val="1C1C1E"/>
                </a:solidFill>
                <a:latin typeface="Calibri"/>
              </a:rPr>
              <a:t>A quantified claim like “on all monitored slices” has no supporting term at all — and that is exactly the sentence human review reliably waves through.</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MACHINE ASSISTANCE · THE BOUNDARY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Structural prohibition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21 · Machine Assistance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121</a:t>
            </a:r>
          </a:p>
        </p:txBody>
      </p:sp>
      <p:sp>
        <p:nvSpPr>
          <p:cNvPr id="10" name="Rectangle 9"/>
          <p:cNvSpPr/>
          <p:nvPr/>
        </p:nvSpPr>
        <p:spPr>
          <a:xfrm>
            <a:off x="777240" y="1353312"/>
            <a:ext cx="5531351" cy="1060109"/>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060109"/>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TIER C IS UNREPRESENTABLE IN THE SCHEMA</a:t>
            </a:r>
          </a:p>
        </p:txBody>
      </p:sp>
      <p:sp>
        <p:nvSpPr>
          <p:cNvPr id="13" name="TextBox 12"/>
          <p:cNvSpPr txBox="1"/>
          <p:nvPr/>
        </p:nvSpPr>
        <p:spPr>
          <a:xfrm>
            <a:off x="978408" y="1746504"/>
            <a:ext cx="5165591" cy="584621"/>
          </a:xfrm>
          <a:prstGeom prst="rect">
            <a:avLst/>
          </a:prstGeom>
          <a:noFill/>
        </p:spPr>
        <p:txBody>
          <a:bodyPr wrap="square" lIns="0" rIns="0" tIns="0" bIns="0" anchor="t">
            <a:spAutoFit/>
          </a:bodyPr>
          <a:lstStyle/>
          <a:p>
            <a:pPr algn="l">
              <a:lnSpc>
                <a:spcPct val="134000"/>
              </a:lnSpc>
              <a:spcBef>
                <a:spcPts val="0"/>
              </a:spcBef>
              <a:spcAft>
                <a:spcPts val="0"/>
              </a:spcAft>
            </a:pPr>
            <a:r>
              <a:rPr sz="1150" b="0" i="0">
                <a:solidFill>
                  <a:srgbClr val="1C1C1E"/>
                </a:solidFill>
                <a:latin typeface="Consolas"/>
              </a:rPr>
              <a:t>assist_tier char(1) NOT NULL</a:t>
            </a:r>
          </a:p>
          <a:p>
            <a:pPr>
              <a:lnSpc>
                <a:spcPct val="134000"/>
              </a:lnSpc>
              <a:spcBef>
                <a:spcPts val="0"/>
              </a:spcBef>
              <a:spcAft>
                <a:spcPts val="0"/>
              </a:spcAft>
            </a:pPr>
            <a:r>
              <a:rPr sz="1150" b="0" i="0">
                <a:solidFill>
                  <a:srgbClr val="1C1C1E"/>
                </a:solidFill>
                <a:latin typeface="Consolas"/>
              </a:rPr>
              <a:t>    CHECK (assist_tier IN ('A','B'))</a:t>
            </a:r>
          </a:p>
        </p:txBody>
      </p:sp>
      <p:sp>
        <p:nvSpPr>
          <p:cNvPr id="14" name="TextBox 13"/>
          <p:cNvSpPr txBox="1"/>
          <p:nvPr/>
        </p:nvSpPr>
        <p:spPr>
          <a:xfrm>
            <a:off x="777240" y="2669453"/>
            <a:ext cx="5531351" cy="210312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And no credential exists</a:t>
            </a:r>
          </a:p>
          <a:p>
            <a:pPr>
              <a:lnSpc>
                <a:spcPct val="126000"/>
              </a:lnSpc>
              <a:spcBef>
                <a:spcPts val="0"/>
              </a:spcBef>
              <a:spcAft>
                <a:spcPts val="1000"/>
              </a:spcAft>
            </a:pPr>
            <a:r>
              <a:rPr sz="1150" b="0" i="0">
                <a:solidFill>
                  <a:srgbClr val="4A4F57"/>
                </a:solidFill>
                <a:latin typeface="Calibri"/>
              </a:rPr>
              <a:t>No ai_capability principal is ever granted a lifecycle-transition scope in the IAM model. A capability cannot make a governance decision because it holds no credential to attempt one.</a:t>
            </a:r>
          </a:p>
          <a:p>
            <a:pPr>
              <a:lnSpc>
                <a:spcPct val="126000"/>
              </a:lnSpc>
              <a:spcBef>
                <a:spcPts val="0"/>
              </a:spcBef>
              <a:spcAft>
                <a:spcPts val="600"/>
              </a:spcAft>
            </a:pPr>
            <a:r>
              <a:rPr sz="1150" b="0" i="0">
                <a:solidFill>
                  <a:srgbClr val="4A4F57"/>
                </a:solidFill>
                <a:latin typeface="Calibri"/>
              </a:rPr>
              <a:t>Policy erodes under commercial pressure from sensible people with good reasons. </a:t>
            </a:r>
            <a:r>
              <a:rPr sz="1150" b="1" i="0">
                <a:solidFill>
                  <a:srgbClr val="1C1C1E"/>
                </a:solidFill>
                <a:latin typeface="Calibri"/>
              </a:rPr>
              <a:t>Missing credentials do not.</a:t>
            </a:r>
          </a:p>
        </p:txBody>
      </p:sp>
      <p:sp>
        <p:nvSpPr>
          <p:cNvPr id="15" name="TextBox 14"/>
          <p:cNvSpPr txBox="1"/>
          <p:nvPr/>
        </p:nvSpPr>
        <p:spPr>
          <a:xfrm>
            <a:off x="6734080" y="1353312"/>
            <a:ext cx="4680374"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What a machine may never do here</a:t>
            </a:r>
          </a:p>
        </p:txBody>
      </p:sp>
      <p:graphicFrame>
        <p:nvGraphicFramePr>
          <p:cNvPr id="16" name="Table 15"/>
          <p:cNvGraphicFramePr>
            <a:graphicFrameLocks noGrp="1"/>
          </p:cNvGraphicFramePr>
          <p:nvPr/>
        </p:nvGraphicFramePr>
        <p:xfrm>
          <a:off x="6734080" y="1719072"/>
          <a:ext cx="4680374" cy="3398520"/>
        </p:xfrm>
        <a:graphic>
          <a:graphicData uri="http://schemas.openxmlformats.org/drawingml/2006/table">
            <a:tbl>
              <a:tblPr firstRow="1">
                <a:tableStyleId>{5C22544A-7EE6-4342-B048-85BDC9FD1C3A}</a:tableStyleId>
              </a:tblPr>
              <a:tblGrid>
                <a:gridCol w="1838718"/>
                <a:gridCol w="2841656"/>
              </a:tblGrid>
              <a:tr h="329184">
                <a:tc>
                  <a:txBody>
                    <a:bodyPr wrap="square"/>
                    <a:lstStyle/>
                    <a:p>
                      <a:pPr algn="l"/>
                      <a:r>
                        <a:rPr sz="1000" b="1">
                          <a:solidFill>
                            <a:srgbClr val="FFFFFF"/>
                          </a:solidFill>
                          <a:latin typeface="Calibri"/>
                        </a:rPr>
                        <a:t>Decision</a:t>
                      </a:r>
                    </a:p>
                  </a:txBody>
                  <a:tcPr marL="82296" marR="64008" marT="32004" marB="32004" anchor="ctr">
                    <a:solidFill>
                      <a:srgbClr val="A51C30"/>
                    </a:solidFill>
                  </a:tcPr>
                </a:tc>
                <a:tc>
                  <a:txBody>
                    <a:bodyPr wrap="square"/>
                    <a:lstStyle/>
                    <a:p>
                      <a:pPr algn="l"/>
                      <a:r>
                        <a:rPr sz="1000" b="1">
                          <a:solidFill>
                            <a:srgbClr val="FFFFFF"/>
                          </a:solidFill>
                          <a:latin typeface="Calibri"/>
                        </a:rPr>
                        <a:t>Why no oracle exists</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Conclude a validation</a:t>
                      </a:r>
                    </a:p>
                  </a:txBody>
                  <a:tcPr marL="82296" marR="64008" marT="32004" marB="32004" anchor="ctr">
                    <a:solidFill>
                      <a:srgbClr val="FFFFFF"/>
                    </a:solidFill>
                  </a:tcPr>
                </a:tc>
                <a:tc>
                  <a:txBody>
                    <a:bodyPr wrap="square"/>
                    <a:lstStyle/>
                    <a:p>
                      <a:pPr algn="l"/>
                      <a:r>
                        <a:rPr sz="1000" b="0">
                          <a:solidFill>
                            <a:srgbClr val="1C1C1E"/>
                          </a:solidFill>
                          <a:latin typeface="Calibri"/>
                        </a:rPr>
                        <a:t>Defined by standing and accountability, which a model has not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Assign or override a tier</a:t>
                      </a:r>
                    </a:p>
                  </a:txBody>
                  <a:tcPr marL="82296" marR="64008" marT="32004" marB="32004" anchor="ctr">
                    <a:solidFill>
                      <a:srgbClr val="F6F3EF"/>
                    </a:solidFill>
                  </a:tcPr>
                </a:tc>
                <a:tc>
                  <a:txBody>
                    <a:bodyPr wrap="square"/>
                    <a:lstStyle/>
                    <a:p>
                      <a:pPr algn="l"/>
                      <a:r>
                        <a:rPr sz="1000" b="0">
                          <a:solidFill>
                            <a:srgbClr val="1C1C1E"/>
                          </a:solidFill>
                          <a:latin typeface="Calibri"/>
                        </a:rPr>
                        <a:t>The rule constitutes the standard</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Make a scope determination</a:t>
                      </a:r>
                    </a:p>
                  </a:txBody>
                  <a:tcPr marL="82296" marR="64008" marT="32004" marB="32004" anchor="ctr">
                    <a:solidFill>
                      <a:srgbClr val="FFFFFF"/>
                    </a:solidFill>
                  </a:tcPr>
                </a:tc>
                <a:tc>
                  <a:txBody>
                    <a:bodyPr wrap="square"/>
                    <a:lstStyle/>
                    <a:p>
                      <a:pPr algn="l"/>
                      <a:r>
                        <a:rPr sz="1000" b="0">
                          <a:solidFill>
                            <a:srgbClr val="1C1C1E"/>
                          </a:solidFill>
                          <a:latin typeface="Calibri"/>
                        </a:rPr>
                        <a:t>Discards the derivation that is the point</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Approve anything</a:t>
                      </a:r>
                    </a:p>
                  </a:txBody>
                  <a:tcPr marL="82296" marR="64008" marT="32004" marB="32004" anchor="ctr">
                    <a:solidFill>
                      <a:srgbClr val="F6F3EF"/>
                    </a:solidFill>
                  </a:tcPr>
                </a:tc>
                <a:tc>
                  <a:txBody>
                    <a:bodyPr wrap="square"/>
                    <a:lstStyle/>
                    <a:p>
                      <a:pPr algn="l"/>
                      <a:r>
                        <a:rPr sz="1000" b="0">
                          <a:solidFill>
                            <a:srgbClr val="1C1C1E"/>
                          </a:solidFill>
                          <a:latin typeface="Calibri"/>
                        </a:rPr>
                        <a:t>An accountable act with a signature behind 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Accept residual risk</a:t>
                      </a:r>
                    </a:p>
                  </a:txBody>
                  <a:tcPr marL="82296" marR="64008" marT="32004" marB="32004" anchor="ctr">
                    <a:solidFill>
                      <a:srgbClr val="FFFFFF"/>
                    </a:solidFill>
                  </a:tcPr>
                </a:tc>
                <a:tc>
                  <a:txBody>
                    <a:bodyPr wrap="square"/>
                    <a:lstStyle/>
                    <a:p>
                      <a:pPr algn="l"/>
                      <a:r>
                        <a:rPr sz="1000" b="0">
                          <a:solidFill>
                            <a:srgbClr val="1C1C1E"/>
                          </a:solidFill>
                          <a:latin typeface="Calibri"/>
                        </a:rPr>
                        <a:t>Requires authority</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Close a finding</a:t>
                      </a:r>
                    </a:p>
                  </a:txBody>
                  <a:tcPr marL="82296" marR="64008" marT="32004" marB="32004" anchor="ctr">
                    <a:solidFill>
                      <a:srgbClr val="F6F3EF"/>
                    </a:solidFill>
                  </a:tcPr>
                </a:tc>
                <a:tc>
                  <a:txBody>
                    <a:bodyPr wrap="square"/>
                    <a:lstStyle/>
                    <a:p>
                      <a:pPr algn="l"/>
                      <a:r>
                        <a:rPr sz="1000" b="0">
                          <a:solidFill>
                            <a:srgbClr val="1C1C1E"/>
                          </a:solidFill>
                          <a:latin typeface="Calibri"/>
                        </a:rPr>
                        <a:t>Independent verification by someone who did not raise it</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Compute a metric</a:t>
                      </a:r>
                    </a:p>
                  </a:txBody>
                  <a:tcPr marL="82296" marR="64008" marT="32004" marB="32004" anchor="ctr">
                    <a:solidFill>
                      <a:srgbClr val="FFFFFF"/>
                    </a:solidFill>
                  </a:tcPr>
                </a:tc>
                <a:tc>
                  <a:txBody>
                    <a:bodyPr wrap="square"/>
                    <a:lstStyle/>
                    <a:p>
                      <a:pPr algn="l"/>
                      <a:r>
                        <a:rPr sz="1000" b="0">
                          <a:solidFill>
                            <a:srgbClr val="1C1C1E"/>
                          </a:solidFill>
                          <a:latin typeface="Calibri"/>
                        </a:rPr>
                        <a:t>Compute it, then let the model describe it</a:t>
                      </a:r>
                    </a:p>
                  </a:txBody>
                  <a:tcPr marL="82296" marR="64008" marT="32004" marB="32004" anchor="ctr">
                    <a:solidFill>
                      <a:srgbClr val="FFFFFF"/>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22</a:t>
            </a:r>
          </a:p>
        </p:txBody>
      </p:sp>
      <p:sp>
        <p:nvSpPr>
          <p:cNvPr id="5" name="TextBox 4"/>
          <p:cNvSpPr txBox="1"/>
          <p:nvPr/>
        </p:nvSpPr>
        <p:spPr>
          <a:xfrm>
            <a:off x="1005840" y="2390241"/>
            <a:ext cx="6169584" cy="1188720"/>
          </a:xfrm>
          <a:prstGeom prst="rect">
            <a:avLst/>
          </a:prstGeom>
          <a:noFill/>
        </p:spPr>
        <p:txBody>
          <a:bodyPr wrap="square" lIns="0" rIns="0" tIns="0" bIns="0" anchor="t">
            <a:spAutoFit/>
          </a:bodyPr>
          <a:lstStyle/>
          <a:p>
            <a:pPr algn="l">
              <a:spcBef>
                <a:spcPts val="0"/>
              </a:spcBef>
              <a:spcAft>
                <a:spcPts val="0"/>
              </a:spcAft>
            </a:pPr>
            <a:r>
              <a:rPr sz="3800" b="0" i="0">
                <a:solidFill>
                  <a:srgbClr val="FFFFFF"/>
                </a:solidFill>
                <a:latin typeface="Georgia"/>
              </a:rPr>
              <a:t>Interfaces and the SDK</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One API, consumed identically by the interface, the SDK and every engine.</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API conventions</a:t>
            </a:r>
          </a:p>
          <a:p>
            <a:pPr>
              <a:lnSpc>
                <a:spcPct val="115000"/>
              </a:lnSpc>
              <a:spcBef>
                <a:spcPts val="0"/>
              </a:spcBef>
              <a:spcAft>
                <a:spcPts val="700"/>
              </a:spcAft>
            </a:pPr>
            <a:r>
              <a:rPr sz="1150" b="0" i="0">
                <a:solidFill>
                  <a:srgbClr val="F6E6E9"/>
                </a:solidFill>
                <a:latin typeface="Calibri"/>
              </a:rPr>
              <a:t>Resource surface</a:t>
            </a:r>
          </a:p>
          <a:p>
            <a:pPr>
              <a:lnSpc>
                <a:spcPct val="115000"/>
              </a:lnSpc>
              <a:spcBef>
                <a:spcPts val="0"/>
              </a:spcBef>
              <a:spcAft>
                <a:spcPts val="700"/>
              </a:spcAft>
            </a:pPr>
            <a:r>
              <a:rPr sz="1150" b="0" i="0">
                <a:solidFill>
                  <a:srgbClr val="F6E6E9"/>
                </a:solidFill>
                <a:latin typeface="Calibri"/>
              </a:rPr>
              <a:t>Front-end design</a:t>
            </a:r>
          </a:p>
          <a:p>
            <a:pPr>
              <a:lnSpc>
                <a:spcPct val="115000"/>
              </a:lnSpc>
              <a:spcBef>
                <a:spcPts val="0"/>
              </a:spcBef>
              <a:spcAft>
                <a:spcPts val="700"/>
              </a:spcAft>
            </a:pPr>
            <a:r>
              <a:rPr sz="1150" b="0" i="0">
                <a:solidFill>
                  <a:srgbClr val="F6E6E9"/>
                </a:solidFill>
                <a:latin typeface="Calibri"/>
              </a:rPr>
              <a:t>SDK and events</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INTERFACES · THE CONTRACT</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API conventions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22 · Interfaces and the SDK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123</a:t>
            </a:r>
          </a:p>
        </p:txBody>
      </p:sp>
      <p:graphicFrame>
        <p:nvGraphicFramePr>
          <p:cNvPr id="10" name="Table 9"/>
          <p:cNvGraphicFramePr>
            <a:graphicFrameLocks noGrp="1"/>
          </p:cNvGraphicFramePr>
          <p:nvPr/>
        </p:nvGraphicFramePr>
        <p:xfrm>
          <a:off x="777240" y="1353312"/>
          <a:ext cx="10637214" cy="3765327"/>
        </p:xfrm>
        <a:graphic>
          <a:graphicData uri="http://schemas.openxmlformats.org/drawingml/2006/table">
            <a:tbl>
              <a:tblPr firstRow="1">
                <a:tableStyleId>{5C22544A-7EE6-4342-B048-85BDC9FD1C3A}</a:tableStyleId>
              </a:tblPr>
              <a:tblGrid>
                <a:gridCol w="1742302"/>
                <a:gridCol w="4218206"/>
                <a:gridCol w="4676706"/>
              </a:tblGrid>
              <a:tr h="333781">
                <a:tc>
                  <a:txBody>
                    <a:bodyPr wrap="square"/>
                    <a:lstStyle/>
                    <a:p>
                      <a:pPr algn="l"/>
                      <a:r>
                        <a:rPr sz="1100" b="1">
                          <a:solidFill>
                            <a:srgbClr val="FFFFFF"/>
                          </a:solidFill>
                          <a:latin typeface="Calibri"/>
                        </a:rPr>
                        <a:t>Concern</a:t>
                      </a:r>
                    </a:p>
                  </a:txBody>
                  <a:tcPr marL="82296" marR="64008" marT="32004" marB="32004" anchor="ctr">
                    <a:solidFill>
                      <a:srgbClr val="A51C30"/>
                    </a:solidFill>
                  </a:tcPr>
                </a:tc>
                <a:tc>
                  <a:txBody>
                    <a:bodyPr wrap="square"/>
                    <a:lstStyle/>
                    <a:p>
                      <a:pPr algn="l"/>
                      <a:r>
                        <a:rPr sz="1100" b="1">
                          <a:solidFill>
                            <a:srgbClr val="FFFFFF"/>
                          </a:solidFill>
                          <a:latin typeface="Calibri"/>
                        </a:rPr>
                        <a:t>Decision</a:t>
                      </a:r>
                    </a:p>
                  </a:txBody>
                  <a:tcPr marL="82296" marR="64008" marT="32004" marB="32004" anchor="ctr">
                    <a:solidFill>
                      <a:srgbClr val="A51C30"/>
                    </a:solidFill>
                  </a:tcPr>
                </a:tc>
                <a:tc>
                  <a:txBody>
                    <a:bodyPr wrap="square"/>
                    <a:lstStyle/>
                    <a:p>
                      <a:pPr algn="l"/>
                      <a:r>
                        <a:rPr sz="1100" b="1">
                          <a:solidFill>
                            <a:srgbClr val="FFFFFF"/>
                          </a:solidFill>
                          <a:latin typeface="Calibri"/>
                        </a:rPr>
                        <a:t>Why</a:t>
                      </a:r>
                    </a:p>
                  </a:txBody>
                  <a:tcPr marL="82296" marR="64008" marT="32004" marB="32004" anchor="ctr">
                    <a:solidFill>
                      <a:srgbClr val="A51C30"/>
                    </a:solidFill>
                  </a:tcPr>
                </a:tc>
              </a:tr>
              <a:tr h="325259">
                <a:tc>
                  <a:txBody>
                    <a:bodyPr wrap="square"/>
                    <a:lstStyle/>
                    <a:p>
                      <a:pPr algn="l"/>
                      <a:r>
                        <a:rPr sz="1050" b="1">
                          <a:solidFill>
                            <a:srgbClr val="A51C30"/>
                          </a:solidFill>
                          <a:latin typeface="Calibri"/>
                        </a:rPr>
                        <a:t>Base</a:t>
                      </a:r>
                    </a:p>
                  </a:txBody>
                  <a:tcPr marL="82296" marR="64008" marT="32004" marB="32004" anchor="ctr">
                    <a:solidFill>
                      <a:srgbClr val="FFFFFF"/>
                    </a:solidFill>
                  </a:tcPr>
                </a:tc>
                <a:tc>
                  <a:txBody>
                    <a:bodyPr wrap="square"/>
                    <a:lstStyle/>
                    <a:p>
                      <a:pPr algn="l"/>
                      <a:r>
                        <a:rPr sz="1050" b="0">
                          <a:solidFill>
                            <a:srgbClr val="1C1C1E"/>
                          </a:solidFill>
                          <a:latin typeface="Calibri"/>
                        </a:rPr>
                        <a:t>/api/v1, OpenAPI 3.1, JSON</a:t>
                      </a:r>
                    </a:p>
                  </a:txBody>
                  <a:tcPr marL="82296" marR="64008" marT="32004" marB="32004" anchor="ctr">
                    <a:solidFill>
                      <a:srgbClr val="FFFFFF"/>
                    </a:solidFill>
                  </a:tcPr>
                </a:tc>
                <a:tc>
                  <a:txBody>
                    <a:bodyPr wrap="square"/>
                    <a:lstStyle/>
                    <a:p>
                      <a:pPr algn="l"/>
                      <a:r>
                        <a:rPr sz="1050" b="0">
                          <a:solidFill>
                            <a:srgbClr val="1C1C1E"/>
                          </a:solidFill>
                          <a:latin typeface="Calibri"/>
                        </a:rPr>
                        <a:t>One versioned contract; the UI has no privileged path</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Errors</a:t>
                      </a:r>
                    </a:p>
                  </a:txBody>
                  <a:tcPr marL="82296" marR="64008" marT="32004" marB="32004" anchor="ctr">
                    <a:solidFill>
                      <a:srgbClr val="F6F3EF"/>
                    </a:solidFill>
                  </a:tcPr>
                </a:tc>
                <a:tc>
                  <a:txBody>
                    <a:bodyPr wrap="square"/>
                    <a:lstStyle/>
                    <a:p>
                      <a:pPr algn="l"/>
                      <a:r>
                        <a:rPr sz="1050" b="0">
                          <a:solidFill>
                            <a:srgbClr val="1C1C1E"/>
                          </a:solidFill>
                          <a:latin typeface="Calibri"/>
                        </a:rPr>
                        <a:t>RFC 9457 problem+json with code, deny_reason[], remediation_url</a:t>
                      </a:r>
                    </a:p>
                  </a:txBody>
                  <a:tcPr marL="82296" marR="64008" marT="32004" marB="32004" anchor="ctr">
                    <a:solidFill>
                      <a:srgbClr val="F6F3EF"/>
                    </a:solidFill>
                  </a:tcPr>
                </a:tc>
                <a:tc>
                  <a:txBody>
                    <a:bodyPr wrap="square"/>
                    <a:lstStyle/>
                    <a:p>
                      <a:pPr algn="l"/>
                      <a:r>
                        <a:rPr sz="1050" b="0">
                          <a:solidFill>
                            <a:srgbClr val="1C1C1E"/>
                          </a:solidFill>
                          <a:latin typeface="Calibri"/>
                        </a:rPr>
                        <a:t>DR-6 and DR-7 — blocking must always explain</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Pagination</a:t>
                      </a:r>
                    </a:p>
                  </a:txBody>
                  <a:tcPr marL="82296" marR="64008" marT="32004" marB="32004" anchor="ctr">
                    <a:solidFill>
                      <a:srgbClr val="FFFFFF"/>
                    </a:solidFill>
                  </a:tcPr>
                </a:tc>
                <a:tc>
                  <a:txBody>
                    <a:bodyPr wrap="square"/>
                    <a:lstStyle/>
                    <a:p>
                      <a:pPr algn="l"/>
                      <a:r>
                        <a:rPr sz="1050" b="0">
                          <a:solidFill>
                            <a:srgbClr val="1C1C1E"/>
                          </a:solidFill>
                          <a:latin typeface="Calibri"/>
                        </a:rPr>
                        <a:t>Keyset with cursor / next_cursor</a:t>
                      </a:r>
                    </a:p>
                  </a:txBody>
                  <a:tcPr marL="82296" marR="64008" marT="32004" marB="32004" anchor="ctr">
                    <a:solidFill>
                      <a:srgbClr val="FFFFFF"/>
                    </a:solidFill>
                  </a:tcPr>
                </a:tc>
                <a:tc>
                  <a:txBody>
                    <a:bodyPr wrap="square"/>
                    <a:lstStyle/>
                    <a:p>
                      <a:pPr algn="l"/>
                      <a:r>
                        <a:rPr sz="1050" b="0">
                          <a:solidFill>
                            <a:srgbClr val="1C1C1E"/>
                          </a:solidFill>
                          <a:latin typeface="Calibri"/>
                        </a:rPr>
                        <a:t>Stable paging over 50,000 models</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Concurrency</a:t>
                      </a:r>
                    </a:p>
                  </a:txBody>
                  <a:tcPr marL="82296" marR="64008" marT="32004" marB="32004" anchor="ctr">
                    <a:solidFill>
                      <a:srgbClr val="F6F3EF"/>
                    </a:solidFill>
                  </a:tcPr>
                </a:tc>
                <a:tc>
                  <a:txBody>
                    <a:bodyPr wrap="square"/>
                    <a:lstStyle/>
                    <a:p>
                      <a:pPr algn="l"/>
                      <a:r>
                        <a:rPr sz="1050" b="0">
                          <a:solidFill>
                            <a:srgbClr val="1C1C1E"/>
                          </a:solidFill>
                          <a:latin typeface="Calibri"/>
                        </a:rPr>
                        <a:t>ETag + If-Match; 412 returns a field-level diff</a:t>
                      </a:r>
                    </a:p>
                  </a:txBody>
                  <a:tcPr marL="82296" marR="64008" marT="32004" marB="32004" anchor="ctr">
                    <a:solidFill>
                      <a:srgbClr val="F6F3EF"/>
                    </a:solidFill>
                  </a:tcPr>
                </a:tc>
                <a:tc>
                  <a:txBody>
                    <a:bodyPr wrap="square"/>
                    <a:lstStyle/>
                    <a:p>
                      <a:pPr algn="l"/>
                      <a:r>
                        <a:rPr sz="1050" b="0">
                          <a:solidFill>
                            <a:srgbClr val="1C1C1E"/>
                          </a:solidFill>
                          <a:latin typeface="Calibri"/>
                        </a:rPr>
                        <a:t>The UI shows a real conflict dialog instead of overwriting</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Idempotency</a:t>
                      </a:r>
                    </a:p>
                  </a:txBody>
                  <a:tcPr marL="82296" marR="64008" marT="32004" marB="32004" anchor="ctr">
                    <a:solidFill>
                      <a:srgbClr val="FFFFFF"/>
                    </a:solidFill>
                  </a:tcPr>
                </a:tc>
                <a:tc>
                  <a:txBody>
                    <a:bodyPr wrap="square"/>
                    <a:lstStyle/>
                    <a:p>
                      <a:pPr algn="l"/>
                      <a:r>
                        <a:rPr sz="1050" b="0">
                          <a:solidFill>
                            <a:srgbClr val="1C1C1E"/>
                          </a:solidFill>
                          <a:latin typeface="Calibri"/>
                        </a:rPr>
                        <a:t>Idempotency-Key on POST, 24-hour replay window</a:t>
                      </a:r>
                    </a:p>
                  </a:txBody>
                  <a:tcPr marL="82296" marR="64008" marT="32004" marB="32004" anchor="ctr">
                    <a:solidFill>
                      <a:srgbClr val="FFFFFF"/>
                    </a:solidFill>
                  </a:tcPr>
                </a:tc>
                <a:tc>
                  <a:txBody>
                    <a:bodyPr wrap="square"/>
                    <a:lstStyle/>
                    <a:p>
                      <a:pPr algn="l"/>
                      <a:r>
                        <a:rPr sz="1050" b="0">
                          <a:solidFill>
                            <a:srgbClr val="1C1C1E"/>
                          </a:solidFill>
                          <a:latin typeface="Calibri"/>
                        </a:rPr>
                        <a:t>Safe retry on flaky networks — DR-3</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Shaping</a:t>
                      </a:r>
                    </a:p>
                  </a:txBody>
                  <a:tcPr marL="82296" marR="64008" marT="32004" marB="32004" anchor="ctr">
                    <a:solidFill>
                      <a:srgbClr val="F6F3EF"/>
                    </a:solidFill>
                  </a:tcPr>
                </a:tc>
                <a:tc>
                  <a:txBody>
                    <a:bodyPr wrap="square"/>
                    <a:lstStyle/>
                    <a:p>
                      <a:pPr algn="l"/>
                      <a:r>
                        <a:rPr sz="1050" b="0">
                          <a:solidFill>
                            <a:srgbClr val="1C1C1E"/>
                          </a:solidFill>
                          <a:latin typeface="Calibri"/>
                        </a:rPr>
                        <a:t>?expand= and ?fields=</a:t>
                      </a:r>
                    </a:p>
                  </a:txBody>
                  <a:tcPr marL="82296" marR="64008" marT="32004" marB="32004" anchor="ctr">
                    <a:solidFill>
                      <a:srgbClr val="F6F3EF"/>
                    </a:solidFill>
                  </a:tcPr>
                </a:tc>
                <a:tc>
                  <a:txBody>
                    <a:bodyPr wrap="square"/>
                    <a:lstStyle/>
                    <a:p>
                      <a:pPr algn="l"/>
                      <a:r>
                        <a:rPr sz="1050" b="0">
                          <a:solidFill>
                            <a:srgbClr val="1C1C1E"/>
                          </a:solidFill>
                          <a:latin typeface="Calibri"/>
                        </a:rPr>
                        <a:t>One request per screen instead of N+1 chatter</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Derivations</a:t>
                      </a:r>
                    </a:p>
                  </a:txBody>
                  <a:tcPr marL="82296" marR="64008" marT="32004" marB="32004" anchor="ctr">
                    <a:solidFill>
                      <a:srgbClr val="FFFFFF"/>
                    </a:solidFill>
                  </a:tcPr>
                </a:tc>
                <a:tc>
                  <a:txBody>
                    <a:bodyPr wrap="square"/>
                    <a:lstStyle/>
                    <a:p>
                      <a:pPr algn="l"/>
                      <a:r>
                        <a:rPr sz="1050" b="0">
                          <a:solidFill>
                            <a:srgbClr val="1C1C1E"/>
                          </a:solidFill>
                          <a:latin typeface="Calibri"/>
                        </a:rPr>
                        <a:t>GET /derivations/{id} on every derived value</a:t>
                      </a:r>
                    </a:p>
                  </a:txBody>
                  <a:tcPr marL="82296" marR="64008" marT="32004" marB="32004" anchor="ctr">
                    <a:solidFill>
                      <a:srgbClr val="FFFFFF"/>
                    </a:solidFill>
                  </a:tcPr>
                </a:tc>
                <a:tc>
                  <a:txBody>
                    <a:bodyPr wrap="square"/>
                    <a:lstStyle/>
                    <a:p>
                      <a:pPr algn="l"/>
                      <a:r>
                        <a:rPr sz="1050" b="0">
                          <a:solidFill>
                            <a:srgbClr val="1C1C1E"/>
                          </a:solidFill>
                          <a:latin typeface="Calibri"/>
                        </a:rPr>
                        <a:t>Powers the universal [why?] affordance</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Time travel</a:t>
                      </a:r>
                    </a:p>
                  </a:txBody>
                  <a:tcPr marL="82296" marR="64008" marT="32004" marB="32004" anchor="ctr">
                    <a:solidFill>
                      <a:srgbClr val="F6F3EF"/>
                    </a:solidFill>
                  </a:tcPr>
                </a:tc>
                <a:tc>
                  <a:txBody>
                    <a:bodyPr wrap="square"/>
                    <a:lstStyle/>
                    <a:p>
                      <a:pPr algn="l"/>
                      <a:r>
                        <a:rPr sz="1050" b="0">
                          <a:solidFill>
                            <a:srgbClr val="1C1C1E"/>
                          </a:solidFill>
                          <a:latin typeface="Calibri"/>
                        </a:rPr>
                        <a:t>?as_of= on inventory reads</a:t>
                      </a:r>
                    </a:p>
                  </a:txBody>
                  <a:tcPr marL="82296" marR="64008" marT="32004" marB="32004" anchor="ctr">
                    <a:solidFill>
                      <a:srgbClr val="F6F3EF"/>
                    </a:solidFill>
                  </a:tcPr>
                </a:tc>
                <a:tc>
                  <a:txBody>
                    <a:bodyPr wrap="square"/>
                    <a:lstStyle/>
                    <a:p>
                      <a:pPr algn="l"/>
                      <a:r>
                        <a:rPr sz="1050" b="0">
                          <a:solidFill>
                            <a:srgbClr val="1C1C1E"/>
                          </a:solidFill>
                          <a:latin typeface="Calibri"/>
                        </a:rPr>
                        <a:t>Examiner questions about a past date</a:t>
                      </a:r>
                    </a:p>
                  </a:txBody>
                  <a:tcPr marL="82296" marR="64008" marT="32004" marB="32004" anchor="ctr">
                    <a:solidFill>
                      <a:srgbClr val="F6F3EF"/>
                    </a:solidFill>
                  </a:tcPr>
                </a:tc>
              </a:tr>
              <a:tr h="325259">
                <a:tc>
                  <a:txBody>
                    <a:bodyPr wrap="square"/>
                    <a:lstStyle/>
                    <a:p>
                      <a:pPr algn="l"/>
                      <a:r>
                        <a:rPr sz="1050" b="1">
                          <a:solidFill>
                            <a:srgbClr val="A51C30"/>
                          </a:solidFill>
                          <a:latin typeface="Calibri"/>
                        </a:rPr>
                        <a:t>Events</a:t>
                      </a:r>
                    </a:p>
                  </a:txBody>
                  <a:tcPr marL="82296" marR="64008" marT="32004" marB="32004" anchor="ctr">
                    <a:solidFill>
                      <a:srgbClr val="FFFFFF"/>
                    </a:solidFill>
                  </a:tcPr>
                </a:tc>
                <a:tc>
                  <a:txBody>
                    <a:bodyPr wrap="square"/>
                    <a:lstStyle/>
                    <a:p>
                      <a:pPr algn="l"/>
                      <a:r>
                        <a:rPr sz="1050" b="0">
                          <a:solidFill>
                            <a:srgbClr val="1C1C1E"/>
                          </a:solidFill>
                          <a:latin typeface="Calibri"/>
                        </a:rPr>
                        <a:t>GET /events (SSE)</a:t>
                      </a:r>
                    </a:p>
                  </a:txBody>
                  <a:tcPr marL="82296" marR="64008" marT="32004" marB="32004" anchor="ctr">
                    <a:solidFill>
                      <a:srgbClr val="FFFFFF"/>
                    </a:solidFill>
                  </a:tcPr>
                </a:tc>
                <a:tc>
                  <a:txBody>
                    <a:bodyPr wrap="square"/>
                    <a:lstStyle/>
                    <a:p>
                      <a:pPr algn="l"/>
                      <a:r>
                        <a:rPr sz="1050" b="0">
                          <a:solidFill>
                            <a:srgbClr val="1C1C1E"/>
                          </a:solidFill>
                          <a:latin typeface="Calibri"/>
                        </a:rPr>
                        <a:t>Task inbox, breaches, job progress without polling</a:t>
                      </a:r>
                    </a:p>
                  </a:txBody>
                  <a:tcPr marL="82296" marR="64008" marT="32004" marB="32004" anchor="ctr">
                    <a:solidFill>
                      <a:srgbClr val="FFFFFF"/>
                    </a:solidFill>
                  </a:tcPr>
                </a:tc>
              </a:tr>
              <a:tr h="325259">
                <a:tc>
                  <a:txBody>
                    <a:bodyPr wrap="square"/>
                    <a:lstStyle/>
                    <a:p>
                      <a:pPr algn="l"/>
                      <a:r>
                        <a:rPr sz="1050" b="1">
                          <a:solidFill>
                            <a:srgbClr val="A51C30"/>
                          </a:solidFill>
                          <a:latin typeface="Calibri"/>
                        </a:rPr>
                        <a:t>Deprecation</a:t>
                      </a:r>
                    </a:p>
                  </a:txBody>
                  <a:tcPr marL="82296" marR="64008" marT="32004" marB="32004" anchor="ctr">
                    <a:solidFill>
                      <a:srgbClr val="F6F3EF"/>
                    </a:solidFill>
                  </a:tcPr>
                </a:tc>
                <a:tc>
                  <a:txBody>
                    <a:bodyPr wrap="square"/>
                    <a:lstStyle/>
                    <a:p>
                      <a:pPr algn="l"/>
                      <a:r>
                        <a:rPr sz="1050" b="0">
                          <a:solidFill>
                            <a:srgbClr val="1C1C1E"/>
                          </a:solidFill>
                          <a:latin typeface="Calibri"/>
                        </a:rPr>
                        <a:t>Two minor versions of overlap; Sunset headers</a:t>
                      </a:r>
                    </a:p>
                  </a:txBody>
                  <a:tcPr marL="82296" marR="64008" marT="32004" marB="32004" anchor="ctr">
                    <a:solidFill>
                      <a:srgbClr val="F6F3EF"/>
                    </a:solidFill>
                  </a:tcPr>
                </a:tc>
                <a:tc>
                  <a:txBody>
                    <a:bodyPr wrap="square"/>
                    <a:lstStyle/>
                    <a:p>
                      <a:pPr algn="l"/>
                      <a:r>
                        <a:rPr sz="1050" b="0">
                          <a:solidFill>
                            <a:srgbClr val="1C1C1E"/>
                          </a:solidFill>
                          <a:latin typeface="Calibri"/>
                        </a:rPr>
                        <a:t>Clients are never surprised</a:t>
                      </a:r>
                    </a:p>
                  </a:txBody>
                  <a:tcPr marL="82296" marR="64008" marT="32004" marB="32004" anchor="ctr">
                    <a:solidFill>
                      <a:srgbClr val="F6F3EF"/>
                    </a:solidFill>
                  </a:tcPr>
                </a:tc>
              </a:tr>
            </a:tbl>
          </a:graphicData>
        </a:graphic>
      </p:graphicFrame>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INTERFACES · ENDPOINTS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Resource surface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22 · Interfaces and the SDK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124</a:t>
            </a:r>
          </a:p>
        </p:txBody>
      </p:sp>
      <p:graphicFrame>
        <p:nvGraphicFramePr>
          <p:cNvPr id="10" name="Table 9"/>
          <p:cNvGraphicFramePr>
            <a:graphicFrameLocks noGrp="1"/>
          </p:cNvGraphicFramePr>
          <p:nvPr/>
        </p:nvGraphicFramePr>
        <p:xfrm>
          <a:off x="777240" y="1353312"/>
          <a:ext cx="10637214" cy="4763516"/>
        </p:xfrm>
        <a:graphic>
          <a:graphicData uri="http://schemas.openxmlformats.org/drawingml/2006/table">
            <a:tbl>
              <a:tblPr firstRow="1">
                <a:tableStyleId>{5C22544A-7EE6-4342-B048-85BDC9FD1C3A}</a:tableStyleId>
              </a:tblPr>
              <a:tblGrid>
                <a:gridCol w="1650602"/>
                <a:gridCol w="8986612"/>
              </a:tblGrid>
              <a:tr h="329184">
                <a:tc>
                  <a:txBody>
                    <a:bodyPr wrap="square"/>
                    <a:lstStyle/>
                    <a:p>
                      <a:pPr algn="l"/>
                      <a:r>
                        <a:rPr sz="1050" b="1">
                          <a:solidFill>
                            <a:srgbClr val="FFFFFF"/>
                          </a:solidFill>
                          <a:latin typeface="Calibri"/>
                        </a:rPr>
                        <a:t>Group</a:t>
                      </a:r>
                    </a:p>
                  </a:txBody>
                  <a:tcPr marL="82296" marR="64008" marT="32004" marB="32004" anchor="ctr">
                    <a:solidFill>
                      <a:srgbClr val="A51C30"/>
                    </a:solidFill>
                  </a:tcPr>
                </a:tc>
                <a:tc>
                  <a:txBody>
                    <a:bodyPr wrap="square"/>
                    <a:lstStyle/>
                    <a:p>
                      <a:pPr algn="l"/>
                      <a:r>
                        <a:rPr sz="1050" b="1">
                          <a:solidFill>
                            <a:srgbClr val="FFFFFF"/>
                          </a:solidFill>
                          <a:latin typeface="Calibri"/>
                        </a:rPr>
                        <a:t>Endpoints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Models</a:t>
                      </a:r>
                    </a:p>
                  </a:txBody>
                  <a:tcPr marL="82296" marR="64008" marT="32004" marB="32004" anchor="ctr">
                    <a:solidFill>
                      <a:srgbClr val="FFFFFF"/>
                    </a:solidFill>
                  </a:tcPr>
                </a:tc>
                <a:tc>
                  <a:txBody>
                    <a:bodyPr wrap="square"/>
                    <a:lstStyle/>
                    <a:p>
                      <a:pPr algn="l"/>
                      <a:r>
                        <a:rPr sz="1000" b="0">
                          <a:solidFill>
                            <a:srgbClr val="1C1C1E"/>
                          </a:solidFill>
                          <a:latin typeface="Calibri"/>
                        </a:rPr>
                        <a:t>/models · /models/{urn} · /uses · /assumptions · /limitations · /relationships · /blast-radius · /scope-determinations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Versions</a:t>
                      </a:r>
                    </a:p>
                  </a:txBody>
                  <a:tcPr marL="82296" marR="64008" marT="32004" marB="32004" anchor="ctr">
                    <a:solidFill>
                      <a:srgbClr val="F6F3EF"/>
                    </a:solidFill>
                  </a:tcPr>
                </a:tc>
                <a:tc>
                  <a:txBody>
                    <a:bodyPr wrap="square"/>
                    <a:lstStyle/>
                    <a:p>
                      <a:pPr algn="l"/>
                      <a:r>
                        <a:rPr sz="1000" b="0">
                          <a:solidFill>
                            <a:srgbClr val="1C1C1E"/>
                          </a:solidFill>
                          <a:latin typeface="Calibri"/>
                        </a:rPr>
                        <a:t>/models/{urn}/versions · /versions/{id} · /compare · /contract · /reproducibility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Aliases</a:t>
                      </a:r>
                    </a:p>
                  </a:txBody>
                  <a:tcPr marL="82296" marR="64008" marT="32004" marB="32004" anchor="ctr">
                    <a:solidFill>
                      <a:srgbClr val="FFFFFF"/>
                    </a:solidFill>
                  </a:tcPr>
                </a:tc>
                <a:tc>
                  <a:txBody>
                    <a:bodyPr wrap="square"/>
                    <a:lstStyle/>
                    <a:p>
                      <a:pPr algn="l"/>
                      <a:r>
                        <a:rPr sz="1000" b="0">
                          <a:solidFill>
                            <a:srgbClr val="1C1C1E"/>
                          </a:solidFill>
                          <a:latin typeface="Calibri"/>
                        </a:rPr>
                        <a:t>/models/{urn}/environments/{env}/aliases/{name} · /history</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Risk</a:t>
                      </a:r>
                    </a:p>
                  </a:txBody>
                  <a:tcPr marL="82296" marR="64008" marT="32004" marB="32004" anchor="ctr">
                    <a:solidFill>
                      <a:srgbClr val="F6F3EF"/>
                    </a:solidFill>
                  </a:tcPr>
                </a:tc>
                <a:tc>
                  <a:txBody>
                    <a:bodyPr wrap="square"/>
                    <a:lstStyle/>
                    <a:p>
                      <a:pPr algn="l"/>
                      <a:r>
                        <a:rPr sz="1000" b="0">
                          <a:solidFill>
                            <a:srgbClr val="1C1C1E"/>
                          </a:solidFill>
                          <a:latin typeface="Calibri"/>
                        </a:rPr>
                        <a:t>/models/{urn}/assessments · /assessments/{id} · /tiering/rulesets · /tiering/simulate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Features</a:t>
                      </a:r>
                    </a:p>
                  </a:txBody>
                  <a:tcPr marL="82296" marR="64008" marT="32004" marB="32004" anchor="ctr">
                    <a:solidFill>
                      <a:srgbClr val="FFFFFF"/>
                    </a:solidFill>
                  </a:tcPr>
                </a:tc>
                <a:tc>
                  <a:txBody>
                    <a:bodyPr wrap="square"/>
                    <a:lstStyle/>
                    <a:p>
                      <a:pPr algn="l"/>
                      <a:r>
                        <a:rPr sz="1000" b="0">
                          <a:solidFill>
                            <a:srgbClr val="1C1C1E"/>
                          </a:solidFill>
                          <a:latin typeface="Calibri"/>
                        </a:rPr>
                        <a:t>/features · /feature-views · /feature-views/{id}/versions · /contracts · /training-sets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Runs</a:t>
                      </a:r>
                    </a:p>
                  </a:txBody>
                  <a:tcPr marL="82296" marR="64008" marT="32004" marB="32004" anchor="ctr">
                    <a:solidFill>
                      <a:srgbClr val="F6F3EF"/>
                    </a:solidFill>
                  </a:tcPr>
                </a:tc>
                <a:tc>
                  <a:txBody>
                    <a:bodyPr wrap="square"/>
                    <a:lstStyle/>
                    <a:p>
                      <a:pPr algn="l"/>
                      <a:r>
                        <a:rPr sz="1000" b="0">
                          <a:solidFill>
                            <a:srgbClr val="1C1C1E"/>
                          </a:solidFill>
                          <a:latin typeface="Calibri"/>
                        </a:rPr>
                        <a:t>/runs · /runs/{id}/metrics · /artifacts · /runs/{id}/replay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Validation</a:t>
                      </a:r>
                    </a:p>
                  </a:txBody>
                  <a:tcPr marL="82296" marR="64008" marT="32004" marB="32004" anchor="ctr">
                    <a:solidFill>
                      <a:srgbClr val="FFFFFF"/>
                    </a:solidFill>
                  </a:tcPr>
                </a:tc>
                <a:tc>
                  <a:txBody>
                    <a:bodyPr wrap="square"/>
                    <a:lstStyle/>
                    <a:p>
                      <a:pPr algn="l"/>
                      <a:r>
                        <a:rPr sz="1000" b="0">
                          <a:solidFill>
                            <a:srgbClr val="1C1C1E"/>
                          </a:solidFill>
                          <a:latin typeface="Calibri"/>
                        </a:rPr>
                        <a:t>/validations · /validations/{id}/tests · /findings · /findings/{id}/remediation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Overlays</a:t>
                      </a:r>
                    </a:p>
                  </a:txBody>
                  <a:tcPr marL="82296" marR="64008" marT="32004" marB="32004" anchor="ctr">
                    <a:solidFill>
                      <a:srgbClr val="F6F3EF"/>
                    </a:solidFill>
                  </a:tcPr>
                </a:tc>
                <a:tc>
                  <a:txBody>
                    <a:bodyPr wrap="square"/>
                    <a:lstStyle/>
                    <a:p>
                      <a:pPr algn="l"/>
                      <a:r>
                        <a:rPr sz="1000" b="0">
                          <a:solidFill>
                            <a:srgbClr val="1C1C1E"/>
                          </a:solidFill>
                          <a:latin typeface="Calibri"/>
                        </a:rPr>
                        <a:t>/overlays · /overlays/{id}/measurements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Monitoring</a:t>
                      </a:r>
                    </a:p>
                  </a:txBody>
                  <a:tcPr marL="82296" marR="64008" marT="32004" marB="32004" anchor="ctr">
                    <a:solidFill>
                      <a:srgbClr val="FFFFFF"/>
                    </a:solidFill>
                  </a:tcPr>
                </a:tc>
                <a:tc>
                  <a:txBody>
                    <a:bodyPr wrap="square"/>
                    <a:lstStyle/>
                    <a:p>
                      <a:pPr algn="l"/>
                      <a:r>
                        <a:rPr sz="1000" b="0">
                          <a:solidFill>
                            <a:srgbClr val="1C1C1E"/>
                          </a:solidFill>
                          <a:latin typeface="Calibri"/>
                        </a:rPr>
                        <a:t>/monitors · /observations · /breaches · /health/{urn}</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Warrants</a:t>
                      </a:r>
                    </a:p>
                  </a:txBody>
                  <a:tcPr marL="82296" marR="64008" marT="32004" marB="32004" anchor="ctr">
                    <a:solidFill>
                      <a:srgbClr val="F6F3EF"/>
                    </a:solidFill>
                  </a:tcPr>
                </a:tc>
                <a:tc>
                  <a:txBody>
                    <a:bodyPr wrap="square"/>
                    <a:lstStyle/>
                    <a:p>
                      <a:pPr algn="l"/>
                      <a:r>
                        <a:rPr sz="1000" b="0">
                          <a:solidFill>
                            <a:srgbClr val="1C1C1E"/>
                          </a:solidFill>
                          <a:latin typeface="Calibri"/>
                        </a:rPr>
                        <a:t>/warrants · /v1/resolve (warrant service) · /warrants/{id}/revoke · /telemetry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Documents</a:t>
                      </a:r>
                    </a:p>
                  </a:txBody>
                  <a:tcPr marL="82296" marR="64008" marT="32004" marB="32004" anchor="ctr">
                    <a:solidFill>
                      <a:srgbClr val="FFFFFF"/>
                    </a:solidFill>
                  </a:tcPr>
                </a:tc>
                <a:tc>
                  <a:txBody>
                    <a:bodyPr wrap="square"/>
                    <a:lstStyle/>
                    <a:p>
                      <a:pPr algn="l"/>
                      <a:r>
                        <a:rPr sz="1000" b="0">
                          <a:solidFill>
                            <a:srgbClr val="1C1C1E"/>
                          </a:solidFill>
                          <a:latin typeface="Calibri"/>
                        </a:rPr>
                        <a:t>/documents/compile · /documents/{id} · /documents/{id}/render · /export-packs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Policy</a:t>
                      </a:r>
                    </a:p>
                  </a:txBody>
                  <a:tcPr marL="82296" marR="64008" marT="32004" marB="32004" anchor="ctr">
                    <a:solidFill>
                      <a:srgbClr val="F6F3EF"/>
                    </a:solidFill>
                  </a:tcPr>
                </a:tc>
                <a:tc>
                  <a:txBody>
                    <a:bodyPr wrap="square"/>
                    <a:lstStyle/>
                    <a:p>
                      <a:pPr algn="l"/>
                      <a:r>
                        <a:rPr sz="1000" b="0">
                          <a:solidFill>
                            <a:srgbClr val="1C1C1E"/>
                          </a:solidFill>
                          <a:latin typeface="Calibri"/>
                        </a:rPr>
                        <a:t>/policies · /policies/evaluate · /obligations</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Assistance</a:t>
                      </a:r>
                    </a:p>
                  </a:txBody>
                  <a:tcPr marL="82296" marR="64008" marT="32004" marB="32004" anchor="ctr">
                    <a:solidFill>
                      <a:srgbClr val="FFFFFF"/>
                    </a:solidFill>
                  </a:tcPr>
                </a:tc>
                <a:tc>
                  <a:txBody>
                    <a:bodyPr wrap="square"/>
                    <a:lstStyle/>
                    <a:p>
                      <a:pPr algn="l"/>
                      <a:r>
                        <a:rPr sz="1000" b="0">
                          <a:solidFill>
                            <a:srgbClr val="1C1C1E"/>
                          </a:solidFill>
                          <a:latin typeface="Calibri"/>
                        </a:rPr>
                        <a:t>/ai/capabilities · /ai/{capability}/draft · /ai/generations/{id}/attest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Admin</a:t>
                      </a:r>
                    </a:p>
                  </a:txBody>
                  <a:tcPr marL="82296" marR="64008" marT="32004" marB="32004" anchor="ctr">
                    <a:solidFill>
                      <a:srgbClr val="F6F3EF"/>
                    </a:solidFill>
                  </a:tcPr>
                </a:tc>
                <a:tc>
                  <a:txBody>
                    <a:bodyPr wrap="square"/>
                    <a:lstStyle/>
                    <a:p>
                      <a:pPr algn="l"/>
                      <a:r>
                        <a:rPr sz="1000" b="0">
                          <a:solidFill>
                            <a:srgbClr val="1C1C1E"/>
                          </a:solidFill>
                          <a:latin typeface="Calibri"/>
                        </a:rPr>
                        <a:t>/model-classes · /lifecycles · /templates · /regimes · /connectors · /users</a:t>
                      </a:r>
                    </a:p>
                  </a:txBody>
                  <a:tcPr marL="82296" marR="64008" marT="32004" marB="32004" anchor="ctr">
                    <a:solidFill>
                      <a:srgbClr val="F6F3EF"/>
                    </a:solidFill>
                  </a:tcPr>
                </a:tc>
              </a:tr>
            </a:tbl>
          </a:graphicData>
        </a:graphic>
      </p:graphicFrame>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INTERFACES · IDENTITY</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Single sign-on — and the part of it that is not mechanical</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22 · Interfaces and the SDK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125</a:t>
            </a:r>
          </a:p>
        </p:txBody>
      </p:sp>
      <p:sp>
        <p:nvSpPr>
          <p:cNvPr id="10" name="TextBox 9"/>
          <p:cNvSpPr txBox="1"/>
          <p:nvPr/>
        </p:nvSpPr>
        <p:spPr>
          <a:xfrm>
            <a:off x="777240" y="1764792"/>
            <a:ext cx="553135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The mechanical half</a:t>
            </a:r>
          </a:p>
        </p:txBody>
      </p:sp>
      <p:sp>
        <p:nvSpPr>
          <p:cNvPr id="11" name="Rectangle 10"/>
          <p:cNvSpPr/>
          <p:nvPr/>
        </p:nvSpPr>
        <p:spPr>
          <a:xfrm>
            <a:off x="777240" y="2130552"/>
            <a:ext cx="5531351" cy="2110800"/>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2130552"/>
            <a:ext cx="41148" cy="2110800"/>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78408" y="222199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core/authz/jws.py — standard library only</a:t>
            </a:r>
          </a:p>
        </p:txBody>
      </p:sp>
      <p:sp>
        <p:nvSpPr>
          <p:cNvPr id="14" name="TextBox 13"/>
          <p:cNvSpPr txBox="1"/>
          <p:nvPr/>
        </p:nvSpPr>
        <p:spPr>
          <a:xfrm>
            <a:off x="978408" y="2523744"/>
            <a:ext cx="5165591" cy="1635312"/>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7A7F87"/>
                </a:solidFill>
                <a:latin typeface="Consolas"/>
              </a:rPr>
              <a:t># authorisation code + PKCE + state + nonce</a:t>
            </a:r>
          </a:p>
          <a:p>
            <a:pPr>
              <a:lnSpc>
                <a:spcPct val="134000"/>
              </a:lnSpc>
              <a:spcBef>
                <a:spcPts val="0"/>
              </a:spcBef>
              <a:spcAft>
                <a:spcPts val="0"/>
              </a:spcAft>
            </a:pPr>
            <a:r>
              <a:rPr sz="900" b="0" i="0">
                <a:solidFill>
                  <a:srgbClr val="1C1C1E"/>
                </a:solidFill>
                <a:latin typeface="Consolas"/>
              </a:rPr>
              <a:t>recovered = pow(sig, e, n)</a:t>
            </a:r>
          </a:p>
          <a:p>
            <a:pPr>
              <a:lnSpc>
                <a:spcPct val="134000"/>
              </a:lnSpc>
              <a:spcBef>
                <a:spcPts val="0"/>
              </a:spcBef>
              <a:spcAft>
                <a:spcPts val="0"/>
              </a:spcAft>
            </a:pPr>
            <a:r>
              <a:rPr sz="900" b="0" i="0">
                <a:solidFill>
                  <a:srgbClr val="1C1C1E"/>
                </a:solidFill>
                <a:latin typeface="Consolas"/>
              </a:rPr>
              <a:t>expected  = b"\x00\x01" + b"\xff" * pad + b"\x00" \</a:t>
            </a:r>
          </a:p>
          <a:p>
            <a:pPr>
              <a:lnSpc>
                <a:spcPct val="134000"/>
              </a:lnSpc>
              <a:spcBef>
                <a:spcPts val="0"/>
              </a:spcBef>
              <a:spcAft>
                <a:spcPts val="0"/>
              </a:spcAft>
            </a:pPr>
            <a:r>
              <a:rPr sz="900" b="0" i="0">
                <a:solidFill>
                  <a:srgbClr val="1C1C1E"/>
                </a:solidFill>
                <a:latin typeface="Consolas"/>
              </a:rPr>
              <a:t>          + SHA256_DIGEST_INFO + digest</a:t>
            </a:r>
          </a:p>
          <a:p>
            <a:pPr>
              <a:lnSpc>
                <a:spcPct val="134000"/>
              </a:lnSpc>
              <a:spcBef>
                <a:spcPts val="0"/>
              </a:spcBef>
              <a:spcAft>
                <a:spcPts val="0"/>
              </a:spcAft>
            </a:pPr>
            <a:r>
              <a:rPr sz="900" b="0" i="0">
                <a:solidFill>
                  <a:srgbClr val="1C1C1E"/>
                </a:solidFill>
                <a:latin typeface="Consolas"/>
              </a:rPr>
              <a:t>return hmac.compare_digest(recovered, expected)</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7A7F87"/>
                </a:solidFill>
                <a:latin typeface="Consolas"/>
              </a:rPr>
              <a:t># and the algorithm is DECIDED, never read:</a:t>
            </a:r>
          </a:p>
          <a:p>
            <a:pPr>
              <a:lnSpc>
                <a:spcPct val="134000"/>
              </a:lnSpc>
              <a:spcBef>
                <a:spcPts val="0"/>
              </a:spcBef>
              <a:spcAft>
                <a:spcPts val="0"/>
              </a:spcAft>
            </a:pPr>
            <a:r>
              <a:rPr sz="900" b="0" i="0">
                <a:solidFill>
                  <a:srgbClr val="1C1C1E"/>
                </a:solidFill>
                <a:latin typeface="Consolas"/>
              </a:rPr>
              <a:t>if header["alg"] != "RS256": raise unsupported</a:t>
            </a:r>
          </a:p>
        </p:txBody>
      </p:sp>
      <p:sp>
        <p:nvSpPr>
          <p:cNvPr id="15" name="TextBox 14"/>
          <p:cNvSpPr txBox="1"/>
          <p:nvPr/>
        </p:nvSpPr>
        <p:spPr>
          <a:xfrm>
            <a:off x="777240" y="4460808"/>
            <a:ext cx="5531351" cy="1828800"/>
          </a:xfrm>
          <a:prstGeom prst="rect">
            <a:avLst/>
          </a:prstGeom>
          <a:noFill/>
        </p:spPr>
        <p:txBody>
          <a:bodyPr wrap="square" lIns="0" rIns="0" tIns="0" bIns="0" anchor="t">
            <a:spAutoFit/>
          </a:bodyPr>
          <a:lstStyle/>
          <a:p>
            <a:pPr algn="l"/>
          </a:p>
          <a:p>
            <a:pPr>
              <a:spcBef>
                <a:spcPts val="700"/>
              </a:spcBef>
              <a:spcAft>
                <a:spcPts val="300"/>
              </a:spcAft>
            </a:pPr>
            <a:r>
              <a:rPr sz="1050" b="1">
                <a:solidFill>
                  <a:srgbClr val="A51C30"/>
                </a:solidFill>
                <a:latin typeface="Calibri"/>
              </a:rPr>
              <a:t>▪  </a:t>
            </a:r>
            <a:r>
              <a:rPr sz="1050" b="1">
                <a:solidFill>
                  <a:srgbClr val="1C1C1E"/>
                </a:solidFill>
                <a:latin typeface="Calibri"/>
              </a:rPr>
              <a:t>CONSTRUCT the padded block, never parse what you recover</a:t>
            </a:r>
          </a:p>
          <a:p>
            <a:pPr lvl="1">
              <a:spcBef>
                <a:spcPts val="0"/>
              </a:spcBef>
              <a:spcAft>
                <a:spcPts val="0"/>
              </a:spcAft>
            </a:pPr>
            <a:r>
              <a:rPr sz="950">
                <a:solidFill>
                  <a:srgbClr val="4A4F57"/>
                </a:solidFill>
                <a:latin typeface="Calibri"/>
              </a:rPr>
              <a:t>that is the difference between correct PKCS#1 v1.5 and the Bleichenbacher forgery, which works precisely against verifiers that parse</a:t>
            </a:r>
          </a:p>
          <a:p>
            <a:pPr>
              <a:spcBef>
                <a:spcPts val="700"/>
              </a:spcBef>
              <a:spcAft>
                <a:spcPts val="300"/>
              </a:spcAft>
            </a:pPr>
            <a:r>
              <a:rPr sz="1050" b="1">
                <a:solidFill>
                  <a:srgbClr val="A51C30"/>
                </a:solidFill>
                <a:latin typeface="Calibri"/>
              </a:rPr>
              <a:t>▪  </a:t>
            </a:r>
            <a:r>
              <a:rPr sz="1050" b="1">
                <a:solidFill>
                  <a:srgbClr val="1C1C1E"/>
                </a:solidFill>
                <a:latin typeface="Calibri"/>
              </a:rPr>
              <a:t>Decide the algorithm; do not read alg from the token</a:t>
            </a:r>
          </a:p>
          <a:p>
            <a:pPr lvl="1">
              <a:spcBef>
                <a:spcPts val="0"/>
              </a:spcBef>
              <a:spcAft>
                <a:spcPts val="0"/>
              </a:spcAft>
            </a:pPr>
            <a:r>
              <a:rPr sz="950">
                <a:solidFill>
                  <a:srgbClr val="4A4F57"/>
                </a:solidFill>
                <a:latin typeface="Calibri"/>
              </a:rPr>
              <a:t>the other famous way a JWT is accepted with no signature at all</a:t>
            </a:r>
          </a:p>
          <a:p>
            <a:pPr>
              <a:spcBef>
                <a:spcPts val="700"/>
              </a:spcBef>
              <a:spcAft>
                <a:spcPts val="300"/>
              </a:spcAft>
            </a:pPr>
            <a:r>
              <a:rPr sz="1050" b="1">
                <a:solidFill>
                  <a:srgbClr val="A51C30"/>
                </a:solidFill>
                <a:latin typeface="Calibri"/>
              </a:rPr>
              <a:t>▪  </a:t>
            </a:r>
            <a:r>
              <a:rPr sz="1050" b="1">
                <a:solidFill>
                  <a:srgbClr val="1C1C1E"/>
                </a:solidFill>
                <a:latin typeface="Calibri"/>
              </a:rPr>
              <a:t>No crypto dependency, by design</a:t>
            </a:r>
          </a:p>
          <a:p>
            <a:pPr lvl="1">
              <a:spcBef>
                <a:spcPts val="0"/>
              </a:spcBef>
              <a:spcAft>
                <a:spcPts val="0"/>
              </a:spcAft>
            </a:pPr>
            <a:r>
              <a:rPr sz="950">
                <a:solidFill>
                  <a:srgbClr val="4A4F57"/>
                </a:solidFill>
                <a:latin typeface="Calibri"/>
              </a:rPr>
              <a:t>a governance system that cannot be deployed air-gapped is one somebody works around — the same reason every front-end asset is vendored</a:t>
            </a:r>
          </a:p>
        </p:txBody>
      </p:sp>
      <p:sp>
        <p:nvSpPr>
          <p:cNvPr id="16" name="TextBox 15"/>
          <p:cNvSpPr txBox="1"/>
          <p:nvPr/>
        </p:nvSpPr>
        <p:spPr>
          <a:xfrm>
            <a:off x="6734080" y="1764792"/>
            <a:ext cx="4680374" cy="320040"/>
          </a:xfrm>
          <a:prstGeom prst="rect">
            <a:avLst/>
          </a:prstGeom>
          <a:noFill/>
        </p:spPr>
        <p:txBody>
          <a:bodyPr wrap="square" lIns="0" rIns="0" tIns="0" bIns="0" anchor="t">
            <a:spAutoFit/>
          </a:bodyPr>
          <a:lstStyle/>
          <a:p>
            <a:pPr algn="l">
              <a:spcBef>
                <a:spcPts val="0"/>
              </a:spcBef>
              <a:spcAft>
                <a:spcPts val="0"/>
              </a:spcAft>
            </a:pPr>
            <a:r>
              <a:rPr sz="1250" b="1" i="0">
                <a:solidFill>
                  <a:srgbClr val="A51C30"/>
                </a:solidFill>
                <a:latin typeface="Georgia"/>
              </a:rPr>
              <a:t>The half that is not</a:t>
            </a:r>
          </a:p>
        </p:txBody>
      </p:sp>
      <p:sp>
        <p:nvSpPr>
          <p:cNvPr id="17" name="TextBox 16"/>
          <p:cNvSpPr txBox="1"/>
          <p:nvPr/>
        </p:nvSpPr>
        <p:spPr>
          <a:xfrm>
            <a:off x="6734080" y="2148840"/>
            <a:ext cx="4680374" cy="1051560"/>
          </a:xfrm>
          <a:prstGeom prst="rect">
            <a:avLst/>
          </a:prstGeom>
          <a:noFill/>
        </p:spPr>
        <p:txBody>
          <a:bodyPr wrap="square" lIns="0" rIns="0" tIns="0" bIns="0" anchor="t">
            <a:spAutoFit/>
          </a:bodyPr>
          <a:lstStyle/>
          <a:p>
            <a:pPr algn="l">
              <a:lnSpc>
                <a:spcPct val="126000"/>
              </a:lnSpc>
              <a:spcBef>
                <a:spcPts val="0"/>
              </a:spcBef>
              <a:spcAft>
                <a:spcPts val="0"/>
              </a:spcAft>
            </a:pPr>
            <a:r>
              <a:rPr sz="1150" b="0" i="0">
                <a:solidFill>
                  <a:srgbClr val="1C1C1E"/>
                </a:solidFill>
                <a:latin typeface="Calibri"/>
              </a:rPr>
              <a:t>An identity provider that grants MAYA roles is one that </a:t>
            </a:r>
            <a:r>
              <a:rPr sz="1150" b="1" i="0">
                <a:solidFill>
                  <a:srgbClr val="A51C30"/>
                </a:solidFill>
                <a:latin typeface="Calibri"/>
              </a:rPr>
              <a:t>decides segregation of duties</a:t>
            </a:r>
            <a:r>
              <a:rPr sz="1150" b="0" i="0">
                <a:solidFill>
                  <a:srgbClr val="1C1C1E"/>
                </a:solidFill>
                <a:latin typeface="Calibri"/>
              </a:rPr>
              <a:t> — and the person administering it is very often the person whose duties are being segregated.</a:t>
            </a:r>
          </a:p>
        </p:txBody>
      </p:sp>
      <p:graphicFrame>
        <p:nvGraphicFramePr>
          <p:cNvPr id="18" name="Table 17"/>
          <p:cNvGraphicFramePr>
            <a:graphicFrameLocks noGrp="1"/>
          </p:cNvGraphicFramePr>
          <p:nvPr/>
        </p:nvGraphicFramePr>
        <p:xfrm>
          <a:off x="6734080" y="3182112"/>
          <a:ext cx="4680374" cy="1948203"/>
        </p:xfrm>
        <a:graphic>
          <a:graphicData uri="http://schemas.openxmlformats.org/drawingml/2006/table">
            <a:tbl>
              <a:tblPr firstRow="1">
                <a:tableStyleId>{5C22544A-7EE6-4342-B048-85BDC9FD1C3A}</a:tableStyleId>
              </a:tblPr>
              <a:tblGrid>
                <a:gridCol w="1942797"/>
                <a:gridCol w="2737577"/>
              </a:tblGrid>
              <a:tr h="329184">
                <a:tc>
                  <a:txBody>
                    <a:bodyPr wrap="square"/>
                    <a:lstStyle/>
                    <a:p>
                      <a:pPr algn="l"/>
                      <a:r>
                        <a:rPr sz="900" b="1">
                          <a:solidFill>
                            <a:srgbClr val="FFFFFF"/>
                          </a:solidFill>
                          <a:latin typeface="Calibri"/>
                        </a:rPr>
                        <a:t>Rule</a:t>
                      </a:r>
                    </a:p>
                  </a:txBody>
                  <a:tcPr marL="82296" marR="64008" marT="32004" marB="32004" anchor="ctr">
                    <a:solidFill>
                      <a:srgbClr val="A51C30"/>
                    </a:solidFill>
                  </a:tcPr>
                </a:tc>
                <a:tc>
                  <a:txBody>
                    <a:bodyPr wrap="square"/>
                    <a:lstStyle/>
                    <a:p>
                      <a:pPr algn="l"/>
                      <a:r>
                        <a:rPr sz="900" b="1">
                          <a:solidFill>
                            <a:srgbClr val="FFFFFF"/>
                          </a:solidFill>
                          <a:latin typeface="Calibri"/>
                        </a:rPr>
                        <a:t>Because</a:t>
                      </a:r>
                    </a:p>
                  </a:txBody>
                  <a:tcPr marL="82296" marR="64008" marT="32004" marB="32004" anchor="ctr">
                    <a:solidFill>
                      <a:srgbClr val="A51C30"/>
                    </a:solidFill>
                  </a:tcPr>
                </a:tc>
              </a:tr>
              <a:tr h="310896">
                <a:tc>
                  <a:txBody>
                    <a:bodyPr wrap="square"/>
                    <a:lstStyle/>
                    <a:p>
                      <a:pPr algn="l"/>
                      <a:r>
                        <a:rPr sz="850" b="1">
                          <a:solidFill>
                            <a:srgbClr val="A51C30"/>
                          </a:solidFill>
                          <a:latin typeface="Calibri"/>
                        </a:rPr>
                        <a:t>Groups are MAPPED, never obeyed</a:t>
                      </a:r>
                    </a:p>
                  </a:txBody>
                  <a:tcPr marL="82296" marR="64008" marT="32004" marB="32004" anchor="ctr">
                    <a:solidFill>
                      <a:srgbClr val="FFFFFF"/>
                    </a:solidFill>
                  </a:tcPr>
                </a:tc>
                <a:tc>
                  <a:txBody>
                    <a:bodyPr wrap="square"/>
                    <a:lstStyle/>
                    <a:p>
                      <a:pPr algn="l"/>
                      <a:r>
                        <a:rPr sz="850" b="0">
                          <a:solidFill>
                            <a:srgbClr val="1C1C1E"/>
                          </a:solidFill>
                          <a:latin typeface="Calibri"/>
                        </a:rPr>
                        <a:t>An unmapped group grants nothing</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Identity binds to (issuer, subject)</a:t>
                      </a:r>
                    </a:p>
                  </a:txBody>
                  <a:tcPr marL="82296" marR="64008" marT="32004" marB="32004" anchor="ctr">
                    <a:solidFill>
                      <a:srgbClr val="F6F3EF"/>
                    </a:solidFill>
                  </a:tcPr>
                </a:tc>
                <a:tc>
                  <a:txBody>
                    <a:bodyPr wrap="square"/>
                    <a:lstStyle/>
                    <a:p>
                      <a:pPr algn="l"/>
                      <a:r>
                        <a:rPr sz="850" b="0">
                          <a:solidFill>
                            <a:srgbClr val="1C1C1E"/>
                          </a:solidFill>
                          <a:latin typeface="Calibri"/>
                        </a:rPr>
                        <a:t>A username is not an identity: claiming to be called admin once made you one</a:t>
                      </a:r>
                    </a:p>
                  </a:txBody>
                  <a:tcPr marL="82296" marR="64008" marT="32004" marB="32004" anchor="ctr">
                    <a:solidFill>
                      <a:srgbClr val="F6F3EF"/>
                    </a:solidFill>
                  </a:tcPr>
                </a:tc>
              </a:tr>
              <a:tr h="436041">
                <a:tc>
                  <a:txBody>
                    <a:bodyPr wrap="square"/>
                    <a:lstStyle/>
                    <a:p>
                      <a:pPr algn="l"/>
                      <a:r>
                        <a:rPr sz="850" b="1">
                          <a:solidFill>
                            <a:srgbClr val="A51C30"/>
                          </a:solidFill>
                          <a:latin typeface="Calibri"/>
                        </a:rPr>
                        <a:t>Incompatible roles refuse the LOGIN</a:t>
                      </a:r>
                    </a:p>
                  </a:txBody>
                  <a:tcPr marL="82296" marR="64008" marT="32004" marB="32004" anchor="ctr">
                    <a:solidFill>
                      <a:srgbClr val="FFFFFF"/>
                    </a:solidFill>
                  </a:tcPr>
                </a:tc>
                <a:tc>
                  <a:txBody>
                    <a:bodyPr wrap="square"/>
                    <a:lstStyle/>
                    <a:p>
                      <a:pPr algn="l"/>
                      <a:r>
                        <a:rPr sz="850" b="0">
                          <a:solidFill>
                            <a:srgbClr val="1C1C1E"/>
                          </a:solidFill>
                          <a:latin typeface="Calibri"/>
                        </a:rPr>
                        <a:t>Checked before provisioning, so the lesser problem cannot hide the greater</a:t>
                      </a:r>
                    </a:p>
                  </a:txBody>
                  <a:tcPr marL="82296" marR="64008" marT="32004" marB="32004" anchor="ctr">
                    <a:solidFill>
                      <a:srgbClr val="FFFFFF"/>
                    </a:solidFill>
                  </a:tcPr>
                </a:tc>
              </a:tr>
              <a:tr h="436041">
                <a:tc>
                  <a:txBody>
                    <a:bodyPr wrap="square"/>
                    <a:lstStyle/>
                    <a:p>
                      <a:pPr algn="l"/>
                      <a:r>
                        <a:rPr sz="850" b="1">
                          <a:solidFill>
                            <a:srgbClr val="A51C30"/>
                          </a:solidFill>
                          <a:latin typeface="Calibri"/>
                        </a:rPr>
                        <a:t>Issuer, subject and groups recorded</a:t>
                      </a:r>
                    </a:p>
                  </a:txBody>
                  <a:tcPr marL="82296" marR="64008" marT="32004" marB="32004" anchor="ctr">
                    <a:solidFill>
                      <a:srgbClr val="F6F3EF"/>
                    </a:solidFill>
                  </a:tcPr>
                </a:tc>
                <a:tc>
                  <a:txBody>
                    <a:bodyPr wrap="square"/>
                    <a:lstStyle/>
                    <a:p>
                      <a:pPr algn="l"/>
                      <a:r>
                        <a:rPr sz="850" b="0">
                          <a:solidFill>
                            <a:srgbClr val="1C1C1E"/>
                          </a:solidFill>
                          <a:latin typeface="Calibri"/>
                        </a:rPr>
                        <a:t>“Why did they hold that role in March” survives the directory moving on</a:t>
                      </a:r>
                    </a:p>
                  </a:txBody>
                  <a:tcPr marL="82296" marR="64008" marT="32004" marB="32004" anchor="ctr">
                    <a:solidFill>
                      <a:srgbClr val="F6F3EF"/>
                    </a:solidFill>
                  </a:tcPr>
                </a:tc>
              </a:tr>
            </a:tbl>
          </a:graphicData>
        </a:graphic>
      </p:graphicFrame>
      <p:sp>
        <p:nvSpPr>
          <p:cNvPr id="19" name="Rectangle 18"/>
          <p:cNvSpPr/>
          <p:nvPr/>
        </p:nvSpPr>
        <p:spPr>
          <a:xfrm>
            <a:off x="777240" y="5313197"/>
            <a:ext cx="10637215" cy="56692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77240" y="5313197"/>
            <a:ext cx="41148" cy="56692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1051560" y="5404637"/>
            <a:ext cx="10088575" cy="45720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No SAML and no SCIM. </a:t>
            </a:r>
            <a:r>
              <a:rPr sz="1100" b="0" i="0">
                <a:solidFill>
                  <a:srgbClr val="1C1C1E"/>
                </a:solidFill>
                <a:latin typeface="Calibri"/>
              </a:rPr>
              <a:t>OIDC is supported; a SAML-only directory and automatic deprovisioning are not, so </a:t>
            </a:r>
            <a:r>
              <a:rPr sz="1100" b="1" i="0">
                <a:solidFill>
                  <a:srgbClr val="1C1C1E"/>
                </a:solidFill>
                <a:latin typeface="Calibri"/>
              </a:rPr>
              <a:t>a leaver is suspended by hand</a:t>
            </a:r>
            <a:r>
              <a:rPr sz="1100" b="0" i="0">
                <a:solidFill>
                  <a:srgbClr val="1C1C1E"/>
                </a:solidFill>
                <a:latin typeface="Calibri"/>
              </a:rPr>
              <a:t> — which is an operational obligation worth stating here rather than discovering in an access review.</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INTERFACES · CLIENTS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Front end and SDK</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22 · Interfaces and the SDK</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126</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maya-web — a separate process</a:t>
            </a:r>
          </a:p>
        </p:txBody>
      </p:sp>
      <p:graphicFrame>
        <p:nvGraphicFramePr>
          <p:cNvPr id="11" name="Table 10"/>
          <p:cNvGraphicFramePr>
            <a:graphicFrameLocks noGrp="1"/>
          </p:cNvGraphicFramePr>
          <p:nvPr/>
        </p:nvGraphicFramePr>
        <p:xfrm>
          <a:off x="777240" y="1719072"/>
          <a:ext cx="4999490" cy="2680208"/>
        </p:xfrm>
        <a:graphic>
          <a:graphicData uri="http://schemas.openxmlformats.org/drawingml/2006/table">
            <a:tbl>
              <a:tblPr firstRow="1">
                <a:tableStyleId>{5C22544A-7EE6-4342-B048-85BDC9FD1C3A}</a:tableStyleId>
              </a:tblPr>
              <a:tblGrid>
                <a:gridCol w="1140234"/>
                <a:gridCol w="3859256"/>
              </a:tblGrid>
              <a:tr h="329184">
                <a:tc>
                  <a:txBody>
                    <a:bodyPr wrap="square"/>
                    <a:lstStyle/>
                    <a:p>
                      <a:pPr algn="l"/>
                      <a:r>
                        <a:rPr sz="1050" b="1">
                          <a:solidFill>
                            <a:srgbClr val="FFFFFF"/>
                          </a:solidFill>
                          <a:latin typeface="Calibri"/>
                        </a:rPr>
                        <a:t>Concern</a:t>
                      </a:r>
                    </a:p>
                  </a:txBody>
                  <a:tcPr marL="82296" marR="64008" marT="32004" marB="32004" anchor="ctr">
                    <a:solidFill>
                      <a:srgbClr val="A51C30"/>
                    </a:solidFill>
                  </a:tcPr>
                </a:tc>
                <a:tc>
                  <a:txBody>
                    <a:bodyPr wrap="square"/>
                    <a:lstStyle/>
                    <a:p>
                      <a:pPr algn="l"/>
                      <a:r>
                        <a:rPr sz="1050" b="1">
                          <a:solidFill>
                            <a:srgbClr val="FFFFFF"/>
                          </a:solidFill>
                          <a:latin typeface="Calibri"/>
                        </a:rPr>
                        <a:t>Design</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Auth</a:t>
                      </a:r>
                    </a:p>
                  </a:txBody>
                  <a:tcPr marL="82296" marR="64008" marT="32004" marB="32004" anchor="ctr">
                    <a:solidFill>
                      <a:srgbClr val="FFFFFF"/>
                    </a:solidFill>
                  </a:tcPr>
                </a:tc>
                <a:tc>
                  <a:txBody>
                    <a:bodyPr wrap="square"/>
                    <a:lstStyle/>
                    <a:p>
                      <a:pPr algn="l"/>
                      <a:r>
                        <a:rPr sz="1000" b="0">
                          <a:solidFill>
                            <a:srgbClr val="1C1C1E"/>
                          </a:solidFill>
                          <a:latin typeface="Calibri"/>
                        </a:rPr>
                        <a:t>OIDC + PKCE; access token in memory only; refresh via __Host- SameSite=Strict cookie</a:t>
                      </a:r>
                    </a:p>
                  </a:txBody>
                  <a:tcPr marL="82296" marR="64008" marT="32004" marB="32004" anchor="ctr">
                    <a:solidFill>
                      <a:srgbClr val="FFFFFF"/>
                    </a:solidFill>
                  </a:tcPr>
                </a:tc>
              </a:tr>
              <a:tr h="402336">
                <a:tc>
                  <a:txBody>
                    <a:bodyPr wrap="square"/>
                    <a:lstStyle/>
                    <a:p>
                      <a:pPr algn="l"/>
                      <a:r>
                        <a:rPr sz="1000" b="1">
                          <a:solidFill>
                            <a:srgbClr val="A51C30"/>
                          </a:solidFill>
                          <a:latin typeface="Calibri"/>
                        </a:rPr>
                        <a:t>Logic</a:t>
                      </a:r>
                    </a:p>
                  </a:txBody>
                  <a:tcPr marL="82296" marR="64008" marT="32004" marB="32004" anchor="ctr">
                    <a:solidFill>
                      <a:srgbClr val="F6F3EF"/>
                    </a:solidFill>
                  </a:tcPr>
                </a:tc>
                <a:tc>
                  <a:txBody>
                    <a:bodyPr wrap="square"/>
                    <a:lstStyle/>
                    <a:p>
                      <a:pPr algn="l"/>
                      <a:r>
                        <a:rPr sz="1000" b="0">
                          <a:solidFill>
                            <a:srgbClr val="1C1C1E"/>
                          </a:solidFill>
                          <a:latin typeface="Calibri"/>
                        </a:rPr>
                        <a:t>P4′ — the client renders decisions, never derives them</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Client</a:t>
                      </a:r>
                    </a:p>
                  </a:txBody>
                  <a:tcPr marL="82296" marR="64008" marT="32004" marB="32004" anchor="ctr">
                    <a:solidFill>
                      <a:srgbClr val="FFFFFF"/>
                    </a:solidFill>
                  </a:tcPr>
                </a:tc>
                <a:tc>
                  <a:txBody>
                    <a:bodyPr wrap="square"/>
                    <a:lstStyle/>
                    <a:p>
                      <a:pPr algn="l"/>
                      <a:r>
                        <a:rPr sz="1000" b="0">
                          <a:solidFill>
                            <a:srgbClr val="1C1C1E"/>
                          </a:solidFill>
                          <a:latin typeface="Calibri"/>
                        </a:rPr>
                        <a:t>Generated from OpenAPI; pinned by openapi.lock.json; drift fails the build</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Forms</a:t>
                      </a:r>
                    </a:p>
                  </a:txBody>
                  <a:tcPr marL="82296" marR="64008" marT="32004" marB="32004" anchor="ctr">
                    <a:solidFill>
                      <a:srgbClr val="F6F3EF"/>
                    </a:solidFill>
                  </a:tcPr>
                </a:tc>
                <a:tc>
                  <a:txBody>
                    <a:bodyPr wrap="square"/>
                    <a:lstStyle/>
                    <a:p>
                      <a:pPr algn="l"/>
                      <a:r>
                        <a:rPr sz="1000" b="0">
                          <a:solidFill>
                            <a:srgbClr val="1C1C1E"/>
                          </a:solidFill>
                          <a:latin typeface="Calibri"/>
                        </a:rPr>
                        <a:t>Generated in-browser from the fibre's JSON Schema — a new model class needs no front-end release</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Documents</a:t>
                      </a:r>
                    </a:p>
                  </a:txBody>
                  <a:tcPr marL="82296" marR="64008" marT="32004" marB="32004" anchor="ctr">
                    <a:solidFill>
                      <a:srgbClr val="FFFFFF"/>
                    </a:solidFill>
                  </a:tcPr>
                </a:tc>
                <a:tc>
                  <a:txBody>
                    <a:bodyPr wrap="square"/>
                    <a:lstStyle/>
                    <a:p>
                      <a:pPr algn="l"/>
                      <a:r>
                        <a:rPr sz="1000" b="0">
                          <a:solidFill>
                            <a:srgbClr val="1C1C1E"/>
                          </a:solidFill>
                          <a:latin typeface="Calibri"/>
                        </a:rPr>
                        <a:t>Fetched as server-rendered HTML/PDF, never assembled client-side</a:t>
                      </a:r>
                    </a:p>
                  </a:txBody>
                  <a:tcPr marL="82296" marR="64008" marT="32004" marB="32004" anchor="ctr">
                    <a:solidFill>
                      <a:srgbClr val="FFFFFF"/>
                    </a:solidFill>
                  </a:tcPr>
                </a:tc>
              </a:tr>
            </a:tbl>
          </a:graphicData>
        </a:graphic>
      </p:graphicFrame>
      <p:sp>
        <p:nvSpPr>
          <p:cNvPr id="12" name="TextBox 11"/>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SDK — the compliant path must be the shortest</a:t>
            </a:r>
          </a:p>
        </p:txBody>
      </p:sp>
      <p:sp>
        <p:nvSpPr>
          <p:cNvPr id="13" name="TextBox 12"/>
          <p:cNvSpPr txBox="1"/>
          <p:nvPr/>
        </p:nvSpPr>
        <p:spPr>
          <a:xfrm>
            <a:off x="6414964" y="1737360"/>
            <a:ext cx="4999491" cy="1828800"/>
          </a:xfrm>
          <a:prstGeom prst="rect">
            <a:avLst/>
          </a:prstGeom>
          <a:noFill/>
        </p:spPr>
        <p:txBody>
          <a:bodyPr wrap="square" lIns="0" rIns="0" tIns="0" bIns="0" anchor="t">
            <a:spAutoFit/>
          </a:bodyPr>
          <a:lstStyle/>
          <a:p>
            <a:pPr algn="l"/>
          </a:p>
          <a:p>
            <a:pPr>
              <a:spcBef>
                <a:spcPts val="0"/>
              </a:spcBef>
              <a:spcAft>
                <a:spcPts val="700"/>
              </a:spcAft>
            </a:pPr>
            <a:r>
              <a:rPr sz="1150" b="1">
                <a:solidFill>
                  <a:srgbClr val="A51C30"/>
                </a:solidFill>
                <a:latin typeface="Calibri"/>
              </a:rPr>
              <a:t>▪  </a:t>
            </a:r>
            <a:r>
              <a:rPr sz="1150">
                <a:solidFill>
                  <a:srgbClr val="1C1C1E"/>
                </a:solidFill>
                <a:latin typeface="Calibri"/>
              </a:rPr>
              <a:t>Resolve and verify the descriptor signature</a:t>
            </a:r>
          </a:p>
          <a:p>
            <a:pPr>
              <a:spcBef>
                <a:spcPts val="0"/>
              </a:spcBef>
              <a:spcAft>
                <a:spcPts val="700"/>
              </a:spcAft>
            </a:pPr>
            <a:r>
              <a:rPr sz="1150" b="1">
                <a:solidFill>
                  <a:srgbClr val="A51C30"/>
                </a:solidFill>
                <a:latin typeface="Calibri"/>
              </a:rPr>
              <a:t>▪  </a:t>
            </a:r>
            <a:r>
              <a:rPr sz="1150">
                <a:solidFill>
                  <a:srgbClr val="1C1C1E"/>
                </a:solidFill>
                <a:latin typeface="Calibri"/>
              </a:rPr>
              <a:t>Fetch features per the contract; check freshness</a:t>
            </a:r>
          </a:p>
          <a:p>
            <a:pPr>
              <a:spcBef>
                <a:spcPts val="0"/>
              </a:spcBef>
              <a:spcAft>
                <a:spcPts val="700"/>
              </a:spcAft>
            </a:pPr>
            <a:r>
              <a:rPr sz="1150" b="1">
                <a:solidFill>
                  <a:srgbClr val="A51C30"/>
                </a:solidFill>
                <a:latin typeface="Calibri"/>
              </a:rPr>
              <a:t>▪  </a:t>
            </a:r>
            <a:r>
              <a:rPr sz="1150">
                <a:solidFill>
                  <a:srgbClr val="1C1C1E"/>
                </a:solidFill>
                <a:latin typeface="Calibri"/>
              </a:rPr>
              <a:t>Check operating boundaries before scoring</a:t>
            </a:r>
          </a:p>
          <a:p>
            <a:pPr>
              <a:spcBef>
                <a:spcPts val="0"/>
              </a:spcBef>
              <a:spcAft>
                <a:spcPts val="700"/>
              </a:spcAft>
            </a:pPr>
            <a:r>
              <a:rPr sz="1150" b="1">
                <a:solidFill>
                  <a:srgbClr val="A51C30"/>
                </a:solidFill>
                <a:latin typeface="Calibri"/>
              </a:rPr>
              <a:t>▪  </a:t>
            </a:r>
            <a:r>
              <a:rPr sz="1150">
                <a:solidFill>
                  <a:srgbClr val="1C1C1E"/>
                </a:solidFill>
                <a:latin typeface="Calibri"/>
              </a:rPr>
              <a:t>Emit signed telemetry</a:t>
            </a:r>
          </a:p>
          <a:p>
            <a:pPr>
              <a:spcBef>
                <a:spcPts val="0"/>
              </a:spcBef>
              <a:spcAft>
                <a:spcPts val="700"/>
              </a:spcAft>
            </a:pPr>
            <a:r>
              <a:rPr sz="1150" b="1">
                <a:solidFill>
                  <a:srgbClr val="A51C30"/>
                </a:solidFill>
                <a:latin typeface="Calibri"/>
              </a:rPr>
              <a:t>▪  </a:t>
            </a:r>
            <a:r>
              <a:rPr sz="1150">
                <a:solidFill>
                  <a:srgbClr val="1C1C1E"/>
                </a:solidFill>
                <a:latin typeface="Calibri"/>
              </a:rPr>
              <a:t>Maintain the local revocation list</a:t>
            </a:r>
          </a:p>
        </p:txBody>
      </p:sp>
      <p:sp>
        <p:nvSpPr>
          <p:cNvPr id="14" name="Rectangle 13"/>
          <p:cNvSpPr/>
          <p:nvPr/>
        </p:nvSpPr>
        <p:spPr>
          <a:xfrm>
            <a:off x="6414964" y="3502152"/>
            <a:ext cx="4999491" cy="12344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414964" y="3502152"/>
            <a:ext cx="41148" cy="1234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652708" y="3630168"/>
            <a:ext cx="4542291" cy="1005840"/>
          </a:xfrm>
          <a:prstGeom prst="rect">
            <a:avLst/>
          </a:prstGeom>
          <a:noFill/>
        </p:spPr>
        <p:txBody>
          <a:bodyPr wrap="square" lIns="0" rIns="0" tIns="0" bIns="0" anchor="t">
            <a:spAutoFit/>
          </a:bodyPr>
          <a:lstStyle/>
          <a:p>
            <a:pPr algn="l">
              <a:lnSpc>
                <a:spcPct val="126000"/>
              </a:lnSpc>
              <a:spcBef>
                <a:spcPts val="0"/>
              </a:spcBef>
              <a:spcAft>
                <a:spcPts val="0"/>
              </a:spcAft>
            </a:pPr>
            <a:r>
              <a:rPr sz="1150" b="1" i="0">
                <a:solidFill>
                  <a:srgbClr val="A51C30"/>
                </a:solidFill>
                <a:latin typeface="Calibri"/>
              </a:rPr>
              <a:t>The design point. </a:t>
            </a:r>
            <a:r>
              <a:rPr sz="1150" b="0" i="0">
                <a:solidFill>
                  <a:srgbClr val="1C1C1E"/>
                </a:solidFill>
                <a:latin typeface="Calibri"/>
              </a:rPr>
              <a:t>A developer who uses the SDK gets governance for free and cannot forget a step. If the compliant path is slower than the non-compliant one, the inventory rots — so the SDK ships in Phase 1, not later.</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23</a:t>
            </a:r>
          </a:p>
        </p:txBody>
      </p:sp>
      <p:sp>
        <p:nvSpPr>
          <p:cNvPr id="5" name="TextBox 4"/>
          <p:cNvSpPr txBox="1"/>
          <p:nvPr/>
        </p:nvSpPr>
        <p:spPr>
          <a:xfrm>
            <a:off x="1005840" y="2463393"/>
            <a:ext cx="6169584" cy="1188720"/>
          </a:xfrm>
          <a:prstGeom prst="rect">
            <a:avLst/>
          </a:prstGeom>
          <a:noFill/>
        </p:spPr>
        <p:txBody>
          <a:bodyPr wrap="square" lIns="0" rIns="0" tIns="0" bIns="0" anchor="t">
            <a:spAutoFit/>
          </a:bodyPr>
          <a:lstStyle/>
          <a:p>
            <a:pPr algn="l">
              <a:spcBef>
                <a:spcPts val="0"/>
              </a:spcBef>
              <a:spcAft>
                <a:spcPts val="0"/>
              </a:spcAft>
            </a:pPr>
            <a:r>
              <a:rPr sz="2800" b="0" i="0">
                <a:solidFill>
                  <a:srgbClr val="FFFFFF"/>
                </a:solidFill>
                <a:latin typeface="Georgia"/>
              </a:rPr>
              <a:t>Cross-cutting and Operations</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Transactions, concurrency, errors, SLOs, capacity, testing.</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Transactions and the outbox</a:t>
            </a:r>
          </a:p>
          <a:p>
            <a:pPr>
              <a:lnSpc>
                <a:spcPct val="115000"/>
              </a:lnSpc>
              <a:spcBef>
                <a:spcPts val="0"/>
              </a:spcBef>
              <a:spcAft>
                <a:spcPts val="700"/>
              </a:spcAft>
            </a:pPr>
            <a:r>
              <a:rPr sz="1150" b="0" i="0">
                <a:solidFill>
                  <a:srgbClr val="F6E6E9"/>
                </a:solidFill>
                <a:latin typeface="Calibri"/>
              </a:rPr>
              <a:t>Concurrency and idempotency</a:t>
            </a:r>
          </a:p>
          <a:p>
            <a:pPr>
              <a:lnSpc>
                <a:spcPct val="115000"/>
              </a:lnSpc>
              <a:spcBef>
                <a:spcPts val="0"/>
              </a:spcBef>
              <a:spcAft>
                <a:spcPts val="700"/>
              </a:spcAft>
            </a:pPr>
            <a:r>
              <a:rPr sz="1150" b="0" i="0">
                <a:solidFill>
                  <a:srgbClr val="F6E6E9"/>
                </a:solidFill>
                <a:latin typeface="Calibri"/>
              </a:rPr>
              <a:t>Error taxonomy</a:t>
            </a:r>
          </a:p>
          <a:p>
            <a:pPr>
              <a:lnSpc>
                <a:spcPct val="115000"/>
              </a:lnSpc>
              <a:spcBef>
                <a:spcPts val="0"/>
              </a:spcBef>
              <a:spcAft>
                <a:spcPts val="700"/>
              </a:spcAft>
            </a:pPr>
            <a:r>
              <a:rPr sz="1150" b="0" i="0">
                <a:solidFill>
                  <a:srgbClr val="F6E6E9"/>
                </a:solidFill>
                <a:latin typeface="Calibri"/>
              </a:rPr>
              <a:t>SLOs and signals</a:t>
            </a:r>
          </a:p>
          <a:p>
            <a:pPr>
              <a:lnSpc>
                <a:spcPct val="115000"/>
              </a:lnSpc>
              <a:spcBef>
                <a:spcPts val="0"/>
              </a:spcBef>
              <a:spcAft>
                <a:spcPts val="700"/>
              </a:spcAft>
            </a:pPr>
            <a:r>
              <a:rPr sz="1150" b="0" i="0">
                <a:solidFill>
                  <a:srgbClr val="F6E6E9"/>
                </a:solidFill>
                <a:latin typeface="Calibri"/>
              </a:rPr>
              <a:t>Capacity</a:t>
            </a:r>
          </a:p>
          <a:p>
            <a:pPr>
              <a:lnSpc>
                <a:spcPct val="115000"/>
              </a:lnSpc>
              <a:spcBef>
                <a:spcPts val="0"/>
              </a:spcBef>
              <a:spcAft>
                <a:spcPts val="700"/>
              </a:spcAft>
            </a:pPr>
            <a:r>
              <a:rPr sz="1150" b="0" i="0">
                <a:solidFill>
                  <a:srgbClr val="F6E6E9"/>
                </a:solidFill>
                <a:latin typeface="Calibri"/>
              </a:rPr>
              <a:t>Testing</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CROSS-CUTTING · CONSISTENCY</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Transactions and the outbox</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128</a:t>
            </a:r>
          </a:p>
        </p:txBody>
      </p:sp>
      <p:sp>
        <p:nvSpPr>
          <p:cNvPr id="10" name="Rectangle 9"/>
          <p:cNvSpPr/>
          <p:nvPr/>
        </p:nvSpPr>
        <p:spPr>
          <a:xfrm>
            <a:off x="777240" y="1353312"/>
            <a:ext cx="5531351" cy="2067915"/>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2067915"/>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44752"/>
            <a:ext cx="5165591" cy="219456"/>
          </a:xfrm>
          <a:prstGeom prst="rect">
            <a:avLst/>
          </a:prstGeom>
          <a:noFill/>
        </p:spPr>
        <p:txBody>
          <a:bodyPr wrap="square" lIns="0" rIns="0" tIns="0" bIns="0" anchor="t">
            <a:spAutoFit/>
          </a:bodyPr>
          <a:lstStyle/>
          <a:p>
            <a:pPr algn="l">
              <a:spcBef>
                <a:spcPts val="0"/>
              </a:spcBef>
              <a:spcAft>
                <a:spcPts val="0"/>
              </a:spcAft>
            </a:pPr>
            <a:r>
              <a:rPr sz="900" b="1" i="0">
                <a:solidFill>
                  <a:srgbClr val="A51C30"/>
                </a:solidFill>
                <a:latin typeface="Calibri"/>
              </a:rPr>
              <a:t>db/database.py</a:t>
            </a:r>
          </a:p>
        </p:txBody>
      </p:sp>
      <p:sp>
        <p:nvSpPr>
          <p:cNvPr id="13" name="TextBox 12"/>
          <p:cNvSpPr txBox="1"/>
          <p:nvPr/>
        </p:nvSpPr>
        <p:spPr>
          <a:xfrm>
            <a:off x="978408" y="1746504"/>
            <a:ext cx="5165591" cy="1592427"/>
          </a:xfrm>
          <a:prstGeom prst="rect">
            <a:avLst/>
          </a:prstGeom>
          <a:noFill/>
        </p:spPr>
        <p:txBody>
          <a:bodyPr wrap="square" lIns="0" rIns="0" tIns="0" bIns="0" anchor="t">
            <a:spAutoFit/>
          </a:bodyPr>
          <a:lstStyle/>
          <a:p>
            <a:pPr algn="l">
              <a:lnSpc>
                <a:spcPct val="134000"/>
              </a:lnSpc>
              <a:spcBef>
                <a:spcPts val="0"/>
              </a:spcBef>
              <a:spcAft>
                <a:spcPts val="0"/>
              </a:spcAft>
            </a:pPr>
            <a:r>
              <a:rPr sz="1000" b="0" i="0">
                <a:solidFill>
                  <a:srgbClr val="1C1C1E"/>
                </a:solidFill>
                <a:latin typeface="Consolas"/>
              </a:rPr>
              <a:t>with uow.transaction() as tx:      # ONE Postgres transaction</a:t>
            </a:r>
          </a:p>
          <a:p>
            <a:pPr>
              <a:lnSpc>
                <a:spcPct val="134000"/>
              </a:lnSpc>
              <a:spcBef>
                <a:spcPts val="0"/>
              </a:spcBef>
              <a:spcAft>
                <a:spcPts val="0"/>
              </a:spcAft>
            </a:pPr>
            <a:r>
              <a:rPr sz="1000" b="0" i="0">
                <a:solidFill>
                  <a:srgbClr val="1C1C1E"/>
                </a:solidFill>
                <a:latin typeface="Consolas"/>
              </a:rPr>
              <a:t>    ...domain mutations...</a:t>
            </a:r>
          </a:p>
          <a:p>
            <a:pPr>
              <a:lnSpc>
                <a:spcPct val="134000"/>
              </a:lnSpc>
              <a:spcBef>
                <a:spcPts val="0"/>
              </a:spcBef>
              <a:spcAft>
                <a:spcPts val="0"/>
              </a:spcAft>
            </a:pPr>
            <a:r>
              <a:rPr sz="1000" b="0" i="0">
                <a:solidFill>
                  <a:srgbClr val="1C1C1E"/>
                </a:solidFill>
                <a:latin typeface="Consolas"/>
              </a:rPr>
              <a:t>    tx.evidence.append(...)        # same transaction — DR-4</a:t>
            </a:r>
          </a:p>
          <a:p>
            <a:pPr>
              <a:lnSpc>
                <a:spcPct val="134000"/>
              </a:lnSpc>
              <a:spcBef>
                <a:spcPts val="0"/>
              </a:spcBef>
              <a:spcAft>
                <a:spcPts val="0"/>
              </a:spcAft>
            </a:pPr>
            <a:r>
              <a:rPr sz="1000" b="0" i="0">
                <a:solidFill>
                  <a:srgbClr val="1C1C1E"/>
                </a:solidFill>
                <a:latin typeface="Consolas"/>
              </a:rPr>
              <a:t>    tx.audit.write(...)            # same transaction</a:t>
            </a:r>
          </a:p>
          <a:p>
            <a:pPr>
              <a:lnSpc>
                <a:spcPct val="134000"/>
              </a:lnSpc>
              <a:spcBef>
                <a:spcPts val="0"/>
              </a:spcBef>
              <a:spcAft>
                <a:spcPts val="0"/>
              </a:spcAft>
            </a:pPr>
            <a:r>
              <a:rPr sz="1000" b="0" i="0">
                <a:solidFill>
                  <a:srgbClr val="1C1C1E"/>
                </a:solidFill>
                <a:latin typeface="Consolas"/>
              </a:rPr>
              <a:t>    tx.outbox.put(event)           # the only way out</a:t>
            </a:r>
          </a:p>
          <a:p>
            <a:pPr>
              <a:lnSpc>
                <a:spcPct val="134000"/>
              </a:lnSpc>
              <a:spcBef>
                <a:spcPts val="0"/>
              </a:spcBef>
              <a:spcAft>
                <a:spcPts val="0"/>
              </a:spcAft>
            </a:pPr>
            <a:r>
              <a:rPr sz="1000" b="0" i="0">
                <a:solidFill>
                  <a:srgbClr val="1C1C1E"/>
                </a:solidFill>
                <a:latin typeface="Consolas"/>
              </a:rPr>
              <a:t> </a:t>
            </a:r>
          </a:p>
          <a:p>
            <a:pPr>
              <a:lnSpc>
                <a:spcPct val="134000"/>
              </a:lnSpc>
              <a:spcBef>
                <a:spcPts val="0"/>
              </a:spcBef>
              <a:spcAft>
                <a:spcPts val="0"/>
              </a:spcAft>
            </a:pPr>
            <a:r>
              <a:rPr sz="1000" b="0" i="0">
                <a:solidFill>
                  <a:srgbClr val="7A7F87"/>
                </a:solidFill>
                <a:latin typeface="Consolas"/>
              </a:rPr>
              <a:t># commit → relay → Kafka / Delta / cache invalidation</a:t>
            </a:r>
          </a:p>
        </p:txBody>
      </p:sp>
      <p:sp>
        <p:nvSpPr>
          <p:cNvPr id="14" name="TextBox 13"/>
          <p:cNvSpPr txBox="1"/>
          <p:nvPr/>
        </p:nvSpPr>
        <p:spPr>
          <a:xfrm>
            <a:off x="777240" y="3677259"/>
            <a:ext cx="5531351" cy="2011680"/>
          </a:xfrm>
          <a:prstGeom prst="rect">
            <a:avLst/>
          </a:prstGeom>
          <a:noFill/>
        </p:spPr>
        <p:txBody>
          <a:bodyPr wrap="square" lIns="0" rIns="0" tIns="0" bIns="0" anchor="t">
            <a:spAutoFit/>
          </a:bodyPr>
          <a:lstStyle/>
          <a:p>
            <a:pPr algn="l">
              <a:spcBef>
                <a:spcPts val="0"/>
              </a:spcBef>
              <a:spcAft>
                <a:spcPts val="800"/>
              </a:spcAft>
            </a:pPr>
            <a:r>
              <a:rPr sz="1250" b="1" i="0">
                <a:solidFill>
                  <a:srgbClr val="1C1C1E"/>
                </a:solidFill>
                <a:latin typeface="Georgia"/>
              </a:rPr>
              <a:t>Rules that follow</a:t>
            </a:r>
          </a:p>
          <a:p>
            <a:pPr>
              <a:spcBef>
                <a:spcPts val="0"/>
              </a:spcBef>
              <a:spcAft>
                <a:spcPts val="600"/>
              </a:spcAft>
            </a:pPr>
            <a:r>
              <a:rPr sz="1100" b="1">
                <a:solidFill>
                  <a:srgbClr val="A51C30"/>
                </a:solidFill>
                <a:latin typeface="Calibri"/>
              </a:rPr>
              <a:t>▪  </a:t>
            </a:r>
            <a:r>
              <a:rPr sz="1100">
                <a:solidFill>
                  <a:srgbClr val="1C1C1E"/>
                </a:solidFill>
                <a:latin typeface="Calibri"/>
              </a:rPr>
              <a:t>Nothing outside platform/db opens a transaction — components receive a UnitOfWork</a:t>
            </a:r>
          </a:p>
          <a:p>
            <a:pPr>
              <a:spcBef>
                <a:spcPts val="0"/>
              </a:spcBef>
              <a:spcAft>
                <a:spcPts val="600"/>
              </a:spcAft>
            </a:pPr>
            <a:r>
              <a:rPr sz="1100" b="1">
                <a:solidFill>
                  <a:srgbClr val="A51C30"/>
                </a:solidFill>
                <a:latin typeface="Calibri"/>
              </a:rPr>
              <a:t>▪  </a:t>
            </a:r>
            <a:r>
              <a:rPr sz="1100">
                <a:solidFill>
                  <a:srgbClr val="1C1C1E"/>
                </a:solidFill>
                <a:latin typeface="Calibri"/>
              </a:rPr>
              <a:t>A derived value and its derivation record commit together, or neither does</a:t>
            </a:r>
          </a:p>
          <a:p>
            <a:pPr>
              <a:spcBef>
                <a:spcPts val="0"/>
              </a:spcBef>
              <a:spcAft>
                <a:spcPts val="600"/>
              </a:spcAft>
            </a:pPr>
            <a:r>
              <a:rPr sz="1100" b="1">
                <a:solidFill>
                  <a:srgbClr val="A51C30"/>
                </a:solidFill>
                <a:latin typeface="Calibri"/>
              </a:rPr>
              <a:t>▪  </a:t>
            </a:r>
            <a:r>
              <a:rPr sz="1100">
                <a:solidFill>
                  <a:srgbClr val="1C1C1E"/>
                </a:solidFill>
                <a:latin typeface="Calibri"/>
              </a:rPr>
              <a:t>Every Delta write carries outbox_id and MERGEs on it, so at-least-once delivery is safe</a:t>
            </a:r>
          </a:p>
          <a:p>
            <a:pPr>
              <a:spcBef>
                <a:spcPts val="0"/>
              </a:spcBef>
              <a:spcAft>
                <a:spcPts val="600"/>
              </a:spcAft>
            </a:pPr>
            <a:r>
              <a:rPr sz="1100" b="1">
                <a:solidFill>
                  <a:srgbClr val="A51C30"/>
                </a:solidFill>
                <a:latin typeface="Calibri"/>
              </a:rPr>
              <a:t>▪  </a:t>
            </a:r>
            <a:r>
              <a:rPr sz="1100">
                <a:solidFill>
                  <a:srgbClr val="1C1C1E"/>
                </a:solidFill>
                <a:latin typeface="Calibri"/>
              </a:rPr>
              <a:t>Nightly reconciliation compares outbox(done) against Delta counts — with a defined repair action, not merely an alert</a:t>
            </a:r>
          </a:p>
        </p:txBody>
      </p:sp>
      <p:sp>
        <p:nvSpPr>
          <p:cNvPr id="15" name="TextBox 14"/>
          <p:cNvSpPr txBox="1"/>
          <p:nvPr/>
        </p:nvSpPr>
        <p:spPr>
          <a:xfrm>
            <a:off x="6734080" y="1353312"/>
            <a:ext cx="4680374"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Partitioning and retention</a:t>
            </a:r>
          </a:p>
        </p:txBody>
      </p:sp>
      <p:graphicFrame>
        <p:nvGraphicFramePr>
          <p:cNvPr id="16" name="Table 15"/>
          <p:cNvGraphicFramePr>
            <a:graphicFrameLocks noGrp="1"/>
          </p:cNvGraphicFramePr>
          <p:nvPr/>
        </p:nvGraphicFramePr>
        <p:xfrm>
          <a:off x="6734080" y="1719072"/>
          <a:ext cx="4680373" cy="1951456"/>
        </p:xfrm>
        <a:graphic>
          <a:graphicData uri="http://schemas.openxmlformats.org/drawingml/2006/table">
            <a:tbl>
              <a:tblPr firstRow="1">
                <a:tableStyleId>{5C22544A-7EE6-4342-B048-85BDC9FD1C3A}</a:tableStyleId>
              </a:tblPr>
              <a:tblGrid>
                <a:gridCol w="1608878"/>
                <a:gridCol w="1901402"/>
                <a:gridCol w="1170093"/>
              </a:tblGrid>
              <a:tr h="329184">
                <a:tc>
                  <a:txBody>
                    <a:bodyPr wrap="square"/>
                    <a:lstStyle/>
                    <a:p>
                      <a:pPr algn="l"/>
                      <a:r>
                        <a:rPr sz="1000" b="1">
                          <a:solidFill>
                            <a:srgbClr val="FFFFFF"/>
                          </a:solidFill>
                          <a:latin typeface="Calibri"/>
                        </a:rPr>
                        <a:t>Table</a:t>
                      </a:r>
                    </a:p>
                  </a:txBody>
                  <a:tcPr marL="82296" marR="64008" marT="32004" marB="32004" anchor="ctr">
                    <a:solidFill>
                      <a:srgbClr val="A51C30"/>
                    </a:solidFill>
                  </a:tcPr>
                </a:tc>
                <a:tc>
                  <a:txBody>
                    <a:bodyPr wrap="square"/>
                    <a:lstStyle/>
                    <a:p>
                      <a:pPr algn="l"/>
                      <a:r>
                        <a:rPr sz="1000" b="1">
                          <a:solidFill>
                            <a:srgbClr val="FFFFFF"/>
                          </a:solidFill>
                          <a:latin typeface="Calibri"/>
                        </a:rPr>
                        <a:t>Partition</a:t>
                      </a:r>
                    </a:p>
                  </a:txBody>
                  <a:tcPr marL="82296" marR="64008" marT="32004" marB="32004" anchor="ctr">
                    <a:solidFill>
                      <a:srgbClr val="A51C30"/>
                    </a:solidFill>
                  </a:tcPr>
                </a:tc>
                <a:tc>
                  <a:txBody>
                    <a:bodyPr wrap="square"/>
                    <a:lstStyle/>
                    <a:p>
                      <a:pPr algn="l"/>
                      <a:r>
                        <a:rPr sz="1000" b="1">
                          <a:solidFill>
                            <a:srgbClr val="FFFFFF"/>
                          </a:solidFill>
                          <a:latin typeface="Calibri"/>
                        </a:rPr>
                        <a:t>Retention</a:t>
                      </a:r>
                    </a:p>
                  </a:txBody>
                  <a:tcPr marL="82296" marR="64008" marT="32004" marB="32004" anchor="ctr">
                    <a:solidFill>
                      <a:srgbClr val="A51C30"/>
                    </a:solidFill>
                  </a:tcPr>
                </a:tc>
              </a:tr>
              <a:tr h="384048">
                <a:tc>
                  <a:txBody>
                    <a:bodyPr wrap="square"/>
                    <a:lstStyle/>
                    <a:p>
                      <a:pPr algn="l"/>
                      <a:r>
                        <a:rPr sz="950" b="1">
                          <a:solidFill>
                            <a:srgbClr val="A51C30"/>
                          </a:solidFill>
                          <a:latin typeface="Calibri"/>
                        </a:rPr>
                        <a:t>audit_log</a:t>
                      </a:r>
                    </a:p>
                  </a:txBody>
                  <a:tcPr marL="82296" marR="64008" marT="32004" marB="32004" anchor="ctr">
                    <a:solidFill>
                      <a:srgbClr val="FFFFFF"/>
                    </a:solidFill>
                  </a:tcPr>
                </a:tc>
                <a:tc>
                  <a:txBody>
                    <a:bodyPr wrap="square"/>
                    <a:lstStyle/>
                    <a:p>
                      <a:pPr algn="l"/>
                      <a:r>
                        <a:rPr sz="950" b="0">
                          <a:solidFill>
                            <a:srgbClr val="1C1C1E"/>
                          </a:solidFill>
                          <a:latin typeface="Calibri"/>
                        </a:rPr>
                        <a:t>Monthly, separate database</a:t>
                      </a:r>
                    </a:p>
                  </a:txBody>
                  <a:tcPr marL="82296" marR="64008" marT="32004" marB="32004" anchor="ctr">
                    <a:solidFill>
                      <a:srgbClr val="FFFFFF"/>
                    </a:solidFill>
                  </a:tcPr>
                </a:tc>
                <a:tc>
                  <a:txBody>
                    <a:bodyPr wrap="square"/>
                    <a:lstStyle/>
                    <a:p>
                      <a:pPr algn="l"/>
                      <a:r>
                        <a:rPr sz="950" b="0">
                          <a:solidFill>
                            <a:srgbClr val="1C1C1E"/>
                          </a:solidFill>
                          <a:latin typeface="Calibri"/>
                        </a:rPr>
                        <a:t>10 y, WORM</a:t>
                      </a:r>
                    </a:p>
                  </a:txBody>
                  <a:tcPr marL="82296" marR="64008" marT="32004" marB="32004" anchor="ctr">
                    <a:solidFill>
                      <a:srgbClr val="FFFFFF"/>
                    </a:solidFill>
                  </a:tcPr>
                </a:tc>
              </a:tr>
              <a:tr h="384048">
                <a:tc>
                  <a:txBody>
                    <a:bodyPr wrap="square"/>
                    <a:lstStyle/>
                    <a:p>
                      <a:pPr algn="l"/>
                      <a:r>
                        <a:rPr sz="950" b="1">
                          <a:solidFill>
                            <a:srgbClr val="A51C30"/>
                          </a:solidFill>
                          <a:latin typeface="Calibri"/>
                        </a:rPr>
                        <a:t>evidence_node</a:t>
                      </a:r>
                    </a:p>
                  </a:txBody>
                  <a:tcPr marL="82296" marR="64008" marT="32004" marB="32004" anchor="ctr">
                    <a:solidFill>
                      <a:srgbClr val="F6F3EF"/>
                    </a:solidFill>
                  </a:tcPr>
                </a:tc>
                <a:tc>
                  <a:txBody>
                    <a:bodyPr wrap="square"/>
                    <a:lstStyle/>
                    <a:p>
                      <a:pPr algn="l"/>
                      <a:r>
                        <a:rPr sz="950" b="0">
                          <a:solidFill>
                            <a:srgbClr val="1C1C1E"/>
                          </a:solidFill>
                          <a:latin typeface="Calibri"/>
                        </a:rPr>
                        <a:t>Monthly</a:t>
                      </a:r>
                    </a:p>
                  </a:txBody>
                  <a:tcPr marL="82296" marR="64008" marT="32004" marB="32004" anchor="ctr">
                    <a:solidFill>
                      <a:srgbClr val="F6F3EF"/>
                    </a:solidFill>
                  </a:tcPr>
                </a:tc>
                <a:tc>
                  <a:txBody>
                    <a:bodyPr wrap="square"/>
                    <a:lstStyle/>
                    <a:p>
                      <a:pPr algn="l"/>
                      <a:r>
                        <a:rPr sz="950" b="0">
                          <a:solidFill>
                            <a:srgbClr val="1C1C1E"/>
                          </a:solidFill>
                          <a:latin typeface="Calibri"/>
                        </a:rPr>
                        <a:t>Life + 10 y</a:t>
                      </a:r>
                    </a:p>
                  </a:txBody>
                  <a:tcPr marL="82296" marR="64008" marT="32004" marB="32004" anchor="ctr">
                    <a:solidFill>
                      <a:srgbClr val="F6F3EF"/>
                    </a:solidFill>
                  </a:tcPr>
                </a:tc>
              </a:tr>
              <a:tr h="384048">
                <a:tc>
                  <a:txBody>
                    <a:bodyPr wrap="square"/>
                    <a:lstStyle/>
                    <a:p>
                      <a:pPr algn="l"/>
                      <a:r>
                        <a:rPr sz="950" b="1">
                          <a:solidFill>
                            <a:srgbClr val="A51C30"/>
                          </a:solidFill>
                          <a:latin typeface="Calibri"/>
                        </a:rPr>
                        <a:t>ai_generation</a:t>
                      </a:r>
                    </a:p>
                  </a:txBody>
                  <a:tcPr marL="82296" marR="64008" marT="32004" marB="32004" anchor="ctr">
                    <a:solidFill>
                      <a:srgbClr val="FFFFFF"/>
                    </a:solidFill>
                  </a:tcPr>
                </a:tc>
                <a:tc>
                  <a:txBody>
                    <a:bodyPr wrap="square"/>
                    <a:lstStyle/>
                    <a:p>
                      <a:pPr algn="l"/>
                      <a:r>
                        <a:rPr sz="950" b="0">
                          <a:solidFill>
                            <a:srgbClr val="1C1C1E"/>
                          </a:solidFill>
                          <a:latin typeface="Calibri"/>
                        </a:rPr>
                        <a:t>Monthly</a:t>
                      </a:r>
                    </a:p>
                  </a:txBody>
                  <a:tcPr marL="82296" marR="64008" marT="32004" marB="32004" anchor="ctr">
                    <a:solidFill>
                      <a:srgbClr val="FFFFFF"/>
                    </a:solidFill>
                  </a:tcPr>
                </a:tc>
                <a:tc>
                  <a:txBody>
                    <a:bodyPr wrap="square"/>
                    <a:lstStyle/>
                    <a:p>
                      <a:pPr algn="l"/>
                      <a:r>
                        <a:rPr sz="950" b="0">
                          <a:solidFill>
                            <a:srgbClr val="1C1C1E"/>
                          </a:solidFill>
                          <a:latin typeface="Calibri"/>
                        </a:rPr>
                        <a:t>3 y</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inference_log (Delta)</a:t>
                      </a:r>
                    </a:p>
                  </a:txBody>
                  <a:tcPr marL="82296" marR="64008" marT="32004" marB="32004" anchor="ctr">
                    <a:solidFill>
                      <a:srgbClr val="F6F3EF"/>
                    </a:solidFill>
                  </a:tcPr>
                </a:tc>
                <a:tc>
                  <a:txBody>
                    <a:bodyPr wrap="square"/>
                    <a:lstStyle/>
                    <a:p>
                      <a:pPr algn="l"/>
                      <a:r>
                        <a:rPr sz="950" b="0">
                          <a:solidFill>
                            <a:srgbClr val="1C1C1E"/>
                          </a:solidFill>
                          <a:latin typeface="Calibri"/>
                        </a:rPr>
                        <a:t>By date, clustered by model_urn</a:t>
                      </a:r>
                    </a:p>
                  </a:txBody>
                  <a:tcPr marL="82296" marR="64008" marT="32004" marB="32004" anchor="ctr">
                    <a:solidFill>
                      <a:srgbClr val="F6F3EF"/>
                    </a:solidFill>
                  </a:tcPr>
                </a:tc>
                <a:tc>
                  <a:txBody>
                    <a:bodyPr wrap="square"/>
                    <a:lstStyle/>
                    <a:p>
                      <a:pPr algn="l"/>
                      <a:r>
                        <a:rPr sz="950" b="0">
                          <a:solidFill>
                            <a:srgbClr val="1C1C1E"/>
                          </a:solidFill>
                          <a:latin typeface="Calibri"/>
                        </a:rPr>
                        <a:t>Per regulatory class</a:t>
                      </a:r>
                    </a:p>
                  </a:txBody>
                  <a:tcPr marL="82296" marR="64008" marT="32004" marB="32004" anchor="ctr">
                    <a:solidFill>
                      <a:srgbClr val="F6F3EF"/>
                    </a:solidFill>
                  </a:tcPr>
                </a:tc>
              </a:tr>
            </a:tbl>
          </a:graphicData>
        </a:graphic>
      </p:graphicFrame>
      <p:sp>
        <p:nvSpPr>
          <p:cNvPr id="17" name="Rectangle 16"/>
          <p:cNvSpPr/>
          <p:nvPr/>
        </p:nvSpPr>
        <p:spPr>
          <a:xfrm>
            <a:off x="6734080" y="3685031"/>
            <a:ext cx="4680374" cy="105156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734080" y="3685031"/>
            <a:ext cx="41148" cy="105156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971824" y="3813048"/>
            <a:ext cx="4223174" cy="868680"/>
          </a:xfrm>
          <a:prstGeom prst="rect">
            <a:avLst/>
          </a:prstGeom>
          <a:noFill/>
        </p:spPr>
        <p:txBody>
          <a:bodyPr wrap="square" lIns="0" rIns="0" tIns="0" bIns="0" anchor="t">
            <a:spAutoFit/>
          </a:bodyPr>
          <a:lstStyle/>
          <a:p>
            <a:pPr algn="l">
              <a:lnSpc>
                <a:spcPct val="124000"/>
              </a:lnSpc>
              <a:spcBef>
                <a:spcPts val="0"/>
              </a:spcBef>
              <a:spcAft>
                <a:spcPts val="0"/>
              </a:spcAft>
            </a:pPr>
            <a:r>
              <a:rPr sz="1100" b="1" i="0">
                <a:solidFill>
                  <a:srgbClr val="A51C30"/>
                </a:solidFill>
                <a:latin typeface="Calibri"/>
              </a:rPr>
              <a:t>Audit lives on its own database. </a:t>
            </a:r>
            <a:r>
              <a:rPr sz="1100" b="0" i="0">
                <a:solidFill>
                  <a:srgbClr val="1C1C1E"/>
                </a:solidFill>
                <a:latin typeface="Calibri"/>
              </a:rPr>
              <a:t>It is write-heavy and cannot be lost; evidence traversal is read-heavy and recursive. On one primary they compete.</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CROSS-CUTTING · CORRECTNESS UNDER LOAD</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Concurrency, idempotency, caching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129</a:t>
            </a:r>
          </a:p>
        </p:txBody>
      </p:sp>
      <p:graphicFrame>
        <p:nvGraphicFramePr>
          <p:cNvPr id="10" name="Table 9"/>
          <p:cNvGraphicFramePr>
            <a:graphicFrameLocks noGrp="1"/>
          </p:cNvGraphicFramePr>
          <p:nvPr/>
        </p:nvGraphicFramePr>
        <p:xfrm>
          <a:off x="777240" y="1353312"/>
          <a:ext cx="5637723" cy="3338193"/>
        </p:xfrm>
        <a:graphic>
          <a:graphicData uri="http://schemas.openxmlformats.org/drawingml/2006/table">
            <a:tbl>
              <a:tblPr firstRow="1">
                <a:tableStyleId>{5C22544A-7EE6-4342-B048-85BDC9FD1C3A}</a:tableStyleId>
              </a:tblPr>
              <a:tblGrid>
                <a:gridCol w="2220921"/>
                <a:gridCol w="3416802"/>
              </a:tblGrid>
              <a:tr h="333781">
                <a:tc>
                  <a:txBody>
                    <a:bodyPr wrap="square"/>
                    <a:lstStyle/>
                    <a:p>
                      <a:pPr algn="l"/>
                      <a:r>
                        <a:rPr sz="1100" b="1">
                          <a:solidFill>
                            <a:srgbClr val="FFFFFF"/>
                          </a:solidFill>
                          <a:latin typeface="Calibri"/>
                        </a:rPr>
                        <a:t>Hazard</a:t>
                      </a:r>
                    </a:p>
                  </a:txBody>
                  <a:tcPr marL="82296" marR="64008" marT="32004" marB="32004" anchor="ctr">
                    <a:solidFill>
                      <a:srgbClr val="A51C30"/>
                    </a:solidFill>
                  </a:tcPr>
                </a:tc>
                <a:tc>
                  <a:txBody>
                    <a:bodyPr wrap="square"/>
                    <a:lstStyle/>
                    <a:p>
                      <a:pPr algn="l"/>
                      <a:r>
                        <a:rPr sz="1100" b="1">
                          <a:solidFill>
                            <a:srgbClr val="FFFFFF"/>
                          </a:solidFill>
                          <a:latin typeface="Calibri"/>
                        </a:rPr>
                        <a:t>Control</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Concurrent alias moves</a:t>
                      </a:r>
                    </a:p>
                  </a:txBody>
                  <a:tcPr marL="82296" marR="64008" marT="32004" marB="32004" anchor="ctr">
                    <a:solidFill>
                      <a:srgbClr val="FFFFFF"/>
                    </a:solidFill>
                  </a:tcPr>
                </a:tc>
                <a:tc>
                  <a:txBody>
                    <a:bodyPr wrap="square"/>
                    <a:lstStyle/>
                    <a:p>
                      <a:pPr algn="l"/>
                      <a:r>
                        <a:rPr sz="1050" b="0">
                          <a:solidFill>
                            <a:srgbClr val="1C1C1E"/>
                          </a:solidFill>
                          <a:latin typeface="Calibri"/>
                        </a:rPr>
                        <a:t>Postgres advisory lock per (model, environment)</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Concurrent version creation</a:t>
                      </a:r>
                    </a:p>
                  </a:txBody>
                  <a:tcPr marL="82296" marR="64008" marT="32004" marB="32004" anchor="ctr">
                    <a:solidFill>
                      <a:srgbClr val="F6F3EF"/>
                    </a:solidFill>
                  </a:tcPr>
                </a:tc>
                <a:tc>
                  <a:txBody>
                    <a:bodyPr wrap="square"/>
                    <a:lstStyle/>
                    <a:p>
                      <a:pPr algn="l"/>
                      <a:r>
                        <a:rPr sz="1050" b="0">
                          <a:solidFill>
                            <a:srgbClr val="1C1C1E"/>
                          </a:solidFill>
                          <a:latin typeface="Calibri"/>
                        </a:rPr>
                        <a:t>Unique (model_id, semver); content-addressed artifacts deduplicate</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Evidence chain contention</a:t>
                      </a:r>
                    </a:p>
                  </a:txBody>
                  <a:tcPr marL="82296" marR="64008" marT="32004" marB="32004" anchor="ctr">
                    <a:solidFill>
                      <a:srgbClr val="FFFFFF"/>
                    </a:solidFill>
                  </a:tcPr>
                </a:tc>
                <a:tc>
                  <a:txBody>
                    <a:bodyPr wrap="square"/>
                    <a:lstStyle/>
                    <a:p>
                      <a:pPr algn="l"/>
                      <a:r>
                        <a:rPr sz="1050" b="0">
                          <a:solidFill>
                            <a:srgbClr val="1C1C1E"/>
                          </a:solidFill>
                          <a:latin typeface="Calibri"/>
                        </a:rPr>
                        <a:t>Short lock around seq allocation only; append is O(1)</a:t>
                      </a:r>
                    </a:p>
                  </a:txBody>
                  <a:tcPr marL="82296" marR="64008" marT="32004" marB="32004" anchor="ctr">
                    <a:solidFill>
                      <a:srgbClr val="FFFFFF"/>
                    </a:solidFill>
                  </a:tcPr>
                </a:tc>
              </a:tr>
              <a:tr h="504215">
                <a:tc>
                  <a:txBody>
                    <a:bodyPr wrap="square"/>
                    <a:lstStyle/>
                    <a:p>
                      <a:pPr algn="l"/>
                      <a:r>
                        <a:rPr sz="1050" b="1">
                          <a:solidFill>
                            <a:srgbClr val="A51C30"/>
                          </a:solidFill>
                          <a:latin typeface="Calibri"/>
                        </a:rPr>
                        <a:t>Duplicate API submissions</a:t>
                      </a:r>
                    </a:p>
                  </a:txBody>
                  <a:tcPr marL="82296" marR="64008" marT="32004" marB="32004" anchor="ctr">
                    <a:solidFill>
                      <a:srgbClr val="F6F3EF"/>
                    </a:solidFill>
                  </a:tcPr>
                </a:tc>
                <a:tc>
                  <a:txBody>
                    <a:bodyPr wrap="square"/>
                    <a:lstStyle/>
                    <a:p>
                      <a:pPr algn="l"/>
                      <a:r>
                        <a:rPr sz="1050" b="0">
                          <a:solidFill>
                            <a:srgbClr val="1C1C1E"/>
                          </a:solidFill>
                          <a:latin typeface="Calibri"/>
                        </a:rPr>
                        <a:t>Idempotency-Key with a 24-hour replay of the original response</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Lost updates on inventory edits</a:t>
                      </a:r>
                    </a:p>
                  </a:txBody>
                  <a:tcPr marL="82296" marR="64008" marT="32004" marB="32004" anchor="ctr">
                    <a:solidFill>
                      <a:srgbClr val="FFFFFF"/>
                    </a:solidFill>
                  </a:tcPr>
                </a:tc>
                <a:tc>
                  <a:txBody>
                    <a:bodyPr wrap="square"/>
                    <a:lstStyle/>
                    <a:p>
                      <a:pPr algn="l"/>
                      <a:r>
                        <a:rPr sz="1050" b="0">
                          <a:solidFill>
                            <a:srgbClr val="1C1C1E"/>
                          </a:solidFill>
                          <a:latin typeface="Calibri"/>
                        </a:rPr>
                        <a:t>ETag / If-Match; 412 returns a field-level diff</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Duplicate outbox delivery</a:t>
                      </a:r>
                    </a:p>
                  </a:txBody>
                  <a:tcPr marL="82296" marR="64008" marT="32004" marB="32004" anchor="ctr">
                    <a:solidFill>
                      <a:srgbClr val="F6F3EF"/>
                    </a:solidFill>
                  </a:tcPr>
                </a:tc>
                <a:tc>
                  <a:txBody>
                    <a:bodyPr wrap="square"/>
                    <a:lstStyle/>
                    <a:p>
                      <a:pPr algn="l"/>
                      <a:r>
                        <a:rPr sz="1050" b="0">
                          <a:solidFill>
                            <a:srgbClr val="1C1C1E"/>
                          </a:solidFill>
                          <a:latin typeface="Calibri"/>
                        </a:rPr>
                        <a:t>MERGE on outbox_id</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Concurrent materialisation</a:t>
                      </a:r>
                    </a:p>
                  </a:txBody>
                  <a:tcPr marL="82296" marR="64008" marT="32004" marB="32004" anchor="ctr">
                    <a:solidFill>
                      <a:srgbClr val="FFFFFF"/>
                    </a:solidFill>
                  </a:tcPr>
                </a:tc>
                <a:tc>
                  <a:txBody>
                    <a:bodyPr wrap="square"/>
                    <a:lstStyle/>
                    <a:p>
                      <a:pPr algn="l"/>
                      <a:r>
                        <a:rPr sz="1050" b="0">
                          <a:solidFill>
                            <a:srgbClr val="1C1C1E"/>
                          </a:solidFill>
                          <a:latin typeface="Calibri"/>
                        </a:rPr>
                        <a:t>Delta ACID; view version pinned per job</a:t>
                      </a:r>
                    </a:p>
                  </a:txBody>
                  <a:tcPr marL="82296" marR="64008" marT="32004" marB="32004" anchor="ctr">
                    <a:solidFill>
                      <a:srgbClr val="FFFFFF"/>
                    </a:solidFill>
                  </a:tcPr>
                </a:tc>
              </a:tr>
            </a:tbl>
          </a:graphicData>
        </a:graphic>
      </p:graphicFrame>
      <p:sp>
        <p:nvSpPr>
          <p:cNvPr id="11" name="TextBox 10"/>
          <p:cNvSpPr txBox="1"/>
          <p:nvPr/>
        </p:nvSpPr>
        <p:spPr>
          <a:xfrm>
            <a:off x="6840452" y="1353312"/>
            <a:ext cx="4574002"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Cache inventory</a:t>
            </a:r>
          </a:p>
        </p:txBody>
      </p:sp>
      <p:graphicFrame>
        <p:nvGraphicFramePr>
          <p:cNvPr id="12" name="Table 11"/>
          <p:cNvGraphicFramePr>
            <a:graphicFrameLocks noGrp="1"/>
          </p:cNvGraphicFramePr>
          <p:nvPr/>
        </p:nvGraphicFramePr>
        <p:xfrm>
          <a:off x="6840452" y="1719072"/>
          <a:ext cx="4574000" cy="2513024"/>
        </p:xfrm>
        <a:graphic>
          <a:graphicData uri="http://schemas.openxmlformats.org/drawingml/2006/table">
            <a:tbl>
              <a:tblPr firstRow="1">
                <a:tableStyleId>{5C22544A-7EE6-4342-B048-85BDC9FD1C3A}</a:tableStyleId>
              </a:tblPr>
              <a:tblGrid>
                <a:gridCol w="1783085"/>
                <a:gridCol w="1317932"/>
                <a:gridCol w="1472983"/>
              </a:tblGrid>
              <a:tr h="329184">
                <a:tc>
                  <a:txBody>
                    <a:bodyPr wrap="square"/>
                    <a:lstStyle/>
                    <a:p>
                      <a:pPr algn="l"/>
                      <a:r>
                        <a:rPr sz="1000" b="1">
                          <a:solidFill>
                            <a:srgbClr val="FFFFFF"/>
                          </a:solidFill>
                          <a:latin typeface="Calibri"/>
                        </a:rPr>
                        <a:t>Cache</a:t>
                      </a:r>
                    </a:p>
                  </a:txBody>
                  <a:tcPr marL="82296" marR="64008" marT="32004" marB="32004" anchor="ctr">
                    <a:solidFill>
                      <a:srgbClr val="A51C30"/>
                    </a:solidFill>
                  </a:tcPr>
                </a:tc>
                <a:tc>
                  <a:txBody>
                    <a:bodyPr wrap="square"/>
                    <a:lstStyle/>
                    <a:p>
                      <a:pPr algn="l"/>
                      <a:r>
                        <a:rPr sz="1000" b="1">
                          <a:solidFill>
                            <a:srgbClr val="FFFFFF"/>
                          </a:solidFill>
                          <a:latin typeface="Calibri"/>
                        </a:rPr>
                        <a:t>TTL</a:t>
                      </a:r>
                    </a:p>
                  </a:txBody>
                  <a:tcPr marL="82296" marR="64008" marT="32004" marB="32004" anchor="ctr">
                    <a:solidFill>
                      <a:srgbClr val="A51C30"/>
                    </a:solidFill>
                  </a:tcPr>
                </a:tc>
                <a:tc>
                  <a:txBody>
                    <a:bodyPr wrap="square"/>
                    <a:lstStyle/>
                    <a:p>
                      <a:pPr algn="l"/>
                      <a:r>
                        <a:rPr sz="1000" b="1">
                          <a:solidFill>
                            <a:srgbClr val="FFFFFF"/>
                          </a:solidFill>
                          <a:latin typeface="Calibri"/>
                        </a:rPr>
                        <a:t>Invalidation</a:t>
                      </a:r>
                    </a:p>
                  </a:txBody>
                  <a:tcPr marL="82296" marR="64008" marT="32004" marB="32004" anchor="ctr">
                    <a:solidFill>
                      <a:srgbClr val="A51C30"/>
                    </a:solidFill>
                  </a:tcPr>
                </a:tc>
              </a:tr>
              <a:tr h="470128">
                <a:tc>
                  <a:txBody>
                    <a:bodyPr wrap="square"/>
                    <a:lstStyle/>
                    <a:p>
                      <a:pPr algn="l"/>
                      <a:r>
                        <a:rPr sz="950" b="1">
                          <a:solidFill>
                            <a:srgbClr val="A51C30"/>
                          </a:solidFill>
                          <a:latin typeface="Calibri"/>
                        </a:rPr>
                        <a:t>Warrant descriptor (Redis)</a:t>
                      </a:r>
                    </a:p>
                  </a:txBody>
                  <a:tcPr marL="82296" marR="64008" marT="32004" marB="32004" anchor="ctr">
                    <a:solidFill>
                      <a:srgbClr val="FFFFFF"/>
                    </a:solidFill>
                  </a:tcPr>
                </a:tc>
                <a:tc>
                  <a:txBody>
                    <a:bodyPr wrap="square"/>
                    <a:lstStyle/>
                    <a:p>
                      <a:pPr algn="l"/>
                      <a:r>
                        <a:rPr sz="950" b="0">
                          <a:solidFill>
                            <a:srgbClr val="1C1C1E"/>
                          </a:solidFill>
                          <a:latin typeface="Calibri"/>
                        </a:rPr>
                        <a:t>60 s – 1 h by tier</a:t>
                      </a:r>
                    </a:p>
                  </a:txBody>
                  <a:tcPr marL="82296" marR="64008" marT="32004" marB="32004" anchor="ctr">
                    <a:solidFill>
                      <a:srgbClr val="FFFFFF"/>
                    </a:solidFill>
                  </a:tcPr>
                </a:tc>
                <a:tc>
                  <a:txBody>
                    <a:bodyPr wrap="square"/>
                    <a:lstStyle/>
                    <a:p>
                      <a:pPr algn="l"/>
                      <a:r>
                        <a:rPr sz="950" b="0">
                          <a:solidFill>
                            <a:srgbClr val="1C1C1E"/>
                          </a:solidFill>
                          <a:latin typeface="Calibri"/>
                        </a:rPr>
                        <a:t>Pre-warm, then swap</a:t>
                      </a:r>
                    </a:p>
                  </a:txBody>
                  <a:tcPr marL="82296" marR="64008" marT="32004" marB="32004" anchor="ctr">
                    <a:solidFill>
                      <a:srgbClr val="FFFFFF"/>
                    </a:solidFill>
                  </a:tcPr>
                </a:tc>
              </a:tr>
              <a:tr h="310896">
                <a:tc>
                  <a:txBody>
                    <a:bodyPr wrap="square"/>
                    <a:lstStyle/>
                    <a:p>
                      <a:pPr algn="l"/>
                      <a:r>
                        <a:rPr sz="950" b="1">
                          <a:solidFill>
                            <a:srgbClr val="A51C30"/>
                          </a:solidFill>
                          <a:latin typeface="Calibri"/>
                        </a:rPr>
                        <a:t>Warrant descriptor (LRU)</a:t>
                      </a:r>
                    </a:p>
                  </a:txBody>
                  <a:tcPr marL="82296" marR="64008" marT="32004" marB="32004" anchor="ctr">
                    <a:solidFill>
                      <a:srgbClr val="F6F3EF"/>
                    </a:solidFill>
                  </a:tcPr>
                </a:tc>
                <a:tc>
                  <a:txBody>
                    <a:bodyPr wrap="square"/>
                    <a:lstStyle/>
                    <a:p>
                      <a:pPr algn="l"/>
                      <a:r>
                        <a:rPr sz="950" b="0">
                          <a:solidFill>
                            <a:srgbClr val="1C1C1E"/>
                          </a:solidFill>
                          <a:latin typeface="Calibri"/>
                        </a:rPr>
                        <a:t>≤ TTL</a:t>
                      </a:r>
                    </a:p>
                  </a:txBody>
                  <a:tcPr marL="82296" marR="64008" marT="32004" marB="32004" anchor="ctr">
                    <a:solidFill>
                      <a:srgbClr val="F6F3EF"/>
                    </a:solidFill>
                  </a:tcPr>
                </a:tc>
                <a:tc>
                  <a:txBody>
                    <a:bodyPr wrap="square"/>
                    <a:lstStyle/>
                    <a:p>
                      <a:pPr algn="l"/>
                      <a:r>
                        <a:rPr sz="950" b="0">
                          <a:solidFill>
                            <a:srgbClr val="1C1C1E"/>
                          </a:solidFill>
                          <a:latin typeface="Calibri"/>
                        </a:rPr>
                        <a:t>Epoch bump</a:t>
                      </a:r>
                    </a:p>
                  </a:txBody>
                  <a:tcPr marL="82296" marR="64008" marT="32004" marB="32004" anchor="ctr">
                    <a:solidFill>
                      <a:srgbClr val="F6F3EF"/>
                    </a:solidFill>
                  </a:tcPr>
                </a:tc>
              </a:tr>
              <a:tr h="310896">
                <a:tc>
                  <a:txBody>
                    <a:bodyPr wrap="square"/>
                    <a:lstStyle/>
                    <a:p>
                      <a:pPr algn="l"/>
                      <a:r>
                        <a:rPr sz="950" b="1">
                          <a:solidFill>
                            <a:srgbClr val="A51C30"/>
                          </a:solidFill>
                          <a:latin typeface="Calibri"/>
                        </a:rPr>
                        <a:t>Inventory summary</a:t>
                      </a:r>
                    </a:p>
                  </a:txBody>
                  <a:tcPr marL="82296" marR="64008" marT="32004" marB="32004" anchor="ctr">
                    <a:solidFill>
                      <a:srgbClr val="FFFFFF"/>
                    </a:solidFill>
                  </a:tcPr>
                </a:tc>
                <a:tc>
                  <a:txBody>
                    <a:bodyPr wrap="square"/>
                    <a:lstStyle/>
                    <a:p>
                      <a:pPr algn="l"/>
                      <a:r>
                        <a:rPr sz="950" b="0">
                          <a:solidFill>
                            <a:srgbClr val="1C1C1E"/>
                          </a:solidFill>
                          <a:latin typeface="Calibri"/>
                        </a:rPr>
                        <a:t>materialised</a:t>
                      </a:r>
                    </a:p>
                  </a:txBody>
                  <a:tcPr marL="82296" marR="64008" marT="32004" marB="32004" anchor="ctr">
                    <a:solidFill>
                      <a:srgbClr val="FFFFFF"/>
                    </a:solidFill>
                  </a:tcPr>
                </a:tc>
                <a:tc>
                  <a:txBody>
                    <a:bodyPr wrap="square"/>
                    <a:lstStyle/>
                    <a:p>
                      <a:pPr algn="l"/>
                      <a:r>
                        <a:rPr sz="950" b="0">
                          <a:solidFill>
                            <a:srgbClr val="1C1C1E"/>
                          </a:solidFill>
                          <a:latin typeface="Calibri"/>
                        </a:rPr>
                        <a:t>Domain event</a:t>
                      </a:r>
                    </a:p>
                  </a:txBody>
                  <a:tcPr marL="82296" marR="64008" marT="32004" marB="32004" anchor="ctr">
                    <a:solidFill>
                      <a:srgbClr val="FFFFFF"/>
                    </a:solidFill>
                  </a:tcPr>
                </a:tc>
              </a:tr>
              <a:tr h="470128">
                <a:tc>
                  <a:txBody>
                    <a:bodyPr wrap="square"/>
                    <a:lstStyle/>
                    <a:p>
                      <a:pPr algn="l"/>
                      <a:r>
                        <a:rPr sz="950" b="1">
                          <a:solidFill>
                            <a:srgbClr val="A51C30"/>
                          </a:solidFill>
                          <a:latin typeface="Calibri"/>
                        </a:rPr>
                        <a:t>Rendered documents</a:t>
                      </a:r>
                    </a:p>
                  </a:txBody>
                  <a:tcPr marL="82296" marR="64008" marT="32004" marB="32004" anchor="ctr">
                    <a:solidFill>
                      <a:srgbClr val="F6F3EF"/>
                    </a:solidFill>
                  </a:tcPr>
                </a:tc>
                <a:tc>
                  <a:txBody>
                    <a:bodyPr wrap="square"/>
                    <a:lstStyle/>
                    <a:p>
                      <a:pPr algn="l"/>
                      <a:r>
                        <a:rPr sz="950" b="0">
                          <a:solidFill>
                            <a:srgbClr val="1C1C1E"/>
                          </a:solidFill>
                          <a:latin typeface="Calibri"/>
                        </a:rPr>
                        <a:t>indefinite</a:t>
                      </a:r>
                    </a:p>
                  </a:txBody>
                  <a:tcPr marL="82296" marR="64008" marT="32004" marB="32004" anchor="ctr">
                    <a:solidFill>
                      <a:srgbClr val="F6F3EF"/>
                    </a:solidFill>
                  </a:tcPr>
                </a:tc>
                <a:tc>
                  <a:txBody>
                    <a:bodyPr wrap="square"/>
                    <a:lstStyle/>
                    <a:p>
                      <a:pPr algn="l"/>
                      <a:r>
                        <a:rPr sz="950" b="0">
                          <a:solidFill>
                            <a:srgbClr val="1C1C1E"/>
                          </a:solidFill>
                          <a:latin typeface="Calibri"/>
                        </a:rPr>
                        <a:t>evidence_digest change</a:t>
                      </a:r>
                    </a:p>
                  </a:txBody>
                  <a:tcPr marL="82296" marR="64008" marT="32004" marB="32004" anchor="ctr">
                    <a:solidFill>
                      <a:srgbClr val="F6F3EF"/>
                    </a:solidFill>
                  </a:tcPr>
                </a:tc>
              </a:tr>
              <a:tr h="310896">
                <a:tc>
                  <a:txBody>
                    <a:bodyPr wrap="square"/>
                    <a:lstStyle/>
                    <a:p>
                      <a:pPr algn="l"/>
                      <a:r>
                        <a:rPr sz="950" b="1">
                          <a:solidFill>
                            <a:srgbClr val="A51C30"/>
                          </a:solidFill>
                          <a:latin typeface="Calibri"/>
                        </a:rPr>
                        <a:t>Blast-radius closure</a:t>
                      </a:r>
                    </a:p>
                  </a:txBody>
                  <a:tcPr marL="82296" marR="64008" marT="32004" marB="32004" anchor="ctr">
                    <a:solidFill>
                      <a:srgbClr val="FFFFFF"/>
                    </a:solidFill>
                  </a:tcPr>
                </a:tc>
                <a:tc>
                  <a:txBody>
                    <a:bodyPr wrap="square"/>
                    <a:lstStyle/>
                    <a:p>
                      <a:pPr algn="l"/>
                      <a:r>
                        <a:rPr sz="950" b="0">
                          <a:solidFill>
                            <a:srgbClr val="1C1C1E"/>
                          </a:solidFill>
                          <a:latin typeface="Calibri"/>
                        </a:rPr>
                        <a:t>24 h</a:t>
                      </a:r>
                    </a:p>
                  </a:txBody>
                  <a:tcPr marL="82296" marR="64008" marT="32004" marB="32004" anchor="ctr">
                    <a:solidFill>
                      <a:srgbClr val="FFFFFF"/>
                    </a:solidFill>
                  </a:tcPr>
                </a:tc>
                <a:tc>
                  <a:txBody>
                    <a:bodyPr wrap="square"/>
                    <a:lstStyle/>
                    <a:p>
                      <a:pPr algn="l"/>
                      <a:r>
                        <a:rPr sz="950" b="0">
                          <a:solidFill>
                            <a:srgbClr val="1C1C1E"/>
                          </a:solidFill>
                          <a:latin typeface="Calibri"/>
                        </a:rPr>
                        <a:t>Edge change</a:t>
                      </a:r>
                    </a:p>
                  </a:txBody>
                  <a:tcPr marL="82296" marR="64008" marT="32004" marB="32004" anchor="ctr">
                    <a:solidFill>
                      <a:srgbClr val="FFFFFF"/>
                    </a:solidFill>
                  </a:tcPr>
                </a:tc>
              </a:tr>
              <a:tr h="310896">
                <a:tc>
                  <a:txBody>
                    <a:bodyPr wrap="square"/>
                    <a:lstStyle/>
                    <a:p>
                      <a:pPr algn="l"/>
                      <a:r>
                        <a:rPr sz="950" b="1">
                          <a:solidFill>
                            <a:srgbClr val="A51C30"/>
                          </a:solidFill>
                          <a:latin typeface="Calibri"/>
                        </a:rPr>
                        <a:t>Policy bundles</a:t>
                      </a:r>
                    </a:p>
                  </a:txBody>
                  <a:tcPr marL="82296" marR="64008" marT="32004" marB="32004" anchor="ctr">
                    <a:solidFill>
                      <a:srgbClr val="F6F3EF"/>
                    </a:solidFill>
                  </a:tcPr>
                </a:tc>
                <a:tc>
                  <a:txBody>
                    <a:bodyPr wrap="square"/>
                    <a:lstStyle/>
                    <a:p>
                      <a:pPr algn="l"/>
                      <a:r>
                        <a:rPr sz="950" b="0">
                          <a:solidFill>
                            <a:srgbClr val="1C1C1E"/>
                          </a:solidFill>
                          <a:latin typeface="Calibri"/>
                        </a:rPr>
                        <a:t>version</a:t>
                      </a:r>
                    </a:p>
                  </a:txBody>
                  <a:tcPr marL="82296" marR="64008" marT="32004" marB="32004" anchor="ctr">
                    <a:solidFill>
                      <a:srgbClr val="F6F3EF"/>
                    </a:solidFill>
                  </a:tcPr>
                </a:tc>
                <a:tc>
                  <a:txBody>
                    <a:bodyPr wrap="square"/>
                    <a:lstStyle/>
                    <a:p>
                      <a:pPr algn="l"/>
                      <a:r>
                        <a:rPr sz="950" b="0">
                          <a:solidFill>
                            <a:srgbClr val="1C1C1E"/>
                          </a:solidFill>
                          <a:latin typeface="Calibri"/>
                        </a:rPr>
                        <a:t>On publish</a:t>
                      </a:r>
                    </a:p>
                  </a:txBody>
                  <a:tcPr marL="82296" marR="64008" marT="32004" marB="32004" anchor="ctr">
                    <a:solidFill>
                      <a:srgbClr val="F6F3EF"/>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CROSS-CUTTING · NEVER A BARE 500</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Error taxonomy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130</a:t>
            </a:r>
          </a:p>
        </p:txBody>
      </p:sp>
      <p:graphicFrame>
        <p:nvGraphicFramePr>
          <p:cNvPr id="10" name="Table 9"/>
          <p:cNvGraphicFramePr>
            <a:graphicFrameLocks noGrp="1"/>
          </p:cNvGraphicFramePr>
          <p:nvPr/>
        </p:nvGraphicFramePr>
        <p:xfrm>
          <a:off x="777240" y="1353312"/>
          <a:ext cx="10637213" cy="4130040"/>
        </p:xfrm>
        <a:graphic>
          <a:graphicData uri="http://schemas.openxmlformats.org/drawingml/2006/table">
            <a:tbl>
              <a:tblPr firstRow="1">
                <a:tableStyleId>{5C22544A-7EE6-4342-B048-85BDC9FD1C3A}</a:tableStyleId>
              </a:tblPr>
              <a:tblGrid>
                <a:gridCol w="2292503"/>
                <a:gridCol w="1100401"/>
                <a:gridCol w="3851405"/>
                <a:gridCol w="3392904"/>
              </a:tblGrid>
              <a:tr h="329184">
                <a:tc>
                  <a:txBody>
                    <a:bodyPr wrap="square"/>
                    <a:lstStyle/>
                    <a:p>
                      <a:pPr algn="l"/>
                      <a:r>
                        <a:rPr sz="1050" b="1">
                          <a:solidFill>
                            <a:srgbClr val="FFFFFF"/>
                          </a:solidFill>
                          <a:latin typeface="Calibri"/>
                        </a:rPr>
                        <a:t>Code</a:t>
                      </a:r>
                    </a:p>
                  </a:txBody>
                  <a:tcPr marL="82296" marR="64008" marT="32004" marB="32004" anchor="ctr">
                    <a:solidFill>
                      <a:srgbClr val="A51C30"/>
                    </a:solidFill>
                  </a:tcPr>
                </a:tc>
                <a:tc>
                  <a:txBody>
                    <a:bodyPr wrap="square"/>
                    <a:lstStyle/>
                    <a:p>
                      <a:pPr algn="l"/>
                      <a:r>
                        <a:rPr sz="1050" b="1">
                          <a:solidFill>
                            <a:srgbClr val="FFFFFF"/>
                          </a:solidFill>
                          <a:latin typeface="Calibri"/>
                        </a:rPr>
                        <a:t>HTTP</a:t>
                      </a:r>
                    </a:p>
                  </a:txBody>
                  <a:tcPr marL="82296" marR="64008" marT="32004" marB="32004" anchor="ctr">
                    <a:solidFill>
                      <a:srgbClr val="A51C30"/>
                    </a:solidFill>
                  </a:tcPr>
                </a:tc>
                <a:tc>
                  <a:txBody>
                    <a:bodyPr wrap="square"/>
                    <a:lstStyle/>
                    <a:p>
                      <a:pPr algn="l"/>
                      <a:r>
                        <a:rPr sz="1050" b="1">
                          <a:solidFill>
                            <a:srgbClr val="FFFFFF"/>
                          </a:solidFill>
                          <a:latin typeface="Calibri"/>
                        </a:rPr>
                        <a:t>Meaning</a:t>
                      </a:r>
                    </a:p>
                  </a:txBody>
                  <a:tcPr marL="82296" marR="64008" marT="32004" marB="32004" anchor="ctr">
                    <a:solidFill>
                      <a:srgbClr val="A51C30"/>
                    </a:solidFill>
                  </a:tcPr>
                </a:tc>
                <a:tc>
                  <a:txBody>
                    <a:bodyPr wrap="square"/>
                    <a:lstStyle/>
                    <a:p>
                      <a:pPr algn="l"/>
                      <a:r>
                        <a:rPr sz="1050" b="1">
                          <a:solidFill>
                            <a:srgbClr val="FFFFFF"/>
                          </a:solidFill>
                          <a:latin typeface="Calibri"/>
                        </a:rPr>
                        <a:t>Client action</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validation_failed</a:t>
                      </a:r>
                    </a:p>
                  </a:txBody>
                  <a:tcPr marL="82296" marR="64008" marT="32004" marB="32004" anchor="ctr">
                    <a:solidFill>
                      <a:srgbClr val="FFFFFF"/>
                    </a:solidFill>
                  </a:tcPr>
                </a:tc>
                <a:tc>
                  <a:txBody>
                    <a:bodyPr wrap="square"/>
                    <a:lstStyle/>
                    <a:p>
                      <a:pPr algn="l"/>
                      <a:r>
                        <a:rPr sz="1000" b="0">
                          <a:solidFill>
                            <a:srgbClr val="1C1C1E"/>
                          </a:solidFill>
                          <a:latin typeface="Calibri"/>
                        </a:rPr>
                        <a:t>422</a:t>
                      </a:r>
                    </a:p>
                  </a:txBody>
                  <a:tcPr marL="82296" marR="64008" marT="32004" marB="32004" anchor="ctr">
                    <a:solidFill>
                      <a:srgbClr val="FFFFFF"/>
                    </a:solidFill>
                  </a:tcPr>
                </a:tc>
                <a:tc>
                  <a:txBody>
                    <a:bodyPr wrap="square"/>
                    <a:lstStyle/>
                    <a:p>
                      <a:pPr algn="l"/>
                      <a:r>
                        <a:rPr sz="1000" b="0">
                          <a:solidFill>
                            <a:srgbClr val="1C1C1E"/>
                          </a:solidFill>
                          <a:latin typeface="Calibri"/>
                        </a:rPr>
                        <a:t>Payload or manifest invalid</a:t>
                      </a:r>
                    </a:p>
                  </a:txBody>
                  <a:tcPr marL="82296" marR="64008" marT="32004" marB="32004" anchor="ctr">
                    <a:solidFill>
                      <a:srgbClr val="FFFFFF"/>
                    </a:solidFill>
                  </a:tcPr>
                </a:tc>
                <a:tc>
                  <a:txBody>
                    <a:bodyPr wrap="square"/>
                    <a:lstStyle/>
                    <a:p>
                      <a:pPr algn="l"/>
                      <a:r>
                        <a:rPr sz="1000" b="0">
                          <a:solidFill>
                            <a:srgbClr val="1C1C1E"/>
                          </a:solidFill>
                          <a:latin typeface="Calibri"/>
                        </a:rPr>
                        <a:t>Fix and retry</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artifact_rejected</a:t>
                      </a:r>
                    </a:p>
                  </a:txBody>
                  <a:tcPr marL="82296" marR="64008" marT="32004" marB="32004" anchor="ctr">
                    <a:solidFill>
                      <a:srgbClr val="F6F3EF"/>
                    </a:solidFill>
                  </a:tcPr>
                </a:tc>
                <a:tc>
                  <a:txBody>
                    <a:bodyPr wrap="square"/>
                    <a:lstStyle/>
                    <a:p>
                      <a:pPr algn="l"/>
                      <a:r>
                        <a:rPr sz="1000" b="0">
                          <a:solidFill>
                            <a:srgbClr val="1C1C1E"/>
                          </a:solidFill>
                          <a:latin typeface="Calibri"/>
                        </a:rPr>
                        <a:t>422</a:t>
                      </a:r>
                    </a:p>
                  </a:txBody>
                  <a:tcPr marL="82296" marR="64008" marT="32004" marB="32004" anchor="ctr">
                    <a:solidFill>
                      <a:srgbClr val="F6F3EF"/>
                    </a:solidFill>
                  </a:tcPr>
                </a:tc>
                <a:tc>
                  <a:txBody>
                    <a:bodyPr wrap="square"/>
                    <a:lstStyle/>
                    <a:p>
                      <a:pPr algn="l"/>
                      <a:r>
                        <a:rPr sz="1000" b="0">
                          <a:solidFill>
                            <a:srgbClr val="1C1C1E"/>
                          </a:solidFill>
                          <a:latin typeface="Calibri"/>
                        </a:rPr>
                        <a:t>Scan or format policy refused it</a:t>
                      </a:r>
                    </a:p>
                  </a:txBody>
                  <a:tcPr marL="82296" marR="64008" marT="32004" marB="32004" anchor="ctr">
                    <a:solidFill>
                      <a:srgbClr val="F6F3EF"/>
                    </a:solidFill>
                  </a:tcPr>
                </a:tc>
                <a:tc>
                  <a:txBody>
                    <a:bodyPr wrap="square"/>
                    <a:lstStyle/>
                    <a:p>
                      <a:pPr algn="l"/>
                      <a:r>
                        <a:rPr sz="1000" b="0">
                          <a:solidFill>
                            <a:srgbClr val="1C1C1E"/>
                          </a:solidFill>
                          <a:latin typeface="Calibri"/>
                        </a:rPr>
                        <a:t>Convert format, or request an expiring exception</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transition_blocked</a:t>
                      </a:r>
                    </a:p>
                  </a:txBody>
                  <a:tcPr marL="82296" marR="64008" marT="32004" marB="32004" anchor="ctr">
                    <a:solidFill>
                      <a:srgbClr val="FFFFFF"/>
                    </a:solidFill>
                  </a:tcPr>
                </a:tc>
                <a:tc>
                  <a:txBody>
                    <a:bodyPr wrap="square"/>
                    <a:lstStyle/>
                    <a:p>
                      <a:pPr algn="l"/>
                      <a:r>
                        <a:rPr sz="1000" b="0">
                          <a:solidFill>
                            <a:srgbClr val="1C1C1E"/>
                          </a:solidFill>
                          <a:latin typeface="Calibri"/>
                        </a:rPr>
                        <a:t>409</a:t>
                      </a:r>
                    </a:p>
                  </a:txBody>
                  <a:tcPr marL="82296" marR="64008" marT="32004" marB="32004" anchor="ctr">
                    <a:solidFill>
                      <a:srgbClr val="FFFFFF"/>
                    </a:solidFill>
                  </a:tcPr>
                </a:tc>
                <a:tc>
                  <a:txBody>
                    <a:bodyPr wrap="square"/>
                    <a:lstStyle/>
                    <a:p>
                      <a:pPr algn="l"/>
                      <a:r>
                        <a:rPr sz="1000" b="0">
                          <a:solidFill>
                            <a:srgbClr val="1C1C1E"/>
                          </a:solidFill>
                          <a:latin typeface="Calibri"/>
                        </a:rPr>
                        <a:t>Lifecycle guards unmet</a:t>
                      </a:r>
                    </a:p>
                  </a:txBody>
                  <a:tcPr marL="82296" marR="64008" marT="32004" marB="32004" anchor="ctr">
                    <a:solidFill>
                      <a:srgbClr val="FFFFFF"/>
                    </a:solidFill>
                  </a:tcPr>
                </a:tc>
                <a:tc>
                  <a:txBody>
                    <a:bodyPr wrap="square"/>
                    <a:lstStyle/>
                    <a:p>
                      <a:pPr algn="l"/>
                      <a:r>
                        <a:rPr sz="1000" b="0">
                          <a:solidFill>
                            <a:srgbClr val="1C1C1E"/>
                          </a:solidFill>
                          <a:latin typeface="Calibri"/>
                        </a:rPr>
                        <a:t>Follow deny_reason[].remediation_url</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policy_denied</a:t>
                      </a:r>
                    </a:p>
                  </a:txBody>
                  <a:tcPr marL="82296" marR="64008" marT="32004" marB="32004" anchor="ctr">
                    <a:solidFill>
                      <a:srgbClr val="F6F3EF"/>
                    </a:solidFill>
                  </a:tcPr>
                </a:tc>
                <a:tc>
                  <a:txBody>
                    <a:bodyPr wrap="square"/>
                    <a:lstStyle/>
                    <a:p>
                      <a:pPr algn="l"/>
                      <a:r>
                        <a:rPr sz="1000" b="0">
                          <a:solidFill>
                            <a:srgbClr val="1C1C1E"/>
                          </a:solidFill>
                          <a:latin typeface="Calibri"/>
                        </a:rPr>
                        <a:t>403</a:t>
                      </a:r>
                    </a:p>
                  </a:txBody>
                  <a:tcPr marL="82296" marR="64008" marT="32004" marB="32004" anchor="ctr">
                    <a:solidFill>
                      <a:srgbClr val="F6F3EF"/>
                    </a:solidFill>
                  </a:tcPr>
                </a:tc>
                <a:tc>
                  <a:txBody>
                    <a:bodyPr wrap="square"/>
                    <a:lstStyle/>
                    <a:p>
                      <a:pPr algn="l"/>
                      <a:r>
                        <a:rPr sz="1000" b="0">
                          <a:solidFill>
                            <a:srgbClr val="1C1C1E"/>
                          </a:solidFill>
                          <a:latin typeface="Calibri"/>
                        </a:rPr>
                        <a:t>A gate refused</a:t>
                      </a:r>
                    </a:p>
                  </a:txBody>
                  <a:tcPr marL="82296" marR="64008" marT="32004" marB="32004" anchor="ctr">
                    <a:solidFill>
                      <a:srgbClr val="F6F3EF"/>
                    </a:solidFill>
                  </a:tcPr>
                </a:tc>
                <a:tc>
                  <a:txBody>
                    <a:bodyPr wrap="square"/>
                    <a:lstStyle/>
                    <a:p>
                      <a:pPr algn="l"/>
                      <a:r>
                        <a:rPr sz="1000" b="0">
                          <a:solidFill>
                            <a:srgbClr val="1C1C1E"/>
                          </a:solidFill>
                          <a:latin typeface="Calibri"/>
                        </a:rPr>
                        <a:t>As above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no_entitlement</a:t>
                      </a:r>
                    </a:p>
                  </a:txBody>
                  <a:tcPr marL="82296" marR="64008" marT="32004" marB="32004" anchor="ctr">
                    <a:solidFill>
                      <a:srgbClr val="FFFFFF"/>
                    </a:solidFill>
                  </a:tcPr>
                </a:tc>
                <a:tc>
                  <a:txBody>
                    <a:bodyPr wrap="square"/>
                    <a:lstStyle/>
                    <a:p>
                      <a:pPr algn="l"/>
                      <a:r>
                        <a:rPr sz="1000" b="0">
                          <a:solidFill>
                            <a:srgbClr val="1C1C1E"/>
                          </a:solidFill>
                          <a:latin typeface="Calibri"/>
                        </a:rPr>
                        <a:t>403</a:t>
                      </a:r>
                    </a:p>
                  </a:txBody>
                  <a:tcPr marL="82296" marR="64008" marT="32004" marB="32004" anchor="ctr">
                    <a:solidFill>
                      <a:srgbClr val="FFFFFF"/>
                    </a:solidFill>
                  </a:tcPr>
                </a:tc>
                <a:tc>
                  <a:txBody>
                    <a:bodyPr wrap="square"/>
                    <a:lstStyle/>
                    <a:p>
                      <a:pPr algn="l"/>
                      <a:r>
                        <a:rPr sz="1000" b="0">
                          <a:solidFill>
                            <a:srgbClr val="1C1C1E"/>
                          </a:solidFill>
                          <a:latin typeface="Calibri"/>
                        </a:rPr>
                        <a:t>No grant for this principal and use</a:t>
                      </a:r>
                    </a:p>
                  </a:txBody>
                  <a:tcPr marL="82296" marR="64008" marT="32004" marB="32004" anchor="ctr">
                    <a:solidFill>
                      <a:srgbClr val="FFFFFF"/>
                    </a:solidFill>
                  </a:tcPr>
                </a:tc>
                <a:tc>
                  <a:txBody>
                    <a:bodyPr wrap="square"/>
                    <a:lstStyle/>
                    <a:p>
                      <a:pPr algn="l"/>
                      <a:r>
                        <a:rPr sz="1000" b="0">
                          <a:solidFill>
                            <a:srgbClr val="1C1C1E"/>
                          </a:solidFill>
                          <a:latin typeface="Calibri"/>
                        </a:rPr>
                        <a:t>Request a grant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use_not_approved</a:t>
                      </a:r>
                    </a:p>
                  </a:txBody>
                  <a:tcPr marL="82296" marR="64008" marT="32004" marB="32004" anchor="ctr">
                    <a:solidFill>
                      <a:srgbClr val="F6F3EF"/>
                    </a:solidFill>
                  </a:tcPr>
                </a:tc>
                <a:tc>
                  <a:txBody>
                    <a:bodyPr wrap="square"/>
                    <a:lstStyle/>
                    <a:p>
                      <a:pPr algn="l"/>
                      <a:r>
                        <a:rPr sz="1000" b="0">
                          <a:solidFill>
                            <a:srgbClr val="1C1C1E"/>
                          </a:solidFill>
                          <a:latin typeface="Calibri"/>
                        </a:rPr>
                        <a:t>403</a:t>
                      </a:r>
                    </a:p>
                  </a:txBody>
                  <a:tcPr marL="82296" marR="64008" marT="32004" marB="32004" anchor="ctr">
                    <a:solidFill>
                      <a:srgbClr val="F6F3EF"/>
                    </a:solidFill>
                  </a:tcPr>
                </a:tc>
                <a:tc>
                  <a:txBody>
                    <a:bodyPr wrap="square"/>
                    <a:lstStyle/>
                    <a:p>
                      <a:pPr algn="l"/>
                      <a:r>
                        <a:rPr sz="1000" b="0">
                          <a:solidFill>
                            <a:srgbClr val="1C1C1E"/>
                          </a:solidFill>
                          <a:latin typeface="Calibri"/>
                        </a:rPr>
                        <a:t>Declared use is not an approved use</a:t>
                      </a:r>
                    </a:p>
                  </a:txBody>
                  <a:tcPr marL="82296" marR="64008" marT="32004" marB="32004" anchor="ctr">
                    <a:solidFill>
                      <a:srgbClr val="F6F3EF"/>
                    </a:solidFill>
                  </a:tcPr>
                </a:tc>
                <a:tc>
                  <a:txBody>
                    <a:bodyPr wrap="square"/>
                    <a:lstStyle/>
                    <a:p>
                      <a:pPr algn="l"/>
                      <a:r>
                        <a:rPr sz="1000" b="0">
                          <a:solidFill>
                            <a:srgbClr val="1C1C1E"/>
                          </a:solidFill>
                          <a:latin typeface="Calibri"/>
                        </a:rPr>
                        <a:t>Seek approval</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restricted</a:t>
                      </a:r>
                    </a:p>
                  </a:txBody>
                  <a:tcPr marL="82296" marR="64008" marT="32004" marB="32004" anchor="ctr">
                    <a:solidFill>
                      <a:srgbClr val="FFFFFF"/>
                    </a:solidFill>
                  </a:tcPr>
                </a:tc>
                <a:tc>
                  <a:txBody>
                    <a:bodyPr wrap="square"/>
                    <a:lstStyle/>
                    <a:p>
                      <a:pPr algn="l"/>
                      <a:r>
                        <a:rPr sz="1000" b="0">
                          <a:solidFill>
                            <a:srgbClr val="1C1C1E"/>
                          </a:solidFill>
                          <a:latin typeface="Calibri"/>
                        </a:rPr>
                        <a:t>423</a:t>
                      </a:r>
                    </a:p>
                  </a:txBody>
                  <a:tcPr marL="82296" marR="64008" marT="32004" marB="32004" anchor="ctr">
                    <a:solidFill>
                      <a:srgbClr val="FFFFFF"/>
                    </a:solidFill>
                  </a:tcPr>
                </a:tc>
                <a:tc>
                  <a:txBody>
                    <a:bodyPr wrap="square"/>
                    <a:lstStyle/>
                    <a:p>
                      <a:pPr algn="l"/>
                      <a:r>
                        <a:rPr sz="1000" b="0">
                          <a:solidFill>
                            <a:srgbClr val="1C1C1E"/>
                          </a:solidFill>
                          <a:latin typeface="Calibri"/>
                        </a:rPr>
                        <a:t>Blocking finding or suspension</a:t>
                      </a:r>
                    </a:p>
                  </a:txBody>
                  <a:tcPr marL="82296" marR="64008" marT="32004" marB="32004" anchor="ctr">
                    <a:solidFill>
                      <a:srgbClr val="FFFFFF"/>
                    </a:solidFill>
                  </a:tcPr>
                </a:tc>
                <a:tc>
                  <a:txBody>
                    <a:bodyPr wrap="square"/>
                    <a:lstStyle/>
                    <a:p>
                      <a:pPr algn="l"/>
                      <a:r>
                        <a:rPr sz="1000" b="0">
                          <a:solidFill>
                            <a:srgbClr val="1C1C1E"/>
                          </a:solidFill>
                          <a:latin typeface="Calibri"/>
                        </a:rPr>
                        <a:t>Remediate, or break-glass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revoked</a:t>
                      </a:r>
                    </a:p>
                  </a:txBody>
                  <a:tcPr marL="82296" marR="64008" marT="32004" marB="32004" anchor="ctr">
                    <a:solidFill>
                      <a:srgbClr val="F6F3EF"/>
                    </a:solidFill>
                  </a:tcPr>
                </a:tc>
                <a:tc>
                  <a:txBody>
                    <a:bodyPr wrap="square"/>
                    <a:lstStyle/>
                    <a:p>
                      <a:pPr algn="l"/>
                      <a:r>
                        <a:rPr sz="1000" b="0">
                          <a:solidFill>
                            <a:srgbClr val="1C1C1E"/>
                          </a:solidFill>
                          <a:latin typeface="Calibri"/>
                        </a:rPr>
                        <a:t>410</a:t>
                      </a:r>
                    </a:p>
                  </a:txBody>
                  <a:tcPr marL="82296" marR="64008" marT="32004" marB="32004" anchor="ctr">
                    <a:solidFill>
                      <a:srgbClr val="F6F3EF"/>
                    </a:solidFill>
                  </a:tcPr>
                </a:tc>
                <a:tc>
                  <a:txBody>
                    <a:bodyPr wrap="square"/>
                    <a:lstStyle/>
                    <a:p>
                      <a:pPr algn="l"/>
                      <a:r>
                        <a:rPr sz="1000" b="0">
                          <a:solidFill>
                            <a:srgbClr val="1C1C1E"/>
                          </a:solidFill>
                          <a:latin typeface="Calibri"/>
                        </a:rPr>
                        <a:t>Warrant revoked</a:t>
                      </a:r>
                    </a:p>
                  </a:txBody>
                  <a:tcPr marL="82296" marR="64008" marT="32004" marB="32004" anchor="ctr">
                    <a:solidFill>
                      <a:srgbClr val="F6F3EF"/>
                    </a:solidFill>
                  </a:tcPr>
                </a:tc>
                <a:tc>
                  <a:txBody>
                    <a:bodyPr wrap="square"/>
                    <a:lstStyle/>
                    <a:p>
                      <a:pPr algn="l"/>
                      <a:r>
                        <a:rPr sz="1000" b="0">
                          <a:solidFill>
                            <a:srgbClr val="1C1C1E"/>
                          </a:solidFill>
                          <a:latin typeface="Calibri"/>
                        </a:rPr>
                        <a:t>Stop — do not retry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step_up_required</a:t>
                      </a:r>
                    </a:p>
                  </a:txBody>
                  <a:tcPr marL="82296" marR="64008" marT="32004" marB="32004" anchor="ctr">
                    <a:solidFill>
                      <a:srgbClr val="FFFFFF"/>
                    </a:solidFill>
                  </a:tcPr>
                </a:tc>
                <a:tc>
                  <a:txBody>
                    <a:bodyPr wrap="square"/>
                    <a:lstStyle/>
                    <a:p>
                      <a:pPr algn="l"/>
                      <a:r>
                        <a:rPr sz="1000" b="0">
                          <a:solidFill>
                            <a:srgbClr val="1C1C1E"/>
                          </a:solidFill>
                          <a:latin typeface="Calibri"/>
                        </a:rPr>
                        <a:t>403</a:t>
                      </a:r>
                    </a:p>
                  </a:txBody>
                  <a:tcPr marL="82296" marR="64008" marT="32004" marB="32004" anchor="ctr">
                    <a:solidFill>
                      <a:srgbClr val="FFFFFF"/>
                    </a:solidFill>
                  </a:tcPr>
                </a:tc>
                <a:tc>
                  <a:txBody>
                    <a:bodyPr wrap="square"/>
                    <a:lstStyle/>
                    <a:p>
                      <a:pPr algn="l"/>
                      <a:r>
                        <a:rPr sz="1000" b="0">
                          <a:solidFill>
                            <a:srgbClr val="1C1C1E"/>
                          </a:solidFill>
                          <a:latin typeface="Calibri"/>
                        </a:rPr>
                        <a:t>Re-authentication needed</a:t>
                      </a:r>
                    </a:p>
                  </a:txBody>
                  <a:tcPr marL="82296" marR="64008" marT="32004" marB="32004" anchor="ctr">
                    <a:solidFill>
                      <a:srgbClr val="FFFFFF"/>
                    </a:solidFill>
                  </a:tcPr>
                </a:tc>
                <a:tc>
                  <a:txBody>
                    <a:bodyPr wrap="square"/>
                    <a:lstStyle/>
                    <a:p>
                      <a:pPr algn="l"/>
                      <a:r>
                        <a:rPr sz="1000" b="0">
                          <a:solidFill>
                            <a:srgbClr val="1C1C1E"/>
                          </a:solidFill>
                          <a:latin typeface="Calibri"/>
                        </a:rPr>
                        <a:t>Re-authenticate with intent</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precondition_failed</a:t>
                      </a:r>
                    </a:p>
                  </a:txBody>
                  <a:tcPr marL="82296" marR="64008" marT="32004" marB="32004" anchor="ctr">
                    <a:solidFill>
                      <a:srgbClr val="F6F3EF"/>
                    </a:solidFill>
                  </a:tcPr>
                </a:tc>
                <a:tc>
                  <a:txBody>
                    <a:bodyPr wrap="square"/>
                    <a:lstStyle/>
                    <a:p>
                      <a:pPr algn="l"/>
                      <a:r>
                        <a:rPr sz="1000" b="0">
                          <a:solidFill>
                            <a:srgbClr val="1C1C1E"/>
                          </a:solidFill>
                          <a:latin typeface="Calibri"/>
                        </a:rPr>
                        <a:t>412</a:t>
                      </a:r>
                    </a:p>
                  </a:txBody>
                  <a:tcPr marL="82296" marR="64008" marT="32004" marB="32004" anchor="ctr">
                    <a:solidFill>
                      <a:srgbClr val="F6F3EF"/>
                    </a:solidFill>
                  </a:tcPr>
                </a:tc>
                <a:tc>
                  <a:txBody>
                    <a:bodyPr wrap="square"/>
                    <a:lstStyle/>
                    <a:p>
                      <a:pPr algn="l"/>
                      <a:r>
                        <a:rPr sz="1000" b="0">
                          <a:solidFill>
                            <a:srgbClr val="1C1C1E"/>
                          </a:solidFill>
                          <a:latin typeface="Calibri"/>
                        </a:rPr>
                        <a:t>ETag mismatch</a:t>
                      </a:r>
                    </a:p>
                  </a:txBody>
                  <a:tcPr marL="82296" marR="64008" marT="32004" marB="32004" anchor="ctr">
                    <a:solidFill>
                      <a:srgbClr val="F6F3EF"/>
                    </a:solidFill>
                  </a:tcPr>
                </a:tc>
                <a:tc>
                  <a:txBody>
                    <a:bodyPr wrap="square"/>
                    <a:lstStyle/>
                    <a:p>
                      <a:pPr algn="l"/>
                      <a:r>
                        <a:rPr sz="1000" b="0">
                          <a:solidFill>
                            <a:srgbClr val="1C1C1E"/>
                          </a:solidFill>
                          <a:latin typeface="Calibri"/>
                        </a:rPr>
                        <a:t>Refetch, merge, retry</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quota_exceeded</a:t>
                      </a:r>
                    </a:p>
                  </a:txBody>
                  <a:tcPr marL="82296" marR="64008" marT="32004" marB="32004" anchor="ctr">
                    <a:solidFill>
                      <a:srgbClr val="FFFFFF"/>
                    </a:solidFill>
                  </a:tcPr>
                </a:tc>
                <a:tc>
                  <a:txBody>
                    <a:bodyPr wrap="square"/>
                    <a:lstStyle/>
                    <a:p>
                      <a:pPr algn="l"/>
                      <a:r>
                        <a:rPr sz="1000" b="0">
                          <a:solidFill>
                            <a:srgbClr val="1C1C1E"/>
                          </a:solidFill>
                          <a:latin typeface="Calibri"/>
                        </a:rPr>
                        <a:t>429</a:t>
                      </a:r>
                    </a:p>
                  </a:txBody>
                  <a:tcPr marL="82296" marR="64008" marT="32004" marB="32004" anchor="ctr">
                    <a:solidFill>
                      <a:srgbClr val="FFFFFF"/>
                    </a:solidFill>
                  </a:tcPr>
                </a:tc>
                <a:tc>
                  <a:txBody>
                    <a:bodyPr wrap="square"/>
                    <a:lstStyle/>
                    <a:p>
                      <a:pPr algn="l"/>
                      <a:r>
                        <a:rPr sz="1000" b="0">
                          <a:solidFill>
                            <a:srgbClr val="1C1C1E"/>
                          </a:solidFill>
                          <a:latin typeface="Calibri"/>
                        </a:rPr>
                        <a:t>Rate, quota or cost budget</a:t>
                      </a:r>
                    </a:p>
                  </a:txBody>
                  <a:tcPr marL="82296" marR="64008" marT="32004" marB="32004" anchor="ctr">
                    <a:solidFill>
                      <a:srgbClr val="FFFFFF"/>
                    </a:solidFill>
                  </a:tcPr>
                </a:tc>
                <a:tc>
                  <a:txBody>
                    <a:bodyPr wrap="square"/>
                    <a:lstStyle/>
                    <a:p>
                      <a:pPr algn="l"/>
                      <a:r>
                        <a:rPr sz="1000" b="0">
                          <a:solidFill>
                            <a:srgbClr val="1C1C1E"/>
                          </a:solidFill>
                          <a:latin typeface="Calibri"/>
                        </a:rPr>
                        <a:t>Back off</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evidence_truncated</a:t>
                      </a:r>
                    </a:p>
                  </a:txBody>
                  <a:tcPr marL="82296" marR="64008" marT="32004" marB="32004" anchor="ctr">
                    <a:solidFill>
                      <a:srgbClr val="F6F3EF"/>
                    </a:solidFill>
                  </a:tcPr>
                </a:tc>
                <a:tc>
                  <a:txBody>
                    <a:bodyPr wrap="square"/>
                    <a:lstStyle/>
                    <a:p>
                      <a:pPr algn="l"/>
                      <a:r>
                        <a:rPr sz="1000" b="0">
                          <a:solidFill>
                            <a:srgbClr val="1C1C1E"/>
                          </a:solidFill>
                          <a:latin typeface="Calibri"/>
                        </a:rPr>
                        <a:t>200 + flag</a:t>
                      </a:r>
                    </a:p>
                  </a:txBody>
                  <a:tcPr marL="82296" marR="64008" marT="32004" marB="32004" anchor="ctr">
                    <a:solidFill>
                      <a:srgbClr val="F6F3EF"/>
                    </a:solidFill>
                  </a:tcPr>
                </a:tc>
                <a:tc>
                  <a:txBody>
                    <a:bodyPr wrap="square"/>
                    <a:lstStyle/>
                    <a:p>
                      <a:pPr algn="l"/>
                      <a:r>
                        <a:rPr sz="1000" b="0">
                          <a:solidFill>
                            <a:srgbClr val="1C1C1E"/>
                          </a:solidFill>
                          <a:latin typeface="Calibri"/>
                        </a:rPr>
                        <a:t>Provenance term cap reached</a:t>
                      </a:r>
                    </a:p>
                  </a:txBody>
                  <a:tcPr marL="82296" marR="64008" marT="32004" marB="32004" anchor="ctr">
                    <a:solidFill>
                      <a:srgbClr val="F6F3EF"/>
                    </a:solidFill>
                  </a:tcPr>
                </a:tc>
                <a:tc>
                  <a:txBody>
                    <a:bodyPr wrap="square"/>
                    <a:lstStyle/>
                    <a:p>
                      <a:pPr algn="l"/>
                      <a:r>
                        <a:rPr sz="1000" b="0">
                          <a:solidFill>
                            <a:srgbClr val="1C1C1E"/>
                          </a:solidFill>
                          <a:latin typeface="Calibri"/>
                        </a:rPr>
                        <a:t>Narrow the query</a:t>
                      </a:r>
                    </a:p>
                  </a:txBody>
                  <a:tcPr marL="82296" marR="64008" marT="32004" marB="32004" anchor="ctr">
                    <a:solidFill>
                      <a:srgbClr val="F6F3EF"/>
                    </a:solidFill>
                  </a:tcPr>
                </a:tc>
              </a:tr>
            </a:tbl>
          </a:graphicData>
        </a:graphic>
      </p:graphicFrame>
      <p:sp>
        <p:nvSpPr>
          <p:cNvPr id="11" name="TextBox 10"/>
          <p:cNvSpPr txBox="1"/>
          <p:nvPr/>
        </p:nvSpPr>
        <p:spPr>
          <a:xfrm>
            <a:off x="777240" y="5702808"/>
            <a:ext cx="10637215" cy="457200"/>
          </a:xfrm>
          <a:prstGeom prst="rect">
            <a:avLst/>
          </a:prstGeom>
          <a:noFill/>
        </p:spPr>
        <p:txBody>
          <a:bodyPr wrap="square" lIns="0" rIns="0" tIns="0" bIns="0" anchor="t">
            <a:spAutoFit/>
          </a:bodyPr>
          <a:lstStyle/>
          <a:p>
            <a:pPr algn="l">
              <a:spcBef>
                <a:spcPts val="0"/>
              </a:spcBef>
              <a:spcAft>
                <a:spcPts val="0"/>
              </a:spcAft>
            </a:pPr>
            <a:r>
              <a:rPr sz="1150" b="0" i="0">
                <a:solidFill>
                  <a:srgbClr val="1C1C1E"/>
                </a:solidFill>
                <a:latin typeface="Calibri"/>
              </a:rPr>
              <a:t>Anything unmapped </a:t>
            </a:r>
            <a:r>
              <a:rPr sz="1150" b="1" i="0">
                <a:solidFill>
                  <a:srgbClr val="1C1C1E"/>
                </a:solidFill>
                <a:latin typeface="Calibri"/>
              </a:rPr>
              <a:t>is logged with a correlation id and returned as internal_error carrying that id</a:t>
            </a:r>
            <a:r>
              <a:rPr sz="1150" b="0" i="0">
                <a:solidFill>
                  <a:srgbClr val="1C1C1E"/>
                </a:solidFill>
                <a:latin typeface="Calibri"/>
              </a:rPr>
              <a:t> — so the user and support are looking at the same event, not two different ones.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OPERATIONS</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SLOs and golden signals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131</a:t>
            </a:r>
          </a:p>
        </p:txBody>
      </p:sp>
      <p:graphicFrame>
        <p:nvGraphicFramePr>
          <p:cNvPr id="10" name="Table 9"/>
          <p:cNvGraphicFramePr>
            <a:graphicFrameLocks noGrp="1"/>
          </p:cNvGraphicFramePr>
          <p:nvPr/>
        </p:nvGraphicFramePr>
        <p:xfrm>
          <a:off x="777240" y="1353312"/>
          <a:ext cx="5318606" cy="2813100"/>
        </p:xfrm>
        <a:graphic>
          <a:graphicData uri="http://schemas.openxmlformats.org/drawingml/2006/table">
            <a:tbl>
              <a:tblPr firstRow="1">
                <a:tableStyleId>{5C22544A-7EE6-4342-B048-85BDC9FD1C3A}</a:tableStyleId>
              </a:tblPr>
              <a:tblGrid>
                <a:gridCol w="2532670"/>
                <a:gridCol w="1350757"/>
                <a:gridCol w="1435179"/>
              </a:tblGrid>
              <a:tr h="333781">
                <a:tc>
                  <a:txBody>
                    <a:bodyPr wrap="square"/>
                    <a:lstStyle/>
                    <a:p>
                      <a:pPr algn="l"/>
                      <a:r>
                        <a:rPr sz="1100" b="1">
                          <a:solidFill>
                            <a:srgbClr val="FFFFFF"/>
                          </a:solidFill>
                          <a:latin typeface="Calibri"/>
                        </a:rPr>
                        <a:t>SLO</a:t>
                      </a:r>
                    </a:p>
                  </a:txBody>
                  <a:tcPr marL="82296" marR="64008" marT="32004" marB="32004" anchor="ctr">
                    <a:solidFill>
                      <a:srgbClr val="A51C30"/>
                    </a:solidFill>
                  </a:tcPr>
                </a:tc>
                <a:tc>
                  <a:txBody>
                    <a:bodyPr wrap="square"/>
                    <a:lstStyle/>
                    <a:p>
                      <a:pPr algn="l"/>
                      <a:r>
                        <a:rPr sz="1100" b="1">
                          <a:solidFill>
                            <a:srgbClr val="FFFFFF"/>
                          </a:solidFill>
                          <a:latin typeface="Calibri"/>
                        </a:rPr>
                        <a:t>Target</a:t>
                      </a:r>
                    </a:p>
                  </a:txBody>
                  <a:tcPr marL="82296" marR="64008" marT="32004" marB="32004" anchor="ctr">
                    <a:solidFill>
                      <a:srgbClr val="A51C30"/>
                    </a:solidFill>
                  </a:tcPr>
                </a:tc>
                <a:tc>
                  <a:txBody>
                    <a:bodyPr wrap="square"/>
                    <a:lstStyle/>
                    <a:p>
                      <a:pPr algn="l"/>
                      <a:r>
                        <a:rPr sz="1100" b="1">
                          <a:solidFill>
                            <a:srgbClr val="FFFFFF"/>
                          </a:solidFill>
                          <a:latin typeface="Calibri"/>
                        </a:rPr>
                        <a:t>Error budget</a:t>
                      </a:r>
                    </a:p>
                  </a:txBody>
                  <a:tcPr marL="82296" marR="64008" marT="32004" marB="32004" anchor="ctr">
                    <a:solidFill>
                      <a:srgbClr val="A51C30"/>
                    </a:solidFill>
                  </a:tcPr>
                </a:tc>
              </a:tr>
              <a:tr h="329184">
                <a:tc>
                  <a:txBody>
                    <a:bodyPr wrap="square"/>
                    <a:lstStyle/>
                    <a:p>
                      <a:pPr algn="l"/>
                      <a:r>
                        <a:rPr sz="1050" b="1">
                          <a:solidFill>
                            <a:srgbClr val="A51C30"/>
                          </a:solidFill>
                          <a:latin typeface="Calibri"/>
                        </a:rPr>
                        <a:t>Warrant resolution availability</a:t>
                      </a:r>
                    </a:p>
                  </a:txBody>
                  <a:tcPr marL="82296" marR="64008" marT="32004" marB="32004" anchor="ctr">
                    <a:solidFill>
                      <a:srgbClr val="FFFFFF"/>
                    </a:solidFill>
                  </a:tcPr>
                </a:tc>
                <a:tc>
                  <a:txBody>
                    <a:bodyPr wrap="square"/>
                    <a:lstStyle/>
                    <a:p>
                      <a:pPr algn="l"/>
                      <a:r>
                        <a:rPr sz="1050" b="0">
                          <a:solidFill>
                            <a:srgbClr val="1C1C1E"/>
                          </a:solidFill>
                          <a:latin typeface="Calibri"/>
                        </a:rPr>
                        <a:t>99.99%</a:t>
                      </a:r>
                    </a:p>
                  </a:txBody>
                  <a:tcPr marL="82296" marR="64008" marT="32004" marB="32004" anchor="ctr">
                    <a:solidFill>
                      <a:srgbClr val="FFFFFF"/>
                    </a:solidFill>
                  </a:tcPr>
                </a:tc>
                <a:tc>
                  <a:txBody>
                    <a:bodyPr wrap="square"/>
                    <a:lstStyle/>
                    <a:p>
                      <a:pPr algn="l"/>
                      <a:r>
                        <a:rPr sz="1050" b="0">
                          <a:solidFill>
                            <a:srgbClr val="1C1C1E"/>
                          </a:solidFill>
                          <a:latin typeface="Calibri"/>
                        </a:rPr>
                        <a:t>4.3 min / month</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Warrant resolution p99 (cached)</a:t>
                      </a:r>
                    </a:p>
                  </a:txBody>
                  <a:tcPr marL="82296" marR="64008" marT="32004" marB="32004" anchor="ctr">
                    <a:solidFill>
                      <a:srgbClr val="F6F3EF"/>
                    </a:solidFill>
                  </a:tcPr>
                </a:tc>
                <a:tc>
                  <a:txBody>
                    <a:bodyPr wrap="square"/>
                    <a:lstStyle/>
                    <a:p>
                      <a:pPr algn="l"/>
                      <a:r>
                        <a:rPr sz="1050" b="0">
                          <a:solidFill>
                            <a:srgbClr val="1C1C1E"/>
                          </a:solidFill>
                          <a:latin typeface="Calibri"/>
                        </a:rPr>
                        <a:t>&lt; 50 ms</a:t>
                      </a:r>
                    </a:p>
                  </a:txBody>
                  <a:tcPr marL="82296" marR="64008" marT="32004" marB="32004" anchor="ctr">
                    <a:solidFill>
                      <a:srgbClr val="F6F3EF"/>
                    </a:solidFill>
                  </a:tcPr>
                </a:tc>
                <a:tc>
                  <a:txBody>
                    <a:bodyPr wrap="square"/>
                    <a:lstStyle/>
                    <a:p>
                      <a:pPr algn="l"/>
                      <a:r>
                        <a:rPr sz="1050" b="0">
                          <a:solidFill>
                            <a:srgbClr val="1C1C1E"/>
                          </a:solidFill>
                          <a:latin typeface="Calibri"/>
                        </a:rPr>
                        <a:t>1% of requests</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Control plane availability</a:t>
                      </a:r>
                    </a:p>
                  </a:txBody>
                  <a:tcPr marL="82296" marR="64008" marT="32004" marB="32004" anchor="ctr">
                    <a:solidFill>
                      <a:srgbClr val="FFFFFF"/>
                    </a:solidFill>
                  </a:tcPr>
                </a:tc>
                <a:tc>
                  <a:txBody>
                    <a:bodyPr wrap="square"/>
                    <a:lstStyle/>
                    <a:p>
                      <a:pPr algn="l"/>
                      <a:r>
                        <a:rPr sz="1050" b="0">
                          <a:solidFill>
                            <a:srgbClr val="1C1C1E"/>
                          </a:solidFill>
                          <a:latin typeface="Calibri"/>
                        </a:rPr>
                        <a:t>99.9%</a:t>
                      </a:r>
                    </a:p>
                  </a:txBody>
                  <a:tcPr marL="82296" marR="64008" marT="32004" marB="32004" anchor="ctr">
                    <a:solidFill>
                      <a:srgbClr val="FFFFFF"/>
                    </a:solidFill>
                  </a:tcPr>
                </a:tc>
                <a:tc>
                  <a:txBody>
                    <a:bodyPr wrap="square"/>
                    <a:lstStyle/>
                    <a:p>
                      <a:pPr algn="l"/>
                      <a:r>
                        <a:rPr sz="1050" b="0">
                          <a:solidFill>
                            <a:srgbClr val="1C1C1E"/>
                          </a:solidFill>
                          <a:latin typeface="Calibri"/>
                        </a:rPr>
                        <a:t>43 min / month</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Inventory read p95</a:t>
                      </a:r>
                    </a:p>
                  </a:txBody>
                  <a:tcPr marL="82296" marR="64008" marT="32004" marB="32004" anchor="ctr">
                    <a:solidFill>
                      <a:srgbClr val="F6F3EF"/>
                    </a:solidFill>
                  </a:tcPr>
                </a:tc>
                <a:tc>
                  <a:txBody>
                    <a:bodyPr wrap="square"/>
                    <a:lstStyle/>
                    <a:p>
                      <a:pPr algn="l"/>
                      <a:r>
                        <a:rPr sz="1050" b="0">
                          <a:solidFill>
                            <a:srgbClr val="1C1C1E"/>
                          </a:solidFill>
                          <a:latin typeface="Calibri"/>
                        </a:rPr>
                        <a:t>&lt; 500 ms</a:t>
                      </a:r>
                    </a:p>
                  </a:txBody>
                  <a:tcPr marL="82296" marR="64008" marT="32004" marB="32004" anchor="ctr">
                    <a:solidFill>
                      <a:srgbClr val="F6F3EF"/>
                    </a:solidFill>
                  </a:tcPr>
                </a:tc>
                <a:tc>
                  <a:txBody>
                    <a:bodyPr wrap="square"/>
                    <a:lstStyle/>
                    <a:p>
                      <a:pPr algn="l"/>
                      <a:r>
                        <a:rPr sz="1050" b="0">
                          <a:solidFill>
                            <a:srgbClr val="1C1C1E"/>
                          </a:solidFill>
                          <a:latin typeface="Calibri"/>
                        </a:rPr>
                        <a:t>5%</a:t>
                      </a:r>
                    </a:p>
                  </a:txBody>
                  <a:tcPr marL="82296" marR="64008" marT="32004" marB="32004" anchor="ctr">
                    <a:solidFill>
                      <a:srgbClr val="F6F3EF"/>
                    </a:solidFill>
                  </a:tcPr>
                </a:tc>
              </a:tr>
              <a:tr h="329184">
                <a:tc>
                  <a:txBody>
                    <a:bodyPr wrap="square"/>
                    <a:lstStyle/>
                    <a:p>
                      <a:pPr algn="l"/>
                      <a:r>
                        <a:rPr sz="1050" b="1">
                          <a:solidFill>
                            <a:srgbClr val="A51C30"/>
                          </a:solidFill>
                          <a:latin typeface="Calibri"/>
                        </a:rPr>
                        <a:t>Training-set build (1B × 500)</a:t>
                      </a:r>
                    </a:p>
                  </a:txBody>
                  <a:tcPr marL="82296" marR="64008" marT="32004" marB="32004" anchor="ctr">
                    <a:solidFill>
                      <a:srgbClr val="FFFFFF"/>
                    </a:solidFill>
                  </a:tcPr>
                </a:tc>
                <a:tc>
                  <a:txBody>
                    <a:bodyPr wrap="square"/>
                    <a:lstStyle/>
                    <a:p>
                      <a:pPr algn="l"/>
                      <a:r>
                        <a:rPr sz="1050" b="0">
                          <a:solidFill>
                            <a:srgbClr val="1C1C1E"/>
                          </a:solidFill>
                          <a:latin typeface="Calibri"/>
                        </a:rPr>
                        <a:t>&lt; 30 min</a:t>
                      </a:r>
                    </a:p>
                  </a:txBody>
                  <a:tcPr marL="82296" marR="64008" marT="32004" marB="32004" anchor="ctr">
                    <a:solidFill>
                      <a:srgbClr val="FFFFFF"/>
                    </a:solidFill>
                  </a:tcPr>
                </a:tc>
                <a:tc>
                  <a:txBody>
                    <a:bodyPr wrap="square"/>
                    <a:lstStyle/>
                    <a:p>
                      <a:pPr algn="l"/>
                      <a:r>
                        <a:rPr sz="1050" b="0">
                          <a:solidFill>
                            <a:srgbClr val="1C1C1E"/>
                          </a:solidFill>
                          <a:latin typeface="Calibri"/>
                        </a:rPr>
                        <a:t>10%</a:t>
                      </a:r>
                    </a:p>
                  </a:txBody>
                  <a:tcPr marL="82296" marR="64008" marT="32004" marB="32004" anchor="ctr">
                    <a:solidFill>
                      <a:srgbClr val="FFFFFF"/>
                    </a:solidFill>
                  </a:tcPr>
                </a:tc>
              </a:tr>
              <a:tr h="329184">
                <a:tc>
                  <a:txBody>
                    <a:bodyPr wrap="square"/>
                    <a:lstStyle/>
                    <a:p>
                      <a:pPr algn="l"/>
                      <a:r>
                        <a:rPr sz="1050" b="1">
                          <a:solidFill>
                            <a:srgbClr val="A51C30"/>
                          </a:solidFill>
                          <a:latin typeface="Calibri"/>
                        </a:rPr>
                        <a:t>Document compile p95</a:t>
                      </a:r>
                    </a:p>
                  </a:txBody>
                  <a:tcPr marL="82296" marR="64008" marT="32004" marB="32004" anchor="ctr">
                    <a:solidFill>
                      <a:srgbClr val="F6F3EF"/>
                    </a:solidFill>
                  </a:tcPr>
                </a:tc>
                <a:tc>
                  <a:txBody>
                    <a:bodyPr wrap="square"/>
                    <a:lstStyle/>
                    <a:p>
                      <a:pPr algn="l"/>
                      <a:r>
                        <a:rPr sz="1050" b="0">
                          <a:solidFill>
                            <a:srgbClr val="1C1C1E"/>
                          </a:solidFill>
                          <a:latin typeface="Calibri"/>
                        </a:rPr>
                        <a:t>&lt; 60 s</a:t>
                      </a:r>
                    </a:p>
                  </a:txBody>
                  <a:tcPr marL="82296" marR="64008" marT="32004" marB="32004" anchor="ctr">
                    <a:solidFill>
                      <a:srgbClr val="F6F3EF"/>
                    </a:solidFill>
                  </a:tcPr>
                </a:tc>
                <a:tc>
                  <a:txBody>
                    <a:bodyPr wrap="square"/>
                    <a:lstStyle/>
                    <a:p>
                      <a:pPr algn="l"/>
                      <a:r>
                        <a:rPr sz="1050" b="0">
                          <a:solidFill>
                            <a:srgbClr val="1C1C1E"/>
                          </a:solidFill>
                          <a:latin typeface="Calibri"/>
                        </a:rPr>
                        <a:t>5%</a:t>
                      </a:r>
                    </a:p>
                  </a:txBody>
                  <a:tcPr marL="82296" marR="64008" marT="32004" marB="32004" anchor="ctr">
                    <a:solidFill>
                      <a:srgbClr val="F6F3EF"/>
                    </a:solidFill>
                  </a:tcPr>
                </a:tc>
              </a:tr>
              <a:tr h="504215">
                <a:tc>
                  <a:txBody>
                    <a:bodyPr wrap="square"/>
                    <a:lstStyle/>
                    <a:p>
                      <a:pPr algn="l"/>
                      <a:r>
                        <a:rPr sz="1050" b="1">
                          <a:solidFill>
                            <a:srgbClr val="A51C30"/>
                          </a:solidFill>
                          <a:latin typeface="Calibri"/>
                        </a:rPr>
                        <a:t>Evidence chain verification</a:t>
                      </a:r>
                    </a:p>
                  </a:txBody>
                  <a:tcPr marL="82296" marR="64008" marT="32004" marB="32004" anchor="ctr">
                    <a:solidFill>
                      <a:srgbClr val="FFFFFF"/>
                    </a:solidFill>
                  </a:tcPr>
                </a:tc>
                <a:tc>
                  <a:txBody>
                    <a:bodyPr wrap="square"/>
                    <a:lstStyle/>
                    <a:p>
                      <a:pPr algn="l"/>
                      <a:r>
                        <a:rPr sz="1050" b="0">
                          <a:solidFill>
                            <a:srgbClr val="1C1C1E"/>
                          </a:solidFill>
                          <a:latin typeface="Calibri"/>
                        </a:rPr>
                        <a:t>Daily, zero breaks</a:t>
                      </a:r>
                    </a:p>
                  </a:txBody>
                  <a:tcPr marL="82296" marR="64008" marT="32004" marB="32004" anchor="ctr">
                    <a:solidFill>
                      <a:srgbClr val="FFFFFF"/>
                    </a:solidFill>
                  </a:tcPr>
                </a:tc>
                <a:tc>
                  <a:txBody>
                    <a:bodyPr wrap="square"/>
                    <a:lstStyle/>
                    <a:p>
                      <a:pPr algn="l"/>
                      <a:r>
                        <a:rPr sz="1050" b="0">
                          <a:solidFill>
                            <a:srgbClr val="1C1C1E"/>
                          </a:solidFill>
                          <a:latin typeface="Calibri"/>
                        </a:rPr>
                        <a:t>Zero tolerance</a:t>
                      </a:r>
                    </a:p>
                  </a:txBody>
                  <a:tcPr marL="82296" marR="64008" marT="32004" marB="32004" anchor="ctr">
                    <a:solidFill>
                      <a:srgbClr val="FFFFFF"/>
                    </a:solidFill>
                  </a:tcPr>
                </a:tc>
              </a:tr>
            </a:tbl>
          </a:graphicData>
        </a:graphic>
      </p:graphicFrame>
      <p:sp>
        <p:nvSpPr>
          <p:cNvPr id="11" name="TextBox 10"/>
          <p:cNvSpPr txBox="1"/>
          <p:nvPr/>
        </p:nvSpPr>
        <p:spPr>
          <a:xfrm>
            <a:off x="6521336" y="1353312"/>
            <a:ext cx="4893118"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Golden signals, per component</a:t>
            </a:r>
          </a:p>
        </p:txBody>
      </p:sp>
      <p:sp>
        <p:nvSpPr>
          <p:cNvPr id="12" name="TextBox 11"/>
          <p:cNvSpPr txBox="1"/>
          <p:nvPr/>
        </p:nvSpPr>
        <p:spPr>
          <a:xfrm>
            <a:off x="6521336" y="1737360"/>
            <a:ext cx="4893118" cy="2377440"/>
          </a:xfrm>
          <a:prstGeom prst="rect">
            <a:avLst/>
          </a:prstGeom>
          <a:noFill/>
        </p:spPr>
        <p:txBody>
          <a:bodyPr wrap="square" lIns="0" rIns="0" tIns="0" bIns="0" anchor="t">
            <a:spAutoFit/>
          </a:bodyPr>
          <a:lstStyle/>
          <a:p>
            <a:pPr algn="l"/>
          </a:p>
          <a:p>
            <a:pPr>
              <a:spcBef>
                <a:spcPts val="600"/>
              </a:spcBef>
              <a:spcAft>
                <a:spcPts val="300"/>
              </a:spcAft>
            </a:pPr>
            <a:r>
              <a:rPr sz="1100" b="1">
                <a:solidFill>
                  <a:srgbClr val="A51C30"/>
                </a:solidFill>
                <a:latin typeface="Calibri"/>
              </a:rPr>
              <a:t>▪  </a:t>
            </a:r>
            <a:r>
              <a:rPr sz="1100" b="1">
                <a:solidFill>
                  <a:srgbClr val="1C1C1E"/>
                </a:solidFill>
                <a:latin typeface="Calibri"/>
              </a:rPr>
              <a:t>Warrant service</a:t>
            </a:r>
          </a:p>
          <a:p>
            <a:pPr lvl="1">
              <a:spcBef>
                <a:spcPts val="0"/>
              </a:spcBef>
              <a:spcAft>
                <a:spcPts val="0"/>
              </a:spcAft>
            </a:pPr>
            <a:r>
              <a:rPr sz="950">
                <a:solidFill>
                  <a:srgbClr val="4A4F57"/>
                </a:solidFill>
                <a:latin typeface="Calibri"/>
              </a:rPr>
              <a:t>resolutions/s · cache hit ratio · p50/p99 · denial rate · revocation lag · degraded-mode volume</a:t>
            </a:r>
          </a:p>
          <a:p>
            <a:pPr>
              <a:spcBef>
                <a:spcPts val="600"/>
              </a:spcBef>
              <a:spcAft>
                <a:spcPts val="300"/>
              </a:spcAft>
            </a:pPr>
            <a:r>
              <a:rPr sz="1100" b="1">
                <a:solidFill>
                  <a:srgbClr val="A51C30"/>
                </a:solidFill>
                <a:latin typeface="Calibri"/>
              </a:rPr>
              <a:t>▪  </a:t>
            </a:r>
            <a:r>
              <a:rPr sz="1100" b="1">
                <a:solidFill>
                  <a:srgbClr val="1C1C1E"/>
                </a:solidFill>
                <a:latin typeface="Calibri"/>
              </a:rPr>
              <a:t>Control plane</a:t>
            </a:r>
          </a:p>
          <a:p>
            <a:pPr lvl="1">
              <a:spcBef>
                <a:spcPts val="0"/>
              </a:spcBef>
              <a:spcAft>
                <a:spcPts val="0"/>
              </a:spcAft>
            </a:pPr>
            <a:r>
              <a:rPr sz="950">
                <a:solidFill>
                  <a:srgbClr val="4A4F57"/>
                </a:solidFill>
                <a:latin typeface="Calibri"/>
              </a:rPr>
              <a:t>request rate · latency · error rate by taxonomy code · transaction duration · outbox lag</a:t>
            </a:r>
          </a:p>
          <a:p>
            <a:pPr>
              <a:spcBef>
                <a:spcPts val="600"/>
              </a:spcBef>
              <a:spcAft>
                <a:spcPts val="300"/>
              </a:spcAft>
            </a:pPr>
            <a:r>
              <a:rPr sz="1100" b="1">
                <a:solidFill>
                  <a:srgbClr val="A51C30"/>
                </a:solidFill>
                <a:latin typeface="Calibri"/>
              </a:rPr>
              <a:t>▪  </a:t>
            </a:r>
            <a:r>
              <a:rPr sz="1100" b="1">
                <a:solidFill>
                  <a:srgbClr val="1C1C1E"/>
                </a:solidFill>
                <a:latin typeface="Calibri"/>
              </a:rPr>
              <a:t>Workers</a:t>
            </a:r>
          </a:p>
          <a:p>
            <a:pPr lvl="1">
              <a:spcBef>
                <a:spcPts val="0"/>
              </a:spcBef>
              <a:spcAft>
                <a:spcPts val="0"/>
              </a:spcAft>
            </a:pPr>
            <a:r>
              <a:rPr sz="950">
                <a:solidFill>
                  <a:srgbClr val="4A4F57"/>
                </a:solidFill>
                <a:latin typeface="Calibri"/>
              </a:rPr>
              <a:t>queue depth · job duration · retry rate · sandbox failures</a:t>
            </a:r>
          </a:p>
          <a:p>
            <a:pPr>
              <a:spcBef>
                <a:spcPts val="600"/>
              </a:spcBef>
              <a:spcAft>
                <a:spcPts val="300"/>
              </a:spcAft>
            </a:pPr>
            <a:r>
              <a:rPr sz="1100" b="1">
                <a:solidFill>
                  <a:srgbClr val="A51C30"/>
                </a:solidFill>
                <a:latin typeface="Calibri"/>
              </a:rPr>
              <a:t>▪  </a:t>
            </a:r>
            <a:r>
              <a:rPr sz="1100" b="1">
                <a:solidFill>
                  <a:srgbClr val="1C1C1E"/>
                </a:solidFill>
                <a:latin typeface="Calibri"/>
              </a:rPr>
              <a:t>Data plane</a:t>
            </a:r>
          </a:p>
          <a:p>
            <a:pPr lvl="1">
              <a:spcBef>
                <a:spcPts val="0"/>
              </a:spcBef>
              <a:spcAft>
                <a:spcPts val="0"/>
              </a:spcAft>
            </a:pPr>
            <a:r>
              <a:rPr sz="950">
                <a:solidFill>
                  <a:srgbClr val="4A4F57"/>
                </a:solidFill>
                <a:latin typeface="Calibri"/>
              </a:rPr>
              <a:t>job duration · rows processed · small-file count · skew divergence · PIT rejections</a:t>
            </a:r>
          </a:p>
        </p:txBody>
      </p:sp>
      <p:sp>
        <p:nvSpPr>
          <p:cNvPr id="13" name="Rectangle 12"/>
          <p:cNvSpPr/>
          <p:nvPr/>
        </p:nvSpPr>
        <p:spPr>
          <a:xfrm>
            <a:off x="6521336" y="4187952"/>
            <a:ext cx="4893118" cy="7772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Rectangle 13"/>
          <p:cNvSpPr/>
          <p:nvPr/>
        </p:nvSpPr>
        <p:spPr>
          <a:xfrm>
            <a:off x="6521336" y="4187952"/>
            <a:ext cx="41148" cy="7772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TextBox 14"/>
          <p:cNvSpPr txBox="1"/>
          <p:nvPr/>
        </p:nvSpPr>
        <p:spPr>
          <a:xfrm>
            <a:off x="6759080" y="4306824"/>
            <a:ext cx="4435918" cy="640080"/>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1C1C1E"/>
                </a:solidFill>
                <a:latin typeface="Calibri"/>
              </a:rPr>
              <a:t>Ten runbooks: chain verification failure · outbox lag · stampede · Delta small files · sandbox escape · policy gridlock · revocation failure · base-model drift · key rotation · regional failover</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OPERATIONS · SIZING AND ASSURANCE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Capacity and testing</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23 · Cross-cutting and Operations</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132</a:t>
            </a:r>
          </a:p>
        </p:txBody>
      </p:sp>
      <p:sp>
        <p:nvSpPr>
          <p:cNvPr id="10" name="TextBox 9"/>
          <p:cNvSpPr txBox="1"/>
          <p:nvPr/>
        </p:nvSpPr>
        <p:spPr>
          <a:xfrm>
            <a:off x="777240"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Capacity model</a:t>
            </a:r>
          </a:p>
        </p:txBody>
      </p:sp>
      <p:graphicFrame>
        <p:nvGraphicFramePr>
          <p:cNvPr id="11" name="Table 10"/>
          <p:cNvGraphicFramePr>
            <a:graphicFrameLocks noGrp="1"/>
          </p:cNvGraphicFramePr>
          <p:nvPr/>
        </p:nvGraphicFramePr>
        <p:xfrm>
          <a:off x="777240" y="1719072"/>
          <a:ext cx="4999490" cy="2863088"/>
        </p:xfrm>
        <a:graphic>
          <a:graphicData uri="http://schemas.openxmlformats.org/drawingml/2006/table">
            <a:tbl>
              <a:tblPr firstRow="1">
                <a:tableStyleId>{5C22544A-7EE6-4342-B048-85BDC9FD1C3A}</a:tableStyleId>
              </a:tblPr>
              <a:tblGrid>
                <a:gridCol w="2543600"/>
                <a:gridCol w="1227945"/>
                <a:gridCol w="1227945"/>
              </a:tblGrid>
              <a:tr h="329184">
                <a:tc>
                  <a:txBody>
                    <a:bodyPr wrap="square"/>
                    <a:lstStyle/>
                    <a:p>
                      <a:pPr algn="l"/>
                      <a:r>
                        <a:rPr sz="1000" b="1">
                          <a:solidFill>
                            <a:srgbClr val="FFFFFF"/>
                          </a:solidFill>
                          <a:latin typeface="Calibri"/>
                        </a:rPr>
                        <a:t>Dimension</a:t>
                      </a:r>
                    </a:p>
                  </a:txBody>
                  <a:tcPr marL="82296" marR="64008" marT="32004" marB="32004" anchor="ctr">
                    <a:solidFill>
                      <a:srgbClr val="A51C30"/>
                    </a:solidFill>
                  </a:tcPr>
                </a:tc>
                <a:tc>
                  <a:txBody>
                    <a:bodyPr wrap="square"/>
                    <a:lstStyle/>
                    <a:p>
                      <a:pPr algn="l"/>
                      <a:r>
                        <a:rPr sz="1000" b="1">
                          <a:solidFill>
                            <a:srgbClr val="FFFFFF"/>
                          </a:solidFill>
                          <a:latin typeface="Calibri"/>
                        </a:rPr>
                        <a:t>Year 1</a:t>
                      </a:r>
                    </a:p>
                  </a:txBody>
                  <a:tcPr marL="82296" marR="64008" marT="32004" marB="32004" anchor="ctr">
                    <a:solidFill>
                      <a:srgbClr val="A51C30"/>
                    </a:solidFill>
                  </a:tcPr>
                </a:tc>
                <a:tc>
                  <a:txBody>
                    <a:bodyPr wrap="square"/>
                    <a:lstStyle/>
                    <a:p>
                      <a:pPr algn="l"/>
                      <a:r>
                        <a:rPr sz="1000" b="1">
                          <a:solidFill>
                            <a:srgbClr val="FFFFFF"/>
                          </a:solidFill>
                          <a:latin typeface="Calibri"/>
                        </a:rPr>
                        <a:t>Year 3</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Models</a:t>
                      </a:r>
                    </a:p>
                  </a:txBody>
                  <a:tcPr marL="82296" marR="64008" marT="32004" marB="32004" anchor="ctr">
                    <a:solidFill>
                      <a:srgbClr val="FFFFFF"/>
                    </a:solidFill>
                  </a:tcPr>
                </a:tc>
                <a:tc>
                  <a:txBody>
                    <a:bodyPr wrap="square"/>
                    <a:lstStyle/>
                    <a:p>
                      <a:pPr algn="l"/>
                      <a:r>
                        <a:rPr sz="1000" b="0">
                          <a:solidFill>
                            <a:srgbClr val="1C1C1E"/>
                          </a:solidFill>
                          <a:latin typeface="Calibri"/>
                        </a:rPr>
                        <a:t>1,500</a:t>
                      </a:r>
                    </a:p>
                  </a:txBody>
                  <a:tcPr marL="82296" marR="64008" marT="32004" marB="32004" anchor="ctr">
                    <a:solidFill>
                      <a:srgbClr val="FFFFFF"/>
                    </a:solidFill>
                  </a:tcPr>
                </a:tc>
                <a:tc>
                  <a:txBody>
                    <a:bodyPr wrap="square"/>
                    <a:lstStyle/>
                    <a:p>
                      <a:pPr algn="l"/>
                      <a:r>
                        <a:rPr sz="1000" b="0">
                          <a:solidFill>
                            <a:srgbClr val="1C1C1E"/>
                          </a:solidFill>
                          <a:latin typeface="Calibri"/>
                        </a:rPr>
                        <a:t>5,000</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Versions</a:t>
                      </a:r>
                    </a:p>
                  </a:txBody>
                  <a:tcPr marL="82296" marR="64008" marT="32004" marB="32004" anchor="ctr">
                    <a:solidFill>
                      <a:srgbClr val="F6F3EF"/>
                    </a:solidFill>
                  </a:tcPr>
                </a:tc>
                <a:tc>
                  <a:txBody>
                    <a:bodyPr wrap="square"/>
                    <a:lstStyle/>
                    <a:p>
                      <a:pPr algn="l"/>
                      <a:r>
                        <a:rPr sz="1000" b="0">
                          <a:solidFill>
                            <a:srgbClr val="1C1C1E"/>
                          </a:solidFill>
                          <a:latin typeface="Calibri"/>
                        </a:rPr>
                        <a:t>8,000</a:t>
                      </a:r>
                    </a:p>
                  </a:txBody>
                  <a:tcPr marL="82296" marR="64008" marT="32004" marB="32004" anchor="ctr">
                    <a:solidFill>
                      <a:srgbClr val="F6F3EF"/>
                    </a:solidFill>
                  </a:tcPr>
                </a:tc>
                <a:tc>
                  <a:txBody>
                    <a:bodyPr wrap="square"/>
                    <a:lstStyle/>
                    <a:p>
                      <a:pPr algn="l"/>
                      <a:r>
                        <a:rPr sz="1000" b="0">
                          <a:solidFill>
                            <a:srgbClr val="1C1C1E"/>
                          </a:solidFill>
                          <a:latin typeface="Calibri"/>
                        </a:rPr>
                        <a:t>40,000</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Evidence nodes</a:t>
                      </a:r>
                    </a:p>
                  </a:txBody>
                  <a:tcPr marL="82296" marR="64008" marT="32004" marB="32004" anchor="ctr">
                    <a:solidFill>
                      <a:srgbClr val="FFFFFF"/>
                    </a:solidFill>
                  </a:tcPr>
                </a:tc>
                <a:tc>
                  <a:txBody>
                    <a:bodyPr wrap="square"/>
                    <a:lstStyle/>
                    <a:p>
                      <a:pPr algn="l"/>
                      <a:r>
                        <a:rPr sz="1000" b="0">
                          <a:solidFill>
                            <a:srgbClr val="1C1C1E"/>
                          </a:solidFill>
                          <a:latin typeface="Calibri"/>
                        </a:rPr>
                        <a:t>4 M</a:t>
                      </a:r>
                    </a:p>
                  </a:txBody>
                  <a:tcPr marL="82296" marR="64008" marT="32004" marB="32004" anchor="ctr">
                    <a:solidFill>
                      <a:srgbClr val="FFFFFF"/>
                    </a:solidFill>
                  </a:tcPr>
                </a:tc>
                <a:tc>
                  <a:txBody>
                    <a:bodyPr wrap="square"/>
                    <a:lstStyle/>
                    <a:p>
                      <a:pPr algn="l"/>
                      <a:r>
                        <a:rPr sz="1000" b="0">
                          <a:solidFill>
                            <a:srgbClr val="1C1C1E"/>
                          </a:solidFill>
                          <a:latin typeface="Calibri"/>
                        </a:rPr>
                        <a:t>25 M</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Postgres (ex-audit)</a:t>
                      </a:r>
                    </a:p>
                  </a:txBody>
                  <a:tcPr marL="82296" marR="64008" marT="32004" marB="32004" anchor="ctr">
                    <a:solidFill>
                      <a:srgbClr val="F6F3EF"/>
                    </a:solidFill>
                  </a:tcPr>
                </a:tc>
                <a:tc>
                  <a:txBody>
                    <a:bodyPr wrap="square"/>
                    <a:lstStyle/>
                    <a:p>
                      <a:pPr algn="l"/>
                      <a:r>
                        <a:rPr sz="1000" b="0">
                          <a:solidFill>
                            <a:srgbClr val="1C1C1E"/>
                          </a:solidFill>
                          <a:latin typeface="Calibri"/>
                        </a:rPr>
                        <a:t>120 GB</a:t>
                      </a:r>
                    </a:p>
                  </a:txBody>
                  <a:tcPr marL="82296" marR="64008" marT="32004" marB="32004" anchor="ctr">
                    <a:solidFill>
                      <a:srgbClr val="F6F3EF"/>
                    </a:solidFill>
                  </a:tcPr>
                </a:tc>
                <a:tc>
                  <a:txBody>
                    <a:bodyPr wrap="square"/>
                    <a:lstStyle/>
                    <a:p>
                      <a:pPr algn="l"/>
                      <a:r>
                        <a:rPr sz="1000" b="0">
                          <a:solidFill>
                            <a:srgbClr val="1C1C1E"/>
                          </a:solidFill>
                          <a:latin typeface="Calibri"/>
                        </a:rPr>
                        <a:t>600 GB</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Audit rows</a:t>
                      </a:r>
                    </a:p>
                  </a:txBody>
                  <a:tcPr marL="82296" marR="64008" marT="32004" marB="32004" anchor="ctr">
                    <a:solidFill>
                      <a:srgbClr val="FFFFFF"/>
                    </a:solidFill>
                  </a:tcPr>
                </a:tc>
                <a:tc>
                  <a:txBody>
                    <a:bodyPr wrap="square"/>
                    <a:lstStyle/>
                    <a:p>
                      <a:pPr algn="l"/>
                      <a:r>
                        <a:rPr sz="1000" b="0">
                          <a:solidFill>
                            <a:srgbClr val="1C1C1E"/>
                          </a:solidFill>
                          <a:latin typeface="Calibri"/>
                        </a:rPr>
                        <a:t>60 M</a:t>
                      </a:r>
                    </a:p>
                  </a:txBody>
                  <a:tcPr marL="82296" marR="64008" marT="32004" marB="32004" anchor="ctr">
                    <a:solidFill>
                      <a:srgbClr val="FFFFFF"/>
                    </a:solidFill>
                  </a:tcPr>
                </a:tc>
                <a:tc>
                  <a:txBody>
                    <a:bodyPr wrap="square"/>
                    <a:lstStyle/>
                    <a:p>
                      <a:pPr algn="l"/>
                      <a:r>
                        <a:rPr sz="1000" b="0">
                          <a:solidFill>
                            <a:srgbClr val="1C1C1E"/>
                          </a:solidFill>
                          <a:latin typeface="Calibri"/>
                        </a:rPr>
                        <a:t>400 M</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Delta features</a:t>
                      </a:r>
                    </a:p>
                  </a:txBody>
                  <a:tcPr marL="82296" marR="64008" marT="32004" marB="32004" anchor="ctr">
                    <a:solidFill>
                      <a:srgbClr val="F6F3EF"/>
                    </a:solidFill>
                  </a:tcPr>
                </a:tc>
                <a:tc>
                  <a:txBody>
                    <a:bodyPr wrap="square"/>
                    <a:lstStyle/>
                    <a:p>
                      <a:pPr algn="l"/>
                      <a:r>
                        <a:rPr sz="1000" b="0">
                          <a:solidFill>
                            <a:srgbClr val="1C1C1E"/>
                          </a:solidFill>
                          <a:latin typeface="Calibri"/>
                        </a:rPr>
                        <a:t>15 TB</a:t>
                      </a:r>
                    </a:p>
                  </a:txBody>
                  <a:tcPr marL="82296" marR="64008" marT="32004" marB="32004" anchor="ctr">
                    <a:solidFill>
                      <a:srgbClr val="F6F3EF"/>
                    </a:solidFill>
                  </a:tcPr>
                </a:tc>
                <a:tc>
                  <a:txBody>
                    <a:bodyPr wrap="square"/>
                    <a:lstStyle/>
                    <a:p>
                      <a:pPr algn="l"/>
                      <a:r>
                        <a:rPr sz="1000" b="0">
                          <a:solidFill>
                            <a:srgbClr val="1C1C1E"/>
                          </a:solidFill>
                          <a:latin typeface="Calibri"/>
                        </a:rPr>
                        <a:t>80 TB</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Inference log rows</a:t>
                      </a:r>
                    </a:p>
                  </a:txBody>
                  <a:tcPr marL="82296" marR="64008" marT="32004" marB="32004" anchor="ctr">
                    <a:solidFill>
                      <a:srgbClr val="FFFFFF"/>
                    </a:solidFill>
                  </a:tcPr>
                </a:tc>
                <a:tc>
                  <a:txBody>
                    <a:bodyPr wrap="square"/>
                    <a:lstStyle/>
                    <a:p>
                      <a:pPr algn="l"/>
                      <a:r>
                        <a:rPr sz="1000" b="0">
                          <a:solidFill>
                            <a:srgbClr val="1C1C1E"/>
                          </a:solidFill>
                          <a:latin typeface="Calibri"/>
                        </a:rPr>
                        <a:t>8 B</a:t>
                      </a:r>
                    </a:p>
                  </a:txBody>
                  <a:tcPr marL="82296" marR="64008" marT="32004" marB="32004" anchor="ctr">
                    <a:solidFill>
                      <a:srgbClr val="FFFFFF"/>
                    </a:solidFill>
                  </a:tcPr>
                </a:tc>
                <a:tc>
                  <a:txBody>
                    <a:bodyPr wrap="square"/>
                    <a:lstStyle/>
                    <a:p>
                      <a:pPr algn="l"/>
                      <a:r>
                        <a:rPr sz="1000" b="0">
                          <a:solidFill>
                            <a:srgbClr val="1C1C1E"/>
                          </a:solidFill>
                          <a:latin typeface="Calibri"/>
                        </a:rPr>
                        <a:t>60 B</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Warrant resolutions, peak</a:t>
                      </a:r>
                    </a:p>
                  </a:txBody>
                  <a:tcPr marL="82296" marR="64008" marT="32004" marB="32004" anchor="ctr">
                    <a:solidFill>
                      <a:srgbClr val="F6F3EF"/>
                    </a:solidFill>
                  </a:tcPr>
                </a:tc>
                <a:tc>
                  <a:txBody>
                    <a:bodyPr wrap="square"/>
                    <a:lstStyle/>
                    <a:p>
                      <a:pPr algn="l"/>
                      <a:r>
                        <a:rPr sz="1000" b="0">
                          <a:solidFill>
                            <a:srgbClr val="1C1C1E"/>
                          </a:solidFill>
                          <a:latin typeface="Calibri"/>
                        </a:rPr>
                        <a:t>400/s</a:t>
                      </a:r>
                    </a:p>
                  </a:txBody>
                  <a:tcPr marL="82296" marR="64008" marT="32004" marB="32004" anchor="ctr">
                    <a:solidFill>
                      <a:srgbClr val="F6F3EF"/>
                    </a:solidFill>
                  </a:tcPr>
                </a:tc>
                <a:tc>
                  <a:txBody>
                    <a:bodyPr wrap="square"/>
                    <a:lstStyle/>
                    <a:p>
                      <a:pPr algn="l"/>
                      <a:r>
                        <a:rPr sz="1000" b="0">
                          <a:solidFill>
                            <a:srgbClr val="1C1C1E"/>
                          </a:solidFill>
                          <a:latin typeface="Calibri"/>
                        </a:rPr>
                        <a:t>2,500/s</a:t>
                      </a:r>
                    </a:p>
                  </a:txBody>
                  <a:tcPr marL="82296" marR="64008" marT="32004" marB="32004" anchor="ctr">
                    <a:solidFill>
                      <a:srgbClr val="F6F3EF"/>
                    </a:solidFill>
                  </a:tcPr>
                </a:tc>
              </a:tr>
            </a:tbl>
          </a:graphicData>
        </a:graphic>
      </p:graphicFrame>
      <p:sp>
        <p:nvSpPr>
          <p:cNvPr id="12" name="TextBox 11"/>
          <p:cNvSpPr txBox="1"/>
          <p:nvPr/>
        </p:nvSpPr>
        <p:spPr>
          <a:xfrm>
            <a:off x="6414964" y="1353312"/>
            <a:ext cx="4999491" cy="320040"/>
          </a:xfrm>
          <a:prstGeom prst="rect">
            <a:avLst/>
          </a:prstGeom>
          <a:noFill/>
        </p:spPr>
        <p:txBody>
          <a:bodyPr wrap="square" lIns="0" rIns="0" tIns="0" bIns="0" anchor="t">
            <a:spAutoFit/>
          </a:bodyPr>
          <a:lstStyle/>
          <a:p>
            <a:pPr algn="l">
              <a:spcBef>
                <a:spcPts val="0"/>
              </a:spcBef>
              <a:spcAft>
                <a:spcPts val="0"/>
              </a:spcAft>
            </a:pPr>
            <a:r>
              <a:rPr sz="1250" b="1" i="0">
                <a:solidFill>
                  <a:srgbClr val="1C1C1E"/>
                </a:solidFill>
                <a:latin typeface="Georgia"/>
              </a:rPr>
              <a:t>Test suites and what each proves</a:t>
            </a:r>
          </a:p>
        </p:txBody>
      </p:sp>
      <p:graphicFrame>
        <p:nvGraphicFramePr>
          <p:cNvPr id="13" name="Table 12"/>
          <p:cNvGraphicFramePr>
            <a:graphicFrameLocks noGrp="1"/>
          </p:cNvGraphicFramePr>
          <p:nvPr/>
        </p:nvGraphicFramePr>
        <p:xfrm>
          <a:off x="6414964" y="1719072"/>
          <a:ext cx="4999490" cy="3277870"/>
        </p:xfrm>
        <a:graphic>
          <a:graphicData uri="http://schemas.openxmlformats.org/drawingml/2006/table">
            <a:tbl>
              <a:tblPr firstRow="1">
                <a:tableStyleId>{5C22544A-7EE6-4342-B048-85BDC9FD1C3A}</a:tableStyleId>
              </a:tblPr>
              <a:tblGrid>
                <a:gridCol w="1551566"/>
                <a:gridCol w="3447924"/>
              </a:tblGrid>
              <a:tr h="329184">
                <a:tc>
                  <a:txBody>
                    <a:bodyPr wrap="square"/>
                    <a:lstStyle/>
                    <a:p>
                      <a:pPr algn="l"/>
                      <a:r>
                        <a:rPr sz="1000" b="1">
                          <a:solidFill>
                            <a:srgbClr val="FFFFFF"/>
                          </a:solidFill>
                          <a:latin typeface="Calibri"/>
                        </a:rPr>
                        <a:t>Suite</a:t>
                      </a:r>
                    </a:p>
                  </a:txBody>
                  <a:tcPr marL="82296" marR="64008" marT="32004" marB="32004" anchor="ctr">
                    <a:solidFill>
                      <a:srgbClr val="A51C30"/>
                    </a:solidFill>
                  </a:tcPr>
                </a:tc>
                <a:tc>
                  <a:txBody>
                    <a:bodyPr wrap="square"/>
                    <a:lstStyle/>
                    <a:p>
                      <a:pPr algn="l"/>
                      <a:r>
                        <a:rPr sz="1000" b="1">
                          <a:solidFill>
                            <a:srgbClr val="FFFFFF"/>
                          </a:solidFill>
                          <a:latin typeface="Calibri"/>
                        </a:rPr>
                        <a:t>Proves</a:t>
                      </a:r>
                    </a:p>
                  </a:txBody>
                  <a:tcPr marL="82296" marR="64008" marT="32004" marB="32004" anchor="ctr">
                    <a:solidFill>
                      <a:srgbClr val="A51C30"/>
                    </a:solidFill>
                  </a:tcPr>
                </a:tc>
              </a:tr>
              <a:tr h="329184">
                <a:tc>
                  <a:txBody>
                    <a:bodyPr wrap="square"/>
                    <a:lstStyle/>
                    <a:p>
                      <a:pPr algn="l"/>
                      <a:r>
                        <a:rPr sz="1000" b="1">
                          <a:solidFill>
                            <a:srgbClr val="A51C30"/>
                          </a:solidFill>
                          <a:latin typeface="Calibri"/>
                        </a:rPr>
                        <a:t>Unit</a:t>
                      </a:r>
                    </a:p>
                  </a:txBody>
                  <a:tcPr marL="82296" marR="64008" marT="32004" marB="32004" anchor="ctr">
                    <a:solidFill>
                      <a:srgbClr val="FFFFFF"/>
                    </a:solidFill>
                  </a:tcPr>
                </a:tc>
                <a:tc>
                  <a:txBody>
                    <a:bodyPr wrap="square"/>
                    <a:lstStyle/>
                    <a:p>
                      <a:pPr algn="l"/>
                      <a:r>
                        <a:rPr sz="1000" b="0">
                          <a:solidFill>
                            <a:srgbClr val="1C1C1E"/>
                          </a:solidFill>
                          <a:latin typeface="Calibri"/>
                        </a:rPr>
                        <a:t>Domain algebra correctness (≥90% on domain/)</a:t>
                      </a:r>
                    </a:p>
                  </a:txBody>
                  <a:tcPr marL="82296" marR="64008" marT="32004" marB="32004" anchor="ctr">
                    <a:solidFill>
                      <a:srgbClr val="FFFFFF"/>
                    </a:solidFill>
                  </a:tcPr>
                </a:tc>
              </a:tr>
              <a:tr h="657606">
                <a:tc>
                  <a:txBody>
                    <a:bodyPr wrap="square"/>
                    <a:lstStyle/>
                    <a:p>
                      <a:pPr algn="l"/>
                      <a:r>
                        <a:rPr sz="1000" b="1">
                          <a:solidFill>
                            <a:srgbClr val="A51C30"/>
                          </a:solidFill>
                          <a:latin typeface="Calibri"/>
                        </a:rPr>
                        <a:t>Laws — the executable ones</a:t>
                      </a:r>
                    </a:p>
                  </a:txBody>
                  <a:tcPr marL="82296" marR="64008" marT="32004" marB="32004" anchor="ctr">
                    <a:solidFill>
                      <a:srgbClr val="F6F3EF"/>
                    </a:solidFill>
                  </a:tcPr>
                </a:tc>
                <a:tc>
                  <a:txBody>
                    <a:bodyPr wrap="square"/>
                    <a:lstStyle/>
                    <a:p>
                      <a:pPr algn="l"/>
                      <a:r>
                        <a:rPr sz="1000" b="0">
                          <a:solidFill>
                            <a:srgbClr val="1C1C1E"/>
                          </a:solidFill>
                          <a:latin typeface="Calibri"/>
                        </a:rPr>
                        <a:t>L-4, L-5, L-7, L-12, L-18, L-19 and the eleven warrant laws. The rest are stated and not yet executable, and 00 §12 says which</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Integration</a:t>
                      </a:r>
                    </a:p>
                  </a:txBody>
                  <a:tcPr marL="82296" marR="64008" marT="32004" marB="32004" anchor="ctr">
                    <a:solidFill>
                      <a:srgbClr val="FFFFFF"/>
                    </a:solidFill>
                  </a:tcPr>
                </a:tc>
                <a:tc>
                  <a:txBody>
                    <a:bodyPr wrap="square"/>
                    <a:lstStyle/>
                    <a:p>
                      <a:pPr algn="l"/>
                      <a:r>
                        <a:rPr sz="1000" b="0">
                          <a:solidFill>
                            <a:srgbClr val="1C1C1E"/>
                          </a:solidFill>
                          <a:latin typeface="Calibri"/>
                        </a:rPr>
                        <a:t>Repository and service paths against real infrastructure</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Contract</a:t>
                      </a:r>
                    </a:p>
                  </a:txBody>
                  <a:tcPr marL="82296" marR="64008" marT="32004" marB="32004" anchor="ctr">
                    <a:solidFill>
                      <a:srgbClr val="F6F3EF"/>
                    </a:solidFill>
                  </a:tcPr>
                </a:tc>
                <a:tc>
                  <a:txBody>
                    <a:bodyPr wrap="square"/>
                    <a:lstStyle/>
                    <a:p>
                      <a:pPr algn="l"/>
                      <a:r>
                        <a:rPr sz="1000" b="0">
                          <a:solidFill>
                            <a:srgbClr val="1C1C1E"/>
                          </a:solidFill>
                          <a:latin typeface="Calibri"/>
                        </a:rPr>
                        <a:t>API matches the spec; SDK round-trips</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Adversarial</a:t>
                      </a:r>
                    </a:p>
                  </a:txBody>
                  <a:tcPr marL="82296" marR="64008" marT="32004" marB="32004" anchor="ctr">
                    <a:solidFill>
                      <a:srgbClr val="FFFFFF"/>
                    </a:solidFill>
                  </a:tcPr>
                </a:tc>
                <a:tc>
                  <a:txBody>
                    <a:bodyPr wrap="square"/>
                    <a:lstStyle/>
                    <a:p>
                      <a:pPr algn="l"/>
                      <a:r>
                        <a:rPr sz="1000" b="0">
                          <a:solidFill>
                            <a:srgbClr val="1C1C1E"/>
                          </a:solidFill>
                          <a:latin typeface="Calibri"/>
                        </a:rPr>
                        <a:t>Leakage injection · RLS negative tests · stampede load · malicious artifacts</a:t>
                      </a:r>
                    </a:p>
                  </a:txBody>
                  <a:tcPr marL="82296" marR="64008" marT="32004" marB="32004" anchor="ctr">
                    <a:solidFill>
                      <a:srgbClr val="FFFFFF"/>
                    </a:solidFill>
                  </a:tcPr>
                </a:tc>
              </a:tr>
              <a:tr h="329184">
                <a:tc>
                  <a:txBody>
                    <a:bodyPr wrap="square"/>
                    <a:lstStyle/>
                    <a:p>
                      <a:pPr algn="l"/>
                      <a:r>
                        <a:rPr sz="1000" b="1">
                          <a:solidFill>
                            <a:srgbClr val="A51C30"/>
                          </a:solidFill>
                          <a:latin typeface="Calibri"/>
                        </a:rPr>
                        <a:t>Migration</a:t>
                      </a:r>
                    </a:p>
                  </a:txBody>
                  <a:tcPr marL="82296" marR="64008" marT="32004" marB="32004" anchor="ctr">
                    <a:solidFill>
                      <a:srgbClr val="F6F3EF"/>
                    </a:solidFill>
                  </a:tcPr>
                </a:tc>
                <a:tc>
                  <a:txBody>
                    <a:bodyPr wrap="square"/>
                    <a:lstStyle/>
                    <a:p>
                      <a:pPr algn="l"/>
                      <a:r>
                        <a:rPr sz="1000" b="0">
                          <a:solidFill>
                            <a:srgbClr val="1C1C1E"/>
                          </a:solidFill>
                          <a:latin typeface="Calibri"/>
                        </a:rPr>
                        <a:t>Up and down against production-shaped data</a:t>
                      </a:r>
                    </a:p>
                  </a:txBody>
                  <a:tcPr marL="82296" marR="64008" marT="32004" marB="32004" anchor="ctr">
                    <a:solidFill>
                      <a:srgbClr val="F6F3EF"/>
                    </a:solidFill>
                  </a:tcPr>
                </a:tc>
              </a:tr>
              <a:tr h="329184">
                <a:tc>
                  <a:txBody>
                    <a:bodyPr wrap="square"/>
                    <a:lstStyle/>
                    <a:p>
                      <a:pPr algn="l"/>
                      <a:r>
                        <a:rPr sz="1000" b="1">
                          <a:solidFill>
                            <a:srgbClr val="A51C30"/>
                          </a:solidFill>
                          <a:latin typeface="Calibri"/>
                        </a:rPr>
                        <a:t>Performance</a:t>
                      </a:r>
                    </a:p>
                  </a:txBody>
                  <a:tcPr marL="82296" marR="64008" marT="32004" marB="32004" anchor="ctr">
                    <a:solidFill>
                      <a:srgbClr val="FFFFFF"/>
                    </a:solidFill>
                  </a:tcPr>
                </a:tc>
                <a:tc>
                  <a:txBody>
                    <a:bodyPr wrap="square"/>
                    <a:lstStyle/>
                    <a:p>
                      <a:pPr algn="l"/>
                      <a:r>
                        <a:rPr sz="1000" b="0">
                          <a:solidFill>
                            <a:srgbClr val="1C1C1E"/>
                          </a:solidFill>
                          <a:latin typeface="Calibri"/>
                        </a:rPr>
                        <a:t>The SLOs, or the build fails</a:t>
                      </a:r>
                    </a:p>
                  </a:txBody>
                  <a:tcPr marL="82296" marR="64008" marT="32004" marB="32004" anchor="ctr">
                    <a:solidFill>
                      <a:srgbClr val="FFFFFF"/>
                    </a:solidFill>
                  </a:tcPr>
                </a:tc>
              </a:tr>
            </a:tbl>
          </a:graphicData>
        </a:graphic>
      </p:graphicFrame>
      <p:sp>
        <p:nvSpPr>
          <p:cNvPr id="14" name="TextBox 13"/>
          <p:cNvSpPr txBox="1"/>
          <p:nvPr/>
        </p:nvSpPr>
        <p:spPr>
          <a:xfrm>
            <a:off x="6414964" y="5179822"/>
            <a:ext cx="4999491" cy="822960"/>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Why adversarial tests are not optional. </a:t>
            </a:r>
            <a:r>
              <a:rPr sz="1050" b="0" i="0">
                <a:solidFill>
                  <a:srgbClr val="1C1C1E"/>
                </a:solidFill>
                <a:latin typeface="Calibri"/>
              </a:rPr>
              <a:t>A PIT verifier that silently stops detecting leakage, or an RLS policy that silently stops isolating, is a catastrophic invisible regression. Both are tested by injecting the failure they must catch.</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1C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2191695" cy="914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417320"/>
            <a:ext cx="10637215" cy="457200"/>
          </a:xfrm>
          <a:prstGeom prst="rect">
            <a:avLst/>
          </a:prstGeom>
          <a:noFill/>
        </p:spPr>
        <p:txBody>
          <a:bodyPr wrap="square" lIns="0" rIns="0" tIns="0" bIns="0" anchor="t">
            <a:spAutoFit/>
          </a:bodyPr>
          <a:lstStyle/>
          <a:p>
            <a:pPr algn="l">
              <a:spcBef>
                <a:spcPts val="0"/>
              </a:spcBef>
              <a:spcAft>
                <a:spcPts val="0"/>
              </a:spcAft>
            </a:pPr>
            <a:r>
              <a:rPr sz="1300" b="1" i="0">
                <a:solidFill>
                  <a:srgbClr val="A51C30"/>
                </a:solidFill>
                <a:latin typeface="Calibri"/>
              </a:rPr>
              <a:t>PART V</a:t>
            </a:r>
          </a:p>
        </p:txBody>
      </p:sp>
      <p:sp>
        <p:nvSpPr>
          <p:cNvPr id="5" name="TextBox 4"/>
          <p:cNvSpPr txBox="1"/>
          <p:nvPr/>
        </p:nvSpPr>
        <p:spPr>
          <a:xfrm>
            <a:off x="1005840" y="1965960"/>
            <a:ext cx="6807817" cy="1280160"/>
          </a:xfrm>
          <a:prstGeom prst="rect">
            <a:avLst/>
          </a:prstGeom>
          <a:noFill/>
        </p:spPr>
        <p:txBody>
          <a:bodyPr wrap="square" lIns="0" rIns="0" tIns="0" bIns="0" anchor="t">
            <a:spAutoFit/>
          </a:bodyPr>
          <a:lstStyle/>
          <a:p>
            <a:pPr algn="l">
              <a:spcBef>
                <a:spcPts val="0"/>
              </a:spcBef>
              <a:spcAft>
                <a:spcPts val="0"/>
              </a:spcAft>
            </a:pPr>
            <a:r>
              <a:rPr sz="5200" b="0" i="0">
                <a:solidFill>
                  <a:srgbClr val="FFFFFF"/>
                </a:solidFill>
                <a:latin typeface="Georgia"/>
              </a:rPr>
              <a:t>Worked Examples</a:t>
            </a:r>
          </a:p>
        </p:txBody>
      </p:sp>
      <p:sp>
        <p:nvSpPr>
          <p:cNvPr id="6" name="Rectangle 5"/>
          <p:cNvSpPr/>
          <p:nvPr/>
        </p:nvSpPr>
        <p:spPr>
          <a:xfrm>
            <a:off x="1005840" y="3429000"/>
            <a:ext cx="1645920" cy="36576"/>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703320"/>
            <a:ext cx="6382329" cy="1005840"/>
          </a:xfrm>
          <a:prstGeom prst="rect">
            <a:avLst/>
          </a:prstGeom>
          <a:noFill/>
        </p:spPr>
        <p:txBody>
          <a:bodyPr wrap="square" lIns="0" rIns="0" tIns="0" bIns="0" anchor="t">
            <a:spAutoFit/>
          </a:bodyPr>
          <a:lstStyle/>
          <a:p>
            <a:pPr algn="l">
              <a:lnSpc>
                <a:spcPct val="130000"/>
              </a:lnSpc>
              <a:spcBef>
                <a:spcPts val="0"/>
              </a:spcBef>
              <a:spcAft>
                <a:spcPts val="0"/>
              </a:spcAft>
            </a:pPr>
            <a:r>
              <a:rPr sz="1600" b="0" i="1">
                <a:solidFill>
                  <a:srgbClr val="C8C2BA"/>
                </a:solidFill>
                <a:latin typeface="Calibri"/>
              </a:rPr>
              <a:t>Seven kinds of model, one at a time — then real data, real fits, and what the platform does with them.</a:t>
            </a:r>
          </a:p>
        </p:txBody>
      </p:sp>
      <p:sp>
        <p:nvSpPr>
          <p:cNvPr id="8" name="TextBox 7"/>
          <p:cNvSpPr txBox="1"/>
          <p:nvPr/>
        </p:nvSpPr>
        <p:spPr>
          <a:xfrm>
            <a:off x="8010546" y="1463040"/>
            <a:ext cx="3403908" cy="4206240"/>
          </a:xfrm>
          <a:prstGeom prst="rect">
            <a:avLst/>
          </a:prstGeom>
          <a:noFill/>
        </p:spPr>
        <p:txBody>
          <a:bodyPr wrap="square" lIns="0" rIns="0" tIns="0" bIns="0" anchor="t">
            <a:spAutoFit/>
          </a:bodyPr>
          <a:lstStyle/>
          <a:p>
            <a:pPr algn="l">
              <a:spcBef>
                <a:spcPts val="0"/>
              </a:spcBef>
              <a:spcAft>
                <a:spcPts val="1200"/>
              </a:spcAft>
            </a:pPr>
            <a:r>
              <a:rPr sz="950" b="1" i="0">
                <a:solidFill>
                  <a:srgbClr val="A51C30"/>
                </a:solidFill>
                <a:latin typeface="Calibri"/>
              </a:rPr>
              <a:t>CHAPTERS</a:t>
            </a:r>
          </a:p>
          <a:p>
            <a:pPr>
              <a:lnSpc>
                <a:spcPct val="115000"/>
              </a:lnSpc>
              <a:spcBef>
                <a:spcPts val="0"/>
              </a:spcBef>
              <a:spcAft>
                <a:spcPts val="800"/>
              </a:spcAft>
            </a:pPr>
            <a:r>
              <a:rPr sz="1150" b="0" i="0">
                <a:solidFill>
                  <a:srgbClr val="E4DED6"/>
                </a:solidFill>
                <a:latin typeface="Calibri"/>
              </a:rPr>
              <a:t>24 · Every kind of model</a:t>
            </a:r>
          </a:p>
          <a:p>
            <a:pPr>
              <a:lnSpc>
                <a:spcPct val="115000"/>
              </a:lnSpc>
              <a:spcBef>
                <a:spcPts val="0"/>
              </a:spcBef>
              <a:spcAft>
                <a:spcPts val="800"/>
              </a:spcAft>
            </a:pPr>
            <a:r>
              <a:rPr sz="1150" b="0" i="0">
                <a:solidFill>
                  <a:srgbClr val="E4DED6"/>
                </a:solidFill>
                <a:latin typeface="Calibri"/>
              </a:rPr>
              <a:t>25 · A worked example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24</a:t>
            </a:r>
          </a:p>
        </p:txBody>
      </p:sp>
      <p:sp>
        <p:nvSpPr>
          <p:cNvPr id="5" name="TextBox 4"/>
          <p:cNvSpPr txBox="1"/>
          <p:nvPr/>
        </p:nvSpPr>
        <p:spPr>
          <a:xfrm>
            <a:off x="1005840" y="2346350"/>
            <a:ext cx="6169584" cy="1188720"/>
          </a:xfrm>
          <a:prstGeom prst="rect">
            <a:avLst/>
          </a:prstGeom>
          <a:noFill/>
        </p:spPr>
        <p:txBody>
          <a:bodyPr wrap="square" lIns="0" rIns="0" tIns="0" bIns="0" anchor="t">
            <a:spAutoFit/>
          </a:bodyPr>
          <a:lstStyle/>
          <a:p>
            <a:pPr algn="l">
              <a:spcBef>
                <a:spcPts val="0"/>
              </a:spcBef>
              <a:spcAft>
                <a:spcPts val="0"/>
              </a:spcAft>
            </a:pPr>
            <a:r>
              <a:rPr sz="4400" b="0" i="0">
                <a:solidFill>
                  <a:srgbClr val="FFFFFF"/>
                </a:solidFill>
                <a:latin typeface="Georgia"/>
              </a:rPr>
              <a:t>Every Kind of Model</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Seven shapes, one definition — and how each is saved, managed and served.</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matrix, on one page</a:t>
            </a:r>
          </a:p>
          <a:p>
            <a:pPr>
              <a:lnSpc>
                <a:spcPct val="115000"/>
              </a:lnSpc>
              <a:spcBef>
                <a:spcPts val="0"/>
              </a:spcBef>
              <a:spcAft>
                <a:spcPts val="700"/>
              </a:spcAft>
            </a:pPr>
            <a:r>
              <a:rPr sz="1150" b="0" i="0">
                <a:solidFill>
                  <a:srgbClr val="F6E6E9"/>
                </a:solidFill>
                <a:latin typeface="Calibri"/>
              </a:rPr>
              <a:t>Regression, GARCH, closed-form</a:t>
            </a:r>
          </a:p>
          <a:p>
            <a:pPr>
              <a:lnSpc>
                <a:spcPct val="115000"/>
              </a:lnSpc>
              <a:spcBef>
                <a:spcPts val="0"/>
              </a:spcBef>
              <a:spcAft>
                <a:spcPts val="700"/>
              </a:spcAft>
            </a:pPr>
            <a:r>
              <a:rPr sz="1150" b="0" i="0">
                <a:solidFill>
                  <a:srgbClr val="F6E6E9"/>
                </a:solidFill>
                <a:latin typeface="Calibri"/>
              </a:rPr>
              <a:t>Calibration and simulation</a:t>
            </a:r>
          </a:p>
          <a:p>
            <a:pPr>
              <a:lnSpc>
                <a:spcPct val="115000"/>
              </a:lnSpc>
              <a:spcBef>
                <a:spcPts val="0"/>
              </a:spcBef>
              <a:spcAft>
                <a:spcPts val="700"/>
              </a:spcAft>
            </a:pPr>
            <a:r>
              <a:rPr sz="1150" b="0" i="0">
                <a:solidFill>
                  <a:srgbClr val="F6E6E9"/>
                </a:solidFill>
                <a:latin typeface="Calibri"/>
              </a:rPr>
              <a:t>Neural networks and LLMs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Seven shapes of the same definition</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135</a:t>
            </a:r>
          </a:p>
        </p:txBody>
      </p:sp>
      <p:graphicFrame>
        <p:nvGraphicFramePr>
          <p:cNvPr id="10" name="Table 9"/>
          <p:cNvGraphicFramePr>
            <a:graphicFrameLocks noGrp="1"/>
          </p:cNvGraphicFramePr>
          <p:nvPr/>
        </p:nvGraphicFramePr>
        <p:xfrm>
          <a:off x="777240" y="1353312"/>
          <a:ext cx="10637212" cy="2794912"/>
        </p:xfrm>
        <a:graphic>
          <a:graphicData uri="http://schemas.openxmlformats.org/drawingml/2006/table">
            <a:tbl>
              <a:tblPr firstRow="1">
                <a:tableStyleId>{5C22544A-7EE6-4342-B048-85BDC9FD1C3A}</a:tableStyleId>
              </a:tblPr>
              <a:tblGrid>
                <a:gridCol w="1783539"/>
                <a:gridCol w="1966467"/>
                <a:gridCol w="2515248"/>
                <a:gridCol w="2332321"/>
                <a:gridCol w="1417685"/>
                <a:gridCol w="621952"/>
              </a:tblGrid>
              <a:tr h="329184">
                <a:tc>
                  <a:txBody>
                    <a:bodyPr wrap="square"/>
                    <a:lstStyle/>
                    <a:p>
                      <a:pPr algn="l"/>
                      <a:r>
                        <a:rPr sz="950" b="1">
                          <a:solidFill>
                            <a:srgbClr val="FFFFFF"/>
                          </a:solidFill>
                          <a:latin typeface="Calibri"/>
                        </a:rPr>
                        <a:t>Model</a:t>
                      </a:r>
                    </a:p>
                  </a:txBody>
                  <a:tcPr marL="82296" marR="64008" marT="32004" marB="32004" anchor="ctr">
                    <a:solidFill>
                      <a:srgbClr val="A51C30"/>
                    </a:solidFill>
                  </a:tcPr>
                </a:tc>
                <a:tc>
                  <a:txBody>
                    <a:bodyPr wrap="square"/>
                    <a:lstStyle/>
                    <a:p>
                      <a:pPr algn="l"/>
                      <a:r>
                        <a:rPr sz="950" b="1">
                          <a:solidFill>
                            <a:srgbClr val="FFFFFF"/>
                          </a:solidFill>
                          <a:latin typeface="Calibri"/>
                        </a:rPr>
                        <a:t>P is</a:t>
                      </a:r>
                    </a:p>
                  </a:txBody>
                  <a:tcPr marL="82296" marR="64008" marT="32004" marB="32004" anchor="ctr">
                    <a:solidFill>
                      <a:srgbClr val="A51C30"/>
                    </a:solidFill>
                  </a:tcPr>
                </a:tc>
                <a:tc>
                  <a:txBody>
                    <a:bodyPr wrap="square"/>
                    <a:lstStyle/>
                    <a:p>
                      <a:pPr algn="l"/>
                      <a:r>
                        <a:rPr sz="950" b="1">
                          <a:solidFill>
                            <a:srgbClr val="FFFFFF"/>
                          </a:solidFill>
                          <a:latin typeface="Calibri"/>
                        </a:rPr>
                        <a:t>How P is filled</a:t>
                      </a:r>
                    </a:p>
                  </a:txBody>
                  <a:tcPr marL="82296" marR="64008" marT="32004" marB="32004" anchor="ctr">
                    <a:solidFill>
                      <a:srgbClr val="A51C30"/>
                    </a:solidFill>
                  </a:tcPr>
                </a:tc>
                <a:tc>
                  <a:txBody>
                    <a:bodyPr wrap="square"/>
                    <a:lstStyle/>
                    <a:p>
                      <a:pPr algn="l"/>
                      <a:r>
                        <a:rPr sz="950" b="1">
                          <a:solidFill>
                            <a:srgbClr val="FFFFFF"/>
                          </a:solidFill>
                          <a:latin typeface="Calibri"/>
                        </a:rPr>
                        <a:t>parameter_kind</a:t>
                      </a:r>
                    </a:p>
                  </a:txBody>
                  <a:tcPr marL="82296" marR="64008" marT="32004" marB="32004" anchor="ctr">
                    <a:solidFill>
                      <a:srgbClr val="A51C30"/>
                    </a:solidFill>
                  </a:tcPr>
                </a:tc>
                <a:tc>
                  <a:txBody>
                    <a:bodyPr wrap="square"/>
                    <a:lstStyle/>
                    <a:p>
                      <a:pPr algn="l"/>
                      <a:r>
                        <a:rPr sz="950" b="1">
                          <a:solidFill>
                            <a:srgbClr val="FFFFFF"/>
                          </a:solidFill>
                          <a:latin typeface="Calibri"/>
                        </a:rPr>
                        <a:t>fit_procedure</a:t>
                      </a:r>
                    </a:p>
                  </a:txBody>
                  <a:tcPr marL="82296" marR="64008" marT="32004" marB="32004" anchor="ctr">
                    <a:solidFill>
                      <a:srgbClr val="A51C30"/>
                    </a:solidFill>
                  </a:tcPr>
                </a:tc>
                <a:tc>
                  <a:txBody>
                    <a:bodyPr wrap="square"/>
                    <a:lstStyle/>
                    <a:p>
                      <a:pPr algn="l"/>
                      <a:r>
                        <a:rPr sz="950" b="1">
                          <a:solidFill>
                            <a:srgbClr val="FFFFFF"/>
                          </a:solidFill>
                          <a:latin typeface="Calibri"/>
                        </a:rPr>
                        <a:t>Class</a:t>
                      </a:r>
                    </a:p>
                  </a:txBody>
                  <a:tcPr marL="82296" marR="64008" marT="32004" marB="32004" anchor="ctr">
                    <a:solidFill>
                      <a:srgbClr val="A51C30"/>
                    </a:solidFill>
                  </a:tcPr>
                </a:tc>
              </a:tr>
              <a:tr h="308216">
                <a:tc>
                  <a:txBody>
                    <a:bodyPr wrap="square"/>
                    <a:lstStyle/>
                    <a:p>
                      <a:pPr algn="l"/>
                      <a:r>
                        <a:rPr sz="950" b="1">
                          <a:solidFill>
                            <a:srgbClr val="A51C30"/>
                          </a:solidFill>
                          <a:latin typeface="Calibri"/>
                        </a:rPr>
                        <a:t>Black-Scholes</a:t>
                      </a:r>
                    </a:p>
                  </a:txBody>
                  <a:tcPr marL="82296" marR="64008" marT="32004" marB="32004" anchor="ctr">
                    <a:solidFill>
                      <a:srgbClr val="FFFFFF"/>
                    </a:solidFill>
                  </a:tcPr>
                </a:tc>
                <a:tc>
                  <a:txBody>
                    <a:bodyPr wrap="square"/>
                    <a:lstStyle/>
                    <a:p>
                      <a:pPr algn="l"/>
                      <a:r>
                        <a:rPr sz="950" b="0">
                          <a:solidFill>
                            <a:srgbClr val="1C1C1E"/>
                          </a:solidFill>
                          <a:latin typeface="Calibri"/>
                        </a:rPr>
                        <a:t>empty</a:t>
                      </a:r>
                    </a:p>
                  </a:txBody>
                  <a:tcPr marL="82296" marR="64008" marT="32004" marB="32004" anchor="ctr">
                    <a:solidFill>
                      <a:srgbClr val="FFFFFF"/>
                    </a:solidFill>
                  </a:tcPr>
                </a:tc>
                <a:tc>
                  <a:txBody>
                    <a:bodyPr wrap="square"/>
                    <a:lstStyle/>
                    <a:p>
                      <a:pPr algn="l"/>
                      <a:r>
                        <a:rPr sz="950" b="0">
                          <a:solidFill>
                            <a:srgbClr val="1C1C1E"/>
                          </a:solidFill>
                          <a:latin typeface="Calibri"/>
                        </a:rPr>
                        <a:t>it isn't - nothing to fill</a:t>
                      </a:r>
                    </a:p>
                  </a:txBody>
                  <a:tcPr marL="82296" marR="64008" marT="32004" marB="32004" anchor="ctr">
                    <a:solidFill>
                      <a:srgbClr val="FFFFFF"/>
                    </a:solidFill>
                  </a:tcPr>
                </a:tc>
                <a:tc>
                  <a:txBody>
                    <a:bodyPr wrap="square"/>
                    <a:lstStyle/>
                    <a:p>
                      <a:pPr algn="l"/>
                      <a:r>
                        <a:rPr sz="950" b="0">
                          <a:solidFill>
                            <a:srgbClr val="1C1C1E"/>
                          </a:solidFill>
                          <a:latin typeface="Calibri"/>
                        </a:rPr>
                        <a:t>none</a:t>
                      </a:r>
                    </a:p>
                  </a:txBody>
                  <a:tcPr marL="82296" marR="64008" marT="32004" marB="32004" anchor="ctr">
                    <a:solidFill>
                      <a:srgbClr val="FFFFFF"/>
                    </a:solidFill>
                  </a:tcPr>
                </a:tc>
                <a:tc>
                  <a:txBody>
                    <a:bodyPr wrap="square"/>
                    <a:lstStyle/>
                    <a:p>
                      <a:pPr algn="l"/>
                      <a:r>
                        <a:rPr sz="950" b="0">
                          <a:solidFill>
                            <a:srgbClr val="1C1C1E"/>
                          </a:solidFill>
                          <a:latin typeface="Calibri"/>
                        </a:rPr>
                        <a:t>none</a:t>
                      </a:r>
                    </a:p>
                  </a:txBody>
                  <a:tcPr marL="82296" marR="64008" marT="32004" marB="32004" anchor="ctr">
                    <a:solidFill>
                      <a:srgbClr val="FFFFFF"/>
                    </a:solidFill>
                  </a:tcPr>
                </a:tc>
                <a:tc>
                  <a:txBody>
                    <a:bodyPr wrap="square"/>
                    <a:lstStyle/>
                    <a:p>
                      <a:pPr algn="l"/>
                      <a:r>
                        <a:rPr sz="950" b="0">
                          <a:solidFill>
                            <a:srgbClr val="1C1C1E"/>
                          </a:solidFill>
                          <a:latin typeface="Calibri"/>
                        </a:rPr>
                        <a:t>T0</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Linear regression</a:t>
                      </a:r>
                    </a:p>
                  </a:txBody>
                  <a:tcPr marL="82296" marR="64008" marT="32004" marB="32004" anchor="ctr">
                    <a:solidFill>
                      <a:srgbClr val="F6F3EF"/>
                    </a:solidFill>
                  </a:tcPr>
                </a:tc>
                <a:tc>
                  <a:txBody>
                    <a:bodyPr wrap="square"/>
                    <a:lstStyle/>
                    <a:p>
                      <a:pPr algn="l"/>
                      <a:r>
                        <a:rPr sz="950" b="0">
                          <a:solidFill>
                            <a:srgbClr val="1C1C1E"/>
                          </a:solidFill>
                          <a:latin typeface="Calibri"/>
                        </a:rPr>
                        <a:t>coefficients</a:t>
                      </a:r>
                    </a:p>
                  </a:txBody>
                  <a:tcPr marL="82296" marR="64008" marT="32004" marB="32004" anchor="ctr">
                    <a:solidFill>
                      <a:srgbClr val="F6F3EF"/>
                    </a:solidFill>
                  </a:tcPr>
                </a:tc>
                <a:tc>
                  <a:txBody>
                    <a:bodyPr wrap="square"/>
                    <a:lstStyle/>
                    <a:p>
                      <a:pPr algn="l"/>
                      <a:r>
                        <a:rPr sz="950" b="0">
                          <a:solidFill>
                            <a:srgbClr val="1C1C1E"/>
                          </a:solidFill>
                          <a:latin typeface="Calibri"/>
                        </a:rPr>
                        <a:t>a statistical estimator</a:t>
                      </a:r>
                    </a:p>
                  </a:txBody>
                  <a:tcPr marL="82296" marR="64008" marT="32004" marB="32004" anchor="ctr">
                    <a:solidFill>
                      <a:srgbClr val="F6F3EF"/>
                    </a:solidFill>
                  </a:tcPr>
                </a:tc>
                <a:tc>
                  <a:txBody>
                    <a:bodyPr wrap="square"/>
                    <a:lstStyle/>
                    <a:p>
                      <a:pPr algn="l"/>
                      <a:r>
                        <a:rPr sz="950" b="0">
                          <a:solidFill>
                            <a:srgbClr val="1C1C1E"/>
                          </a:solidFill>
                          <a:latin typeface="Calibri"/>
                        </a:rPr>
                        <a:t>estimated_coefficients</a:t>
                      </a:r>
                    </a:p>
                  </a:txBody>
                  <a:tcPr marL="82296" marR="64008" marT="32004" marB="32004" anchor="ctr">
                    <a:solidFill>
                      <a:srgbClr val="F6F3EF"/>
                    </a:solidFill>
                  </a:tcPr>
                </a:tc>
                <a:tc>
                  <a:txBody>
                    <a:bodyPr wrap="square"/>
                    <a:lstStyle/>
                    <a:p>
                      <a:pPr algn="l"/>
                      <a:r>
                        <a:rPr sz="950" b="0">
                          <a:solidFill>
                            <a:srgbClr val="1C1C1E"/>
                          </a:solidFill>
                          <a:latin typeface="Calibri"/>
                        </a:rPr>
                        <a:t>estimate</a:t>
                      </a:r>
                    </a:p>
                  </a:txBody>
                  <a:tcPr marL="82296" marR="64008" marT="32004" marB="32004" anchor="ctr">
                    <a:solidFill>
                      <a:srgbClr val="F6F3EF"/>
                    </a:solidFill>
                  </a:tcPr>
                </a:tc>
                <a:tc>
                  <a:txBody>
                    <a:bodyPr wrap="square"/>
                    <a:lstStyle/>
                    <a:p>
                      <a:pPr algn="l"/>
                      <a:r>
                        <a:rPr sz="950" b="0">
                          <a:solidFill>
                            <a:srgbClr val="1C1C1E"/>
                          </a:solidFill>
                          <a:latin typeface="Calibri"/>
                        </a:rPr>
                        <a:t>T2</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GARCH / ARIMA</a:t>
                      </a:r>
                    </a:p>
                  </a:txBody>
                  <a:tcPr marL="82296" marR="64008" marT="32004" marB="32004" anchor="ctr">
                    <a:solidFill>
                      <a:srgbClr val="FFFFFF"/>
                    </a:solidFill>
                  </a:tcPr>
                </a:tc>
                <a:tc>
                  <a:txBody>
                    <a:bodyPr wrap="square"/>
                    <a:lstStyle/>
                    <a:p>
                      <a:pPr algn="l"/>
                      <a:r>
                        <a:rPr sz="950" b="0">
                          <a:solidFill>
                            <a:srgbClr val="1C1C1E"/>
                          </a:solidFill>
                          <a:latin typeface="Calibri"/>
                        </a:rPr>
                        <a:t>omega, alpha, beta</a:t>
                      </a:r>
                    </a:p>
                  </a:txBody>
                  <a:tcPr marL="82296" marR="64008" marT="32004" marB="32004" anchor="ctr">
                    <a:solidFill>
                      <a:srgbClr val="FFFFFF"/>
                    </a:solidFill>
                  </a:tcPr>
                </a:tc>
                <a:tc>
                  <a:txBody>
                    <a:bodyPr wrap="square"/>
                    <a:lstStyle/>
                    <a:p>
                      <a:pPr algn="l"/>
                      <a:r>
                        <a:rPr sz="950" b="0">
                          <a:solidFill>
                            <a:srgbClr val="1C1C1E"/>
                          </a:solidFill>
                          <a:latin typeface="Calibri"/>
                        </a:rPr>
                        <a:t>maximum likelihood</a:t>
                      </a:r>
                    </a:p>
                  </a:txBody>
                  <a:tcPr marL="82296" marR="64008" marT="32004" marB="32004" anchor="ctr">
                    <a:solidFill>
                      <a:srgbClr val="FFFFFF"/>
                    </a:solidFill>
                  </a:tcPr>
                </a:tc>
                <a:tc>
                  <a:txBody>
                    <a:bodyPr wrap="square"/>
                    <a:lstStyle/>
                    <a:p>
                      <a:pPr algn="l"/>
                      <a:r>
                        <a:rPr sz="950" b="0">
                          <a:solidFill>
                            <a:srgbClr val="1C1C1E"/>
                          </a:solidFill>
                          <a:latin typeface="Calibri"/>
                        </a:rPr>
                        <a:t>estimated_coefficients</a:t>
                      </a:r>
                    </a:p>
                  </a:txBody>
                  <a:tcPr marL="82296" marR="64008" marT="32004" marB="32004" anchor="ctr">
                    <a:solidFill>
                      <a:srgbClr val="FFFFFF"/>
                    </a:solidFill>
                  </a:tcPr>
                </a:tc>
                <a:tc>
                  <a:txBody>
                    <a:bodyPr wrap="square"/>
                    <a:lstStyle/>
                    <a:p>
                      <a:pPr algn="l"/>
                      <a:r>
                        <a:rPr sz="950" b="0">
                          <a:solidFill>
                            <a:srgbClr val="1C1C1E"/>
                          </a:solidFill>
                          <a:latin typeface="Calibri"/>
                        </a:rPr>
                        <a:t>estimate</a:t>
                      </a:r>
                    </a:p>
                  </a:txBody>
                  <a:tcPr marL="82296" marR="64008" marT="32004" marB="32004" anchor="ctr">
                    <a:solidFill>
                      <a:srgbClr val="FFFFFF"/>
                    </a:solidFill>
                  </a:tcPr>
                </a:tc>
                <a:tc>
                  <a:txBody>
                    <a:bodyPr wrap="square"/>
                    <a:lstStyle/>
                    <a:p>
                      <a:pPr algn="l"/>
                      <a:r>
                        <a:rPr sz="950" b="0">
                          <a:solidFill>
                            <a:srgbClr val="1C1C1E"/>
                          </a:solidFill>
                          <a:latin typeface="Calibri"/>
                        </a:rPr>
                        <a:t>T2</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Hull-White</a:t>
                      </a:r>
                    </a:p>
                  </a:txBody>
                  <a:tcPr marL="82296" marR="64008" marT="32004" marB="32004" anchor="ctr">
                    <a:solidFill>
                      <a:srgbClr val="F6F3EF"/>
                    </a:solidFill>
                  </a:tcPr>
                </a:tc>
                <a:tc>
                  <a:txBody>
                    <a:bodyPr wrap="square"/>
                    <a:lstStyle/>
                    <a:p>
                      <a:pPr algn="l"/>
                      <a:r>
                        <a:rPr sz="950" b="0">
                          <a:solidFill>
                            <a:srgbClr val="1C1C1E"/>
                          </a:solidFill>
                          <a:latin typeface="Calibri"/>
                        </a:rPr>
                        <a:t>mean reversion, vol</a:t>
                      </a:r>
                    </a:p>
                  </a:txBody>
                  <a:tcPr marL="82296" marR="64008" marT="32004" marB="32004" anchor="ctr">
                    <a:solidFill>
                      <a:srgbClr val="F6F3EF"/>
                    </a:solidFill>
                  </a:tcPr>
                </a:tc>
                <a:tc>
                  <a:txBody>
                    <a:bodyPr wrap="square"/>
                    <a:lstStyle/>
                    <a:p>
                      <a:pPr algn="l"/>
                      <a:r>
                        <a:rPr sz="950" b="0">
                          <a:solidFill>
                            <a:srgbClr val="1C1C1E"/>
                          </a:solidFill>
                          <a:latin typeface="Calibri"/>
                        </a:rPr>
                        <a:t>a solver, against market quotes</a:t>
                      </a:r>
                    </a:p>
                  </a:txBody>
                  <a:tcPr marL="82296" marR="64008" marT="32004" marB="32004" anchor="ctr">
                    <a:solidFill>
                      <a:srgbClr val="F6F3EF"/>
                    </a:solidFill>
                  </a:tcPr>
                </a:tc>
                <a:tc>
                  <a:txBody>
                    <a:bodyPr wrap="square"/>
                    <a:lstStyle/>
                    <a:p>
                      <a:pPr algn="l"/>
                      <a:r>
                        <a:rPr sz="950" b="0">
                          <a:solidFill>
                            <a:srgbClr val="1C1C1E"/>
                          </a:solidFill>
                          <a:latin typeface="Calibri"/>
                        </a:rPr>
                        <a:t>calibration_set</a:t>
                      </a:r>
                    </a:p>
                  </a:txBody>
                  <a:tcPr marL="82296" marR="64008" marT="32004" marB="32004" anchor="ctr">
                    <a:solidFill>
                      <a:srgbClr val="F6F3EF"/>
                    </a:solidFill>
                  </a:tcPr>
                </a:tc>
                <a:tc>
                  <a:txBody>
                    <a:bodyPr wrap="square"/>
                    <a:lstStyle/>
                    <a:p>
                      <a:pPr algn="l"/>
                      <a:r>
                        <a:rPr sz="950" b="0">
                          <a:solidFill>
                            <a:srgbClr val="1C1C1E"/>
                          </a:solidFill>
                          <a:latin typeface="Calibri"/>
                        </a:rPr>
                        <a:t>calibrate</a:t>
                      </a:r>
                    </a:p>
                  </a:txBody>
                  <a:tcPr marL="82296" marR="64008" marT="32004" marB="32004" anchor="ctr">
                    <a:solidFill>
                      <a:srgbClr val="F6F3EF"/>
                    </a:solidFill>
                  </a:tcPr>
                </a:tc>
                <a:tc>
                  <a:txBody>
                    <a:bodyPr wrap="square"/>
                    <a:lstStyle/>
                    <a:p>
                      <a:pPr algn="l"/>
                      <a:r>
                        <a:rPr sz="950" b="0">
                          <a:solidFill>
                            <a:srgbClr val="1C1C1E"/>
                          </a:solidFill>
                          <a:latin typeface="Calibri"/>
                        </a:rPr>
                        <a:t>T1</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Monte Carlo XVA</a:t>
                      </a:r>
                    </a:p>
                  </a:txBody>
                  <a:tcPr marL="82296" marR="64008" marT="32004" marB="32004" anchor="ctr">
                    <a:solidFill>
                      <a:srgbClr val="FFFFFF"/>
                    </a:solidFill>
                  </a:tcPr>
                </a:tc>
                <a:tc>
                  <a:txBody>
                    <a:bodyPr wrap="square"/>
                    <a:lstStyle/>
                    <a:p>
                      <a:pPr algn="l"/>
                      <a:r>
                        <a:rPr sz="950" b="0">
                          <a:solidFill>
                            <a:srgbClr val="1C1C1E"/>
                          </a:solidFill>
                          <a:latin typeface="Calibri"/>
                        </a:rPr>
                        <a:t>parameters + seed + paths</a:t>
                      </a:r>
                    </a:p>
                  </a:txBody>
                  <a:tcPr marL="82296" marR="64008" marT="32004" marB="32004" anchor="ctr">
                    <a:solidFill>
                      <a:srgbClr val="FFFFFF"/>
                    </a:solidFill>
                  </a:tcPr>
                </a:tc>
                <a:tc>
                  <a:txBody>
                    <a:bodyPr wrap="square"/>
                    <a:lstStyle/>
                    <a:p>
                      <a:pPr algn="l"/>
                      <a:r>
                        <a:rPr sz="950" b="0">
                          <a:solidFill>
                            <a:srgbClr val="1C1C1E"/>
                          </a:solidFill>
                          <a:latin typeface="Calibri"/>
                        </a:rPr>
                        <a:t>calibration plus configuration</a:t>
                      </a:r>
                    </a:p>
                  </a:txBody>
                  <a:tcPr marL="82296" marR="64008" marT="32004" marB="32004" anchor="ctr">
                    <a:solidFill>
                      <a:srgbClr val="FFFFFF"/>
                    </a:solidFill>
                  </a:tcPr>
                </a:tc>
                <a:tc>
                  <a:txBody>
                    <a:bodyPr wrap="square"/>
                    <a:lstStyle/>
                    <a:p>
                      <a:pPr algn="l"/>
                      <a:r>
                        <a:rPr sz="950" b="0">
                          <a:solidFill>
                            <a:srgbClr val="1C1C1E"/>
                          </a:solidFill>
                          <a:latin typeface="Calibri"/>
                        </a:rPr>
                        <a:t>calibration_set</a:t>
                      </a:r>
                    </a:p>
                  </a:txBody>
                  <a:tcPr marL="82296" marR="64008" marT="32004" marB="32004" anchor="ctr">
                    <a:solidFill>
                      <a:srgbClr val="FFFFFF"/>
                    </a:solidFill>
                  </a:tcPr>
                </a:tc>
                <a:tc>
                  <a:txBody>
                    <a:bodyPr wrap="square"/>
                    <a:lstStyle/>
                    <a:p>
                      <a:pPr algn="l"/>
                      <a:r>
                        <a:rPr sz="950" b="0">
                          <a:solidFill>
                            <a:srgbClr val="1C1C1E"/>
                          </a:solidFill>
                          <a:latin typeface="Calibri"/>
                        </a:rPr>
                        <a:t>calibrate</a:t>
                      </a:r>
                    </a:p>
                  </a:txBody>
                  <a:tcPr marL="82296" marR="64008" marT="32004" marB="32004" anchor="ctr">
                    <a:solidFill>
                      <a:srgbClr val="FFFFFF"/>
                    </a:solidFill>
                  </a:tcPr>
                </a:tc>
                <a:tc>
                  <a:txBody>
                    <a:bodyPr wrap="square"/>
                    <a:lstStyle/>
                    <a:p>
                      <a:pPr algn="l"/>
                      <a:r>
                        <a:rPr sz="950" b="0">
                          <a:solidFill>
                            <a:srgbClr val="1C1C1E"/>
                          </a:solidFill>
                          <a:latin typeface="Calibri"/>
                        </a:rPr>
                        <a:t>T1</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Neural network</a:t>
                      </a:r>
                    </a:p>
                  </a:txBody>
                  <a:tcPr marL="82296" marR="64008" marT="32004" marB="32004" anchor="ctr">
                    <a:solidFill>
                      <a:srgbClr val="F6F3EF"/>
                    </a:solidFill>
                  </a:tcPr>
                </a:tc>
                <a:tc>
                  <a:txBody>
                    <a:bodyPr wrap="square"/>
                    <a:lstStyle/>
                    <a:p>
                      <a:pPr algn="l"/>
                      <a:r>
                        <a:rPr sz="950" b="0">
                          <a:solidFill>
                            <a:srgbClr val="1C1C1E"/>
                          </a:solidFill>
                          <a:latin typeface="Calibri"/>
                        </a:rPr>
                        <a:t>weights - millions</a:t>
                      </a:r>
                    </a:p>
                  </a:txBody>
                  <a:tcPr marL="82296" marR="64008" marT="32004" marB="32004" anchor="ctr">
                    <a:solidFill>
                      <a:srgbClr val="F6F3EF"/>
                    </a:solidFill>
                  </a:tcPr>
                </a:tc>
                <a:tc>
                  <a:txBody>
                    <a:bodyPr wrap="square"/>
                    <a:lstStyle/>
                    <a:p>
                      <a:pPr algn="l"/>
                      <a:r>
                        <a:rPr sz="950" b="0">
                          <a:solidFill>
                            <a:srgbClr val="1C1C1E"/>
                          </a:solidFill>
                          <a:latin typeface="Calibri"/>
                        </a:rPr>
                        <a:t>a training run</a:t>
                      </a:r>
                    </a:p>
                  </a:txBody>
                  <a:tcPr marL="82296" marR="64008" marT="32004" marB="32004" anchor="ctr">
                    <a:solidFill>
                      <a:srgbClr val="F6F3EF"/>
                    </a:solidFill>
                  </a:tcPr>
                </a:tc>
                <a:tc>
                  <a:txBody>
                    <a:bodyPr wrap="square"/>
                    <a:lstStyle/>
                    <a:p>
                      <a:pPr algn="l"/>
                      <a:r>
                        <a:rPr sz="950" b="0">
                          <a:solidFill>
                            <a:srgbClr val="1C1C1E"/>
                          </a:solidFill>
                          <a:latin typeface="Calibri"/>
                        </a:rPr>
                        <a:t>learned_weights</a:t>
                      </a:r>
                    </a:p>
                  </a:txBody>
                  <a:tcPr marL="82296" marR="64008" marT="32004" marB="32004" anchor="ctr">
                    <a:solidFill>
                      <a:srgbClr val="F6F3EF"/>
                    </a:solidFill>
                  </a:tcPr>
                </a:tc>
                <a:tc>
                  <a:txBody>
                    <a:bodyPr wrap="square"/>
                    <a:lstStyle/>
                    <a:p>
                      <a:pPr algn="l"/>
                      <a:r>
                        <a:rPr sz="950" b="0">
                          <a:solidFill>
                            <a:srgbClr val="1C1C1E"/>
                          </a:solidFill>
                          <a:latin typeface="Calibri"/>
                        </a:rPr>
                        <a:t>train</a:t>
                      </a:r>
                    </a:p>
                  </a:txBody>
                  <a:tcPr marL="82296" marR="64008" marT="32004" marB="32004" anchor="ctr">
                    <a:solidFill>
                      <a:srgbClr val="F6F3EF"/>
                    </a:solidFill>
                  </a:tcPr>
                </a:tc>
                <a:tc>
                  <a:txBody>
                    <a:bodyPr wrap="square"/>
                    <a:lstStyle/>
                    <a:p>
                      <a:pPr algn="l"/>
                      <a:r>
                        <a:rPr sz="950" b="0">
                          <a:solidFill>
                            <a:srgbClr val="1C1C1E"/>
                          </a:solidFill>
                          <a:latin typeface="Calibri"/>
                        </a:rPr>
                        <a:t>T3</a:t>
                      </a:r>
                    </a:p>
                  </a:txBody>
                  <a:tcPr marL="82296" marR="64008" marT="32004" marB="32004" anchor="ctr">
                    <a:solidFill>
                      <a:srgbClr val="F6F3EF"/>
                    </a:solidFill>
                  </a:tcPr>
                </a:tc>
              </a:tr>
              <a:tr h="308216">
                <a:tc>
                  <a:txBody>
                    <a:bodyPr wrap="square"/>
                    <a:lstStyle/>
                    <a:p>
                      <a:pPr algn="l"/>
                      <a:r>
                        <a:rPr sz="950" b="1">
                          <a:solidFill>
                            <a:srgbClr val="A51C30"/>
                          </a:solidFill>
                          <a:latin typeface="Calibri"/>
                        </a:rPr>
                        <a:t>LLM application</a:t>
                      </a:r>
                    </a:p>
                  </a:txBody>
                  <a:tcPr marL="82296" marR="64008" marT="32004" marB="32004" anchor="ctr">
                    <a:solidFill>
                      <a:srgbClr val="FFFFFF"/>
                    </a:solidFill>
                  </a:tcPr>
                </a:tc>
                <a:tc>
                  <a:txBody>
                    <a:bodyPr wrap="square"/>
                    <a:lstStyle/>
                    <a:p>
                      <a:pPr algn="l"/>
                      <a:r>
                        <a:rPr sz="950" b="0">
                          <a:solidFill>
                            <a:srgbClr val="1C1C1E"/>
                          </a:solidFill>
                          <a:latin typeface="Calibri"/>
                        </a:rPr>
                        <a:t>base model + prompt + corpus</a:t>
                      </a:r>
                    </a:p>
                  </a:txBody>
                  <a:tcPr marL="82296" marR="64008" marT="32004" marB="32004" anchor="ctr">
                    <a:solidFill>
                      <a:srgbClr val="FFFFFF"/>
                    </a:solidFill>
                  </a:tcPr>
                </a:tc>
                <a:tc>
                  <a:txBody>
                    <a:bodyPr wrap="square"/>
                    <a:lstStyle/>
                    <a:p>
                      <a:pPr algn="l"/>
                      <a:r>
                        <a:rPr sz="950" b="0">
                          <a:solidFill>
                            <a:srgbClr val="1C1C1E"/>
                          </a:solidFill>
                          <a:latin typeface="Calibri"/>
                        </a:rPr>
                        <a:t>configuration and retrieval</a:t>
                      </a:r>
                    </a:p>
                  </a:txBody>
                  <a:tcPr marL="82296" marR="64008" marT="32004" marB="32004" anchor="ctr">
                    <a:solidFill>
                      <a:srgbClr val="FFFFFF"/>
                    </a:solidFill>
                  </a:tcPr>
                </a:tc>
                <a:tc>
                  <a:txBody>
                    <a:bodyPr wrap="square"/>
                    <a:lstStyle/>
                    <a:p>
                      <a:pPr algn="l"/>
                      <a:r>
                        <a:rPr sz="950" b="0">
                          <a:solidFill>
                            <a:srgbClr val="1C1C1E"/>
                          </a:solidFill>
                          <a:latin typeface="Calibri"/>
                        </a:rPr>
                        <a:t>llm_configuration</a:t>
                      </a:r>
                    </a:p>
                  </a:txBody>
                  <a:tcPr marL="82296" marR="64008" marT="32004" marB="32004" anchor="ctr">
                    <a:solidFill>
                      <a:srgbClr val="FFFFFF"/>
                    </a:solidFill>
                  </a:tcPr>
                </a:tc>
                <a:tc>
                  <a:txBody>
                    <a:bodyPr wrap="square"/>
                    <a:lstStyle/>
                    <a:p>
                      <a:pPr algn="l"/>
                      <a:r>
                        <a:rPr sz="950" b="0">
                          <a:solidFill>
                            <a:srgbClr val="1C1C1E"/>
                          </a:solidFill>
                          <a:latin typeface="Calibri"/>
                        </a:rPr>
                        <a:t>configure</a:t>
                      </a:r>
                    </a:p>
                  </a:txBody>
                  <a:tcPr marL="82296" marR="64008" marT="32004" marB="32004" anchor="ctr">
                    <a:solidFill>
                      <a:srgbClr val="FFFFFF"/>
                    </a:solidFill>
                  </a:tcPr>
                </a:tc>
                <a:tc>
                  <a:txBody>
                    <a:bodyPr wrap="square"/>
                    <a:lstStyle/>
                    <a:p>
                      <a:pPr algn="l"/>
                      <a:r>
                        <a:rPr sz="950" b="0">
                          <a:solidFill>
                            <a:srgbClr val="1C1C1E"/>
                          </a:solidFill>
                          <a:latin typeface="Calibri"/>
                        </a:rPr>
                        <a:t>T5</a:t>
                      </a:r>
                    </a:p>
                  </a:txBody>
                  <a:tcPr marL="82296" marR="64008" marT="32004" marB="32004" anchor="ctr">
                    <a:solidFill>
                      <a:srgbClr val="FFFFFF"/>
                    </a:solidFill>
                  </a:tcPr>
                </a:tc>
              </a:tr>
              <a:tr h="308216">
                <a:tc>
                  <a:txBody>
                    <a:bodyPr wrap="square"/>
                    <a:lstStyle/>
                    <a:p>
                      <a:pPr algn="l"/>
                      <a:r>
                        <a:rPr sz="950" b="1">
                          <a:solidFill>
                            <a:srgbClr val="A51C30"/>
                          </a:solidFill>
                          <a:latin typeface="Calibri"/>
                        </a:rPr>
                        <a:t>Vendor score</a:t>
                      </a:r>
                    </a:p>
                  </a:txBody>
                  <a:tcPr marL="82296" marR="64008" marT="32004" marB="32004" anchor="ctr">
                    <a:solidFill>
                      <a:srgbClr val="F6F3EF"/>
                    </a:solidFill>
                  </a:tcPr>
                </a:tc>
                <a:tc>
                  <a:txBody>
                    <a:bodyPr wrap="square"/>
                    <a:lstStyle/>
                    <a:p>
                      <a:pPr algn="l"/>
                      <a:r>
                        <a:rPr sz="950" b="0">
                          <a:solidFill>
                            <a:srgbClr val="1C1C1E"/>
                          </a:solidFill>
                          <a:latin typeface="Calibri"/>
                        </a:rPr>
                        <a:t>exists, unreachable</a:t>
                      </a:r>
                    </a:p>
                  </a:txBody>
                  <a:tcPr marL="82296" marR="64008" marT="32004" marB="32004" anchor="ctr">
                    <a:solidFill>
                      <a:srgbClr val="F6F3EF"/>
                    </a:solidFill>
                  </a:tcPr>
                </a:tc>
                <a:tc>
                  <a:txBody>
                    <a:bodyPr wrap="square"/>
                    <a:lstStyle/>
                    <a:p>
                      <a:pPr algn="l"/>
                      <a:r>
                        <a:rPr sz="950" b="0">
                          <a:solidFill>
                            <a:srgbClr val="1C1C1E"/>
                          </a:solidFill>
                          <a:latin typeface="Calibri"/>
                        </a:rPr>
                        <a:t>somebody else's problem</a:t>
                      </a:r>
                    </a:p>
                  </a:txBody>
                  <a:tcPr marL="82296" marR="64008" marT="32004" marB="32004" anchor="ctr">
                    <a:solidFill>
                      <a:srgbClr val="F6F3EF"/>
                    </a:solidFill>
                  </a:tcPr>
                </a:tc>
                <a:tc>
                  <a:txBody>
                    <a:bodyPr wrap="square"/>
                    <a:lstStyle/>
                    <a:p>
                      <a:pPr algn="l"/>
                      <a:r>
                        <a:rPr sz="950" b="0">
                          <a:solidFill>
                            <a:srgbClr val="1C1C1E"/>
                          </a:solidFill>
                          <a:latin typeface="Calibri"/>
                        </a:rPr>
                        <a:t>opaque</a:t>
                      </a:r>
                    </a:p>
                  </a:txBody>
                  <a:tcPr marL="82296" marR="64008" marT="32004" marB="32004" anchor="ctr">
                    <a:solidFill>
                      <a:srgbClr val="F6F3EF"/>
                    </a:solidFill>
                  </a:tcPr>
                </a:tc>
                <a:tc>
                  <a:txBody>
                    <a:bodyPr wrap="square"/>
                    <a:lstStyle/>
                    <a:p>
                      <a:pPr algn="l"/>
                      <a:r>
                        <a:rPr sz="950" b="0">
                          <a:solidFill>
                            <a:srgbClr val="1C1C1E"/>
                          </a:solidFill>
                          <a:latin typeface="Calibri"/>
                        </a:rPr>
                        <a:t>none</a:t>
                      </a:r>
                    </a:p>
                  </a:txBody>
                  <a:tcPr marL="82296" marR="64008" marT="32004" marB="32004" anchor="ctr">
                    <a:solidFill>
                      <a:srgbClr val="F6F3EF"/>
                    </a:solidFill>
                  </a:tcPr>
                </a:tc>
                <a:tc>
                  <a:txBody>
                    <a:bodyPr wrap="square"/>
                    <a:lstStyle/>
                    <a:p>
                      <a:pPr algn="l"/>
                      <a:r>
                        <a:rPr sz="950" b="0">
                          <a:solidFill>
                            <a:srgbClr val="1C1C1E"/>
                          </a:solidFill>
                          <a:latin typeface="Calibri"/>
                        </a:rPr>
                        <a:t>T6</a:t>
                      </a:r>
                    </a:p>
                  </a:txBody>
                  <a:tcPr marL="82296" marR="64008" marT="32004" marB="32004" anchor="ctr">
                    <a:solidFill>
                      <a:srgbClr val="F6F3EF"/>
                    </a:solidFill>
                  </a:tcPr>
                </a:tc>
              </a:tr>
            </a:tbl>
          </a:graphicData>
        </a:graphic>
      </p:graphicFrame>
      <p:sp>
        <p:nvSpPr>
          <p:cNvPr id="11" name="Rectangle 10"/>
          <p:cNvSpPr/>
          <p:nvPr/>
        </p:nvSpPr>
        <p:spPr>
          <a:xfrm>
            <a:off x="777240" y="4404258"/>
            <a:ext cx="10637215"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404258"/>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523130"/>
            <a:ext cx="10180015"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class is never declared. </a:t>
            </a:r>
            <a:r>
              <a:rPr sz="1050" b="0" i="0">
                <a:solidFill>
                  <a:srgbClr val="1C1C1E"/>
                </a:solidFill>
                <a:latin typeface="Calibri"/>
              </a:rPr>
              <a:t>It is derived from the two columns before it, so asking a closed-form pricer for its training set is a type error rather than an empty field, and a rule set is not a second-class citizen squeezed into a schema designed for gradient descent. Everything that follows in this chapter is the same three questions -- how it is saved, managed and served -- asked of each row.</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only thing that actually differs: the medium of P</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136</a:t>
            </a:r>
          </a:p>
        </p:txBody>
      </p:sp>
      <p:graphicFrame>
        <p:nvGraphicFramePr>
          <p:cNvPr id="10" name="Table 9"/>
          <p:cNvGraphicFramePr>
            <a:graphicFrameLocks noGrp="1"/>
          </p:cNvGraphicFramePr>
          <p:nvPr/>
        </p:nvGraphicFramePr>
        <p:xfrm>
          <a:off x="777240" y="1353312"/>
          <a:ext cx="10637213" cy="2107438"/>
        </p:xfrm>
        <a:graphic>
          <a:graphicData uri="http://schemas.openxmlformats.org/drawingml/2006/table">
            <a:tbl>
              <a:tblPr firstRow="1">
                <a:tableStyleId>{5C22544A-7EE6-4342-B048-85BDC9FD1C3A}</a:tableStyleId>
              </a:tblPr>
              <a:tblGrid>
                <a:gridCol w="1692076"/>
                <a:gridCol w="1875003"/>
                <a:gridCol w="3246957"/>
                <a:gridCol w="1966467"/>
                <a:gridCol w="1856710"/>
              </a:tblGrid>
              <a:tr h="329184">
                <a:tc>
                  <a:txBody>
                    <a:bodyPr wrap="square"/>
                    <a:lstStyle/>
                    <a:p>
                      <a:pPr algn="l"/>
                      <a:r>
                        <a:rPr sz="1000" b="1">
                          <a:solidFill>
                            <a:srgbClr val="FFFFFF"/>
                          </a:solidFill>
                          <a:latin typeface="Calibri"/>
                        </a:rPr>
                        <a:t>Medium</a:t>
                      </a:r>
                    </a:p>
                  </a:txBody>
                  <a:tcPr marL="82296" marR="64008" marT="32004" marB="32004" anchor="ctr">
                    <a:solidFill>
                      <a:srgbClr val="A51C30"/>
                    </a:solidFill>
                  </a:tcPr>
                </a:tc>
                <a:tc>
                  <a:txBody>
                    <a:bodyPr wrap="square"/>
                    <a:lstStyle/>
                    <a:p>
                      <a:pPr algn="l"/>
                      <a:r>
                        <a:rPr sz="1000" b="1">
                          <a:solidFill>
                            <a:srgbClr val="FFFFFF"/>
                          </a:solidFill>
                          <a:latin typeface="Calibri"/>
                        </a:rPr>
                        <a:t>Size of P</a:t>
                      </a:r>
                    </a:p>
                  </a:txBody>
                  <a:tcPr marL="82296" marR="64008" marT="32004" marB="32004" anchor="ctr">
                    <a:solidFill>
                      <a:srgbClr val="A51C30"/>
                    </a:solidFill>
                  </a:tcPr>
                </a:tc>
                <a:tc>
                  <a:txBody>
                    <a:bodyPr wrap="square"/>
                    <a:lstStyle/>
                    <a:p>
                      <a:pPr algn="l"/>
                      <a:r>
                        <a:rPr sz="1000" b="1">
                          <a:solidFill>
                            <a:srgbClr val="FFFFFF"/>
                          </a:solidFill>
                          <a:latin typeface="Calibri"/>
                        </a:rPr>
                        <a:t>Lives in</a:t>
                      </a:r>
                    </a:p>
                  </a:txBody>
                  <a:tcPr marL="82296" marR="64008" marT="32004" marB="32004" anchor="ctr">
                    <a:solidFill>
                      <a:srgbClr val="A51C30"/>
                    </a:solidFill>
                  </a:tcPr>
                </a:tc>
                <a:tc>
                  <a:txBody>
                    <a:bodyPr wrap="square"/>
                    <a:lstStyle/>
                    <a:p>
                      <a:pPr algn="l"/>
                      <a:r>
                        <a:rPr sz="1000" b="1">
                          <a:solidFill>
                            <a:srgbClr val="FFFFFF"/>
                          </a:solidFill>
                          <a:latin typeface="Calibri"/>
                        </a:rPr>
                        <a:t>A refit is</a:t>
                      </a:r>
                    </a:p>
                  </a:txBody>
                  <a:tcPr marL="82296" marR="64008" marT="32004" marB="32004" anchor="ctr">
                    <a:solidFill>
                      <a:srgbClr val="A51C30"/>
                    </a:solidFill>
                  </a:tcPr>
                </a:tc>
                <a:tc>
                  <a:txBody>
                    <a:bodyPr wrap="square"/>
                    <a:lstStyle/>
                    <a:p>
                      <a:pPr algn="l"/>
                      <a:r>
                        <a:rPr sz="1000" b="1">
                          <a:solidFill>
                            <a:srgbClr val="FFFFFF"/>
                          </a:solidFill>
                          <a:latin typeface="Calibri"/>
                        </a:rPr>
                        <a:t>What replay compares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A record</a:t>
                      </a:r>
                    </a:p>
                  </a:txBody>
                  <a:tcPr marL="82296" marR="64008" marT="32004" marB="32004" anchor="ctr">
                    <a:solidFill>
                      <a:srgbClr val="FFFFFF"/>
                    </a:solidFill>
                  </a:tcPr>
                </a:tc>
                <a:tc>
                  <a:txBody>
                    <a:bodyPr wrap="square"/>
                    <a:lstStyle/>
                    <a:p>
                      <a:pPr algn="l"/>
                      <a:r>
                        <a:rPr sz="1000" b="0">
                          <a:solidFill>
                            <a:srgbClr val="1C1C1E"/>
                          </a:solidFill>
                          <a:latin typeface="Calibri"/>
                        </a:rPr>
                        <a:t>tens of numbers</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register, as values</a:t>
                      </a:r>
                    </a:p>
                  </a:txBody>
                  <a:tcPr marL="82296" marR="64008" marT="32004" marB="32004" anchor="ctr">
                    <a:solidFill>
                      <a:srgbClr val="FFFFFF"/>
                    </a:solidFill>
                  </a:tcPr>
                </a:tc>
                <a:tc>
                  <a:txBody>
                    <a:bodyPr wrap="square"/>
                    <a:lstStyle/>
                    <a:p>
                      <a:pPr algn="l"/>
                      <a:r>
                        <a:rPr sz="1000" b="0">
                          <a:solidFill>
                            <a:srgbClr val="1C1C1E"/>
                          </a:solidFill>
                          <a:latin typeface="Calibri"/>
                        </a:rPr>
                        <a:t>a new 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the values, re-digested</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An artifact</a:t>
                      </a:r>
                    </a:p>
                  </a:txBody>
                  <a:tcPr marL="82296" marR="64008" marT="32004" marB="32004" anchor="ctr">
                    <a:solidFill>
                      <a:srgbClr val="F6F3EF"/>
                    </a:solidFill>
                  </a:tcPr>
                </a:tc>
                <a:tc>
                  <a:txBody>
                    <a:bodyPr wrap="square"/>
                    <a:lstStyle/>
                    <a:p>
                      <a:pPr algn="l"/>
                      <a:r>
                        <a:rPr sz="1000" b="0">
                          <a:solidFill>
                            <a:srgbClr val="1C1C1E"/>
                          </a:solidFill>
                          <a:latin typeface="Calibri"/>
                        </a:rPr>
                        <a:t>megabytes to gigabytes</a:t>
                      </a:r>
                    </a:p>
                  </a:txBody>
                  <a:tcPr marL="82296" marR="64008" marT="32004" marB="32004" anchor="ctr">
                    <a:solidFill>
                      <a:srgbClr val="F6F3EF"/>
                    </a:solidFill>
                  </a:tcPr>
                </a:tc>
                <a:tc>
                  <a:txBody>
                    <a:bodyPr wrap="square"/>
                    <a:lstStyle/>
                    <a:p>
                      <a:pPr algn="l"/>
                      <a:r>
                        <a:rPr sz="1000" b="0">
                          <a:solidFill>
                            <a:srgbClr val="1C1C1E"/>
                          </a:solidFill>
                          <a:latin typeface="Calibri"/>
                        </a:rPr>
                        <a:t>the content-addressed store, under data/artifacts</a:t>
                      </a:r>
                    </a:p>
                  </a:txBody>
                  <a:tcPr marL="82296" marR="64008" marT="32004" marB="32004" anchor="ctr">
                    <a:solidFill>
                      <a:srgbClr val="F6F3EF"/>
                    </a:solidFill>
                  </a:tcPr>
                </a:tc>
                <a:tc>
                  <a:txBody>
                    <a:bodyPr wrap="square"/>
                    <a:lstStyle/>
                    <a:p>
                      <a:pPr algn="l"/>
                      <a:r>
                        <a:rPr sz="1000" b="0">
                          <a:solidFill>
                            <a:srgbClr val="1C1C1E"/>
                          </a:solidFill>
                          <a:latin typeface="Calibri"/>
                        </a:rPr>
                        <a:t>a new model version</a:t>
                      </a:r>
                    </a:p>
                  </a:txBody>
                  <a:tcPr marL="82296" marR="64008" marT="32004" marB="32004" anchor="ctr">
                    <a:solidFill>
                      <a:srgbClr val="F6F3EF"/>
                    </a:solidFill>
                  </a:tcPr>
                </a:tc>
                <a:tc>
                  <a:txBody>
                    <a:bodyPr wrap="square"/>
                    <a:lstStyle/>
                    <a:p>
                      <a:pPr algn="l"/>
                      <a:r>
                        <a:rPr sz="1000" b="0">
                          <a:solidFill>
                            <a:srgbClr val="1C1C1E"/>
                          </a:solidFill>
                          <a:latin typeface="Calibri"/>
                        </a:rPr>
                        <a:t>the bytes, re-hashed</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A configuration</a:t>
                      </a:r>
                    </a:p>
                  </a:txBody>
                  <a:tcPr marL="82296" marR="64008" marT="32004" marB="32004" anchor="ctr">
                    <a:solidFill>
                      <a:srgbClr val="FFFFFF"/>
                    </a:solidFill>
                  </a:tcPr>
                </a:tc>
                <a:tc>
                  <a:txBody>
                    <a:bodyPr wrap="square"/>
                    <a:lstStyle/>
                    <a:p>
                      <a:pPr algn="l"/>
                      <a:r>
                        <a:rPr sz="1000" b="0">
                          <a:solidFill>
                            <a:srgbClr val="1C1C1E"/>
                          </a:solidFill>
                          <a:latin typeface="Calibri"/>
                        </a:rPr>
                        <a:t>a page of settings</a:t>
                      </a:r>
                    </a:p>
                  </a:txBody>
                  <a:tcPr marL="82296" marR="64008" marT="32004" marB="32004" anchor="ctr">
                    <a:solidFill>
                      <a:srgbClr val="FFFFFF"/>
                    </a:solidFill>
                  </a:tcPr>
                </a:tc>
                <a:tc>
                  <a:txBody>
                    <a:bodyPr wrap="square"/>
                    <a:lstStyle/>
                    <a:p>
                      <a:pPr algn="l"/>
                      <a:r>
                        <a:rPr sz="1000" b="0">
                          <a:solidFill>
                            <a:srgbClr val="1C1C1E"/>
                          </a:solidFill>
                          <a:latin typeface="Calibri"/>
                        </a:rPr>
                        <a:t>the register, plus artifacts for the prompt and corpus</a:t>
                      </a:r>
                    </a:p>
                  </a:txBody>
                  <a:tcPr marL="82296" marR="64008" marT="32004" marB="32004" anchor="ctr">
                    <a:solidFill>
                      <a:srgbClr val="FFFFFF"/>
                    </a:solidFill>
                  </a:tcPr>
                </a:tc>
                <a:tc>
                  <a:txBody>
                    <a:bodyPr wrap="square"/>
                    <a:lstStyle/>
                    <a:p>
                      <a:pPr algn="l"/>
                      <a:r>
                        <a:rPr sz="1000" b="0">
                          <a:solidFill>
                            <a:srgbClr val="1C1C1E"/>
                          </a:solidFill>
                          <a:latin typeface="Calibri"/>
                        </a:rPr>
                        <a:t>a new parameter set</a:t>
                      </a:r>
                    </a:p>
                  </a:txBody>
                  <a:tcPr marL="82296" marR="64008" marT="32004" marB="32004" anchor="ctr">
                    <a:solidFill>
                      <a:srgbClr val="FFFFFF"/>
                    </a:solidFill>
                  </a:tcPr>
                </a:tc>
                <a:tc>
                  <a:txBody>
                    <a:bodyPr wrap="square"/>
                    <a:lstStyle/>
                    <a:p>
                      <a:pPr algn="l"/>
                      <a:r>
                        <a:rPr sz="1000" b="0">
                          <a:solidFill>
                            <a:srgbClr val="1C1C1E"/>
                          </a:solidFill>
                          <a:latin typeface="Calibri"/>
                        </a:rPr>
                        <a:t>the assembly, field by field</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Nothing</a:t>
                      </a:r>
                    </a:p>
                  </a:txBody>
                  <a:tcPr marL="82296" marR="64008" marT="32004" marB="32004" anchor="ctr">
                    <a:solidFill>
                      <a:srgbClr val="F6F3EF"/>
                    </a:solidFill>
                  </a:tcPr>
                </a:tc>
                <a:tc>
                  <a:txBody>
                    <a:bodyPr wrap="square"/>
                    <a:lstStyle/>
                    <a:p>
                      <a:pPr algn="l"/>
                      <a:r>
                        <a:rPr sz="1000" b="0">
                          <a:solidFill>
                            <a:srgbClr val="1C1C1E"/>
                          </a:solidFill>
                          <a:latin typeface="Calibri"/>
                        </a:rPr>
                        <a:t>zero</a:t>
                      </a:r>
                    </a:p>
                  </a:txBody>
                  <a:tcPr marL="82296" marR="64008" marT="32004" marB="32004" anchor="ctr">
                    <a:solidFill>
                      <a:srgbClr val="F6F3EF"/>
                    </a:solidFill>
                  </a:tcPr>
                </a:tc>
                <a:tc>
                  <a:txBody>
                    <a:bodyPr wrap="square"/>
                    <a:lstStyle/>
                    <a:p>
                      <a:pPr algn="l"/>
                      <a:r>
                        <a:rPr sz="1000" b="0">
                          <a:solidFill>
                            <a:srgbClr val="1C1C1E"/>
                          </a:solidFill>
                          <a:latin typeface="Calibri"/>
                        </a:rPr>
                        <a:t>-</a:t>
                      </a:r>
                    </a:p>
                  </a:txBody>
                  <a:tcPr marL="82296" marR="64008" marT="32004" marB="32004" anchor="ctr">
                    <a:solidFill>
                      <a:srgbClr val="F6F3EF"/>
                    </a:solidFill>
                  </a:tcPr>
                </a:tc>
                <a:tc>
                  <a:txBody>
                    <a:bodyPr wrap="square"/>
                    <a:lstStyle/>
                    <a:p>
                      <a:pPr algn="l"/>
                      <a:r>
                        <a:rPr sz="1000" b="0">
                          <a:solidFill>
                            <a:srgbClr val="1C1C1E"/>
                          </a:solidFill>
                          <a:latin typeface="Calibri"/>
                        </a:rPr>
                        <a:t>not a thing that happens</a:t>
                      </a:r>
                    </a:p>
                  </a:txBody>
                  <a:tcPr marL="82296" marR="64008" marT="32004" marB="32004" anchor="ctr">
                    <a:solidFill>
                      <a:srgbClr val="F6F3EF"/>
                    </a:solidFill>
                  </a:tcPr>
                </a:tc>
                <a:tc>
                  <a:txBody>
                    <a:bodyPr wrap="square"/>
                    <a:lstStyle/>
                    <a:p>
                      <a:pPr algn="l"/>
                      <a:r>
                        <a:rPr sz="1000" b="0">
                          <a:solidFill>
                            <a:srgbClr val="1C1C1E"/>
                          </a:solidFill>
                          <a:latin typeface="Calibri"/>
                        </a:rPr>
                        <a:t>the inputs and the library version</a:t>
                      </a:r>
                    </a:p>
                  </a:txBody>
                  <a:tcPr marL="82296" marR="64008" marT="32004" marB="32004" anchor="ctr">
                    <a:solidFill>
                      <a:srgbClr val="F6F3EF"/>
                    </a:solidFill>
                  </a:tcPr>
                </a:tc>
              </a:tr>
            </a:tbl>
          </a:graphicData>
        </a:graphic>
      </p:graphicFrame>
      <p:sp>
        <p:nvSpPr>
          <p:cNvPr id="11" name="Rectangle 10"/>
          <p:cNvSpPr/>
          <p:nvPr/>
        </p:nvSpPr>
        <p:spPr>
          <a:xfrm>
            <a:off x="777240" y="3735070"/>
            <a:ext cx="10637215" cy="9601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735070"/>
            <a:ext cx="41148" cy="9601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3853942"/>
            <a:ext cx="10180015" cy="7406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Why the medium decides the unit of change. </a:t>
            </a:r>
            <a:r>
              <a:rPr sz="1050" b="0" i="0">
                <a:solidFill>
                  <a:srgbClr val="1C1C1E"/>
                </a:solidFill>
                <a:latin typeface="Calibri"/>
              </a:rPr>
              <a:t>For a regression the kernel is the equation and the coefficients are a point of P, so refitting moves the point. For a network the artifact IS P and is inseparably also the computation graph -- so retraining creates a new VERSION, not because it is more dangerous, but because the medium does not let the two be told apart, and pretending it does would let a graph change arrive labelled as a recalibration.</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Linear regression - the ordinary case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137</a:t>
            </a:r>
          </a:p>
        </p:txBody>
      </p:sp>
      <p:graphicFrame>
        <p:nvGraphicFramePr>
          <p:cNvPr id="10" name="Table 9"/>
          <p:cNvGraphicFramePr>
            <a:graphicFrameLocks noGrp="1"/>
          </p:cNvGraphicFramePr>
          <p:nvPr/>
        </p:nvGraphicFramePr>
        <p:xfrm>
          <a:off x="777240" y="135331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an intercept and two slopes</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register, as values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ordinary least squares</a:t>
                      </a:r>
                    </a:p>
                  </a:txBody>
                  <a:tcPr marL="82296" marR="64008" marT="32004" marB="32004" anchor="ctr">
                    <a:solidFill>
                      <a:srgbClr val="F6F3EF"/>
                    </a:solidFill>
                  </a:tcPr>
                </a:tc>
                <a:tc>
                  <a:txBody>
                    <a:bodyPr wrap="square"/>
                    <a:lstStyle/>
                    <a:p>
                      <a:pPr algn="l"/>
                      <a:r>
                        <a:rPr sz="1000" b="0">
                          <a:solidFill>
                            <a:srgbClr val="1C1C1E"/>
                          </a:solidFill>
                          <a:latin typeface="Calibri"/>
                        </a:rPr>
                        <a:t>MAYA's own estimator runtime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estimated_coefficients / estimate</a:t>
                      </a:r>
                    </a:p>
                  </a:txBody>
                  <a:tcPr marL="82296" marR="64008" marT="32004" marB="32004" anchor="ctr">
                    <a:solidFill>
                      <a:srgbClr val="FFFFFF"/>
                    </a:solidFill>
                  </a:tcPr>
                </a:tc>
                <a:tc>
                  <a:txBody>
                    <a:bodyPr wrap="square"/>
                    <a:lstStyle/>
                    <a:p>
                      <a:pPr algn="l"/>
                      <a:r>
                        <a:rPr sz="1000" b="0">
                          <a:solidFill>
                            <a:srgbClr val="1C1C1E"/>
                          </a:solidFill>
                          <a:latin typeface="Calibri"/>
                        </a:rPr>
                        <a:t>class T2,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estimator, family ols</a:t>
                      </a:r>
                    </a:p>
                  </a:txBody>
                  <a:tcPr marL="82296" marR="64008" marT="32004" marB="32004" anchor="ctr">
                    <a:solidFill>
                      <a:srgbClr val="F6F3EF"/>
                    </a:solidFill>
                  </a:tcPr>
                </a:tc>
                <a:tc>
                  <a:txBody>
                    <a:bodyPr wrap="square"/>
                    <a:lstStyle/>
                    <a:p>
                      <a:pPr algn="l"/>
                      <a:r>
                        <a:rPr sz="1000" b="0">
                          <a:solidFill>
                            <a:srgbClr val="1C1C1E"/>
                          </a:solidFill>
                          <a:latin typeface="Calibri"/>
                        </a:rPr>
                        <a:t>entry names target and regressors</a:t>
                      </a:r>
                    </a:p>
                  </a:txBody>
                  <a:tcPr marL="82296" marR="64008" marT="32004" marB="32004" anchor="ctr">
                    <a:solidFill>
                      <a:srgbClr val="F6F3EF"/>
                    </a:solidFill>
                  </a:tcPr>
                </a:tc>
              </a:tr>
            </a:tbl>
          </a:graphicData>
        </a:graphic>
      </p:graphicFrame>
      <p:sp>
        <p:nvSpPr>
          <p:cNvPr id="11" name="Rectangle 10"/>
          <p:cNvSpPr/>
          <p:nvPr/>
        </p:nvSpPr>
        <p:spPr>
          <a:xfrm>
            <a:off x="777240"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Values, digested</a:t>
            </a:r>
          </a:p>
        </p:txBody>
      </p:sp>
      <p:sp>
        <p:nvSpPr>
          <p:cNvPr id="15" name="TextBox 14"/>
          <p:cNvSpPr txBox="1"/>
          <p:nvPr/>
        </p:nvSpPr>
        <p:spPr>
          <a:xfrm>
            <a:off x="996695"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coefficients are rows. The digest is re-derived from the values at resolve time, never compared against a stored copy of itself.</a:t>
            </a:r>
          </a:p>
        </p:txBody>
      </p:sp>
      <p:sp>
        <p:nvSpPr>
          <p:cNvPr id="16" name="Rectangle 15"/>
          <p:cNvSpPr/>
          <p:nvPr/>
        </p:nvSpPr>
        <p:spPr>
          <a:xfrm>
            <a:off x="4408322"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Reviewed one by one</a:t>
            </a:r>
          </a:p>
        </p:txBody>
      </p:sp>
      <p:sp>
        <p:nvSpPr>
          <p:cNvPr id="20" name="TextBox 19"/>
          <p:cNvSpPr txBox="1"/>
          <p:nvPr/>
        </p:nvSpPr>
        <p:spPr>
          <a:xfrm>
            <a:off x="4627778"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Each parameter set is approved by somebody who did not record it. The condition number is read before the R-squared.</a:t>
            </a:r>
          </a:p>
        </p:txBody>
      </p:sp>
      <p:sp>
        <p:nvSpPr>
          <p:cNvPr id="21" name="Rectangle 20"/>
          <p:cNvSpPr/>
          <p:nvPr/>
        </p:nvSpPr>
        <p:spPr>
          <a:xfrm>
            <a:off x="8039404"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Warrant names the set</a:t>
            </a:r>
          </a:p>
        </p:txBody>
      </p:sp>
      <p:sp>
        <p:nvSpPr>
          <p:cNvPr id="25" name="TextBox 24"/>
          <p:cNvSpPr txBox="1"/>
          <p:nvPr/>
        </p:nvSpPr>
        <p:spPr>
          <a:xfrm>
            <a:off x="8258860"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descriptor carries the parameter set id and digest; an artifact binding would be a false statement, since there is no artifact.</a:t>
            </a:r>
          </a:p>
        </p:txBody>
      </p:sp>
      <p:sp>
        <p:nvSpPr>
          <p:cNvPr id="26" name="Rectangle 25"/>
          <p:cNvSpPr/>
          <p:nvPr/>
        </p:nvSpPr>
        <p:spPr>
          <a:xfrm>
            <a:off x="777240" y="5134863"/>
            <a:ext cx="10637215" cy="61981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134863"/>
            <a:ext cx="41148" cy="61981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253735"/>
            <a:ext cx="10180015" cy="40035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Read the condition number first. </a:t>
            </a:r>
            <a:r>
              <a:rPr sz="1050" b="0" i="0">
                <a:solidFill>
                  <a:srgbClr val="1C1C1E"/>
                </a:solidFill>
                <a:latin typeface="Calibri"/>
              </a:rPr>
              <a:t>In the thousands, the coefficients are a solution to this sample rather than a property of the world. MAYA does not decide whether a fit is any good -- it puts the number in front of somebody who can, and records that they looked.</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GARCH and ARIMA - an iterative fit, and state at scoring time</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138</a:t>
            </a:r>
          </a:p>
        </p:txBody>
      </p:sp>
      <p:graphicFrame>
        <p:nvGraphicFramePr>
          <p:cNvPr id="10" name="Table 9"/>
          <p:cNvGraphicFramePr>
            <a:graphicFrameLocks noGrp="1"/>
          </p:cNvGraphicFramePr>
          <p:nvPr/>
        </p:nvGraphicFramePr>
        <p:xfrm>
          <a:off x="777240" y="176479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omega, alpha, beta</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register, as values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maximum likelihood, iteratively</a:t>
                      </a:r>
                    </a:p>
                  </a:txBody>
                  <a:tcPr marL="82296" marR="64008" marT="32004" marB="32004" anchor="ctr">
                    <a:solidFill>
                      <a:srgbClr val="F6F3EF"/>
                    </a:solidFill>
                  </a:tcPr>
                </a:tc>
                <a:tc>
                  <a:txBody>
                    <a:bodyPr wrap="square"/>
                    <a:lstStyle/>
                    <a:p>
                      <a:pPr algn="l"/>
                      <a:r>
                        <a:rPr sz="1000" b="0">
                          <a:solidFill>
                            <a:srgbClr val="1C1C1E"/>
                          </a:solidFill>
                          <a:latin typeface="Calibri"/>
                        </a:rPr>
                        <a:t>estimator, family garch11</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estimated_coefficients / estimate</a:t>
                      </a:r>
                    </a:p>
                  </a:txBody>
                  <a:tcPr marL="82296" marR="64008" marT="32004" marB="32004" anchor="ctr">
                    <a:solidFill>
                      <a:srgbClr val="FFFFFF"/>
                    </a:solidFill>
                  </a:tcPr>
                </a:tc>
                <a:tc>
                  <a:txBody>
                    <a:bodyPr wrap="square"/>
                    <a:lstStyle/>
                    <a:p>
                      <a:pPr algn="l"/>
                      <a:r>
                        <a:rPr sz="1000" b="0">
                          <a:solidFill>
                            <a:srgbClr val="1C1C1E"/>
                          </a:solidFill>
                          <a:latin typeface="Calibri"/>
                        </a:rPr>
                        <a:t>class T2,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The catch</a:t>
                      </a:r>
                    </a:p>
                  </a:txBody>
                  <a:tcPr marL="82296" marR="64008" marT="32004" marB="32004" anchor="ctr">
                    <a:solidFill>
                      <a:srgbClr val="F6F3EF"/>
                    </a:solidFill>
                  </a:tcPr>
                </a:tc>
                <a:tc>
                  <a:txBody>
                    <a:bodyPr wrap="square"/>
                    <a:lstStyle/>
                    <a:p>
                      <a:pPr algn="l"/>
                      <a:r>
                        <a:rPr sz="1000" b="0">
                          <a:solidFill>
                            <a:srgbClr val="1C1C1E"/>
                          </a:solidFill>
                          <a:latin typeface="Calibri"/>
                        </a:rPr>
                        <a:t>it can fail while looking like it succeeded</a:t>
                      </a:r>
                    </a:p>
                  </a:txBody>
                  <a:tcPr marL="82296" marR="64008" marT="32004" marB="32004" anchor="ctr">
                    <a:solidFill>
                      <a:srgbClr val="F6F3EF"/>
                    </a:solidFill>
                  </a:tcPr>
                </a:tc>
                <a:tc>
                  <a:txBody>
                    <a:bodyPr wrap="square"/>
                    <a:lstStyle/>
                    <a:p>
                      <a:pPr algn="l"/>
                      <a:r>
                        <a:rPr sz="1000" b="0">
                          <a:solidFill>
                            <a:srgbClr val="1C1C1E"/>
                          </a:solidFill>
                          <a:latin typeface="Calibri"/>
                        </a:rPr>
                        <a:t>an unconverged fit is refused, not flagged</a:t>
                      </a:r>
                    </a:p>
                  </a:txBody>
                  <a:tcPr marL="82296" marR="64008" marT="32004" marB="32004" anchor="ctr">
                    <a:solidFill>
                      <a:srgbClr val="F6F3EF"/>
                    </a:solidFill>
                  </a:tcPr>
                </a:tc>
              </a:tr>
            </a:tbl>
          </a:graphicData>
        </a:graphic>
      </p:graphicFrame>
      <p:sp>
        <p:nvSpPr>
          <p:cNvPr id="11" name="Rectangle 10"/>
          <p:cNvSpPr/>
          <p:nvPr/>
        </p:nvSpPr>
        <p:spPr>
          <a:xfrm>
            <a:off x="777240"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409244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Values, plus convergence</a:t>
            </a:r>
          </a:p>
        </p:txBody>
      </p:sp>
      <p:sp>
        <p:nvSpPr>
          <p:cNvPr id="15" name="TextBox 14"/>
          <p:cNvSpPr txBox="1"/>
          <p:nvPr/>
        </p:nvSpPr>
        <p:spPr>
          <a:xfrm>
            <a:off x="996695" y="4389120"/>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Iterations, log-likelihood and persistence are part of the result. A result that does not carry them is not reviewable.</a:t>
            </a:r>
          </a:p>
        </p:txBody>
      </p:sp>
      <p:sp>
        <p:nvSpPr>
          <p:cNvPr id="16" name="Rectangle 15"/>
          <p:cNvSpPr/>
          <p:nvPr/>
        </p:nvSpPr>
        <p:spPr>
          <a:xfrm>
            <a:off x="4408322"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409244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Constrained during the fit</a:t>
            </a:r>
          </a:p>
        </p:txBody>
      </p:sp>
      <p:sp>
        <p:nvSpPr>
          <p:cNvPr id="20" name="TextBox 19"/>
          <p:cNvSpPr txBox="1"/>
          <p:nvPr/>
        </p:nvSpPr>
        <p:spPr>
          <a:xfrm>
            <a:off x="4627778" y="4389120"/>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alpha + beta &lt; 1 is enforced while solving. Without it there is no unconditional variance and the forecast explodes.</a:t>
            </a:r>
          </a:p>
        </p:txBody>
      </p:sp>
      <p:sp>
        <p:nvSpPr>
          <p:cNvPr id="21" name="Rectangle 20"/>
          <p:cNvSpPr/>
          <p:nvPr/>
        </p:nvSpPr>
        <p:spPr>
          <a:xfrm>
            <a:off x="8039404"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4092447"/>
            <a:ext cx="2936138" cy="4104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State is supplied, not invented</a:t>
            </a:r>
          </a:p>
        </p:txBody>
      </p:sp>
      <p:sp>
        <p:nvSpPr>
          <p:cNvPr id="25" name="TextBox 24"/>
          <p:cNvSpPr txBox="1"/>
          <p:nvPr/>
        </p:nvSpPr>
        <p:spPr>
          <a:xfrm>
            <a:off x="8258860" y="4566920"/>
            <a:ext cx="2936138" cy="6319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Scoring needs the last shock and last variance. The answer says which state it used and which it returns.</a:t>
            </a:r>
          </a:p>
        </p:txBody>
      </p:sp>
      <p:sp>
        <p:nvSpPr>
          <p:cNvPr id="26" name="Rectangle 25"/>
          <p:cNvSpPr/>
          <p:nvPr/>
        </p:nvSpPr>
        <p:spPr>
          <a:xfrm>
            <a:off x="777240" y="5546344"/>
            <a:ext cx="10637215" cy="697763"/>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546344"/>
            <a:ext cx="41148" cy="697763"/>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665215"/>
            <a:ext cx="10180015" cy="478307"/>
          </a:xfrm>
          <a:prstGeom prst="rect">
            <a:avLst/>
          </a:prstGeom>
          <a:noFill/>
        </p:spPr>
        <p:txBody>
          <a:bodyPr wrap="square" lIns="0" rIns="0" tIns="0" bIns="0" anchor="t">
            <a:spAutoFit/>
          </a:bodyPr>
          <a:lstStyle/>
          <a:p>
            <a:pPr algn="l">
              <a:lnSpc>
                <a:spcPct val="124000"/>
              </a:lnSpc>
              <a:spcBef>
                <a:spcPts val="0"/>
              </a:spcBef>
              <a:spcAft>
                <a:spcPts val="0"/>
              </a:spcAft>
            </a:pPr>
            <a:r>
              <a:rPr sz="850" b="1" i="0">
                <a:solidFill>
                  <a:srgbClr val="A51C30"/>
                </a:solidFill>
                <a:latin typeface="Calibri"/>
              </a:rPr>
              <a:t>ARMA, ARIMA and EGARCH sit in exactly this slot. </a:t>
            </a:r>
            <a:r>
              <a:rPr sz="850" b="0" i="0">
                <a:solidFill>
                  <a:srgbClr val="1C1C1E"/>
                </a:solidFill>
                <a:latin typeface="Calibri"/>
              </a:rPr>
              <a:t>Same kind, same procedure, order (p, d, q) in the kernel entry. MAYA's captive engine implements ols and garch11 only -- fit the rest in your own engine and deliver the parameters back under the warrant. None of the governance changes, which is the point of separating the estimator from the register.</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closed-form pricer - where P is empty</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139</a:t>
            </a:r>
          </a:p>
        </p:txBody>
      </p:sp>
      <p:graphicFrame>
        <p:nvGraphicFramePr>
          <p:cNvPr id="10" name="Table 9"/>
          <p:cNvGraphicFramePr>
            <a:graphicFrameLocks noGrp="1"/>
          </p:cNvGraphicFramePr>
          <p:nvPr/>
        </p:nvGraphicFramePr>
        <p:xfrm>
          <a:off x="777240" y="135331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empty. P = I, the terminal object</a:t>
                      </a:r>
                    </a:p>
                  </a:txBody>
                  <a:tcPr marL="82296" marR="64008" marT="32004" marB="32004" anchor="ctr">
                    <a:solidFill>
                      <a:srgbClr val="FFFFFF"/>
                    </a:solidFill>
                  </a:tcPr>
                </a:tc>
                <a:tc>
                  <a:txBody>
                    <a:bodyPr wrap="square"/>
                    <a:lstStyle/>
                    <a:p>
                      <a:pPr algn="l"/>
                      <a:r>
                        <a:rPr sz="1000" b="0">
                          <a:solidFill>
                            <a:srgbClr val="1C1C1E"/>
                          </a:solidFill>
                          <a:latin typeface="Calibri"/>
                        </a:rPr>
                        <a:t>nothing is stored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it isn't</a:t>
                      </a:r>
                    </a:p>
                  </a:txBody>
                  <a:tcPr marL="82296" marR="64008" marT="32004" marB="32004" anchor="ctr">
                    <a:solidFill>
                      <a:srgbClr val="F6F3EF"/>
                    </a:solidFill>
                  </a:tcPr>
                </a:tc>
                <a:tc>
                  <a:txBody>
                    <a:bodyPr wrap="square"/>
                    <a:lstStyle/>
                    <a:p>
                      <a:pPr algn="l"/>
                      <a:r>
                        <a:rPr sz="1000" b="0">
                          <a:solidFill>
                            <a:srgbClr val="1C1C1E"/>
                          </a:solidFill>
                          <a:latin typeface="Calibri"/>
                        </a:rPr>
                        <a:t>a fit warrant is refused: nothing_to_fit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none / none</a:t>
                      </a:r>
                    </a:p>
                  </a:txBody>
                  <a:tcPr marL="82296" marR="64008" marT="32004" marB="32004" anchor="ctr">
                    <a:solidFill>
                      <a:srgbClr val="FFFFFF"/>
                    </a:solidFill>
                  </a:tcPr>
                </a:tc>
                <a:tc>
                  <a:txBody>
                    <a:bodyPr wrap="square"/>
                    <a:lstStyle/>
                    <a:p>
                      <a:pPr algn="l"/>
                      <a:r>
                        <a:rPr sz="1000" b="0">
                          <a:solidFill>
                            <a:srgbClr val="1C1C1E"/>
                          </a:solidFill>
                          <a:latin typeface="Calibri"/>
                        </a:rPr>
                        <a:t>class T0,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quantlib</a:t>
                      </a:r>
                    </a:p>
                  </a:txBody>
                  <a:tcPr marL="82296" marR="64008" marT="32004" marB="32004" anchor="ctr">
                    <a:solidFill>
                      <a:srgbClr val="F6F3EF"/>
                    </a:solidFill>
                  </a:tcPr>
                </a:tc>
                <a:tc>
                  <a:txBody>
                    <a:bodyPr wrap="square"/>
                    <a:lstStyle/>
                    <a:p>
                      <a:pPr algn="l"/>
                      <a:r>
                        <a:rPr sz="1000" b="0">
                          <a:solidFill>
                            <a:srgbClr val="1C1C1E"/>
                          </a:solidFill>
                          <a:latin typeface="Calibri"/>
                        </a:rPr>
                        <a:t>entry names instrument and pricing engine</a:t>
                      </a:r>
                    </a:p>
                  </a:txBody>
                  <a:tcPr marL="82296" marR="64008" marT="32004" marB="32004" anchor="ctr">
                    <a:solidFill>
                      <a:srgbClr val="F6F3EF"/>
                    </a:solidFill>
                  </a:tcPr>
                </a:tc>
              </a:tr>
            </a:tbl>
          </a:graphicData>
        </a:graphic>
      </p:graphicFrame>
      <p:sp>
        <p:nvSpPr>
          <p:cNvPr id="11" name="Rectangle 10"/>
          <p:cNvSpPr/>
          <p:nvPr/>
        </p:nvSpPr>
        <p:spPr>
          <a:xfrm>
            <a:off x="777240"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Conventions, not numbers</a:t>
            </a:r>
          </a:p>
        </p:txBody>
      </p:sp>
      <p:sp>
        <p:nvSpPr>
          <p:cNvPr id="15" name="TextBox 14"/>
          <p:cNvSpPr txBox="1"/>
          <p:nvPr/>
        </p:nvSpPr>
        <p:spPr>
          <a:xfrm>
            <a:off x="996695"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Day count, calendar and settlement days live in the kernel entry, immutable in the version. The library version is recorded per run.</a:t>
            </a:r>
          </a:p>
        </p:txBody>
      </p:sp>
      <p:sp>
        <p:nvSpPr>
          <p:cNvPr id="16" name="Rectangle 15"/>
          <p:cNvSpPr/>
          <p:nvPr/>
        </p:nvSpPr>
        <p:spPr>
          <a:xfrm>
            <a:off x="4408322"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Validated by benchmark</a:t>
            </a:r>
          </a:p>
        </p:txBody>
      </p:sp>
      <p:sp>
        <p:nvSpPr>
          <p:cNvPr id="20" name="TextBox 19"/>
          <p:cNvSpPr txBox="1"/>
          <p:nvPr/>
        </p:nvSpPr>
        <p:spPr>
          <a:xfrm>
            <a:off x="4627778"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Against an independent implementation across the strike and tenor grid. Backtesting has no meaning where nothing was fitted.</a:t>
            </a:r>
          </a:p>
        </p:txBody>
      </p:sp>
      <p:sp>
        <p:nvSpPr>
          <p:cNvPr id="21" name="Rectangle 20"/>
          <p:cNvSpPr/>
          <p:nvPr/>
        </p:nvSpPr>
        <p:spPr>
          <a:xfrm>
            <a:off x="8039404"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Inputs are the governed thing</a:t>
            </a:r>
          </a:p>
        </p:txBody>
      </p:sp>
      <p:sp>
        <p:nvSpPr>
          <p:cNvPr id="25" name="TextBox 24"/>
          <p:cNvSpPr txBox="1"/>
          <p:nvPr/>
        </p:nvSpPr>
        <p:spPr>
          <a:xfrm>
            <a:off x="8258860"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curve, the volatility and the valuation date are pinned in the warrant. A date defaulted to the wall clock is refused.</a:t>
            </a:r>
          </a:p>
        </p:txBody>
      </p:sp>
      <p:sp>
        <p:nvSpPr>
          <p:cNvPr id="26" name="Rectangle 25"/>
          <p:cNvSpPr/>
          <p:nvPr/>
        </p:nvSpPr>
        <p:spPr>
          <a:xfrm>
            <a:off x="777240" y="5134863"/>
            <a:ext cx="10637215" cy="8017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134863"/>
            <a:ext cx="41148" cy="8017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253735"/>
            <a:ext cx="10180015" cy="5822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risk moved from the model to its domain of applicability. </a:t>
            </a:r>
            <a:r>
              <a:rPr sz="1050" b="0" i="0">
                <a:solidFill>
                  <a:srgbClr val="1C1C1E"/>
                </a:solidFill>
                <a:latin typeface="Calibri"/>
              </a:rPr>
              <a:t>There is no performance to decay, because nothing was fitted. What can go wrong is use outside the envelope it was benchmarked in -- so the monitor watches the inputs, and a breach is a finding against the USE rather than against the mathematics.</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calibrated term-structure model - daily, by exception</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140</a:t>
            </a:r>
          </a:p>
        </p:txBody>
      </p:sp>
      <p:graphicFrame>
        <p:nvGraphicFramePr>
          <p:cNvPr id="10" name="Table 9"/>
          <p:cNvGraphicFramePr>
            <a:graphicFrameLocks noGrp="1"/>
          </p:cNvGraphicFramePr>
          <p:nvPr/>
        </p:nvGraphicFramePr>
        <p:xfrm>
          <a:off x="777240" y="176479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mean reversion, a term structure of sigma</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register, one set per day</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a solver, against the swaption grid</a:t>
                      </a:r>
                    </a:p>
                  </a:txBody>
                  <a:tcPr marL="82296" marR="64008" marT="32004" marB="32004" anchor="ctr">
                    <a:solidFill>
                      <a:srgbClr val="F6F3EF"/>
                    </a:solidFill>
                  </a:tcPr>
                </a:tc>
                <a:tc>
                  <a:txBody>
                    <a:bodyPr wrap="square"/>
                    <a:lstStyle/>
                    <a:p>
                      <a:pPr algn="l"/>
                      <a:r>
                        <a:rPr sz="1000" b="0">
                          <a:solidFill>
                            <a:srgbClr val="1C1C1E"/>
                          </a:solidFill>
                          <a:latin typeface="Calibri"/>
                        </a:rPr>
                        <a:t>the bank's engine, under a fit warrant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calibration_set / calibrate</a:t>
                      </a:r>
                    </a:p>
                  </a:txBody>
                  <a:tcPr marL="82296" marR="64008" marT="32004" marB="32004" anchor="ctr">
                    <a:solidFill>
                      <a:srgbClr val="FFFFFF"/>
                    </a:solidFill>
                  </a:tcPr>
                </a:tc>
                <a:tc>
                  <a:txBody>
                    <a:bodyPr wrap="square"/>
                    <a:lstStyle/>
                    <a:p>
                      <a:pPr algn="l"/>
                      <a:r>
                        <a:rPr sz="1000" b="0">
                          <a:solidFill>
                            <a:srgbClr val="1C1C1E"/>
                          </a:solidFill>
                          <a:latin typeface="Calibri"/>
                        </a:rPr>
                        <a:t>class T1,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Cadence</a:t>
                      </a:r>
                    </a:p>
                  </a:txBody>
                  <a:tcPr marL="82296" marR="64008" marT="32004" marB="32004" anchor="ctr">
                    <a:solidFill>
                      <a:srgbClr val="F6F3EF"/>
                    </a:solidFill>
                  </a:tcPr>
                </a:tc>
                <a:tc>
                  <a:txBody>
                    <a:bodyPr wrap="square"/>
                    <a:lstStyle/>
                    <a:p>
                      <a:pPr algn="l"/>
                      <a:r>
                        <a:rPr sz="1000" b="0">
                          <a:solidFill>
                            <a:srgbClr val="1C1C1E"/>
                          </a:solidFill>
                          <a:latin typeface="Calibri"/>
                        </a:rPr>
                        <a:t>every morning</a:t>
                      </a:r>
                    </a:p>
                  </a:txBody>
                  <a:tcPr marL="82296" marR="64008" marT="32004" marB="32004" anchor="ctr">
                    <a:solidFill>
                      <a:srgbClr val="F6F3EF"/>
                    </a:solidFill>
                  </a:tcPr>
                </a:tc>
                <a:tc>
                  <a:txBody>
                    <a:bodyPr wrap="square"/>
                    <a:lstStyle/>
                    <a:p>
                      <a:pPr algn="l"/>
                      <a:r>
                        <a:rPr sz="1000" b="0">
                          <a:solidFill>
                            <a:srgbClr val="1C1C1E"/>
                          </a:solidFill>
                          <a:latin typeface="Calibri"/>
                        </a:rPr>
                        <a:t>250 parameter sets, one approved kernel</a:t>
                      </a:r>
                    </a:p>
                  </a:txBody>
                  <a:tcPr marL="82296" marR="64008" marT="32004" marB="32004" anchor="ctr">
                    <a:solidFill>
                      <a:srgbClr val="F6F3EF"/>
                    </a:solidFill>
                  </a:tcPr>
                </a:tc>
              </a:tr>
            </a:tbl>
          </a:graphicData>
        </a:graphic>
      </p:graphicFrame>
      <p:sp>
        <p:nvSpPr>
          <p:cNvPr id="11" name="Rectangle 10"/>
          <p:cNvSpPr/>
          <p:nvPr/>
        </p:nvSpPr>
        <p:spPr>
          <a:xfrm>
            <a:off x="777240"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409244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A set per business day</a:t>
            </a:r>
          </a:p>
        </p:txBody>
      </p:sp>
      <p:sp>
        <p:nvSpPr>
          <p:cNvPr id="15" name="TextBox 14"/>
          <p:cNvSpPr txBox="1"/>
          <p:nvPr/>
        </p:nvSpPr>
        <p:spPr>
          <a:xfrm>
            <a:off x="996695" y="4389120"/>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provenance = calibrated: the numbers reproduce a market rather than summarise a history, and every downstream reader branches on that.</a:t>
            </a:r>
          </a:p>
        </p:txBody>
      </p:sp>
      <p:sp>
        <p:nvSpPr>
          <p:cNvPr id="16" name="Rectangle 15"/>
          <p:cNvSpPr/>
          <p:nvPr/>
        </p:nvSpPr>
        <p:spPr>
          <a:xfrm>
            <a:off x="4408322"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409244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Approved by envelope</a:t>
            </a:r>
          </a:p>
        </p:txBody>
      </p:sp>
      <p:sp>
        <p:nvSpPr>
          <p:cNvPr id="20" name="TextBox 19"/>
          <p:cNvSpPr txBox="1"/>
          <p:nvPr/>
        </p:nvSpPr>
        <p:spPr>
          <a:xfrm>
            <a:off x="4627778" y="4389120"/>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A published, versioned, case-tested policy accepts what fits and holds what does not. A gate with no refusing case is refused at publication.</a:t>
            </a:r>
          </a:p>
        </p:txBody>
      </p:sp>
      <p:sp>
        <p:nvSpPr>
          <p:cNvPr id="21" name="Rectangle 20"/>
          <p:cNvSpPr/>
          <p:nvPr/>
        </p:nvSpPr>
        <p:spPr>
          <a:xfrm>
            <a:off x="8039404" y="359867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59867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818128"/>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409244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Residuals, not accuracy</a:t>
            </a:r>
          </a:p>
        </p:txBody>
      </p:sp>
      <p:sp>
        <p:nvSpPr>
          <p:cNvPr id="25" name="TextBox 24"/>
          <p:cNvSpPr txBox="1"/>
          <p:nvPr/>
        </p:nvSpPr>
        <p:spPr>
          <a:xfrm>
            <a:off x="8258860" y="4389120"/>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There is no label to wait for. A climbing RMSE means the one-factor form is running out of grid -- a model finding, not a bad day.</a:t>
            </a:r>
          </a:p>
        </p:txBody>
      </p:sp>
      <p:sp>
        <p:nvSpPr>
          <p:cNvPr id="26" name="Rectangle 25"/>
          <p:cNvSpPr/>
          <p:nvPr/>
        </p:nvSpPr>
        <p:spPr>
          <a:xfrm>
            <a:off x="777240" y="5546344"/>
            <a:ext cx="10637215" cy="611149"/>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546344"/>
            <a:ext cx="41148" cy="61114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665215"/>
            <a:ext cx="10180015" cy="391693"/>
          </a:xfrm>
          <a:prstGeom prst="rect">
            <a:avLst/>
          </a:prstGeom>
          <a:noFill/>
        </p:spPr>
        <p:txBody>
          <a:bodyPr wrap="square" lIns="0" rIns="0" tIns="0" bIns="0" anchor="t">
            <a:spAutoFit/>
          </a:bodyPr>
          <a:lstStyle/>
          <a:p>
            <a:pPr algn="l">
              <a:lnSpc>
                <a:spcPct val="124000"/>
              </a:lnSpc>
              <a:spcBef>
                <a:spcPts val="0"/>
              </a:spcBef>
              <a:spcAft>
                <a:spcPts val="0"/>
              </a:spcAft>
            </a:pPr>
            <a:r>
              <a:rPr sz="1025" b="1" i="0">
                <a:solidFill>
                  <a:srgbClr val="A51C30"/>
                </a:solidFill>
                <a:latin typeface="Calibri"/>
              </a:rPr>
              <a:t>Nobody approves 250 calibrations a year. </a:t>
            </a:r>
            <a:r>
              <a:rPr sz="1025" b="0" i="0">
                <a:solidFill>
                  <a:srgbClr val="1C1C1E"/>
                </a:solidFill>
                <a:latin typeface="Calibri"/>
              </a:rPr>
              <a:t>Somebody approves the envelope once and looks at the eleven days it was breached. That is what 'recording new parameters is not a new model version' buys operationally -- and why calibrated is its own class rather than a kind of training.</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Monte Carlo engine - the seed is a parameter</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141</a:t>
            </a:r>
          </a:p>
        </p:txBody>
      </p:sp>
      <p:graphicFrame>
        <p:nvGraphicFramePr>
          <p:cNvPr id="10" name="Table 9"/>
          <p:cNvGraphicFramePr>
            <a:graphicFrameLocks noGrp="1"/>
          </p:cNvGraphicFramePr>
          <p:nvPr/>
        </p:nvGraphicFramePr>
        <p:xfrm>
          <a:off x="777240" y="135331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parameters, seed, path count, scheme, antithetic flag</a:t>
                      </a:r>
                    </a:p>
                  </a:txBody>
                  <a:tcPr marL="82296" marR="64008" marT="32004" marB="32004" anchor="ctr">
                    <a:solidFill>
                      <a:srgbClr val="FFFFFF"/>
                    </a:solidFill>
                  </a:tcPr>
                </a:tc>
                <a:tc>
                  <a:txBody>
                    <a:bodyPr wrap="square"/>
                    <a:lstStyle/>
                    <a:p>
                      <a:pPr algn="l"/>
                      <a:r>
                        <a:rPr sz="1000" b="0">
                          <a:solidFill>
                            <a:srgbClr val="1C1C1E"/>
                          </a:solidFill>
                          <a:latin typeface="Calibri"/>
                        </a:rPr>
                        <a:t>the parameter register, as values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calibration plus deliberate configuration</a:t>
                      </a:r>
                    </a:p>
                  </a:txBody>
                  <a:tcPr marL="82296" marR="64008" marT="32004" marB="32004" anchor="ctr">
                    <a:solidFill>
                      <a:srgbClr val="F6F3EF"/>
                    </a:solidFill>
                  </a:tcPr>
                </a:tc>
                <a:tc>
                  <a:txBody>
                    <a:bodyPr wrap="square"/>
                    <a:lstStyle/>
                    <a:p>
                      <a:pPr algn="l"/>
                      <a:r>
                        <a:rPr sz="1000" b="0">
                          <a:solidFill>
                            <a:srgbClr val="1C1C1E"/>
                          </a:solidFill>
                          <a:latin typeface="Calibri"/>
                        </a:rPr>
                        <a:t>the bank's engine, under a fit warrant</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calibration_set / calibrate</a:t>
                      </a:r>
                    </a:p>
                  </a:txBody>
                  <a:tcPr marL="82296" marR="64008" marT="32004" marB="32004" anchor="ctr">
                    <a:solidFill>
                      <a:srgbClr val="FFFFFF"/>
                    </a:solidFill>
                  </a:tcPr>
                </a:tc>
                <a:tc>
                  <a:txBody>
                    <a:bodyPr wrap="square"/>
                    <a:lstStyle/>
                    <a:p>
                      <a:pPr algn="l"/>
                      <a:r>
                        <a:rPr sz="1000" b="0">
                          <a:solidFill>
                            <a:srgbClr val="1C1C1E"/>
                          </a:solidFill>
                          <a:latin typeface="Calibri"/>
                        </a:rPr>
                        <a:t>class T1,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Claim checked</a:t>
                      </a:r>
                    </a:p>
                  </a:txBody>
                  <a:tcPr marL="82296" marR="64008" marT="32004" marB="32004" anchor="ctr">
                    <a:solidFill>
                      <a:srgbClr val="F6F3EF"/>
                    </a:solidFill>
                  </a:tcPr>
                </a:tc>
                <a:tc>
                  <a:txBody>
                    <a:bodyPr wrap="square"/>
                    <a:lstStyle/>
                    <a:p>
                      <a:pPr algn="l"/>
                      <a:r>
                        <a:rPr sz="1000" b="0">
                          <a:solidFill>
                            <a:srgbClr val="1C1C1E"/>
                          </a:solidFill>
                          <a:latin typeface="Calibri"/>
                        </a:rPr>
                        <a:t>deterministic = true</a:t>
                      </a:r>
                    </a:p>
                  </a:txBody>
                  <a:tcPr marL="82296" marR="64008" marT="32004" marB="32004" anchor="ctr">
                    <a:solidFill>
                      <a:srgbClr val="F6F3EF"/>
                    </a:solidFill>
                  </a:tcPr>
                </a:tc>
                <a:tc>
                  <a:txBody>
                    <a:bodyPr wrap="square"/>
                    <a:lstStyle/>
                    <a:p>
                      <a:pPr algn="l"/>
                      <a:r>
                        <a:rPr sz="1000" b="0">
                          <a:solidFill>
                            <a:srgbClr val="1C1C1E"/>
                          </a:solidFill>
                          <a:latin typeface="Calibri"/>
                        </a:rPr>
                        <a:t>L-W5: refused if no seed is bound</a:t>
                      </a:r>
                    </a:p>
                  </a:txBody>
                  <a:tcPr marL="82296" marR="64008" marT="32004" marB="32004" anchor="ctr">
                    <a:solidFill>
                      <a:srgbClr val="F6F3EF"/>
                    </a:solidFill>
                  </a:tcPr>
                </a:tc>
              </a:tr>
            </a:tbl>
          </a:graphicData>
        </a:graphic>
      </p:graphicFrame>
      <p:sp>
        <p:nvSpPr>
          <p:cNvPr id="11" name="Rectangle 10"/>
          <p:cNvSpPr/>
          <p:nvPr/>
        </p:nvSpPr>
        <p:spPr>
          <a:xfrm>
            <a:off x="777240"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Configuration is in P</a:t>
            </a:r>
          </a:p>
        </p:txBody>
      </p:sp>
      <p:sp>
        <p:nvSpPr>
          <p:cNvPr id="15" name="TextBox 14"/>
          <p:cNvSpPr txBox="1"/>
          <p:nvPr/>
        </p:nvSpPr>
        <p:spPr>
          <a:xfrm>
            <a:off x="996695"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Paths, seed, scheme and antithetic each change the answer. If they are not in P they are not in the digest, the warrant or the replay.</a:t>
            </a:r>
          </a:p>
        </p:txBody>
      </p:sp>
      <p:sp>
        <p:nvSpPr>
          <p:cNvPr id="16" name="Rectangle 15"/>
          <p:cNvSpPr/>
          <p:nvPr/>
        </p:nvSpPr>
        <p:spPr>
          <a:xfrm>
            <a:off x="4408322"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Standard error is reviewed</a:t>
            </a:r>
          </a:p>
        </p:txBody>
      </p:sp>
      <p:sp>
        <p:nvSpPr>
          <p:cNvPr id="20" name="TextBox 19"/>
          <p:cNvSpPr txBox="1"/>
          <p:nvPr/>
        </p:nvSpPr>
        <p:spPr>
          <a:xfrm>
            <a:off x="4627778"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A Monte Carlo answer is an estimate with an interval. The convergence study attaches to the parameter set as evidence with an author.</a:t>
            </a:r>
          </a:p>
        </p:txBody>
      </p:sp>
      <p:sp>
        <p:nvSpPr>
          <p:cNvPr id="21" name="Rectangle 20"/>
          <p:cNvSpPr/>
          <p:nvPr/>
        </p:nvSpPr>
        <p:spPr>
          <a:xfrm>
            <a:off x="8039404"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verb is simulate</a:t>
            </a:r>
          </a:p>
        </p:txBody>
      </p:sp>
      <p:sp>
        <p:nvSpPr>
          <p:cNvPr id="25" name="TextBox 24"/>
          <p:cNvSpPr txBox="1"/>
          <p:nvPr/>
        </p:nvSpPr>
        <p:spPr>
          <a:xfrm>
            <a:off x="8258860"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Drawing from the output distribution is a different operation from scoring. A warrant for score will not simulate.</a:t>
            </a:r>
          </a:p>
        </p:txBody>
      </p:sp>
      <p:sp>
        <p:nvSpPr>
          <p:cNvPr id="26" name="Rectangle 25"/>
          <p:cNvSpPr/>
          <p:nvPr/>
        </p:nvSpPr>
        <p:spPr>
          <a:xfrm>
            <a:off x="777240" y="5134863"/>
            <a:ext cx="10637215" cy="8017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134863"/>
            <a:ext cx="41148" cy="8017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253735"/>
            <a:ext cx="10180015" cy="5822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Eleven thousand tests could not catch it. </a:t>
            </a:r>
            <a:r>
              <a:rPr sz="1050" b="0" i="0">
                <a:solidFill>
                  <a:srgbClr val="1C1C1E"/>
                </a:solidFill>
                <a:latin typeface="Calibri"/>
              </a:rPr>
              <a:t>An engine reseeded per request instead of once at start-up passed every single-trade valuation, because a single valuation averages over paths either way. What changed was the correlation BETWEEN valuations in a netting set. No number of tests of that shape would have found it: every element of the suite had length one.</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 neural network - where P becomes an artifact</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142</a:t>
            </a:r>
          </a:p>
        </p:txBody>
      </p:sp>
      <p:graphicFrame>
        <p:nvGraphicFramePr>
          <p:cNvPr id="10" name="Table 9"/>
          <p:cNvGraphicFramePr>
            <a:graphicFrameLocks noGrp="1"/>
          </p:cNvGraphicFramePr>
          <p:nvPr/>
        </p:nvGraphicFramePr>
        <p:xfrm>
          <a:off x="777240" y="1353312"/>
          <a:ext cx="10637214" cy="1596136"/>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316738">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about 20 million weights</a:t>
                      </a:r>
                    </a:p>
                  </a:txBody>
                  <a:tcPr marL="82296" marR="64008" marT="32004" marB="32004" anchor="ctr">
                    <a:solidFill>
                      <a:srgbClr val="FFFFFF"/>
                    </a:solidFill>
                  </a:tcPr>
                </a:tc>
                <a:tc>
                  <a:txBody>
                    <a:bodyPr wrap="square"/>
                    <a:lstStyle/>
                    <a:p>
                      <a:pPr algn="l"/>
                      <a:r>
                        <a:rPr sz="1000" b="0">
                          <a:solidFill>
                            <a:srgbClr val="1C1C1E"/>
                          </a:solidFill>
                          <a:latin typeface="Calibri"/>
                        </a:rPr>
                        <a:t>data/artifacts/9f/2c/9f2c... - the file's name IS its sha256</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a training run, outside MAYA</a:t>
                      </a:r>
                    </a:p>
                  </a:txBody>
                  <a:tcPr marL="82296" marR="64008" marT="32004" marB="32004" anchor="ctr">
                    <a:solidFill>
                      <a:srgbClr val="F6F3EF"/>
                    </a:solidFill>
                  </a:tcPr>
                </a:tc>
                <a:tc>
                  <a:txBody>
                    <a:bodyPr wrap="square"/>
                    <a:lstStyle/>
                    <a:p>
                      <a:pPr algn="l"/>
                      <a:r>
                        <a:rPr sz="1000" b="0">
                          <a:solidFill>
                            <a:srgbClr val="1C1C1E"/>
                          </a:solidFill>
                          <a:latin typeface="Calibri"/>
                        </a:rPr>
                        <a:t>exported to onnx or safetensors, then uploaded</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learned_weights / train</a:t>
                      </a:r>
                    </a:p>
                  </a:txBody>
                  <a:tcPr marL="82296" marR="64008" marT="32004" marB="32004" anchor="ctr">
                    <a:solidFill>
                      <a:srgbClr val="FFFFFF"/>
                    </a:solidFill>
                  </a:tcPr>
                </a:tc>
                <a:tc>
                  <a:txBody>
                    <a:bodyPr wrap="square"/>
                    <a:lstStyle/>
                    <a:p>
                      <a:pPr algn="l"/>
                      <a:r>
                        <a:rPr sz="1000" b="0">
                          <a:solidFill>
                            <a:srgbClr val="1C1C1E"/>
                          </a:solidFill>
                          <a:latin typeface="Calibri"/>
                        </a:rPr>
                        <a:t>class T3,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onnx</a:t>
                      </a:r>
                    </a:p>
                  </a:txBody>
                  <a:tcPr marL="82296" marR="64008" marT="32004" marB="32004" anchor="ctr">
                    <a:solidFill>
                      <a:srgbClr val="F6F3EF"/>
                    </a:solidFill>
                  </a:tcPr>
                </a:tc>
                <a:tc>
                  <a:txBody>
                    <a:bodyPr wrap="square"/>
                    <a:lstStyle/>
                    <a:p>
                      <a:pPr algn="l"/>
                      <a:r>
                        <a:rPr sz="1000" b="0">
                          <a:solidFill>
                            <a:srgbClr val="1C1C1E"/>
                          </a:solidFill>
                          <a:latin typeface="Calibri"/>
                        </a:rPr>
                        <a:t>digest verified before the graph is loaded</a:t>
                      </a:r>
                    </a:p>
                  </a:txBody>
                  <a:tcPr marL="82296" marR="64008" marT="32004" marB="32004" anchor="ctr">
                    <a:solidFill>
                      <a:srgbClr val="F6F3EF"/>
                    </a:solidFill>
                  </a:tcPr>
                </a:tc>
              </a:tr>
            </a:tbl>
          </a:graphicData>
        </a:graphic>
      </p:graphicFrame>
      <p:sp>
        <p:nvSpPr>
          <p:cNvPr id="11" name="Rectangle 10"/>
          <p:cNvSpPr/>
          <p:nvPr/>
        </p:nvSpPr>
        <p:spPr>
          <a:xfrm>
            <a:off x="777240"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Content-addressed bytes</a:t>
            </a:r>
          </a:p>
        </p:txBody>
      </p:sp>
      <p:sp>
        <p:nvSpPr>
          <p:cNvPr id="15" name="TextBox 14"/>
          <p:cNvSpPr txBox="1"/>
          <p:nvPr/>
        </p:nvSpPr>
        <p:spPr>
          <a:xfrm>
            <a:off x="996695"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Same weights twice stores once; an artifact cannot be edited in place, because edited bytes are a different address.</a:t>
            </a:r>
          </a:p>
        </p:txBody>
      </p:sp>
      <p:sp>
        <p:nvSpPr>
          <p:cNvPr id="16" name="Rectangle 15"/>
          <p:cNvSpPr/>
          <p:nvPr/>
        </p:nvSpPr>
        <p:spPr>
          <a:xfrm>
            <a:off x="4408322"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Retraining is a new version</a:t>
            </a:r>
          </a:p>
        </p:txBody>
      </p:sp>
      <p:sp>
        <p:nvSpPr>
          <p:cNvPr id="20" name="TextBox 19"/>
          <p:cNvSpPr txBox="1"/>
          <p:nvPr/>
        </p:nvSpPr>
        <p:spPr>
          <a:xfrm>
            <a:off x="4627778"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The artifact is P and is also the graph. The old artifact stays, so a replay of last March still finds the file that made the decision.</a:t>
            </a:r>
          </a:p>
        </p:txBody>
      </p:sp>
      <p:sp>
        <p:nvSpPr>
          <p:cNvPr id="21" name="Rectangle 20"/>
          <p:cNvSpPr/>
          <p:nvPr/>
        </p:nvSpPr>
        <p:spPr>
          <a:xfrm>
            <a:off x="8039404" y="3187191"/>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187191"/>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406647"/>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3680967"/>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warrant says what it is</a:t>
            </a:r>
          </a:p>
        </p:txBody>
      </p:sp>
      <p:sp>
        <p:nvSpPr>
          <p:cNvPr id="25" name="TextBox 24"/>
          <p:cNvSpPr txBox="1"/>
          <p:nvPr/>
        </p:nvSpPr>
        <p:spPr>
          <a:xfrm>
            <a:off x="8258860" y="3977639"/>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Format, size, executes_on_load, held_by_maya and a fetch path. An engine holding the warrant needs nothing else.</a:t>
            </a:r>
          </a:p>
        </p:txBody>
      </p:sp>
      <p:sp>
        <p:nvSpPr>
          <p:cNvPr id="26" name="Rectangle 25"/>
          <p:cNvSpPr/>
          <p:nvPr/>
        </p:nvSpPr>
        <p:spPr>
          <a:xfrm>
            <a:off x="777240" y="5134863"/>
            <a:ext cx="10637215" cy="80170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134863"/>
            <a:ext cx="41148" cy="8017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253735"/>
            <a:ext cx="10180015" cy="58224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formats execute code when they load. </a:t>
            </a:r>
            <a:r>
              <a:rPr sz="1050" b="0" i="0">
                <a:solidFill>
                  <a:srgbClr val="1C1C1E"/>
                </a:solidFill>
                <a:latin typeface="Calibri"/>
              </a:rPr>
              <a:t>torchscript and tar carry code, so they load in the sandbox and nowhere else; onnx, safetensors, pmml, pfa, json and gguf do not. The list is closed and there is no pickle -- 'we will work it out at load time' is how a pickle gets deserialised in a control plane.</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 LLM application - where P is an assembly you configured</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143</a:t>
            </a:r>
          </a:p>
        </p:txBody>
      </p:sp>
      <p:graphicFrame>
        <p:nvGraphicFramePr>
          <p:cNvPr id="10" name="Table 9"/>
          <p:cNvGraphicFramePr>
            <a:graphicFrameLocks noGrp="1"/>
          </p:cNvGraphicFramePr>
          <p:nvPr/>
        </p:nvGraphicFramePr>
        <p:xfrm>
          <a:off x="777240" y="1764792"/>
          <a:ext cx="10637214" cy="1766570"/>
        </p:xfrm>
        <a:graphic>
          <a:graphicData uri="http://schemas.openxmlformats.org/drawingml/2006/table">
            <a:tbl>
              <a:tblPr firstRow="1">
                <a:tableStyleId>{5C22544A-7EE6-4342-B048-85BDC9FD1C3A}</a:tableStyleId>
              </a:tblPr>
              <a:tblGrid>
                <a:gridCol w="2285803"/>
                <a:gridCol w="4114446"/>
                <a:gridCol w="4236965"/>
              </a:tblGrid>
              <a:tr h="329184">
                <a:tc>
                  <a:txBody>
                    <a:bodyPr wrap="square"/>
                    <a:lstStyle/>
                    <a:p>
                      <a:pPr algn="l"/>
                      <a:r>
                        <a:rPr sz="1000" b="1">
                          <a:solidFill>
                            <a:srgbClr val="FFFFFF"/>
                          </a:solidFill>
                          <a:latin typeface="Calibri"/>
                        </a:rPr>
                        <a:t/>
                      </a:r>
                    </a:p>
                  </a:txBody>
                  <a:tcPr marL="82296" marR="64008" marT="32004" marB="32004" anchor="ctr">
                    <a:solidFill>
                      <a:srgbClr val="A51C30"/>
                    </a:solidFill>
                  </a:tcPr>
                </a:tc>
                <a:tc>
                  <a:txBody>
                    <a:bodyPr wrap="square"/>
                    <a:lstStyle/>
                    <a:p>
                      <a:pPr algn="l"/>
                      <a:r>
                        <a:rPr sz="1000" b="1">
                          <a:solidFill>
                            <a:srgbClr val="FFFFFF"/>
                          </a:solidFill>
                          <a:latin typeface="Calibri"/>
                        </a:rPr>
                        <a:t>What it is</a:t>
                      </a:r>
                    </a:p>
                  </a:txBody>
                  <a:tcPr marL="82296" marR="64008" marT="32004" marB="32004" anchor="ctr">
                    <a:solidFill>
                      <a:srgbClr val="A51C30"/>
                    </a:solidFill>
                  </a:tcPr>
                </a:tc>
                <a:tc>
                  <a:txBody>
                    <a:bodyPr wrap="square"/>
                    <a:lstStyle/>
                    <a:p>
                      <a:pPr algn="l"/>
                      <a:r>
                        <a:rPr sz="1000" b="1">
                          <a:solidFill>
                            <a:srgbClr val="FFFFFF"/>
                          </a:solidFill>
                          <a:latin typeface="Calibri"/>
                        </a:rPr>
                        <a:t>Where it lands</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P</a:t>
                      </a:r>
                    </a:p>
                  </a:txBody>
                  <a:tcPr marL="82296" marR="64008" marT="32004" marB="32004" anchor="ctr">
                    <a:solidFill>
                      <a:srgbClr val="FFFFFF"/>
                    </a:solidFill>
                  </a:tcPr>
                </a:tc>
                <a:tc>
                  <a:txBody>
                    <a:bodyPr wrap="square"/>
                    <a:lstStyle/>
                    <a:p>
                      <a:pPr algn="l"/>
                      <a:r>
                        <a:rPr sz="1000" b="0">
                          <a:solidFill>
                            <a:srgbClr val="1C1C1E"/>
                          </a:solidFill>
                          <a:latin typeface="Calibri"/>
                        </a:rPr>
                        <a:t>base model, prompt, corpus version, tools, decoding, guardrails</a:t>
                      </a:r>
                    </a:p>
                  </a:txBody>
                  <a:tcPr marL="82296" marR="64008" marT="32004" marB="32004" anchor="ctr">
                    <a:solidFill>
                      <a:srgbClr val="FFFFFF"/>
                    </a:solidFill>
                  </a:tcPr>
                </a:tc>
                <a:tc>
                  <a:txBody>
                    <a:bodyPr wrap="square"/>
                    <a:lstStyle/>
                    <a:p>
                      <a:pPr algn="l"/>
                      <a:r>
                        <a:rPr sz="1000" b="0">
                          <a:solidFill>
                            <a:srgbClr val="1C1C1E"/>
                          </a:solidFill>
                          <a:latin typeface="Calibri"/>
                        </a:rPr>
                        <a:t>the register, plus artifacts for prompt and corpus</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Filled by</a:t>
                      </a:r>
                    </a:p>
                  </a:txBody>
                  <a:tcPr marL="82296" marR="64008" marT="32004" marB="32004" anchor="ctr">
                    <a:solidFill>
                      <a:srgbClr val="F6F3EF"/>
                    </a:solidFill>
                  </a:tcPr>
                </a:tc>
                <a:tc>
                  <a:txBody>
                    <a:bodyPr wrap="square"/>
                    <a:lstStyle/>
                    <a:p>
                      <a:pPr algn="l"/>
                      <a:r>
                        <a:rPr sz="1000" b="0">
                          <a:solidFill>
                            <a:srgbClr val="1C1C1E"/>
                          </a:solidFill>
                          <a:latin typeface="Calibri"/>
                        </a:rPr>
                        <a:t>configuration and retrieval, not fitting</a:t>
                      </a:r>
                    </a:p>
                  </a:txBody>
                  <a:tcPr marL="82296" marR="64008" marT="32004" marB="32004" anchor="ctr">
                    <a:solidFill>
                      <a:srgbClr val="F6F3EF"/>
                    </a:solidFill>
                  </a:tcPr>
                </a:tc>
                <a:tc>
                  <a:txBody>
                    <a:bodyPr wrap="square"/>
                    <a:lstStyle/>
                    <a:p>
                      <a:pPr algn="l"/>
                      <a:r>
                        <a:rPr sz="1000" b="0">
                          <a:solidFill>
                            <a:srgbClr val="1C1C1E"/>
                          </a:solidFill>
                          <a:latin typeface="Calibri"/>
                        </a:rPr>
                        <a:t>provenance = declared: somebody chose these</a:t>
                      </a:r>
                    </a:p>
                  </a:txBody>
                  <a:tcPr marL="82296" marR="64008" marT="32004" marB="32004" anchor="ctr">
                    <a:solidFill>
                      <a:srgbClr val="F6F3EF"/>
                    </a:solidFill>
                  </a:tcPr>
                </a:tc>
              </a:tr>
              <a:tr h="316738">
                <a:tc>
                  <a:txBody>
                    <a:bodyPr wrap="square"/>
                    <a:lstStyle/>
                    <a:p>
                      <a:pPr algn="l"/>
                      <a:r>
                        <a:rPr sz="1000" b="1">
                          <a:solidFill>
                            <a:srgbClr val="A51C30"/>
                          </a:solidFill>
                          <a:latin typeface="Calibri"/>
                        </a:rPr>
                        <a:t>Kind / procedure</a:t>
                      </a:r>
                    </a:p>
                  </a:txBody>
                  <a:tcPr marL="82296" marR="64008" marT="32004" marB="32004" anchor="ctr">
                    <a:solidFill>
                      <a:srgbClr val="FFFFFF"/>
                    </a:solidFill>
                  </a:tcPr>
                </a:tc>
                <a:tc>
                  <a:txBody>
                    <a:bodyPr wrap="square"/>
                    <a:lstStyle/>
                    <a:p>
                      <a:pPr algn="l"/>
                      <a:r>
                        <a:rPr sz="1000" b="0">
                          <a:solidFill>
                            <a:srgbClr val="1C1C1E"/>
                          </a:solidFill>
                          <a:latin typeface="Calibri"/>
                        </a:rPr>
                        <a:t>llm_configuration / configure</a:t>
                      </a:r>
                    </a:p>
                  </a:txBody>
                  <a:tcPr marL="82296" marR="64008" marT="32004" marB="32004" anchor="ctr">
                    <a:solidFill>
                      <a:srgbClr val="FFFFFF"/>
                    </a:solidFill>
                  </a:tcPr>
                </a:tc>
                <a:tc>
                  <a:txBody>
                    <a:bodyPr wrap="square"/>
                    <a:lstStyle/>
                    <a:p>
                      <a:pPr algn="l"/>
                      <a:r>
                        <a:rPr sz="1000" b="0">
                          <a:solidFill>
                            <a:srgbClr val="1C1C1E"/>
                          </a:solidFill>
                          <a:latin typeface="Calibri"/>
                        </a:rPr>
                        <a:t>class T5, derived</a:t>
                      </a:r>
                    </a:p>
                  </a:txBody>
                  <a:tcPr marL="82296" marR="64008" marT="32004" marB="32004" anchor="ctr">
                    <a:solidFill>
                      <a:srgbClr val="FFFFFF"/>
                    </a:solidFill>
                  </a:tcPr>
                </a:tc>
              </a:tr>
              <a:tr h="316738">
                <a:tc>
                  <a:txBody>
                    <a:bodyPr wrap="square"/>
                    <a:lstStyle/>
                    <a:p>
                      <a:pPr algn="l"/>
                      <a:r>
                        <a:rPr sz="1000" b="1">
                          <a:solidFill>
                            <a:srgbClr val="A51C30"/>
                          </a:solidFill>
                          <a:latin typeface="Calibri"/>
                        </a:rPr>
                        <a:t>Runtime</a:t>
                      </a:r>
                    </a:p>
                  </a:txBody>
                  <a:tcPr marL="82296" marR="64008" marT="32004" marB="32004" anchor="ctr">
                    <a:solidFill>
                      <a:srgbClr val="F6F3EF"/>
                    </a:solidFill>
                  </a:tcPr>
                </a:tc>
                <a:tc>
                  <a:txBody>
                    <a:bodyPr wrap="square"/>
                    <a:lstStyle/>
                    <a:p>
                      <a:pPr algn="l"/>
                      <a:r>
                        <a:rPr sz="1000" b="0">
                          <a:solidFill>
                            <a:srgbClr val="1C1C1E"/>
                          </a:solidFill>
                          <a:latin typeface="Calibri"/>
                        </a:rPr>
                        <a:t>llm.prompt, or llm.agent if it acts</a:t>
                      </a:r>
                    </a:p>
                  </a:txBody>
                  <a:tcPr marL="82296" marR="64008" marT="32004" marB="32004" anchor="ctr">
                    <a:solidFill>
                      <a:srgbClr val="F6F3EF"/>
                    </a:solidFill>
                  </a:tcPr>
                </a:tc>
                <a:tc>
                  <a:txBody>
                    <a:bodyPr wrap="square"/>
                    <a:lstStyle/>
                    <a:p>
                      <a:pPr algn="l"/>
                      <a:r>
                        <a:rPr sz="1000" b="0">
                          <a:solidFill>
                            <a:srgbClr val="1C1C1E"/>
                          </a:solidFill>
                          <a:latin typeface="Calibri"/>
                        </a:rPr>
                        <a:t>stochastic: a determinism claim is refused</a:t>
                      </a:r>
                    </a:p>
                  </a:txBody>
                  <a:tcPr marL="82296" marR="64008" marT="32004" marB="32004" anchor="ctr">
                    <a:solidFill>
                      <a:srgbClr val="F6F3EF"/>
                    </a:solidFill>
                  </a:tcPr>
                </a:tc>
              </a:tr>
            </a:tbl>
          </a:graphicData>
        </a:graphic>
      </p:graphicFrame>
      <p:sp>
        <p:nvSpPr>
          <p:cNvPr id="11" name="Rectangle 10"/>
          <p:cNvSpPr/>
          <p:nvPr/>
        </p:nvSpPr>
        <p:spPr>
          <a:xfrm>
            <a:off x="777240" y="3769105"/>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3769105"/>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996695" y="3988561"/>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SAVES</a:t>
            </a:r>
          </a:p>
        </p:txBody>
      </p:sp>
      <p:sp>
        <p:nvSpPr>
          <p:cNvPr id="14" name="TextBox 13"/>
          <p:cNvSpPr txBox="1"/>
          <p:nvPr/>
        </p:nvSpPr>
        <p:spPr>
          <a:xfrm>
            <a:off x="996695" y="4262882"/>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prompt is an artifact</a:t>
            </a:r>
          </a:p>
        </p:txBody>
      </p:sp>
      <p:sp>
        <p:nvSpPr>
          <p:cNvPr id="15" name="TextBox 14"/>
          <p:cNvSpPr txBox="1"/>
          <p:nvPr/>
        </p:nvSpPr>
        <p:spPr>
          <a:xfrm>
            <a:off x="996695" y="4559554"/>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Stored, hashed, named by hash. A prompt edited in a config file is a model change that left no trace, and this is where that stops.</a:t>
            </a:r>
          </a:p>
        </p:txBody>
      </p:sp>
      <p:sp>
        <p:nvSpPr>
          <p:cNvPr id="16" name="Rectangle 15"/>
          <p:cNvSpPr/>
          <p:nvPr/>
        </p:nvSpPr>
        <p:spPr>
          <a:xfrm>
            <a:off x="4408322" y="3769105"/>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Rectangle 16"/>
          <p:cNvSpPr/>
          <p:nvPr/>
        </p:nvSpPr>
        <p:spPr>
          <a:xfrm>
            <a:off x="4408322" y="3769105"/>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TextBox 17"/>
          <p:cNvSpPr txBox="1"/>
          <p:nvPr/>
        </p:nvSpPr>
        <p:spPr>
          <a:xfrm>
            <a:off x="4627778" y="3988561"/>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MANAGES</a:t>
            </a:r>
          </a:p>
        </p:txBody>
      </p:sp>
      <p:sp>
        <p:nvSpPr>
          <p:cNvPr id="19" name="TextBox 18"/>
          <p:cNvSpPr txBox="1"/>
          <p:nvPr/>
        </p:nvSpPr>
        <p:spPr>
          <a:xfrm>
            <a:off x="4627778" y="4262882"/>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The base model moves</a:t>
            </a:r>
          </a:p>
        </p:txBody>
      </p:sp>
      <p:sp>
        <p:nvSpPr>
          <p:cNvPr id="20" name="TextBox 19"/>
          <p:cNvSpPr txBox="1"/>
          <p:nvPr/>
        </p:nvSpPr>
        <p:spPr>
          <a:xfrm>
            <a:off x="4627778" y="4559554"/>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Provider version is in P, so a gateway upgrade no longer matches the recorded configuration -- a finding, not a silent change.</a:t>
            </a:r>
          </a:p>
        </p:txBody>
      </p:sp>
      <p:sp>
        <p:nvSpPr>
          <p:cNvPr id="21" name="Rectangle 20"/>
          <p:cNvSpPr/>
          <p:nvPr/>
        </p:nvSpPr>
        <p:spPr>
          <a:xfrm>
            <a:off x="8039404" y="3769105"/>
            <a:ext cx="3375050" cy="178308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Rectangle 21"/>
          <p:cNvSpPr/>
          <p:nvPr/>
        </p:nvSpPr>
        <p:spPr>
          <a:xfrm>
            <a:off x="8039404" y="3769105"/>
            <a:ext cx="337505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3" name="TextBox 22"/>
          <p:cNvSpPr txBox="1"/>
          <p:nvPr/>
        </p:nvSpPr>
        <p:spPr>
          <a:xfrm>
            <a:off x="8258860" y="3988561"/>
            <a:ext cx="2936138"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SERVES</a:t>
            </a:r>
          </a:p>
        </p:txBody>
      </p:sp>
      <p:sp>
        <p:nvSpPr>
          <p:cNvPr id="24" name="TextBox 23"/>
          <p:cNvSpPr txBox="1"/>
          <p:nvPr/>
        </p:nvSpPr>
        <p:spPr>
          <a:xfrm>
            <a:off x="8258860" y="4262882"/>
            <a:ext cx="2936138" cy="232664"/>
          </a:xfrm>
          <a:prstGeom prst="rect">
            <a:avLst/>
          </a:prstGeom>
          <a:noFill/>
        </p:spPr>
        <p:txBody>
          <a:bodyPr wrap="square" lIns="0" rIns="0" tIns="0" bIns="0" anchor="t">
            <a:spAutoFit/>
          </a:bodyPr>
          <a:lstStyle/>
          <a:p>
            <a:pPr algn="l">
              <a:lnSpc>
                <a:spcPct val="112000"/>
              </a:lnSpc>
              <a:spcBef>
                <a:spcPts val="0"/>
              </a:spcBef>
              <a:spcAft>
                <a:spcPts val="0"/>
              </a:spcAft>
            </a:pPr>
            <a:r>
              <a:rPr sz="1250" b="1" i="0">
                <a:solidFill>
                  <a:srgbClr val="1C1C1E"/>
                </a:solidFill>
                <a:latin typeface="Georgia"/>
              </a:rPr>
              <a:t>Output is drafted, not decided</a:t>
            </a:r>
          </a:p>
        </p:txBody>
      </p:sp>
      <p:sp>
        <p:nvSpPr>
          <p:cNvPr id="25" name="TextBox 24"/>
          <p:cNvSpPr txBox="1"/>
          <p:nvPr/>
        </p:nvSpPr>
        <p:spPr>
          <a:xfrm>
            <a:off x="8258860" y="4559554"/>
            <a:ext cx="2936138" cy="809751"/>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Held until a person attests it, ungrounded claims dropped first, and a sample of accepted drafts pulled for review regardless.</a:t>
            </a:r>
          </a:p>
        </p:txBody>
      </p:sp>
      <p:sp>
        <p:nvSpPr>
          <p:cNvPr id="26" name="Rectangle 25"/>
          <p:cNvSpPr/>
          <p:nvPr/>
        </p:nvSpPr>
        <p:spPr>
          <a:xfrm>
            <a:off x="777240" y="5716777"/>
            <a:ext cx="10637215" cy="550519"/>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Rectangle 26"/>
          <p:cNvSpPr/>
          <p:nvPr/>
        </p:nvSpPr>
        <p:spPr>
          <a:xfrm>
            <a:off x="777240" y="5716777"/>
            <a:ext cx="41148" cy="550519"/>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8" name="TextBox 27"/>
          <p:cNvSpPr txBox="1"/>
          <p:nvPr/>
        </p:nvSpPr>
        <p:spPr>
          <a:xfrm>
            <a:off x="1014983" y="5835649"/>
            <a:ext cx="10180015" cy="331063"/>
          </a:xfrm>
          <a:prstGeom prst="rect">
            <a:avLst/>
          </a:prstGeom>
          <a:noFill/>
        </p:spPr>
        <p:txBody>
          <a:bodyPr wrap="square" lIns="0" rIns="0" tIns="0" bIns="0" anchor="t">
            <a:spAutoFit/>
          </a:bodyPr>
          <a:lstStyle/>
          <a:p>
            <a:pPr algn="l">
              <a:lnSpc>
                <a:spcPct val="124000"/>
              </a:lnSpc>
              <a:spcBef>
                <a:spcPts val="0"/>
              </a:spcBef>
              <a:spcAft>
                <a:spcPts val="0"/>
              </a:spcAft>
            </a:pPr>
            <a:r>
              <a:rPr sz="850" b="1" i="0">
                <a:solidFill>
                  <a:srgbClr val="A51C30"/>
                </a:solidFill>
                <a:latin typeface="Calibri"/>
              </a:rPr>
              <a:t>Self-hosting turns this back into the previous slide. </a:t>
            </a:r>
            <a:r>
              <a:rPr sz="850" b="0" i="0">
                <a:solidFill>
                  <a:srgbClr val="1C1C1E"/>
                </a:solidFill>
                <a:latin typeface="Calibri"/>
              </a:rPr>
              <a:t>The checkpoint goes into the artifact store as safetensors or gguf, addressed by its hash, and held_by_maya becomes true. The 8 GiB cap is deliberate: a governance platform is not a model store of last resort. An adapter is a different matter -- a LoRA is small, and it IS the thing you trained.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EVERY KIND OF MODEL</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did not have to change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24 · Every Kind of Model</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144</a:t>
            </a:r>
          </a:p>
        </p:txBody>
      </p:sp>
      <p:sp>
        <p:nvSpPr>
          <p:cNvPr id="10" name="Rectangle 9"/>
          <p:cNvSpPr/>
          <p:nvPr/>
        </p:nvSpPr>
        <p:spPr>
          <a:xfrm>
            <a:off x="777240"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One definition, seven media</a:t>
            </a:r>
          </a:p>
        </p:txBody>
      </p:sp>
      <p:sp>
        <p:nvSpPr>
          <p:cNvPr id="14" name="TextBox 13"/>
          <p:cNvSpPr txBox="1"/>
          <p:nvPr/>
        </p:nvSpPr>
        <p:spPr>
          <a:xfrm>
            <a:off x="996695" y="2157984"/>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f : P (x) X -&gt; D(Y) took a closed-form pricer, a daily calibration, a 20-million-weight network and a prompt assembly without a special case in the register.</a:t>
            </a:r>
          </a:p>
        </p:txBody>
      </p:sp>
      <p:sp>
        <p:nvSpPr>
          <p:cNvPr id="15" name="Rectangle 14"/>
          <p:cNvSpPr/>
          <p:nvPr/>
        </p:nvSpPr>
        <p:spPr>
          <a:xfrm>
            <a:off x="4414418"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14418"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33874"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4633874"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class is derived, not declared</a:t>
            </a:r>
          </a:p>
        </p:txBody>
      </p:sp>
      <p:sp>
        <p:nvSpPr>
          <p:cNvPr id="19" name="TextBox 18"/>
          <p:cNvSpPr txBox="1"/>
          <p:nvPr/>
        </p:nvSpPr>
        <p:spPr>
          <a:xfrm>
            <a:off x="4633874"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4A4F57"/>
                </a:solidFill>
                <a:latin typeface="Calibri"/>
              </a:rPr>
              <a:t>Nobody self-reported 'is this trained?'. The class falls out of how P is inhabited, which is a fact about the artifact rather than an opinion about it.</a:t>
            </a:r>
          </a:p>
        </p:txBody>
      </p:sp>
      <p:sp>
        <p:nvSpPr>
          <p:cNvPr id="20" name="Rectangle 19"/>
          <p:cNvSpPr/>
          <p:nvPr/>
        </p:nvSpPr>
        <p:spPr>
          <a:xfrm>
            <a:off x="8051596"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51596"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71052"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8271052"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unit of change follows the medium</a:t>
            </a:r>
          </a:p>
        </p:txBody>
      </p:sp>
      <p:sp>
        <p:nvSpPr>
          <p:cNvPr id="24" name="TextBox 23"/>
          <p:cNvSpPr txBox="1"/>
          <p:nvPr/>
        </p:nvSpPr>
        <p:spPr>
          <a:xfrm>
            <a:off x="8271052"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Values refit into a new parameter set; an artifact refits into a new version. That is a consequence of the medium, not a policy choice.</a:t>
            </a:r>
          </a:p>
        </p:txBody>
      </p:sp>
      <p:sp>
        <p:nvSpPr>
          <p:cNvPr id="25" name="Rectangle 24"/>
          <p:cNvSpPr/>
          <p:nvPr/>
        </p:nvSpPr>
        <p:spPr>
          <a:xfrm>
            <a:off x="777240"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96695"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996695" y="3950207"/>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Warrants did not fork</a:t>
            </a:r>
          </a:p>
        </p:txBody>
      </p:sp>
      <p:sp>
        <p:nvSpPr>
          <p:cNvPr id="29" name="TextBox 28"/>
          <p:cNvSpPr txBox="1"/>
          <p:nvPr/>
        </p:nvSpPr>
        <p:spPr>
          <a:xfrm>
            <a:off x="996695" y="4261103"/>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One grammar, four vocabularies. simulate and generate are verbs it already had, and the laws that check them are the same laws.</a:t>
            </a:r>
          </a:p>
        </p:txBody>
      </p:sp>
      <p:sp>
        <p:nvSpPr>
          <p:cNvPr id="30" name="Rectangle 29"/>
          <p:cNvSpPr/>
          <p:nvPr/>
        </p:nvSpPr>
        <p:spPr>
          <a:xfrm>
            <a:off x="4414418"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4414418"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4633874"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05</a:t>
            </a:r>
          </a:p>
        </p:txBody>
      </p:sp>
      <p:sp>
        <p:nvSpPr>
          <p:cNvPr id="33" name="TextBox 32"/>
          <p:cNvSpPr txBox="1"/>
          <p:nvPr/>
        </p:nvSpPr>
        <p:spPr>
          <a:xfrm>
            <a:off x="4633874" y="3950207"/>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Evidence is uniform</a:t>
            </a:r>
          </a:p>
        </p:txBody>
      </p:sp>
      <p:sp>
        <p:nvSpPr>
          <p:cNvPr id="34" name="TextBox 33"/>
          <p:cNvSpPr txBox="1"/>
          <p:nvPr/>
        </p:nvSpPr>
        <p:spPr>
          <a:xfrm>
            <a:off x="4633874" y="4261103"/>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The same append-only chain records a calibration, a training run and a drafted paragraph, so one query answers 'what happened to this model' across all of them.</a:t>
            </a:r>
          </a:p>
        </p:txBody>
      </p:sp>
      <p:sp>
        <p:nvSpPr>
          <p:cNvPr id="35" name="Rectangle 34"/>
          <p:cNvSpPr/>
          <p:nvPr/>
        </p:nvSpPr>
        <p:spPr>
          <a:xfrm>
            <a:off x="8051596"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8051596"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8271052"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06</a:t>
            </a:r>
          </a:p>
        </p:txBody>
      </p:sp>
      <p:sp>
        <p:nvSpPr>
          <p:cNvPr id="38" name="TextBox 37"/>
          <p:cNvSpPr txBox="1"/>
          <p:nvPr/>
        </p:nvSpPr>
        <p:spPr>
          <a:xfrm>
            <a:off x="8271052"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seventh one fitted without a redesign</a:t>
            </a:r>
          </a:p>
        </p:txBody>
      </p:sp>
      <p:sp>
        <p:nvSpPr>
          <p:cNvPr id="39" name="TextBox 38"/>
          <p:cNvSpPr txBox="1"/>
          <p:nvPr/>
        </p:nvSpPr>
        <p:spPr>
          <a:xfrm>
            <a:off x="8271052"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Which is the only evidence for the definition that counts. A taxonomy that needs a new branch per model family is a list.</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64592"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005840" y="1874519"/>
            <a:ext cx="10637215" cy="457200"/>
          </a:xfrm>
          <a:prstGeom prst="rect">
            <a:avLst/>
          </a:prstGeom>
          <a:noFill/>
        </p:spPr>
        <p:txBody>
          <a:bodyPr wrap="square" lIns="0" rIns="0" tIns="0" bIns="0" anchor="t">
            <a:spAutoFit/>
          </a:bodyPr>
          <a:lstStyle/>
          <a:p>
            <a:pPr algn="l">
              <a:spcBef>
                <a:spcPts val="0"/>
              </a:spcBef>
              <a:spcAft>
                <a:spcPts val="0"/>
              </a:spcAft>
            </a:pPr>
            <a:r>
              <a:rPr sz="1200" b="1" i="0">
                <a:solidFill>
                  <a:srgbClr val="E8B8C0"/>
                </a:solidFill>
                <a:latin typeface="Calibri"/>
              </a:rPr>
              <a:t>CHAPTER 25</a:t>
            </a:r>
          </a:p>
        </p:txBody>
      </p:sp>
      <p:sp>
        <p:nvSpPr>
          <p:cNvPr id="5" name="TextBox 4"/>
          <p:cNvSpPr txBox="1"/>
          <p:nvPr/>
        </p:nvSpPr>
        <p:spPr>
          <a:xfrm>
            <a:off x="1005840" y="2331720"/>
            <a:ext cx="6169584" cy="1188720"/>
          </a:xfrm>
          <a:prstGeom prst="rect">
            <a:avLst/>
          </a:prstGeom>
          <a:noFill/>
        </p:spPr>
        <p:txBody>
          <a:bodyPr wrap="square" lIns="0" rIns="0" tIns="0" bIns="0" anchor="t">
            <a:spAutoFit/>
          </a:bodyPr>
          <a:lstStyle/>
          <a:p>
            <a:pPr algn="l">
              <a:spcBef>
                <a:spcPts val="0"/>
              </a:spcBef>
              <a:spcAft>
                <a:spcPts val="0"/>
              </a:spcAft>
            </a:pPr>
            <a:r>
              <a:rPr sz="4600" b="0" i="0">
                <a:solidFill>
                  <a:srgbClr val="FFFFFF"/>
                </a:solidFill>
                <a:latin typeface="Georgia"/>
              </a:rPr>
              <a:t>A Worked Example</a:t>
            </a:r>
          </a:p>
        </p:txBody>
      </p:sp>
      <p:sp>
        <p:nvSpPr>
          <p:cNvPr id="6" name="Rectangle 5"/>
          <p:cNvSpPr/>
          <p:nvPr/>
        </p:nvSpPr>
        <p:spPr>
          <a:xfrm>
            <a:off x="1005840" y="3703320"/>
            <a:ext cx="137160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TextBox 6"/>
          <p:cNvSpPr txBox="1"/>
          <p:nvPr/>
        </p:nvSpPr>
        <p:spPr>
          <a:xfrm>
            <a:off x="1005840" y="3977639"/>
            <a:ext cx="6595073" cy="731520"/>
          </a:xfrm>
          <a:prstGeom prst="rect">
            <a:avLst/>
          </a:prstGeom>
          <a:noFill/>
        </p:spPr>
        <p:txBody>
          <a:bodyPr wrap="square" lIns="0" rIns="0" tIns="0" bIns="0" anchor="t">
            <a:spAutoFit/>
          </a:bodyPr>
          <a:lstStyle/>
          <a:p>
            <a:pPr algn="l">
              <a:lnSpc>
                <a:spcPct val="130000"/>
              </a:lnSpc>
              <a:spcBef>
                <a:spcPts val="0"/>
              </a:spcBef>
              <a:spcAft>
                <a:spcPts val="0"/>
              </a:spcAft>
            </a:pPr>
            <a:r>
              <a:rPr sz="1500" b="0" i="1">
                <a:solidFill>
                  <a:srgbClr val="F2D8DC"/>
                </a:solidFill>
                <a:latin typeface="Calibri"/>
              </a:rPr>
              <a:t>Real data, real fits: the S&amp;P 500 and the US unemployment rate.</a:t>
            </a:r>
          </a:p>
        </p:txBody>
      </p:sp>
      <p:sp>
        <p:nvSpPr>
          <p:cNvPr id="8" name="TextBox 7"/>
          <p:cNvSpPr txBox="1"/>
          <p:nvPr/>
        </p:nvSpPr>
        <p:spPr>
          <a:xfrm>
            <a:off x="7797802" y="1874519"/>
            <a:ext cx="3616653" cy="3108960"/>
          </a:xfrm>
          <a:prstGeom prst="rect">
            <a:avLst/>
          </a:prstGeom>
          <a:noFill/>
        </p:spPr>
        <p:txBody>
          <a:bodyPr wrap="square" lIns="0" rIns="0" tIns="0" bIns="0" anchor="t">
            <a:spAutoFit/>
          </a:bodyPr>
          <a:lstStyle/>
          <a:p>
            <a:pPr algn="l">
              <a:spcBef>
                <a:spcPts val="0"/>
              </a:spcBef>
              <a:spcAft>
                <a:spcPts val="1000"/>
              </a:spcAft>
            </a:pPr>
            <a:r>
              <a:rPr sz="950" b="1" i="0">
                <a:solidFill>
                  <a:srgbClr val="E0A8B2"/>
                </a:solidFill>
                <a:latin typeface="Calibri"/>
              </a:rPr>
              <a:t>IN THIS CHAPTER</a:t>
            </a:r>
          </a:p>
          <a:p>
            <a:pPr>
              <a:lnSpc>
                <a:spcPct val="115000"/>
              </a:lnSpc>
              <a:spcBef>
                <a:spcPts val="0"/>
              </a:spcBef>
              <a:spcAft>
                <a:spcPts val="700"/>
              </a:spcAft>
            </a:pPr>
            <a:r>
              <a:rPr sz="1150" b="0" i="0">
                <a:solidFill>
                  <a:srgbClr val="F6E6E9"/>
                </a:solidFill>
                <a:latin typeface="Calibri"/>
              </a:rPr>
              <a:t>The data, and its two clocks</a:t>
            </a:r>
          </a:p>
          <a:p>
            <a:pPr>
              <a:lnSpc>
                <a:spcPct val="115000"/>
              </a:lnSpc>
              <a:spcBef>
                <a:spcPts val="0"/>
              </a:spcBef>
              <a:spcAft>
                <a:spcPts val="700"/>
              </a:spcAft>
            </a:pPr>
            <a:r>
              <a:rPr sz="1150" b="0" i="0">
                <a:solidFill>
                  <a:srgbClr val="F6E6E9"/>
                </a:solidFill>
                <a:latin typeface="Calibri"/>
              </a:rPr>
              <a:t>The gap that is really there</a:t>
            </a:r>
          </a:p>
          <a:p>
            <a:pPr>
              <a:lnSpc>
                <a:spcPct val="115000"/>
              </a:lnSpc>
              <a:spcBef>
                <a:spcPts val="0"/>
              </a:spcBef>
              <a:spcAft>
                <a:spcPts val="700"/>
              </a:spcAft>
            </a:pPr>
            <a:r>
              <a:rPr sz="1150" b="0" i="0">
                <a:solidFill>
                  <a:srgbClr val="F6E6E9"/>
                </a:solidFill>
                <a:latin typeface="Calibri"/>
              </a:rPr>
              <a:t>Two models over one X</a:t>
            </a:r>
          </a:p>
          <a:p>
            <a:pPr>
              <a:lnSpc>
                <a:spcPct val="115000"/>
              </a:lnSpc>
              <a:spcBef>
                <a:spcPts val="0"/>
              </a:spcBef>
              <a:spcAft>
                <a:spcPts val="700"/>
              </a:spcAft>
            </a:pPr>
            <a:r>
              <a:rPr sz="1150" b="0" i="0">
                <a:solidFill>
                  <a:srgbClr val="F6E6E9"/>
                </a:solidFill>
                <a:latin typeface="Calibri"/>
              </a:rPr>
              <a:t>Extending it, and what that forces</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real series, on two different clocks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146</a:t>
            </a:r>
          </a:p>
        </p:txBody>
      </p:sp>
      <p:graphicFrame>
        <p:nvGraphicFramePr>
          <p:cNvPr id="10" name="Table 9"/>
          <p:cNvGraphicFramePr>
            <a:graphicFrameLocks noGrp="1"/>
          </p:cNvGraphicFramePr>
          <p:nvPr/>
        </p:nvGraphicFramePr>
        <p:xfrm>
          <a:off x="777240" y="1353312"/>
          <a:ext cx="4893117" cy="1785044"/>
        </p:xfrm>
        <a:graphic>
          <a:graphicData uri="http://schemas.openxmlformats.org/drawingml/2006/table">
            <a:tbl>
              <a:tblPr firstRow="1">
                <a:tableStyleId>{5C22544A-7EE6-4342-B048-85BDC9FD1C3A}</a:tableStyleId>
              </a:tblPr>
              <a:tblGrid>
                <a:gridCol w="1574307"/>
                <a:gridCol w="1148819"/>
                <a:gridCol w="1148819"/>
                <a:gridCol w="1021172"/>
              </a:tblGrid>
              <a:tr h="329184">
                <a:tc>
                  <a:txBody>
                    <a:bodyPr wrap="square"/>
                    <a:lstStyle/>
                    <a:p>
                      <a:pPr algn="l"/>
                      <a:r>
                        <a:rPr sz="850" b="1">
                          <a:solidFill>
                            <a:srgbClr val="FFFFFF"/>
                          </a:solidFill>
                          <a:latin typeface="Calibri"/>
                        </a:rPr>
                        <a:t>entity_id</a:t>
                      </a:r>
                    </a:p>
                  </a:txBody>
                  <a:tcPr marL="82296" marR="64008" marT="32004" marB="32004" anchor="ctr">
                    <a:solidFill>
                      <a:srgbClr val="A51C30"/>
                    </a:solidFill>
                  </a:tcPr>
                </a:tc>
                <a:tc>
                  <a:txBody>
                    <a:bodyPr wrap="square"/>
                    <a:lstStyle/>
                    <a:p>
                      <a:pPr algn="l"/>
                      <a:r>
                        <a:rPr sz="850" b="1">
                          <a:solidFill>
                            <a:srgbClr val="FFFFFF"/>
                          </a:solidFill>
                          <a:latin typeface="Calibri"/>
                        </a:rPr>
                        <a:t>event_ts</a:t>
                      </a:r>
                    </a:p>
                  </a:txBody>
                  <a:tcPr marL="82296" marR="64008" marT="32004" marB="32004" anchor="ctr">
                    <a:solidFill>
                      <a:srgbClr val="A51C30"/>
                    </a:solidFill>
                  </a:tcPr>
                </a:tc>
                <a:tc>
                  <a:txBody>
                    <a:bodyPr wrap="square"/>
                    <a:lstStyle/>
                    <a:p>
                      <a:pPr algn="l"/>
                      <a:r>
                        <a:rPr sz="850" b="1">
                          <a:solidFill>
                            <a:srgbClr val="FFFFFF"/>
                          </a:solidFill>
                          <a:latin typeface="Calibri"/>
                        </a:rPr>
                        <a:t>ingest_ts</a:t>
                      </a:r>
                    </a:p>
                  </a:txBody>
                  <a:tcPr marL="82296" marR="64008" marT="32004" marB="32004" anchor="ctr">
                    <a:solidFill>
                      <a:srgbClr val="A51C30"/>
                    </a:solidFill>
                  </a:tcPr>
                </a:tc>
                <a:tc>
                  <a:txBody>
                    <a:bodyPr wrap="square"/>
                    <a:lstStyle/>
                    <a:p>
                      <a:pPr algn="l"/>
                      <a:r>
                        <a:rPr sz="850" b="1">
                          <a:solidFill>
                            <a:srgbClr val="FFFFFF"/>
                          </a:solidFill>
                          <a:latin typeface="Calibri"/>
                        </a:rPr>
                        <a:t>px_close</a:t>
                      </a:r>
                    </a:p>
                  </a:txBody>
                  <a:tcPr marL="82296" marR="64008" marT="32004" marB="32004" anchor="ctr">
                    <a:solidFill>
                      <a:srgbClr val="A51C30"/>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2026-08-27</a:t>
                      </a:r>
                    </a:p>
                  </a:txBody>
                  <a:tcPr marL="82296" marR="64008" marT="32004" marB="32004" anchor="ctr">
                    <a:solidFill>
                      <a:srgbClr val="FFFFFF"/>
                    </a:solidFill>
                  </a:tcPr>
                </a:tc>
                <a:tc>
                  <a:txBody>
                    <a:bodyPr wrap="square"/>
                    <a:lstStyle/>
                    <a:p>
                      <a:pPr algn="l"/>
                      <a:r>
                        <a:rPr sz="850" b="0">
                          <a:solidFill>
                            <a:srgbClr val="1C1C1E"/>
                          </a:solidFill>
                          <a:latin typeface="Calibri"/>
                        </a:rPr>
                        <a:t>2026-08-27</a:t>
                      </a:r>
                    </a:p>
                  </a:txBody>
                  <a:tcPr marL="82296" marR="64008" marT="32004" marB="32004" anchor="ctr">
                    <a:solidFill>
                      <a:srgbClr val="FFFFFF"/>
                    </a:solidFill>
                  </a:tcPr>
                </a:tc>
                <a:tc>
                  <a:txBody>
                    <a:bodyPr wrap="square"/>
                    <a:lstStyle/>
                    <a:p>
                      <a:pPr algn="l"/>
                      <a:r>
                        <a:rPr sz="850" b="0">
                          <a:solidFill>
                            <a:srgbClr val="1C1C1E"/>
                          </a:solidFill>
                          <a:latin typeface="Calibri"/>
                        </a:rPr>
                        <a:t>7730.99</a:t>
                      </a:r>
                    </a:p>
                  </a:txBody>
                  <a:tcPr marL="82296" marR="64008" marT="32004" marB="32004" anchor="ctr">
                    <a:solidFill>
                      <a:srgbClr val="FFFFF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6F3EF"/>
                    </a:solidFill>
                  </a:tcPr>
                </a:tc>
                <a:tc>
                  <a:txBody>
                    <a:bodyPr wrap="square"/>
                    <a:lstStyle/>
                    <a:p>
                      <a:pPr algn="l"/>
                      <a:r>
                        <a:rPr sz="850" b="0">
                          <a:solidFill>
                            <a:srgbClr val="1C1C1E"/>
                          </a:solidFill>
                          <a:latin typeface="Calibri"/>
                        </a:rPr>
                        <a:t>2026-08-28</a:t>
                      </a:r>
                    </a:p>
                  </a:txBody>
                  <a:tcPr marL="82296" marR="64008" marT="32004" marB="32004" anchor="ctr">
                    <a:solidFill>
                      <a:srgbClr val="F6F3EF"/>
                    </a:solidFill>
                  </a:tcPr>
                </a:tc>
                <a:tc>
                  <a:txBody>
                    <a:bodyPr wrap="square"/>
                    <a:lstStyle/>
                    <a:p>
                      <a:pPr algn="l"/>
                      <a:r>
                        <a:rPr sz="850" b="0">
                          <a:solidFill>
                            <a:srgbClr val="1C1C1E"/>
                          </a:solidFill>
                          <a:latin typeface="Calibri"/>
                        </a:rPr>
                        <a:t>2026-08-28</a:t>
                      </a:r>
                    </a:p>
                  </a:txBody>
                  <a:tcPr marL="82296" marR="64008" marT="32004" marB="32004" anchor="ctr">
                    <a:solidFill>
                      <a:srgbClr val="F6F3EF"/>
                    </a:solidFill>
                  </a:tcPr>
                </a:tc>
                <a:tc>
                  <a:txBody>
                    <a:bodyPr wrap="square"/>
                    <a:lstStyle/>
                    <a:p>
                      <a:pPr algn="l"/>
                      <a:r>
                        <a:rPr sz="850" b="0">
                          <a:solidFill>
                            <a:srgbClr val="1C1C1E"/>
                          </a:solidFill>
                          <a:latin typeface="Calibri"/>
                        </a:rPr>
                        <a:t>7711.76</a:t>
                      </a:r>
                    </a:p>
                  </a:txBody>
                  <a:tcPr marL="82296" marR="64008" marT="32004" marB="32004" anchor="ctr">
                    <a:solidFill>
                      <a:srgbClr val="F6F3E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2026-08-31</a:t>
                      </a:r>
                    </a:p>
                  </a:txBody>
                  <a:tcPr marL="82296" marR="64008" marT="32004" marB="32004" anchor="ctr">
                    <a:solidFill>
                      <a:srgbClr val="FFFFFF"/>
                    </a:solidFill>
                  </a:tcPr>
                </a:tc>
                <a:tc>
                  <a:txBody>
                    <a:bodyPr wrap="square"/>
                    <a:lstStyle/>
                    <a:p>
                      <a:pPr algn="l"/>
                      <a:r>
                        <a:rPr sz="850" b="0">
                          <a:solidFill>
                            <a:srgbClr val="1C1C1E"/>
                          </a:solidFill>
                          <a:latin typeface="Calibri"/>
                        </a:rPr>
                        <a:t>2026-08-31</a:t>
                      </a:r>
                    </a:p>
                  </a:txBody>
                  <a:tcPr marL="82296" marR="64008" marT="32004" marB="32004" anchor="ctr">
                    <a:solidFill>
                      <a:srgbClr val="FFFFFF"/>
                    </a:solidFill>
                  </a:tcPr>
                </a:tc>
                <a:tc>
                  <a:txBody>
                    <a:bodyPr wrap="square"/>
                    <a:lstStyle/>
                    <a:p>
                      <a:pPr algn="l"/>
                      <a:r>
                        <a:rPr sz="850" b="0">
                          <a:solidFill>
                            <a:srgbClr val="1C1C1E"/>
                          </a:solidFill>
                          <a:latin typeface="Calibri"/>
                        </a:rPr>
                        <a:t>7686.14</a:t>
                      </a:r>
                    </a:p>
                  </a:txBody>
                  <a:tcPr marL="82296" marR="64008" marT="32004" marB="32004" anchor="ctr">
                    <a:solidFill>
                      <a:srgbClr val="FFFFF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6F3EF"/>
                    </a:solidFill>
                  </a:tcPr>
                </a:tc>
                <a:tc>
                  <a:txBody>
                    <a:bodyPr wrap="square"/>
                    <a:lstStyle/>
                    <a:p>
                      <a:pPr algn="l"/>
                      <a:r>
                        <a:rPr sz="850" b="0">
                          <a:solidFill>
                            <a:srgbClr val="1C1C1E"/>
                          </a:solidFill>
                          <a:latin typeface="Calibri"/>
                        </a:rPr>
                        <a:t>2026-09-01</a:t>
                      </a:r>
                    </a:p>
                  </a:txBody>
                  <a:tcPr marL="82296" marR="64008" marT="32004" marB="32004" anchor="ctr">
                    <a:solidFill>
                      <a:srgbClr val="F6F3EF"/>
                    </a:solidFill>
                  </a:tcPr>
                </a:tc>
                <a:tc>
                  <a:txBody>
                    <a:bodyPr wrap="square"/>
                    <a:lstStyle/>
                    <a:p>
                      <a:pPr algn="l"/>
                      <a:r>
                        <a:rPr sz="850" b="0">
                          <a:solidFill>
                            <a:srgbClr val="1C1C1E"/>
                          </a:solidFill>
                          <a:latin typeface="Calibri"/>
                        </a:rPr>
                        <a:t>2026-09-01</a:t>
                      </a:r>
                    </a:p>
                  </a:txBody>
                  <a:tcPr marL="82296" marR="64008" marT="32004" marB="32004" anchor="ctr">
                    <a:solidFill>
                      <a:srgbClr val="F6F3EF"/>
                    </a:solidFill>
                  </a:tcPr>
                </a:tc>
                <a:tc>
                  <a:txBody>
                    <a:bodyPr wrap="square"/>
                    <a:lstStyle/>
                    <a:p>
                      <a:pPr algn="l"/>
                      <a:r>
                        <a:rPr sz="850" b="0">
                          <a:solidFill>
                            <a:srgbClr val="1C1C1E"/>
                          </a:solidFill>
                          <a:latin typeface="Calibri"/>
                        </a:rPr>
                        <a:t>7631.47</a:t>
                      </a:r>
                    </a:p>
                  </a:txBody>
                  <a:tcPr marL="82296" marR="64008" marT="32004" marB="32004" anchor="ctr">
                    <a:solidFill>
                      <a:srgbClr val="F6F3E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2026-09-02</a:t>
                      </a:r>
                    </a:p>
                  </a:txBody>
                  <a:tcPr marL="82296" marR="64008" marT="32004" marB="32004" anchor="ctr">
                    <a:solidFill>
                      <a:srgbClr val="FFFFFF"/>
                    </a:solidFill>
                  </a:tcPr>
                </a:tc>
                <a:tc>
                  <a:txBody>
                    <a:bodyPr wrap="square"/>
                    <a:lstStyle/>
                    <a:p>
                      <a:pPr algn="l"/>
                      <a:r>
                        <a:rPr sz="850" b="0">
                          <a:solidFill>
                            <a:srgbClr val="1C1C1E"/>
                          </a:solidFill>
                          <a:latin typeface="Calibri"/>
                        </a:rPr>
                        <a:t>2026-09-02</a:t>
                      </a:r>
                    </a:p>
                  </a:txBody>
                  <a:tcPr marL="82296" marR="64008" marT="32004" marB="32004" anchor="ctr">
                    <a:solidFill>
                      <a:srgbClr val="FFFFFF"/>
                    </a:solidFill>
                  </a:tcPr>
                </a:tc>
                <a:tc>
                  <a:txBody>
                    <a:bodyPr wrap="square"/>
                    <a:lstStyle/>
                    <a:p>
                      <a:pPr algn="l"/>
                      <a:r>
                        <a:rPr sz="850" b="0">
                          <a:solidFill>
                            <a:srgbClr val="1C1C1E"/>
                          </a:solidFill>
                          <a:latin typeface="Calibri"/>
                        </a:rPr>
                        <a:t>7666.60</a:t>
                      </a:r>
                    </a:p>
                  </a:txBody>
                  <a:tcPr marL="82296" marR="64008" marT="32004" marB="32004" anchor="ctr">
                    <a:solidFill>
                      <a:srgbClr val="FFFFFF"/>
                    </a:solidFill>
                  </a:tcPr>
                </a:tc>
              </a:tr>
            </a:tbl>
          </a:graphicData>
        </a:graphic>
      </p:graphicFrame>
      <p:sp>
        <p:nvSpPr>
          <p:cNvPr id="11" name="TextBox 10"/>
          <p:cNvSpPr txBox="1"/>
          <p:nvPr/>
        </p:nvSpPr>
        <p:spPr>
          <a:xfrm>
            <a:off x="777240" y="3266376"/>
            <a:ext cx="4893118" cy="402336"/>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A51C30"/>
                </a:solidFill>
                <a:latin typeface="Calibri"/>
              </a:rPr>
              <a:t>sp500_daily.csv</a:t>
            </a:r>
            <a:r>
              <a:rPr sz="880" b="0" i="0">
                <a:solidFill>
                  <a:srgbClr val="4A4F57"/>
                </a:solidFill>
                <a:latin typeface="Calibri"/>
              </a:rPr>
              <a:t>   FRED series SP500, 258 rows. The two clocks are equal: an index close is known the day it happens.</a:t>
            </a:r>
          </a:p>
        </p:txBody>
      </p:sp>
      <p:graphicFrame>
        <p:nvGraphicFramePr>
          <p:cNvPr id="12" name="Table 11"/>
          <p:cNvGraphicFramePr>
            <a:graphicFrameLocks noGrp="1"/>
          </p:cNvGraphicFramePr>
          <p:nvPr/>
        </p:nvGraphicFramePr>
        <p:xfrm>
          <a:off x="777240" y="3705288"/>
          <a:ext cx="4893117" cy="1202700"/>
        </p:xfrm>
        <a:graphic>
          <a:graphicData uri="http://schemas.openxmlformats.org/drawingml/2006/table">
            <a:tbl>
              <a:tblPr firstRow="1">
                <a:tableStyleId>{5C22544A-7EE6-4342-B048-85BDC9FD1C3A}</a:tableStyleId>
              </a:tblPr>
              <a:tblGrid>
                <a:gridCol w="1574307"/>
                <a:gridCol w="1148819"/>
                <a:gridCol w="1148819"/>
                <a:gridCol w="1021172"/>
              </a:tblGrid>
              <a:tr h="329184">
                <a:tc>
                  <a:txBody>
                    <a:bodyPr wrap="square"/>
                    <a:lstStyle/>
                    <a:p>
                      <a:pPr algn="l"/>
                      <a:r>
                        <a:rPr sz="850" b="1">
                          <a:solidFill>
                            <a:srgbClr val="FFFFFF"/>
                          </a:solidFill>
                          <a:latin typeface="Calibri"/>
                        </a:rPr>
                        <a:t>entity_id</a:t>
                      </a:r>
                    </a:p>
                  </a:txBody>
                  <a:tcPr marL="82296" marR="64008" marT="32004" marB="32004" anchor="ctr">
                    <a:solidFill>
                      <a:srgbClr val="A51C30"/>
                    </a:solidFill>
                  </a:tcPr>
                </a:tc>
                <a:tc>
                  <a:txBody>
                    <a:bodyPr wrap="square"/>
                    <a:lstStyle/>
                    <a:p>
                      <a:pPr algn="l"/>
                      <a:r>
                        <a:rPr sz="850" b="1">
                          <a:solidFill>
                            <a:srgbClr val="FFFFFF"/>
                          </a:solidFill>
                          <a:latin typeface="Calibri"/>
                        </a:rPr>
                        <a:t>event_ts</a:t>
                      </a:r>
                    </a:p>
                  </a:txBody>
                  <a:tcPr marL="82296" marR="64008" marT="32004" marB="32004" anchor="ctr">
                    <a:solidFill>
                      <a:srgbClr val="A51C30"/>
                    </a:solidFill>
                  </a:tcPr>
                </a:tc>
                <a:tc>
                  <a:txBody>
                    <a:bodyPr wrap="square"/>
                    <a:lstStyle/>
                    <a:p>
                      <a:pPr algn="l"/>
                      <a:r>
                        <a:rPr sz="850" b="1">
                          <a:solidFill>
                            <a:srgbClr val="FFFFFF"/>
                          </a:solidFill>
                          <a:latin typeface="Calibri"/>
                        </a:rPr>
                        <a:t>ingest_ts</a:t>
                      </a:r>
                    </a:p>
                  </a:txBody>
                  <a:tcPr marL="82296" marR="64008" marT="32004" marB="32004" anchor="ctr">
                    <a:solidFill>
                      <a:srgbClr val="A51C30"/>
                    </a:solidFill>
                  </a:tcPr>
                </a:tc>
                <a:tc>
                  <a:txBody>
                    <a:bodyPr wrap="square"/>
                    <a:lstStyle/>
                    <a:p>
                      <a:pPr algn="l"/>
                      <a:r>
                        <a:rPr sz="850" b="1">
                          <a:solidFill>
                            <a:srgbClr val="FFFFFF"/>
                          </a:solidFill>
                          <a:latin typeface="Calibri"/>
                        </a:rPr>
                        <a:t>u3_rate</a:t>
                      </a:r>
                    </a:p>
                  </a:txBody>
                  <a:tcPr marL="82296" marR="64008" marT="32004" marB="32004" anchor="ctr">
                    <a:solidFill>
                      <a:srgbClr val="A51C30"/>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2026-06-30</a:t>
                      </a:r>
                    </a:p>
                  </a:txBody>
                  <a:tcPr marL="82296" marR="64008" marT="32004" marB="32004" anchor="ctr">
                    <a:solidFill>
                      <a:srgbClr val="FFFFFF"/>
                    </a:solidFill>
                  </a:tcPr>
                </a:tc>
                <a:tc>
                  <a:txBody>
                    <a:bodyPr wrap="square"/>
                    <a:lstStyle/>
                    <a:p>
                      <a:pPr algn="l"/>
                      <a:r>
                        <a:rPr sz="850" b="0">
                          <a:solidFill>
                            <a:srgbClr val="1C1C1E"/>
                          </a:solidFill>
                          <a:latin typeface="Calibri"/>
                        </a:rPr>
                        <a:t>2026-07-03</a:t>
                      </a:r>
                    </a:p>
                  </a:txBody>
                  <a:tcPr marL="82296" marR="64008" marT="32004" marB="32004" anchor="ctr">
                    <a:solidFill>
                      <a:srgbClr val="FFFFFF"/>
                    </a:solidFill>
                  </a:tcPr>
                </a:tc>
                <a:tc>
                  <a:txBody>
                    <a:bodyPr wrap="square"/>
                    <a:lstStyle/>
                    <a:p>
                      <a:pPr algn="l"/>
                      <a:r>
                        <a:rPr sz="850" b="0">
                          <a:solidFill>
                            <a:srgbClr val="1C1C1E"/>
                          </a:solidFill>
                          <a:latin typeface="Calibri"/>
                        </a:rPr>
                        <a:t>4.2</a:t>
                      </a:r>
                    </a:p>
                  </a:txBody>
                  <a:tcPr marL="82296" marR="64008" marT="32004" marB="32004" anchor="ctr">
                    <a:solidFill>
                      <a:srgbClr val="FFFFF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6F3EF"/>
                    </a:solidFill>
                  </a:tcPr>
                </a:tc>
                <a:tc>
                  <a:txBody>
                    <a:bodyPr wrap="square"/>
                    <a:lstStyle/>
                    <a:p>
                      <a:pPr algn="l"/>
                      <a:r>
                        <a:rPr sz="850" b="0">
                          <a:solidFill>
                            <a:srgbClr val="1C1C1E"/>
                          </a:solidFill>
                          <a:latin typeface="Calibri"/>
                        </a:rPr>
                        <a:t>2026-07-31</a:t>
                      </a:r>
                    </a:p>
                  </a:txBody>
                  <a:tcPr marL="82296" marR="64008" marT="32004" marB="32004" anchor="ctr">
                    <a:solidFill>
                      <a:srgbClr val="F6F3EF"/>
                    </a:solidFill>
                  </a:tcPr>
                </a:tc>
                <a:tc>
                  <a:txBody>
                    <a:bodyPr wrap="square"/>
                    <a:lstStyle/>
                    <a:p>
                      <a:pPr algn="l"/>
                      <a:r>
                        <a:rPr sz="850" b="0">
                          <a:solidFill>
                            <a:srgbClr val="1C1C1E"/>
                          </a:solidFill>
                          <a:latin typeface="Calibri"/>
                        </a:rPr>
                        <a:t>2026-08-07</a:t>
                      </a:r>
                    </a:p>
                  </a:txBody>
                  <a:tcPr marL="82296" marR="64008" marT="32004" marB="32004" anchor="ctr">
                    <a:solidFill>
                      <a:srgbClr val="F6F3EF"/>
                    </a:solidFill>
                  </a:tcPr>
                </a:tc>
                <a:tc>
                  <a:txBody>
                    <a:bodyPr wrap="square"/>
                    <a:lstStyle/>
                    <a:p>
                      <a:pPr algn="l"/>
                      <a:r>
                        <a:rPr sz="850" b="0">
                          <a:solidFill>
                            <a:srgbClr val="1C1C1E"/>
                          </a:solidFill>
                          <a:latin typeface="Calibri"/>
                        </a:rPr>
                        <a:t>4.1</a:t>
                      </a:r>
                    </a:p>
                  </a:txBody>
                  <a:tcPr marL="82296" marR="64008" marT="32004" marB="32004" anchor="ctr">
                    <a:solidFill>
                      <a:srgbClr val="F6F3EF"/>
                    </a:solidFill>
                  </a:tcPr>
                </a:tc>
              </a:tr>
              <a:tr h="291172">
                <a:tc>
                  <a:txBody>
                    <a:bodyPr wrap="square"/>
                    <a:lstStyle/>
                    <a:p>
                      <a:pPr algn="l"/>
                      <a:r>
                        <a:rPr sz="850" b="1">
                          <a:solidFill>
                            <a:srgbClr val="1C1C1E"/>
                          </a:solidFill>
                          <a:latin typeface="Calibri"/>
                        </a:rPr>
                        <a:t>us_equity_index</a:t>
                      </a:r>
                    </a:p>
                  </a:txBody>
                  <a:tcPr marL="82296" marR="64008" marT="32004" marB="32004" anchor="ctr">
                    <a:solidFill>
                      <a:srgbClr val="FFFFFF"/>
                    </a:solidFill>
                  </a:tcPr>
                </a:tc>
                <a:tc>
                  <a:txBody>
                    <a:bodyPr wrap="square"/>
                    <a:lstStyle/>
                    <a:p>
                      <a:pPr algn="l"/>
                      <a:r>
                        <a:rPr sz="850" b="0">
                          <a:solidFill>
                            <a:srgbClr val="1C1C1E"/>
                          </a:solidFill>
                          <a:latin typeface="Calibri"/>
                        </a:rPr>
                        <a:t>2026-08-31</a:t>
                      </a:r>
                    </a:p>
                  </a:txBody>
                  <a:tcPr marL="82296" marR="64008" marT="32004" marB="32004" anchor="ctr">
                    <a:solidFill>
                      <a:srgbClr val="FFFFFF"/>
                    </a:solidFill>
                  </a:tcPr>
                </a:tc>
                <a:tc>
                  <a:txBody>
                    <a:bodyPr wrap="square"/>
                    <a:lstStyle/>
                    <a:p>
                      <a:pPr algn="l"/>
                      <a:r>
                        <a:rPr sz="850" b="0">
                          <a:solidFill>
                            <a:srgbClr val="1C1C1E"/>
                          </a:solidFill>
                          <a:latin typeface="Calibri"/>
                        </a:rPr>
                        <a:t>2026-09-04</a:t>
                      </a:r>
                    </a:p>
                  </a:txBody>
                  <a:tcPr marL="82296" marR="64008" marT="32004" marB="32004" anchor="ctr">
                    <a:solidFill>
                      <a:srgbClr val="FFFFFF"/>
                    </a:solidFill>
                  </a:tcPr>
                </a:tc>
                <a:tc>
                  <a:txBody>
                    <a:bodyPr wrap="square"/>
                    <a:lstStyle/>
                    <a:p>
                      <a:pPr algn="l"/>
                      <a:r>
                        <a:rPr sz="850" b="0">
                          <a:solidFill>
                            <a:srgbClr val="1C1C1E"/>
                          </a:solidFill>
                          <a:latin typeface="Calibri"/>
                        </a:rPr>
                        <a:t>4.1</a:t>
                      </a:r>
                    </a:p>
                  </a:txBody>
                  <a:tcPr marL="82296" marR="64008" marT="32004" marB="32004" anchor="ctr">
                    <a:solidFill>
                      <a:srgbClr val="FFFFFF"/>
                    </a:solidFill>
                  </a:tcPr>
                </a:tc>
              </a:tr>
            </a:tbl>
          </a:graphicData>
        </a:graphic>
      </p:graphicFrame>
      <p:sp>
        <p:nvSpPr>
          <p:cNvPr id="13" name="TextBox 12"/>
          <p:cNvSpPr txBox="1"/>
          <p:nvPr/>
        </p:nvSpPr>
        <p:spPr>
          <a:xfrm>
            <a:off x="777240" y="5036007"/>
            <a:ext cx="4893118" cy="548640"/>
          </a:xfrm>
          <a:prstGeom prst="rect">
            <a:avLst/>
          </a:prstGeom>
          <a:noFill/>
        </p:spPr>
        <p:txBody>
          <a:bodyPr wrap="square" lIns="0" rIns="0" tIns="0" bIns="0" anchor="t">
            <a:spAutoFit/>
          </a:bodyPr>
          <a:lstStyle/>
          <a:p>
            <a:pPr algn="l">
              <a:lnSpc>
                <a:spcPct val="118000"/>
              </a:lnSpc>
              <a:spcBef>
                <a:spcPts val="0"/>
              </a:spcBef>
              <a:spcAft>
                <a:spcPts val="0"/>
              </a:spcAft>
            </a:pPr>
            <a:r>
              <a:rPr sz="880" b="1" i="0">
                <a:solidFill>
                  <a:srgbClr val="A51C30"/>
                </a:solidFill>
                <a:latin typeface="Calibri"/>
              </a:rPr>
              <a:t>us_unemployment_monthly.csv</a:t>
            </a:r>
            <a:r>
              <a:rPr sz="880" b="0" i="0">
                <a:solidFill>
                  <a:srgbClr val="4A4F57"/>
                </a:solidFill>
                <a:latin typeface="Calibri"/>
              </a:rPr>
              <a:t>   FRED series UNRATE. ingest_ts is the first Friday of the following month — the BLS release convention, computed and labelled as such rather than passed off as a fetched vintage date.</a:t>
            </a:r>
          </a:p>
        </p:txBody>
      </p:sp>
      <p:sp>
        <p:nvSpPr>
          <p:cNvPr id="14" name="TextBox 13"/>
          <p:cNvSpPr txBox="1"/>
          <p:nvPr/>
        </p:nvSpPr>
        <p:spPr>
          <a:xfrm>
            <a:off x="6095847" y="1353312"/>
            <a:ext cx="5318607" cy="310896"/>
          </a:xfrm>
          <a:prstGeom prst="rect">
            <a:avLst/>
          </a:prstGeom>
          <a:noFill/>
        </p:spPr>
        <p:txBody>
          <a:bodyPr wrap="square" lIns="0" rIns="0" tIns="0" bIns="0" anchor="t">
            <a:spAutoFit/>
          </a:bodyPr>
          <a:lstStyle/>
          <a:p>
            <a:pPr algn="l">
              <a:spcBef>
                <a:spcPts val="0"/>
              </a:spcBef>
              <a:spcAft>
                <a:spcPts val="800"/>
              </a:spcAft>
            </a:pPr>
            <a:r>
              <a:rPr sz="1300" b="1" i="0">
                <a:solidFill>
                  <a:srgbClr val="A51C30"/>
                </a:solidFill>
                <a:latin typeface="Georgia"/>
              </a:rPr>
              <a:t>August’s rate was true on the 31st and known on the 4th</a:t>
            </a:r>
          </a:p>
          <a:p>
            <a:pPr>
              <a:lnSpc>
                <a:spcPct val="125000"/>
              </a:lnSpc>
              <a:spcBef>
                <a:spcPts val="0"/>
              </a:spcBef>
              <a:spcAft>
                <a:spcPts val="1000"/>
              </a:spcAft>
            </a:pPr>
            <a:r>
              <a:rPr sz="1100" b="0" i="0">
                <a:solidFill>
                  <a:srgbClr val="1C1C1E"/>
                </a:solidFill>
                <a:latin typeface="Calibri"/>
              </a:rPr>
              <a:t>A model trained on the 1st of September using August’s figure is using a number that did not exist yet. It back-tests beautifully and disappoints in production, and no metric says why.</a:t>
            </a:r>
          </a:p>
          <a:p>
            <a:pPr>
              <a:lnSpc>
                <a:spcPct val="125000"/>
              </a:lnSpc>
              <a:spcBef>
                <a:spcPts val="0"/>
              </a:spcBef>
              <a:spcAft>
                <a:spcPts val="1000"/>
              </a:spcAft>
            </a:pPr>
            <a:r>
              <a:rPr sz="1100" b="0" i="0">
                <a:solidFill>
                  <a:srgbClr val="4A4F57"/>
                </a:solidFill>
                <a:latin typeface="Calibri"/>
              </a:rPr>
              <a:t>That is not a hypothetical about leakage. It is the ordinary shape of every macroeconomic series a bank uses — published late, revised afterwards — and it is why every row here carries two stamps rather than one.</a:t>
            </a:r>
          </a:p>
          <a:p>
            <a:pPr>
              <a:lnSpc>
                <a:spcPct val="125000"/>
              </a:lnSpc>
              <a:spcBef>
                <a:spcPts val="0"/>
              </a:spcBef>
              <a:spcAft>
                <a:spcPts val="0"/>
              </a:spcAft>
            </a:pPr>
            <a:r>
              <a:rPr sz="1100" b="1" i="0">
                <a:solidFill>
                  <a:srgbClr val="A51C30"/>
                </a:solidFill>
                <a:latin typeface="Calibri"/>
              </a:rPr>
              <a:t>Both are scalars, shape []. </a:t>
            </a:r>
            <a:r>
              <a:rPr sz="1100" b="0" i="0">
                <a:solidFill>
                  <a:srgbClr val="4A4F57"/>
                </a:solidFill>
                <a:latin typeface="Calibri"/>
              </a:rPr>
              <a:t>The curve earlier was a vector; these are not. The shape is declared either way, because a shape nobody states is a shape somebody assumes.</a:t>
            </a:r>
          </a:p>
        </p:txBody>
      </p:sp>
      <p:sp>
        <p:nvSpPr>
          <p:cNvPr id="15" name="Rectangle 14"/>
          <p:cNvSpPr/>
          <p:nvPr/>
        </p:nvSpPr>
        <p:spPr>
          <a:xfrm>
            <a:off x="6095847" y="4261104"/>
            <a:ext cx="5318607" cy="841248"/>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095847" y="4261104"/>
            <a:ext cx="41148" cy="841248"/>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6333591" y="4379976"/>
            <a:ext cx="4861407" cy="621792"/>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numbers on these slides were not invented. </a:t>
            </a:r>
            <a:r>
              <a:rPr sz="1050" b="0" i="0">
                <a:solidFill>
                  <a:srgbClr val="1C1C1E"/>
                </a:solidFill>
                <a:latin typeface="Calibri"/>
              </a:rPr>
              <a:t>Both files were pulled from FRED on 4 September 2026 and ship beside the deck in docs/examples/ — </a:t>
            </a:r>
            <a:r>
              <a:rPr sz="1050" b="1" i="0">
                <a:solidFill>
                  <a:srgbClr val="1C1C1E"/>
                </a:solidFill>
                <a:latin typeface="Calibri"/>
              </a:rPr>
              <a:t>every figure that follows was computed from them.</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gap in October is really there</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147</a:t>
            </a:r>
          </a:p>
        </p:txBody>
      </p:sp>
      <p:graphicFrame>
        <p:nvGraphicFramePr>
          <p:cNvPr id="10" name="Table 9"/>
          <p:cNvGraphicFramePr>
            <a:graphicFrameLocks noGrp="1"/>
          </p:cNvGraphicFramePr>
          <p:nvPr/>
        </p:nvGraphicFramePr>
        <p:xfrm>
          <a:off x="777240" y="1353312"/>
          <a:ext cx="6382327" cy="2427042"/>
        </p:xfrm>
        <a:graphic>
          <a:graphicData uri="http://schemas.openxmlformats.org/drawingml/2006/table">
            <a:tbl>
              <a:tblPr firstRow="1">
                <a:tableStyleId>{5C22544A-7EE6-4342-B048-85BDC9FD1C3A}</a:tableStyleId>
              </a:tblPr>
              <a:tblGrid>
                <a:gridCol w="1005811"/>
                <a:gridCol w="1417279"/>
                <a:gridCol w="1051529"/>
                <a:gridCol w="1462998"/>
                <a:gridCol w="1444710"/>
              </a:tblGrid>
              <a:tr h="329184">
                <a:tc>
                  <a:txBody>
                    <a:bodyPr wrap="square"/>
                    <a:lstStyle/>
                    <a:p>
                      <a:pPr algn="l"/>
                      <a:r>
                        <a:rPr sz="900" b="1">
                          <a:solidFill>
                            <a:srgbClr val="FFFFFF"/>
                          </a:solidFill>
                          <a:latin typeface="Calibri"/>
                        </a:rPr>
                        <a:t>month</a:t>
                      </a:r>
                    </a:p>
                  </a:txBody>
                  <a:tcPr marL="82296" marR="64008" marT="32004" marB="32004" anchor="ctr">
                    <a:solidFill>
                      <a:srgbClr val="A51C30"/>
                    </a:solidFill>
                  </a:tcPr>
                </a:tc>
                <a:tc>
                  <a:txBody>
                    <a:bodyPr wrap="square"/>
                    <a:lstStyle/>
                    <a:p>
                      <a:pPr algn="l"/>
                      <a:r>
                        <a:rPr sz="900" b="1">
                          <a:solidFill>
                            <a:srgbClr val="FFFFFF"/>
                          </a:solidFill>
                          <a:latin typeface="Calibri"/>
                        </a:rPr>
                        <a:t>S&amp;P 500 close</a:t>
                      </a:r>
                    </a:p>
                  </a:txBody>
                  <a:tcPr marL="82296" marR="64008" marT="32004" marB="32004" anchor="ctr">
                    <a:solidFill>
                      <a:srgbClr val="A51C30"/>
                    </a:solidFill>
                  </a:tcPr>
                </a:tc>
                <a:tc>
                  <a:txBody>
                    <a:bodyPr wrap="square"/>
                    <a:lstStyle/>
                    <a:p>
                      <a:pPr algn="l"/>
                      <a:r>
                        <a:rPr sz="900" b="1">
                          <a:solidFill>
                            <a:srgbClr val="FFFFFF"/>
                          </a:solidFill>
                          <a:latin typeface="Calibri"/>
                        </a:rPr>
                        <a:t>return %</a:t>
                      </a:r>
                    </a:p>
                  </a:txBody>
                  <a:tcPr marL="82296" marR="64008" marT="32004" marB="32004" anchor="ctr">
                    <a:solidFill>
                      <a:srgbClr val="A51C30"/>
                    </a:solidFill>
                  </a:tcPr>
                </a:tc>
                <a:tc>
                  <a:txBody>
                    <a:bodyPr wrap="square"/>
                    <a:lstStyle/>
                    <a:p>
                      <a:pPr algn="l"/>
                      <a:r>
                        <a:rPr sz="900" b="1">
                          <a:solidFill>
                            <a:srgbClr val="FFFFFF"/>
                          </a:solidFill>
                          <a:latin typeface="Calibri"/>
                        </a:rPr>
                        <a:t>u3 rate</a:t>
                      </a:r>
                    </a:p>
                  </a:txBody>
                  <a:tcPr marL="82296" marR="64008" marT="32004" marB="32004" anchor="ctr">
                    <a:solidFill>
                      <a:srgbClr val="A51C30"/>
                    </a:solidFill>
                  </a:tcPr>
                </a:tc>
                <a:tc>
                  <a:txBody>
                    <a:bodyPr wrap="square"/>
                    <a:lstStyle/>
                    <a:p>
                      <a:pPr algn="l"/>
                      <a:r>
                        <a:rPr sz="900" b="1">
                          <a:solidFill>
                            <a:srgbClr val="FFFFFF"/>
                          </a:solidFill>
                          <a:latin typeface="Calibri"/>
                        </a:rPr>
                        <a:t>as the set reads it</a:t>
                      </a:r>
                    </a:p>
                  </a:txBody>
                  <a:tcPr marL="82296" marR="64008" marT="32004" marB="32004" anchor="ctr">
                    <a:solidFill>
                      <a:srgbClr val="A51C30"/>
                    </a:solidFill>
                  </a:tcPr>
                </a:tc>
              </a:tr>
              <a:tr h="299694">
                <a:tc>
                  <a:txBody>
                    <a:bodyPr wrap="square"/>
                    <a:lstStyle/>
                    <a:p>
                      <a:pPr algn="l"/>
                      <a:r>
                        <a:rPr sz="900" b="1">
                          <a:solidFill>
                            <a:srgbClr val="A51C30"/>
                          </a:solidFill>
                          <a:latin typeface="Calibri"/>
                        </a:rPr>
                        <a:t>2025-09</a:t>
                      </a:r>
                    </a:p>
                  </a:txBody>
                  <a:tcPr marL="82296" marR="64008" marT="32004" marB="32004" anchor="ctr">
                    <a:solidFill>
                      <a:srgbClr val="FFFFFF"/>
                    </a:solidFill>
                  </a:tcPr>
                </a:tc>
                <a:tc>
                  <a:txBody>
                    <a:bodyPr wrap="square"/>
                    <a:lstStyle/>
                    <a:p>
                      <a:pPr algn="l"/>
                      <a:r>
                        <a:rPr sz="900" b="0">
                          <a:solidFill>
                            <a:srgbClr val="1C1C1E"/>
                          </a:solidFill>
                          <a:latin typeface="Calibri"/>
                        </a:rPr>
                        <a:t>6688.46</a:t>
                      </a:r>
                    </a:p>
                  </a:txBody>
                  <a:tcPr marL="82296" marR="64008" marT="32004" marB="32004" anchor="ctr">
                    <a:solidFill>
                      <a:srgbClr val="FFFFFF"/>
                    </a:solidFill>
                  </a:tcPr>
                </a:tc>
                <a:tc>
                  <a:txBody>
                    <a:bodyPr wrap="square"/>
                    <a:lstStyle/>
                    <a:p>
                      <a:pPr algn="l"/>
                      <a:r>
                        <a:rPr sz="900" b="0">
                          <a:solidFill>
                            <a:srgbClr val="1C1C1E"/>
                          </a:solidFill>
                          <a:latin typeface="Calibri"/>
                        </a:rPr>
                        <a:t>+3.53</a:t>
                      </a:r>
                    </a:p>
                  </a:txBody>
                  <a:tcPr marL="82296" marR="64008" marT="32004" marB="32004" anchor="ctr">
                    <a:solidFill>
                      <a:srgbClr val="FFFFFF"/>
                    </a:solidFill>
                  </a:tcPr>
                </a:tc>
                <a:tc>
                  <a:txBody>
                    <a:bodyPr wrap="square"/>
                    <a:lstStyle/>
                    <a:p>
                      <a:pPr algn="l"/>
                      <a:r>
                        <a:rPr sz="900" b="0">
                          <a:solidFill>
                            <a:srgbClr val="1C1C1E"/>
                          </a:solidFill>
                          <a:latin typeface="Calibri"/>
                        </a:rPr>
                        <a:t>4.4</a:t>
                      </a:r>
                    </a:p>
                  </a:txBody>
                  <a:tcPr marL="82296" marR="64008" marT="32004" marB="32004" anchor="ctr">
                    <a:solidFill>
                      <a:srgbClr val="FFFFFF"/>
                    </a:solidFill>
                  </a:tcPr>
                </a:tc>
                <a:tc>
                  <a:txBody>
                    <a:bodyPr wrap="square"/>
                    <a:lstStyle/>
                    <a:p>
                      <a:pPr algn="l"/>
                      <a:r>
                        <a:rPr sz="900" b="0">
                          <a:solidFill>
                            <a:srgbClr val="1C1C1E"/>
                          </a:solidFill>
                          <a:latin typeface="Calibri"/>
                        </a:rPr>
                        <a:t>4.4</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2025-10</a:t>
                      </a:r>
                    </a:p>
                  </a:txBody>
                  <a:tcPr marL="82296" marR="64008" marT="32004" marB="32004" anchor="ctr">
                    <a:solidFill>
                      <a:srgbClr val="F6F3EF"/>
                    </a:solidFill>
                  </a:tcPr>
                </a:tc>
                <a:tc>
                  <a:txBody>
                    <a:bodyPr wrap="square"/>
                    <a:lstStyle/>
                    <a:p>
                      <a:pPr algn="l"/>
                      <a:r>
                        <a:rPr sz="900" b="0">
                          <a:solidFill>
                            <a:srgbClr val="1C1C1E"/>
                          </a:solidFill>
                          <a:latin typeface="Calibri"/>
                        </a:rPr>
                        <a:t>6840.20</a:t>
                      </a:r>
                    </a:p>
                  </a:txBody>
                  <a:tcPr marL="82296" marR="64008" marT="32004" marB="32004" anchor="ctr">
                    <a:solidFill>
                      <a:srgbClr val="F6F3EF"/>
                    </a:solidFill>
                  </a:tcPr>
                </a:tc>
                <a:tc>
                  <a:txBody>
                    <a:bodyPr wrap="square"/>
                    <a:lstStyle/>
                    <a:p>
                      <a:pPr algn="l"/>
                      <a:r>
                        <a:rPr sz="900" b="0">
                          <a:solidFill>
                            <a:srgbClr val="1C1C1E"/>
                          </a:solidFill>
                          <a:latin typeface="Calibri"/>
                        </a:rPr>
                        <a:t>+2.27</a:t>
                      </a:r>
                    </a:p>
                  </a:txBody>
                  <a:tcPr marL="82296" marR="64008" marT="32004" marB="32004" anchor="ctr">
                    <a:solidFill>
                      <a:srgbClr val="F6F3EF"/>
                    </a:solidFill>
                  </a:tcPr>
                </a:tc>
                <a:tc>
                  <a:txBody>
                    <a:bodyPr wrap="square"/>
                    <a:lstStyle/>
                    <a:p>
                      <a:pPr algn="l"/>
                      <a:r>
                        <a:rPr sz="900" b="0">
                          <a:solidFill>
                            <a:srgbClr val="1C1C1E"/>
                          </a:solidFill>
                          <a:latin typeface="Calibri"/>
                        </a:rPr>
                        <a:t>—  not published</a:t>
                      </a:r>
                    </a:p>
                  </a:txBody>
                  <a:tcPr marL="82296" marR="64008" marT="32004" marB="32004" anchor="ctr">
                    <a:solidFill>
                      <a:srgbClr val="F6F3EF"/>
                    </a:solidFill>
                  </a:tcPr>
                </a:tc>
                <a:tc>
                  <a:txBody>
                    <a:bodyPr wrap="square"/>
                    <a:lstStyle/>
                    <a:p>
                      <a:pPr algn="l"/>
                      <a:r>
                        <a:rPr sz="900" b="0">
                          <a:solidFill>
                            <a:srgbClr val="1C1C1E"/>
                          </a:solidFill>
                          <a:latin typeface="Calibri"/>
                        </a:rPr>
                        <a:t>4.4   carried forward</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2025-11</a:t>
                      </a:r>
                    </a:p>
                  </a:txBody>
                  <a:tcPr marL="82296" marR="64008" marT="32004" marB="32004" anchor="ctr">
                    <a:solidFill>
                      <a:srgbClr val="FFFFFF"/>
                    </a:solidFill>
                  </a:tcPr>
                </a:tc>
                <a:tc>
                  <a:txBody>
                    <a:bodyPr wrap="square"/>
                    <a:lstStyle/>
                    <a:p>
                      <a:pPr algn="l"/>
                      <a:r>
                        <a:rPr sz="900" b="0">
                          <a:solidFill>
                            <a:srgbClr val="1C1C1E"/>
                          </a:solidFill>
                          <a:latin typeface="Calibri"/>
                        </a:rPr>
                        <a:t>6849.09</a:t>
                      </a:r>
                    </a:p>
                  </a:txBody>
                  <a:tcPr marL="82296" marR="64008" marT="32004" marB="32004" anchor="ctr">
                    <a:solidFill>
                      <a:srgbClr val="FFFFFF"/>
                    </a:solidFill>
                  </a:tcPr>
                </a:tc>
                <a:tc>
                  <a:txBody>
                    <a:bodyPr wrap="square"/>
                    <a:lstStyle/>
                    <a:p>
                      <a:pPr algn="l"/>
                      <a:r>
                        <a:rPr sz="900" b="0">
                          <a:solidFill>
                            <a:srgbClr val="1C1C1E"/>
                          </a:solidFill>
                          <a:latin typeface="Calibri"/>
                        </a:rPr>
                        <a:t>+0.13</a:t>
                      </a:r>
                    </a:p>
                  </a:txBody>
                  <a:tcPr marL="82296" marR="64008" marT="32004" marB="32004" anchor="ctr">
                    <a:solidFill>
                      <a:srgbClr val="FFFFFF"/>
                    </a:solidFill>
                  </a:tcPr>
                </a:tc>
                <a:tc>
                  <a:txBody>
                    <a:bodyPr wrap="square"/>
                    <a:lstStyle/>
                    <a:p>
                      <a:pPr algn="l"/>
                      <a:r>
                        <a:rPr sz="900" b="0">
                          <a:solidFill>
                            <a:srgbClr val="1C1C1E"/>
                          </a:solidFill>
                          <a:latin typeface="Calibri"/>
                        </a:rPr>
                        <a:t>4.5</a:t>
                      </a:r>
                    </a:p>
                  </a:txBody>
                  <a:tcPr marL="82296" marR="64008" marT="32004" marB="32004" anchor="ctr">
                    <a:solidFill>
                      <a:srgbClr val="FFFFFF"/>
                    </a:solidFill>
                  </a:tcPr>
                </a:tc>
                <a:tc>
                  <a:txBody>
                    <a:bodyPr wrap="square"/>
                    <a:lstStyle/>
                    <a:p>
                      <a:pPr algn="l"/>
                      <a:r>
                        <a:rPr sz="900" b="0">
                          <a:solidFill>
                            <a:srgbClr val="1C1C1E"/>
                          </a:solidFill>
                          <a:latin typeface="Calibri"/>
                        </a:rPr>
                        <a:t>4.5</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2025-12</a:t>
                      </a:r>
                    </a:p>
                  </a:txBody>
                  <a:tcPr marL="82296" marR="64008" marT="32004" marB="32004" anchor="ctr">
                    <a:solidFill>
                      <a:srgbClr val="F6F3EF"/>
                    </a:solidFill>
                  </a:tcPr>
                </a:tc>
                <a:tc>
                  <a:txBody>
                    <a:bodyPr wrap="square"/>
                    <a:lstStyle/>
                    <a:p>
                      <a:pPr algn="l"/>
                      <a:r>
                        <a:rPr sz="900" b="0">
                          <a:solidFill>
                            <a:srgbClr val="1C1C1E"/>
                          </a:solidFill>
                          <a:latin typeface="Calibri"/>
                        </a:rPr>
                        <a:t>6845.50</a:t>
                      </a:r>
                    </a:p>
                  </a:txBody>
                  <a:tcPr marL="82296" marR="64008" marT="32004" marB="32004" anchor="ctr">
                    <a:solidFill>
                      <a:srgbClr val="F6F3EF"/>
                    </a:solidFill>
                  </a:tcPr>
                </a:tc>
                <a:tc>
                  <a:txBody>
                    <a:bodyPr wrap="square"/>
                    <a:lstStyle/>
                    <a:p>
                      <a:pPr algn="l"/>
                      <a:r>
                        <a:rPr sz="900" b="0">
                          <a:solidFill>
                            <a:srgbClr val="1C1C1E"/>
                          </a:solidFill>
                          <a:latin typeface="Calibri"/>
                        </a:rPr>
                        <a:t>−0.05</a:t>
                      </a:r>
                    </a:p>
                  </a:txBody>
                  <a:tcPr marL="82296" marR="64008" marT="32004" marB="32004" anchor="ctr">
                    <a:solidFill>
                      <a:srgbClr val="F6F3EF"/>
                    </a:solidFill>
                  </a:tcPr>
                </a:tc>
                <a:tc>
                  <a:txBody>
                    <a:bodyPr wrap="square"/>
                    <a:lstStyle/>
                    <a:p>
                      <a:pPr algn="l"/>
                      <a:r>
                        <a:rPr sz="900" b="0">
                          <a:solidFill>
                            <a:srgbClr val="1C1C1E"/>
                          </a:solidFill>
                          <a:latin typeface="Calibri"/>
                        </a:rPr>
                        <a:t>4.4</a:t>
                      </a:r>
                    </a:p>
                  </a:txBody>
                  <a:tcPr marL="82296" marR="64008" marT="32004" marB="32004" anchor="ctr">
                    <a:solidFill>
                      <a:srgbClr val="F6F3EF"/>
                    </a:solidFill>
                  </a:tcPr>
                </a:tc>
                <a:tc>
                  <a:txBody>
                    <a:bodyPr wrap="square"/>
                    <a:lstStyle/>
                    <a:p>
                      <a:pPr algn="l"/>
                      <a:r>
                        <a:rPr sz="900" b="0">
                          <a:solidFill>
                            <a:srgbClr val="1C1C1E"/>
                          </a:solidFill>
                          <a:latin typeface="Calibri"/>
                        </a:rPr>
                        <a:t>4.4</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2026-03</a:t>
                      </a:r>
                    </a:p>
                  </a:txBody>
                  <a:tcPr marL="82296" marR="64008" marT="32004" marB="32004" anchor="ctr">
                    <a:solidFill>
                      <a:srgbClr val="FFFFFF"/>
                    </a:solidFill>
                  </a:tcPr>
                </a:tc>
                <a:tc>
                  <a:txBody>
                    <a:bodyPr wrap="square"/>
                    <a:lstStyle/>
                    <a:p>
                      <a:pPr algn="l"/>
                      <a:r>
                        <a:rPr sz="900" b="0">
                          <a:solidFill>
                            <a:srgbClr val="1C1C1E"/>
                          </a:solidFill>
                          <a:latin typeface="Calibri"/>
                        </a:rPr>
                        <a:t>6528.52</a:t>
                      </a:r>
                    </a:p>
                  </a:txBody>
                  <a:tcPr marL="82296" marR="64008" marT="32004" marB="32004" anchor="ctr">
                    <a:solidFill>
                      <a:srgbClr val="FFFFFF"/>
                    </a:solidFill>
                  </a:tcPr>
                </a:tc>
                <a:tc>
                  <a:txBody>
                    <a:bodyPr wrap="square"/>
                    <a:lstStyle/>
                    <a:p>
                      <a:pPr algn="l"/>
                      <a:r>
                        <a:rPr sz="900" b="0">
                          <a:solidFill>
                            <a:srgbClr val="1C1C1E"/>
                          </a:solidFill>
                          <a:latin typeface="Calibri"/>
                        </a:rPr>
                        <a:t>−5.09</a:t>
                      </a:r>
                    </a:p>
                  </a:txBody>
                  <a:tcPr marL="82296" marR="64008" marT="32004" marB="32004" anchor="ctr">
                    <a:solidFill>
                      <a:srgbClr val="FFFFFF"/>
                    </a:solidFill>
                  </a:tcPr>
                </a:tc>
                <a:tc>
                  <a:txBody>
                    <a:bodyPr wrap="square"/>
                    <a:lstStyle/>
                    <a:p>
                      <a:pPr algn="l"/>
                      <a:r>
                        <a:rPr sz="900" b="0">
                          <a:solidFill>
                            <a:srgbClr val="1C1C1E"/>
                          </a:solidFill>
                          <a:latin typeface="Calibri"/>
                        </a:rPr>
                        <a:t>4.3</a:t>
                      </a:r>
                    </a:p>
                  </a:txBody>
                  <a:tcPr marL="82296" marR="64008" marT="32004" marB="32004" anchor="ctr">
                    <a:solidFill>
                      <a:srgbClr val="FFFFFF"/>
                    </a:solidFill>
                  </a:tcPr>
                </a:tc>
                <a:tc>
                  <a:txBody>
                    <a:bodyPr wrap="square"/>
                    <a:lstStyle/>
                    <a:p>
                      <a:pPr algn="l"/>
                      <a:r>
                        <a:rPr sz="900" b="0">
                          <a:solidFill>
                            <a:srgbClr val="1C1C1E"/>
                          </a:solidFill>
                          <a:latin typeface="Calibri"/>
                        </a:rPr>
                        <a:t>4.3</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2026-04</a:t>
                      </a:r>
                    </a:p>
                  </a:txBody>
                  <a:tcPr marL="82296" marR="64008" marT="32004" marB="32004" anchor="ctr">
                    <a:solidFill>
                      <a:srgbClr val="F6F3EF"/>
                    </a:solidFill>
                  </a:tcPr>
                </a:tc>
                <a:tc>
                  <a:txBody>
                    <a:bodyPr wrap="square"/>
                    <a:lstStyle/>
                    <a:p>
                      <a:pPr algn="l"/>
                      <a:r>
                        <a:rPr sz="900" b="0">
                          <a:solidFill>
                            <a:srgbClr val="1C1C1E"/>
                          </a:solidFill>
                          <a:latin typeface="Calibri"/>
                        </a:rPr>
                        <a:t>7209.01</a:t>
                      </a:r>
                    </a:p>
                  </a:txBody>
                  <a:tcPr marL="82296" marR="64008" marT="32004" marB="32004" anchor="ctr">
                    <a:solidFill>
                      <a:srgbClr val="F6F3EF"/>
                    </a:solidFill>
                  </a:tcPr>
                </a:tc>
                <a:tc>
                  <a:txBody>
                    <a:bodyPr wrap="square"/>
                    <a:lstStyle/>
                    <a:p>
                      <a:pPr algn="l"/>
                      <a:r>
                        <a:rPr sz="900" b="0">
                          <a:solidFill>
                            <a:srgbClr val="1C1C1E"/>
                          </a:solidFill>
                          <a:latin typeface="Calibri"/>
                        </a:rPr>
                        <a:t>+10.42</a:t>
                      </a:r>
                    </a:p>
                  </a:txBody>
                  <a:tcPr marL="82296" marR="64008" marT="32004" marB="32004" anchor="ctr">
                    <a:solidFill>
                      <a:srgbClr val="F6F3EF"/>
                    </a:solidFill>
                  </a:tcPr>
                </a:tc>
                <a:tc>
                  <a:txBody>
                    <a:bodyPr wrap="square"/>
                    <a:lstStyle/>
                    <a:p>
                      <a:pPr algn="l"/>
                      <a:r>
                        <a:rPr sz="900" b="0">
                          <a:solidFill>
                            <a:srgbClr val="1C1C1E"/>
                          </a:solidFill>
                          <a:latin typeface="Calibri"/>
                        </a:rPr>
                        <a:t>4.3</a:t>
                      </a:r>
                    </a:p>
                  </a:txBody>
                  <a:tcPr marL="82296" marR="64008" marT="32004" marB="32004" anchor="ctr">
                    <a:solidFill>
                      <a:srgbClr val="F6F3EF"/>
                    </a:solidFill>
                  </a:tcPr>
                </a:tc>
                <a:tc>
                  <a:txBody>
                    <a:bodyPr wrap="square"/>
                    <a:lstStyle/>
                    <a:p>
                      <a:pPr algn="l"/>
                      <a:r>
                        <a:rPr sz="900" b="0">
                          <a:solidFill>
                            <a:srgbClr val="1C1C1E"/>
                          </a:solidFill>
                          <a:latin typeface="Calibri"/>
                        </a:rPr>
                        <a:t>4.3</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2026-08</a:t>
                      </a:r>
                    </a:p>
                  </a:txBody>
                  <a:tcPr marL="82296" marR="64008" marT="32004" marB="32004" anchor="ctr">
                    <a:solidFill>
                      <a:srgbClr val="FFFFFF"/>
                    </a:solidFill>
                  </a:tcPr>
                </a:tc>
                <a:tc>
                  <a:txBody>
                    <a:bodyPr wrap="square"/>
                    <a:lstStyle/>
                    <a:p>
                      <a:pPr algn="l"/>
                      <a:r>
                        <a:rPr sz="900" b="0">
                          <a:solidFill>
                            <a:srgbClr val="1C1C1E"/>
                          </a:solidFill>
                          <a:latin typeface="Calibri"/>
                        </a:rPr>
                        <a:t>7686.14</a:t>
                      </a:r>
                    </a:p>
                  </a:txBody>
                  <a:tcPr marL="82296" marR="64008" marT="32004" marB="32004" anchor="ctr">
                    <a:solidFill>
                      <a:srgbClr val="FFFFFF"/>
                    </a:solidFill>
                  </a:tcPr>
                </a:tc>
                <a:tc>
                  <a:txBody>
                    <a:bodyPr wrap="square"/>
                    <a:lstStyle/>
                    <a:p>
                      <a:pPr algn="l"/>
                      <a:r>
                        <a:rPr sz="900" b="0">
                          <a:solidFill>
                            <a:srgbClr val="1C1C1E"/>
                          </a:solidFill>
                          <a:latin typeface="Calibri"/>
                        </a:rPr>
                        <a:t>+2.62</a:t>
                      </a:r>
                    </a:p>
                  </a:txBody>
                  <a:tcPr marL="82296" marR="64008" marT="32004" marB="32004" anchor="ctr">
                    <a:solidFill>
                      <a:srgbClr val="FFFFFF"/>
                    </a:solidFill>
                  </a:tcPr>
                </a:tc>
                <a:tc>
                  <a:txBody>
                    <a:bodyPr wrap="square"/>
                    <a:lstStyle/>
                    <a:p>
                      <a:pPr algn="l"/>
                      <a:r>
                        <a:rPr sz="900" b="0">
                          <a:solidFill>
                            <a:srgbClr val="1C1C1E"/>
                          </a:solidFill>
                          <a:latin typeface="Calibri"/>
                        </a:rPr>
                        <a:t>4.1</a:t>
                      </a:r>
                    </a:p>
                  </a:txBody>
                  <a:tcPr marL="82296" marR="64008" marT="32004" marB="32004" anchor="ctr">
                    <a:solidFill>
                      <a:srgbClr val="FFFFFF"/>
                    </a:solidFill>
                  </a:tcPr>
                </a:tc>
                <a:tc>
                  <a:txBody>
                    <a:bodyPr wrap="square"/>
                    <a:lstStyle/>
                    <a:p>
                      <a:pPr algn="l"/>
                      <a:r>
                        <a:rPr sz="900" b="0">
                          <a:solidFill>
                            <a:srgbClr val="1C1C1E"/>
                          </a:solidFill>
                          <a:latin typeface="Calibri"/>
                        </a:rPr>
                        <a:t>4.1</a:t>
                      </a:r>
                    </a:p>
                  </a:txBody>
                  <a:tcPr marL="82296" marR="64008" marT="32004" marB="32004" anchor="ctr">
                    <a:solidFill>
                      <a:srgbClr val="FFFFFF"/>
                    </a:solidFill>
                  </a:tcPr>
                </a:tc>
              </a:tr>
            </a:tbl>
          </a:graphicData>
        </a:graphic>
      </p:graphicFrame>
      <p:sp>
        <p:nvSpPr>
          <p:cNvPr id="11" name="TextBox 10"/>
          <p:cNvSpPr txBox="1"/>
          <p:nvPr/>
        </p:nvSpPr>
        <p:spPr>
          <a:xfrm>
            <a:off x="777240" y="3944950"/>
            <a:ext cx="6382329" cy="54864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Twelve months, one of them missing. </a:t>
            </a:r>
            <a:r>
              <a:rPr sz="1000" b="0" i="0">
                <a:solidFill>
                  <a:srgbClr val="4A4F57"/>
                </a:solidFill>
                <a:latin typeface="Calibri"/>
              </a:rPr>
              <a:t>FRED publishes no unemployment rate for October 2025. Nothing was constructed to make this slide interesting — the hole is in the series.</a:t>
            </a:r>
          </a:p>
        </p:txBody>
      </p:sp>
      <p:sp>
        <p:nvSpPr>
          <p:cNvPr id="12" name="Rectangle 11"/>
          <p:cNvSpPr/>
          <p:nvPr/>
        </p:nvSpPr>
        <p:spPr>
          <a:xfrm>
            <a:off x="7585057" y="1353312"/>
            <a:ext cx="3829397" cy="1732422"/>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Rectangle 12"/>
          <p:cNvSpPr/>
          <p:nvPr/>
        </p:nvSpPr>
        <p:spPr>
          <a:xfrm>
            <a:off x="7585057" y="1353312"/>
            <a:ext cx="41148" cy="1732422"/>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4" name="TextBox 13"/>
          <p:cNvSpPr txBox="1"/>
          <p:nvPr/>
        </p:nvSpPr>
        <p:spPr>
          <a:xfrm>
            <a:off x="7786225" y="1453896"/>
            <a:ext cx="3463637" cy="1549542"/>
          </a:xfrm>
          <a:prstGeom prst="rect">
            <a:avLst/>
          </a:prstGeom>
          <a:noFill/>
        </p:spPr>
        <p:txBody>
          <a:bodyPr wrap="square" lIns="0" rIns="0" tIns="0" bIns="0" anchor="t">
            <a:spAutoFit/>
          </a:bodyPr>
          <a:lstStyle/>
          <a:p>
            <a:pPr algn="l">
              <a:lnSpc>
                <a:spcPct val="134000"/>
              </a:lnSpc>
              <a:spcBef>
                <a:spcPts val="0"/>
              </a:spcBef>
              <a:spcAft>
                <a:spcPts val="0"/>
              </a:spcAft>
            </a:pPr>
            <a:r>
              <a:rPr sz="850" b="0" i="0">
                <a:solidFill>
                  <a:srgbClr val="1C1C1E"/>
                </a:solidFill>
                <a:latin typeface="Consolas"/>
              </a:rPr>
              <a:t>defaults:</a:t>
            </a:r>
          </a:p>
          <a:p>
            <a:pPr>
              <a:lnSpc>
                <a:spcPct val="134000"/>
              </a:lnSpc>
              <a:spcBef>
                <a:spcPts val="0"/>
              </a:spcBef>
              <a:spcAft>
                <a:spcPts val="0"/>
              </a:spcAft>
            </a:pPr>
            <a:r>
              <a:rPr sz="850" b="0" i="0">
                <a:solidFill>
                  <a:srgbClr val="1C1C1E"/>
                </a:solidFill>
                <a:latin typeface="Consolas"/>
              </a:rPr>
              <a:t>  align: {axis: event_ts,</a:t>
            </a:r>
          </a:p>
          <a:p>
            <a:pPr>
              <a:lnSpc>
                <a:spcPct val="134000"/>
              </a:lnSpc>
              <a:spcBef>
                <a:spcPts val="0"/>
              </a:spcBef>
              <a:spcAft>
                <a:spcPts val="0"/>
              </a:spcAft>
            </a:pPr>
            <a:r>
              <a:rPr sz="850" b="0" i="0">
                <a:solidFill>
                  <a:srgbClr val="1C1C1E"/>
                </a:solidFill>
                <a:latin typeface="Consolas"/>
              </a:rPr>
              <a:t>          rule:  flat_forward}</a:t>
            </a:r>
          </a:p>
          <a:p>
            <a:pPr>
              <a:lnSpc>
                <a:spcPct val="134000"/>
              </a:lnSpc>
              <a:spcBef>
                <a:spcPts val="0"/>
              </a:spcBef>
              <a:spcAft>
                <a:spcPts val="0"/>
              </a:spcAft>
            </a:pPr>
            <a:r>
              <a:rPr sz="850" b="0" i="0">
                <a:solidFill>
                  <a:srgbClr val="1C1C1E"/>
                </a:solidFill>
                <a:latin typeface="Consolas"/>
              </a:rPr>
              <a:t>  fill:  {u3_rate: keep}</a:t>
            </a:r>
          </a:p>
          <a:p>
            <a:pPr>
              <a:lnSpc>
                <a:spcPct val="134000"/>
              </a:lnSpc>
              <a:spcBef>
                <a:spcPts val="0"/>
              </a:spcBef>
              <a:spcAft>
                <a:spcPts val="0"/>
              </a:spcAft>
            </a:pPr>
            <a:r>
              <a:rPr sz="850" b="0" i="0">
                <a:solidFill>
                  <a:srgbClr val="1C1C1E"/>
                </a:solidFill>
                <a:latin typeface="Consolas"/>
              </a:rPr>
              <a:t> </a:t>
            </a:r>
          </a:p>
          <a:p>
            <a:pPr>
              <a:lnSpc>
                <a:spcPct val="134000"/>
              </a:lnSpc>
              <a:spcBef>
                <a:spcPts val="0"/>
              </a:spcBef>
              <a:spcAft>
                <a:spcPts val="0"/>
              </a:spcAft>
            </a:pPr>
            <a:r>
              <a:rPr sz="850" b="0" i="0">
                <a:solidFill>
                  <a:srgbClr val="7A7F87"/>
                </a:solidFill>
                <a:latin typeface="Consolas"/>
              </a:rPr>
              <a:t># filled: 1 of 12 (8.3%)</a:t>
            </a:r>
          </a:p>
          <a:p>
            <a:pPr>
              <a:lnSpc>
                <a:spcPct val="134000"/>
              </a:lnSpc>
              <a:spcBef>
                <a:spcPts val="0"/>
              </a:spcBef>
              <a:spcAft>
                <a:spcPts val="0"/>
              </a:spcAft>
            </a:pPr>
            <a:r>
              <a:rPr sz="850" b="0" i="0">
                <a:solidFill>
                  <a:srgbClr val="7A7F87"/>
                </a:solidFill>
                <a:latin typeface="Consolas"/>
              </a:rPr>
              <a:t># carried from 2025-09,</a:t>
            </a:r>
          </a:p>
          <a:p>
            <a:pPr>
              <a:lnSpc>
                <a:spcPct val="134000"/>
              </a:lnSpc>
              <a:spcBef>
                <a:spcPts val="0"/>
              </a:spcBef>
              <a:spcAft>
                <a:spcPts val="0"/>
              </a:spcAft>
            </a:pPr>
            <a:r>
              <a:rPr sz="850" b="0" i="0">
                <a:solidFill>
                  <a:srgbClr val="7A7F87"/>
                </a:solidFill>
                <a:latin typeface="Consolas"/>
              </a:rPr>
              <a:t>#   ingest_ts 2025-10-03</a:t>
            </a:r>
          </a:p>
        </p:txBody>
      </p:sp>
      <p:sp>
        <p:nvSpPr>
          <p:cNvPr id="15" name="TextBox 14"/>
          <p:cNvSpPr txBox="1"/>
          <p:nvPr/>
        </p:nvSpPr>
        <p:spPr>
          <a:xfrm>
            <a:off x="7585057" y="3286902"/>
            <a:ext cx="3829397" cy="2194560"/>
          </a:xfrm>
          <a:prstGeom prst="rect">
            <a:avLst/>
          </a:prstGeom>
          <a:noFill/>
        </p:spPr>
        <p:txBody>
          <a:bodyPr wrap="square" lIns="0" rIns="0" tIns="0" bIns="0" anchor="t">
            <a:spAutoFit/>
          </a:bodyPr>
          <a:lstStyle/>
          <a:p>
            <a:pPr algn="l">
              <a:spcBef>
                <a:spcPts val="0"/>
              </a:spcBef>
              <a:spcAft>
                <a:spcPts val="700"/>
              </a:spcAft>
            </a:pPr>
            <a:r>
              <a:rPr sz="1200" b="1" i="0">
                <a:solidFill>
                  <a:srgbClr val="A51C30"/>
                </a:solidFill>
                <a:latin typeface="Georgia"/>
              </a:rPr>
              <a:t>Forward, and only forward</a:t>
            </a:r>
          </a:p>
          <a:p>
            <a:pPr>
              <a:lnSpc>
                <a:spcPct val="122000"/>
              </a:lnSpc>
              <a:spcBef>
                <a:spcPts val="0"/>
              </a:spcBef>
              <a:spcAft>
                <a:spcPts val="800"/>
              </a:spcAft>
            </a:pPr>
            <a:r>
              <a:rPr sz="1000" b="0" i="0">
                <a:solidFill>
                  <a:srgbClr val="1C1C1E"/>
                </a:solidFill>
                <a:latin typeface="Calibri"/>
              </a:rPr>
              <a:t>Interpolating October between September and November would use November’s 4.5 — published on the 5th of December — to fill a row dated the 31st of October.</a:t>
            </a:r>
          </a:p>
          <a:p>
            <a:pPr>
              <a:lnSpc>
                <a:spcPct val="122000"/>
              </a:lnSpc>
              <a:spcBef>
                <a:spcPts val="0"/>
              </a:spcBef>
              <a:spcAft>
                <a:spcPts val="800"/>
              </a:spcAft>
            </a:pPr>
            <a:r>
              <a:rPr sz="1000" b="0" i="0">
                <a:solidFill>
                  <a:srgbClr val="4A4F57"/>
                </a:solidFill>
                <a:latin typeface="Calibri"/>
              </a:rPr>
              <a:t>The platform allows that and stamps it honestly: the filled value would carry December’s ingest clock, so a point-in-time read in October excludes it. The leakage is not forbidden, it is made impossible to hide.</a:t>
            </a:r>
          </a:p>
          <a:p>
            <a:pPr>
              <a:lnSpc>
                <a:spcPct val="122000"/>
              </a:lnSpc>
              <a:spcBef>
                <a:spcPts val="0"/>
              </a:spcBef>
              <a:spcAft>
                <a:spcPts val="0"/>
              </a:spcAft>
            </a:pPr>
            <a:r>
              <a:rPr sz="1000" b="1" i="0">
                <a:solidFill>
                  <a:srgbClr val="A51C30"/>
                </a:solidFill>
                <a:latin typeface="Calibri"/>
              </a:rPr>
              <a:t>And the fill rate is part of the answer. </a:t>
            </a:r>
            <a:r>
              <a:rPr sz="1000" b="0" i="0">
                <a:solidFill>
                  <a:srgbClr val="4A4F57"/>
                </a:solidFill>
                <a:latin typeface="Calibri"/>
              </a:rPr>
              <a:t>One month in twelve is 8%, which is fine. Past a fifth, the report says so loudly.</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89611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Two models, one featureset, both fitted to these twelve months</a:t>
            </a:r>
          </a:p>
        </p:txBody>
      </p:sp>
      <p:sp>
        <p:nvSpPr>
          <p:cNvPr id="6" name="Rectangle 5"/>
          <p:cNvSpPr/>
          <p:nvPr/>
        </p:nvSpPr>
        <p:spPr>
          <a:xfrm>
            <a:off x="777240" y="161848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148</a:t>
            </a:r>
          </a:p>
        </p:txBody>
      </p:sp>
      <p:sp>
        <p:nvSpPr>
          <p:cNvPr id="10" name="Rectangle 9"/>
          <p:cNvSpPr/>
          <p:nvPr/>
        </p:nvSpPr>
        <p:spPr>
          <a:xfrm>
            <a:off x="777240" y="1764792"/>
            <a:ext cx="5135727" cy="20111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764792"/>
            <a:ext cx="41148" cy="20111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865376"/>
            <a:ext cx="4769967" cy="182829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multiple linear regression   —  fitted, n = 10</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next_return  =   43.314</a:t>
            </a:r>
          </a:p>
          <a:p>
            <a:pPr>
              <a:lnSpc>
                <a:spcPct val="134000"/>
              </a:lnSpc>
              <a:spcBef>
                <a:spcPts val="0"/>
              </a:spcBef>
              <a:spcAft>
                <a:spcPts val="0"/>
              </a:spcAft>
            </a:pPr>
            <a:r>
              <a:rPr sz="900" b="0" i="0">
                <a:solidFill>
                  <a:srgbClr val="1C1C1E"/>
                </a:solidFill>
                <a:latin typeface="Consolas"/>
              </a:rPr>
              <a:t>               −  9.708 × u3_rate</a:t>
            </a:r>
          </a:p>
          <a:p>
            <a:pPr>
              <a:lnSpc>
                <a:spcPct val="134000"/>
              </a:lnSpc>
              <a:spcBef>
                <a:spcPts val="0"/>
              </a:spcBef>
              <a:spcAft>
                <a:spcPts val="0"/>
              </a:spcAft>
            </a:pPr>
            <a:r>
              <a:rPr sz="900" b="0" i="0">
                <a:solidFill>
                  <a:srgbClr val="1C1C1E"/>
                </a:solidFill>
                <a:latin typeface="Consolas"/>
              </a:rPr>
              <a:t>               −  0.105 × prev_return</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kind   estimated_coefficients   →  T2</a:t>
            </a:r>
          </a:p>
          <a:p>
            <a:pPr>
              <a:lnSpc>
                <a:spcPct val="134000"/>
              </a:lnSpc>
              <a:spcBef>
                <a:spcPts val="0"/>
              </a:spcBef>
              <a:spcAft>
                <a:spcPts val="0"/>
              </a:spcAft>
            </a:pPr>
            <a:r>
              <a:rPr sz="900" b="0" i="0">
                <a:solidFill>
                  <a:srgbClr val="1C1C1E"/>
                </a:solidFill>
                <a:latin typeface="Consolas"/>
              </a:rPr>
              <a:t>D(Y)   point_estimate</a:t>
            </a:r>
          </a:p>
          <a:p>
            <a:pPr>
              <a:lnSpc>
                <a:spcPct val="134000"/>
              </a:lnSpc>
              <a:spcBef>
                <a:spcPts val="0"/>
              </a:spcBef>
              <a:spcAft>
                <a:spcPts val="0"/>
              </a:spcAft>
            </a:pPr>
            <a:r>
              <a:rPr sz="900" b="0" i="0">
                <a:solidFill>
                  <a:srgbClr val="1C1C1E"/>
                </a:solidFill>
                <a:latin typeface="Consolas"/>
              </a:rPr>
              <a:t>R² = 0.082      residual sd = 4.53 %</a:t>
            </a:r>
          </a:p>
        </p:txBody>
      </p:sp>
      <p:sp>
        <p:nvSpPr>
          <p:cNvPr id="13" name="TextBox 12"/>
          <p:cNvSpPr txBox="1"/>
          <p:nvPr/>
        </p:nvSpPr>
        <p:spPr>
          <a:xfrm>
            <a:off x="777240" y="3977137"/>
            <a:ext cx="5135727" cy="10515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An R² of 0.08 is a bad model. </a:t>
            </a:r>
            <a:r>
              <a:rPr sz="1000" b="0" i="0">
                <a:solidFill>
                  <a:srgbClr val="4A4F57"/>
                </a:solidFill>
                <a:latin typeface="Calibri"/>
              </a:rPr>
              <a:t>Ten monthly observations cannot support three parameters, and the register stores that verdict beside the coefficients rather than leaving it in a notebook. A platform that only recorded the coefficients would make this look like a result.</a:t>
            </a:r>
          </a:p>
        </p:txBody>
      </p:sp>
      <p:sp>
        <p:nvSpPr>
          <p:cNvPr id="14" name="Rectangle 13"/>
          <p:cNvSpPr/>
          <p:nvPr/>
        </p:nvSpPr>
        <p:spPr>
          <a:xfrm>
            <a:off x="6278727" y="1764792"/>
            <a:ext cx="5135727" cy="201117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6278727" y="1764792"/>
            <a:ext cx="41148" cy="201117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6479895" y="1865376"/>
            <a:ext cx="4769967" cy="1828297"/>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GARCH(1,1)   —  maximum likelihood, same returns</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σ²ₜ  =  3.7684</a:t>
            </a:r>
          </a:p>
          <a:p>
            <a:pPr>
              <a:lnSpc>
                <a:spcPct val="134000"/>
              </a:lnSpc>
              <a:spcBef>
                <a:spcPts val="0"/>
              </a:spcBef>
              <a:spcAft>
                <a:spcPts val="0"/>
              </a:spcAft>
            </a:pPr>
            <a:r>
              <a:rPr sz="900" b="0" i="0">
                <a:solidFill>
                  <a:srgbClr val="1C1C1E"/>
                </a:solidFill>
                <a:latin typeface="Consolas"/>
              </a:rPr>
              <a:t>      + 0.320 × ε²ₜ₋₁</a:t>
            </a:r>
          </a:p>
          <a:p>
            <a:pPr>
              <a:lnSpc>
                <a:spcPct val="134000"/>
              </a:lnSpc>
              <a:spcBef>
                <a:spcPts val="0"/>
              </a:spcBef>
              <a:spcAft>
                <a:spcPts val="0"/>
              </a:spcAft>
            </a:pPr>
            <a:r>
              <a:rPr sz="900" b="0" i="0">
                <a:solidFill>
                  <a:srgbClr val="1C1C1E"/>
                </a:solidFill>
                <a:latin typeface="Consolas"/>
              </a:rPr>
              <a:t>      + 0.400 × σ²ₜ₋₁</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kind   estimated_coefficients   →  T2</a:t>
            </a:r>
          </a:p>
          <a:p>
            <a:pPr>
              <a:lnSpc>
                <a:spcPct val="134000"/>
              </a:lnSpc>
              <a:spcBef>
                <a:spcPts val="0"/>
              </a:spcBef>
              <a:spcAft>
                <a:spcPts val="0"/>
              </a:spcAft>
            </a:pPr>
            <a:r>
              <a:rPr sz="900" b="0" i="0">
                <a:solidFill>
                  <a:srgbClr val="1C1C1E"/>
                </a:solidFill>
                <a:latin typeface="Consolas"/>
              </a:rPr>
              <a:t>D(Y)   predictive_distribution</a:t>
            </a:r>
          </a:p>
          <a:p>
            <a:pPr>
              <a:lnSpc>
                <a:spcPct val="134000"/>
              </a:lnSpc>
              <a:spcBef>
                <a:spcPts val="0"/>
              </a:spcBef>
              <a:spcAft>
                <a:spcPts val="0"/>
              </a:spcAft>
            </a:pPr>
            <a:r>
              <a:rPr sz="900" b="0" i="0">
                <a:solidFill>
                  <a:srgbClr val="1C1C1E"/>
                </a:solidFill>
                <a:latin typeface="Consolas"/>
              </a:rPr>
              <a:t>log-likelihood −31.90   long-run sd = 3.67 %</a:t>
            </a:r>
          </a:p>
        </p:txBody>
      </p:sp>
      <p:sp>
        <p:nvSpPr>
          <p:cNvPr id="17" name="TextBox 16"/>
          <p:cNvSpPr txBox="1"/>
          <p:nvPr/>
        </p:nvSpPr>
        <p:spPr>
          <a:xfrm>
            <a:off x="6278727" y="3977137"/>
            <a:ext cx="5135727" cy="10515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Persistence α+β = 0.72. </a:t>
            </a:r>
            <a:r>
              <a:rPr sz="1000" b="0" i="0">
                <a:solidFill>
                  <a:srgbClr val="4A4F57"/>
                </a:solidFill>
                <a:latin typeface="Calibri"/>
              </a:rPr>
              <a:t>Low for a monthly series, which is what twelve observations buy you. Same features, same entity, same grain — a different kernel, a different P, and an output that is a distribution rather than a number.</a:t>
            </a:r>
          </a:p>
        </p:txBody>
      </p:sp>
      <p:sp>
        <p:nvSpPr>
          <p:cNvPr id="18" name="Rectangle 17"/>
          <p:cNvSpPr/>
          <p:nvPr/>
        </p:nvSpPr>
        <p:spPr>
          <a:xfrm>
            <a:off x="777240" y="5129281"/>
            <a:ext cx="10637215" cy="100584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Rectangle 18"/>
          <p:cNvSpPr/>
          <p:nvPr/>
        </p:nvSpPr>
        <p:spPr>
          <a:xfrm>
            <a:off x="777240" y="5129281"/>
            <a:ext cx="41148" cy="100584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TextBox 19"/>
          <p:cNvSpPr txBox="1"/>
          <p:nvPr/>
        </p:nvSpPr>
        <p:spPr>
          <a:xfrm>
            <a:off x="1014983" y="5248153"/>
            <a:ext cx="10180015" cy="78638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Two warrants, two parameter sets, one featureset version. </a:t>
            </a:r>
            <a:r>
              <a:rPr sz="1050" b="0" i="0">
                <a:solidFill>
                  <a:srgbClr val="1C1C1E"/>
                </a:solidFill>
                <a:latin typeface="Calibri"/>
              </a:rPr>
              <a:t>Each fit warrant names macro_core@v1 and its own model version; each returns a parameter set recording which featureset version produced it. Nothing about the data was duplicated to serve two models, and neither model had to know the other existed — </a:t>
            </a:r>
            <a:r>
              <a:rPr sz="1050" b="1" i="0">
                <a:solidFill>
                  <a:srgbClr val="1C1C1E"/>
                </a:solidFill>
                <a:latin typeface="Calibri"/>
              </a:rPr>
              <a:t>which is what a named presentation of X buys.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Extending the featureset, and what that forces</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149</a:t>
            </a:r>
          </a:p>
        </p:txBody>
      </p:sp>
      <p:sp>
        <p:nvSpPr>
          <p:cNvPr id="10" name="Rectangle 9"/>
          <p:cNvSpPr/>
          <p:nvPr/>
        </p:nvSpPr>
        <p:spPr>
          <a:xfrm>
            <a:off x="777240" y="1353312"/>
            <a:ext cx="4999491" cy="1432224"/>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41148" cy="1432224"/>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78408" y="1453896"/>
            <a:ext cx="4633731" cy="1249344"/>
          </a:xfrm>
          <a:prstGeom prst="rect">
            <a:avLst/>
          </a:prstGeom>
          <a:noFill/>
        </p:spPr>
        <p:txBody>
          <a:bodyPr wrap="square" lIns="0" rIns="0" tIns="0" bIns="0" anchor="t">
            <a:spAutoFit/>
          </a:bodyPr>
          <a:lstStyle/>
          <a:p>
            <a:pPr algn="l">
              <a:lnSpc>
                <a:spcPct val="134000"/>
              </a:lnSpc>
              <a:spcBef>
                <a:spcPts val="0"/>
              </a:spcBef>
              <a:spcAft>
                <a:spcPts val="0"/>
              </a:spcAft>
            </a:pPr>
            <a:r>
              <a:rPr sz="900" b="0" i="0">
                <a:solidFill>
                  <a:srgbClr val="1C1C1E"/>
                </a:solidFill>
                <a:latin typeface="Consolas"/>
              </a:rPr>
              <a:t>featureset: macro_plus</a:t>
            </a:r>
          </a:p>
          <a:p>
            <a:pPr>
              <a:lnSpc>
                <a:spcPct val="134000"/>
              </a:lnSpc>
              <a:spcBef>
                <a:spcPts val="0"/>
              </a:spcBef>
              <a:spcAft>
                <a:spcPts val="0"/>
              </a:spcAft>
            </a:pPr>
            <a:r>
              <a:rPr sz="900" b="0" i="0">
                <a:solidFill>
                  <a:srgbClr val="1C1C1E"/>
                </a:solidFill>
                <a:latin typeface="Consolas"/>
              </a:rPr>
              <a:t>composes:   [macro_core]</a:t>
            </a:r>
          </a:p>
          <a:p>
            <a:pPr>
              <a:lnSpc>
                <a:spcPct val="134000"/>
              </a:lnSpc>
              <a:spcBef>
                <a:spcPts val="0"/>
              </a:spcBef>
              <a:spcAft>
                <a:spcPts val="0"/>
              </a:spcAft>
            </a:pPr>
            <a:r>
              <a:rPr sz="900" b="0" i="0">
                <a:solidFill>
                  <a:srgbClr val="1C1C1E"/>
                </a:solidFill>
                <a:latin typeface="Consolas"/>
              </a:rPr>
              <a:t>operations: [{op: add, name: term_spread}]</a:t>
            </a:r>
          </a:p>
          <a:p>
            <a:pPr>
              <a:lnSpc>
                <a:spcPct val="134000"/>
              </a:lnSpc>
              <a:spcBef>
                <a:spcPts val="0"/>
              </a:spcBef>
              <a:spcAft>
                <a:spcPts val="0"/>
              </a:spcAft>
            </a:pPr>
            <a:r>
              <a:rPr sz="900" b="0" i="0">
                <a:solidFill>
                  <a:srgbClr val="1C1C1E"/>
                </a:solidFill>
                <a:latin typeface="Consolas"/>
              </a:rPr>
              <a:t> </a:t>
            </a:r>
          </a:p>
          <a:p>
            <a:pPr>
              <a:lnSpc>
                <a:spcPct val="134000"/>
              </a:lnSpc>
              <a:spcBef>
                <a:spcPts val="0"/>
              </a:spcBef>
              <a:spcAft>
                <a:spcPts val="0"/>
              </a:spcAft>
            </a:pPr>
            <a:r>
              <a:rPr sz="900" b="0" i="0">
                <a:solidFill>
                  <a:srgbClr val="1C1C1E"/>
                </a:solidFill>
                <a:latin typeface="Consolas"/>
              </a:rPr>
              <a:t>→ macro_plus resolves to FOUR slots</a:t>
            </a:r>
          </a:p>
          <a:p>
            <a:pPr>
              <a:lnSpc>
                <a:spcPct val="134000"/>
              </a:lnSpc>
              <a:spcBef>
                <a:spcPts val="0"/>
              </a:spcBef>
              <a:spcAft>
                <a:spcPts val="0"/>
              </a:spcAft>
            </a:pPr>
            <a:r>
              <a:rPr sz="900" b="0" i="0">
                <a:solidFill>
                  <a:srgbClr val="1C1C1E"/>
                </a:solidFill>
                <a:latin typeface="Consolas"/>
              </a:rPr>
              <a:t>  px_close  u3_rate  prev_return  term_spread</a:t>
            </a:r>
          </a:p>
        </p:txBody>
      </p:sp>
      <p:sp>
        <p:nvSpPr>
          <p:cNvPr id="13" name="TextBox 12"/>
          <p:cNvSpPr txBox="1"/>
          <p:nvPr/>
        </p:nvSpPr>
        <p:spPr>
          <a:xfrm>
            <a:off x="777240" y="2968416"/>
            <a:ext cx="4999491" cy="1280160"/>
          </a:xfrm>
          <a:prstGeom prst="rect">
            <a:avLst/>
          </a:prstGeom>
          <a:noFill/>
        </p:spPr>
        <p:txBody>
          <a:bodyPr wrap="square" lIns="0" rIns="0" tIns="0" bIns="0" anchor="t">
            <a:spAutoFit/>
          </a:bodyPr>
          <a:lstStyle/>
          <a:p>
            <a:pPr algn="l">
              <a:lnSpc>
                <a:spcPct val="122000"/>
              </a:lnSpc>
              <a:spcBef>
                <a:spcPts val="0"/>
              </a:spcBef>
              <a:spcAft>
                <a:spcPts val="0"/>
              </a:spcAft>
            </a:pPr>
            <a:r>
              <a:rPr sz="1000" b="1" i="0">
                <a:solidFill>
                  <a:srgbClr val="A51C30"/>
                </a:solidFill>
                <a:latin typeface="Calibri"/>
              </a:rPr>
              <a:t>Not a new version of macro_core. </a:t>
            </a:r>
            <a:r>
              <a:rPr sz="1000" b="0" i="0">
                <a:solidFill>
                  <a:srgbClr val="4A4F57"/>
                </a:solidFill>
                <a:latin typeface="Calibri"/>
              </a:rPr>
              <a:t>Adding a slot changes the schema, and the schema is what a kernel is defined over — so it is a new featureset composed from the old, and macro_core@v1 is untouched for whoever is already using it.</a:t>
            </a:r>
          </a:p>
        </p:txBody>
      </p:sp>
      <p:sp>
        <p:nvSpPr>
          <p:cNvPr id="14" name="Rectangle 13"/>
          <p:cNvSpPr/>
          <p:nvPr/>
        </p:nvSpPr>
        <p:spPr>
          <a:xfrm>
            <a:off x="777240" y="4303440"/>
            <a:ext cx="4999491" cy="1170432"/>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5" name="Rectangle 14"/>
          <p:cNvSpPr/>
          <p:nvPr/>
        </p:nvSpPr>
        <p:spPr>
          <a:xfrm>
            <a:off x="777240" y="4303440"/>
            <a:ext cx="41148" cy="117043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TextBox 15"/>
          <p:cNvSpPr txBox="1"/>
          <p:nvPr/>
        </p:nvSpPr>
        <p:spPr>
          <a:xfrm>
            <a:off x="1014983" y="4422312"/>
            <a:ext cx="4542291" cy="950976"/>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 refusal is the feature. </a:t>
            </a:r>
            <a:r>
              <a:rPr sz="1050" b="0" i="0">
                <a:solidFill>
                  <a:srgbClr val="1C1C1E"/>
                </a:solidFill>
                <a:latin typeface="Calibri"/>
              </a:rPr>
              <a:t>Widening a featureset under a model never defined over it is the failure all of this exists to make visible, and it lands at the warrant — </a:t>
            </a:r>
            <a:r>
              <a:rPr sz="1050" b="1" i="0">
                <a:solidFill>
                  <a:srgbClr val="1C1C1E"/>
                </a:solidFill>
                <a:latin typeface="Calibri"/>
              </a:rPr>
              <a:t>before anything is fitted, rather than when somebody notices a coefficient vector has four entries.</a:t>
            </a:r>
          </a:p>
        </p:txBody>
      </p:sp>
      <p:sp>
        <p:nvSpPr>
          <p:cNvPr id="17" name="Rectangle 16"/>
          <p:cNvSpPr/>
          <p:nvPr/>
        </p:nvSpPr>
        <p:spPr>
          <a:xfrm>
            <a:off x="6202219" y="1353312"/>
            <a:ext cx="5212235" cy="2096947"/>
          </a:xfrm>
          <a:prstGeom prst="rect">
            <a:avLst/>
          </a:prstGeom>
          <a:solidFill>
            <a:srgbClr val="F4F2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8" name="Rectangle 17"/>
          <p:cNvSpPr/>
          <p:nvPr/>
        </p:nvSpPr>
        <p:spPr>
          <a:xfrm>
            <a:off x="6202219" y="1353312"/>
            <a:ext cx="41148" cy="2096947"/>
          </a:xfrm>
          <a:prstGeom prst="rect">
            <a:avLst/>
          </a:prstGeom>
          <a:solidFill>
            <a:srgbClr val="4A4F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9" name="TextBox 18"/>
          <p:cNvSpPr txBox="1"/>
          <p:nvPr/>
        </p:nvSpPr>
        <p:spPr>
          <a:xfrm>
            <a:off x="6403387" y="1453896"/>
            <a:ext cx="4846475" cy="1914067"/>
          </a:xfrm>
          <a:prstGeom prst="rect">
            <a:avLst/>
          </a:prstGeom>
          <a:noFill/>
        </p:spPr>
        <p:txBody>
          <a:bodyPr wrap="square" lIns="0" rIns="0" tIns="0" bIns="0" anchor="t">
            <a:spAutoFit/>
          </a:bodyPr>
          <a:lstStyle/>
          <a:p>
            <a:pPr algn="l">
              <a:lnSpc>
                <a:spcPct val="134000"/>
              </a:lnSpc>
              <a:spcBef>
                <a:spcPts val="0"/>
              </a:spcBef>
              <a:spcAft>
                <a:spcPts val="0"/>
              </a:spcAft>
            </a:pPr>
            <a:r>
              <a:rPr sz="850" b="0" i="0">
                <a:solidFill>
                  <a:srgbClr val="1C1C1E"/>
                </a:solidFill>
                <a:latin typeface="Consolas"/>
              </a:rPr>
              <a:t>POST /api/v1/fit-warrants</a:t>
            </a:r>
          </a:p>
          <a:p>
            <a:pPr>
              <a:lnSpc>
                <a:spcPct val="134000"/>
              </a:lnSpc>
              <a:spcBef>
                <a:spcPts val="0"/>
              </a:spcBef>
              <a:spcAft>
                <a:spcPts val="0"/>
              </a:spcAft>
            </a:pPr>
            <a:r>
              <a:rPr sz="850" b="0" i="0">
                <a:solidFill>
                  <a:srgbClr val="1C1C1E"/>
                </a:solidFill>
                <a:latin typeface="Consolas"/>
              </a:rPr>
              <a:t>  { model: mlr@1.0.0, featureset: macro_plus }</a:t>
            </a:r>
          </a:p>
          <a:p>
            <a:pPr>
              <a:lnSpc>
                <a:spcPct val="134000"/>
              </a:lnSpc>
              <a:spcBef>
                <a:spcPts val="0"/>
              </a:spcBef>
              <a:spcAft>
                <a:spcPts val="0"/>
              </a:spcAft>
            </a:pPr>
            <a:r>
              <a:rPr sz="850" b="0" i="0">
                <a:solidFill>
                  <a:srgbClr val="1C1C1E"/>
                </a:solidFill>
                <a:latin typeface="Consolas"/>
              </a:rPr>
              <a:t> </a:t>
            </a:r>
          </a:p>
          <a:p>
            <a:pPr>
              <a:lnSpc>
                <a:spcPct val="134000"/>
              </a:lnSpc>
              <a:spcBef>
                <a:spcPts val="0"/>
              </a:spcBef>
              <a:spcAft>
                <a:spcPts val="0"/>
              </a:spcAft>
            </a:pPr>
            <a:r>
              <a:rPr sz="850" b="0" i="0">
                <a:solidFill>
                  <a:srgbClr val="1C1C1E"/>
                </a:solidFill>
                <a:latin typeface="Consolas"/>
              </a:rPr>
              <a:t>409 schema_not_satisfied</a:t>
            </a:r>
          </a:p>
          <a:p>
            <a:pPr>
              <a:lnSpc>
                <a:spcPct val="134000"/>
              </a:lnSpc>
              <a:spcBef>
                <a:spcPts val="0"/>
              </a:spcBef>
              <a:spcAft>
                <a:spcPts val="0"/>
              </a:spcAft>
            </a:pPr>
            <a:r>
              <a:rPr sz="850" b="0" i="0">
                <a:solidFill>
                  <a:srgbClr val="1C1C1E"/>
                </a:solidFill>
                <a:latin typeface="Consolas"/>
              </a:rPr>
              <a:t>    'macro_plus' provides term_spread, which this</a:t>
            </a:r>
          </a:p>
          <a:p>
            <a:pPr>
              <a:lnSpc>
                <a:spcPct val="134000"/>
              </a:lnSpc>
              <a:spcBef>
                <a:spcPts val="0"/>
              </a:spcBef>
              <a:spcAft>
                <a:spcPts val="0"/>
              </a:spcAft>
            </a:pPr>
            <a:r>
              <a:rPr sz="850" b="0" i="0">
                <a:solidFill>
                  <a:srgbClr val="1C1C1E"/>
                </a:solidFill>
                <a:latin typeface="Consolas"/>
              </a:rPr>
              <a:t>    version does not declare in its input schema.</a:t>
            </a:r>
          </a:p>
          <a:p>
            <a:pPr>
              <a:lnSpc>
                <a:spcPct val="134000"/>
              </a:lnSpc>
              <a:spcBef>
                <a:spcPts val="0"/>
              </a:spcBef>
              <a:spcAft>
                <a:spcPts val="0"/>
              </a:spcAft>
            </a:pPr>
            <a:r>
              <a:rPr sz="850" b="0" i="0">
                <a:solidFill>
                  <a:srgbClr val="1C1C1E"/>
                </a:solidFill>
                <a:latin typeface="Consolas"/>
              </a:rPr>
              <a:t>    Bind a featureset whose schema covers the</a:t>
            </a:r>
          </a:p>
          <a:p>
            <a:pPr>
              <a:lnSpc>
                <a:spcPct val="134000"/>
              </a:lnSpc>
              <a:spcBef>
                <a:spcPts val="0"/>
              </a:spcBef>
              <a:spcAft>
                <a:spcPts val="0"/>
              </a:spcAft>
            </a:pPr>
            <a:r>
              <a:rPr sz="850" b="0" i="0">
                <a:solidFill>
                  <a:srgbClr val="1C1C1E"/>
                </a:solidFill>
                <a:latin typeface="Consolas"/>
              </a:rPr>
              <a:t>    kernel's inputs, or create a model version</a:t>
            </a:r>
          </a:p>
          <a:p>
            <a:pPr>
              <a:lnSpc>
                <a:spcPct val="134000"/>
              </a:lnSpc>
              <a:spcBef>
                <a:spcPts val="0"/>
              </a:spcBef>
              <a:spcAft>
                <a:spcPts val="0"/>
              </a:spcAft>
            </a:pPr>
            <a:r>
              <a:rPr sz="850" b="0" i="0">
                <a:solidFill>
                  <a:srgbClr val="1C1C1E"/>
                </a:solidFill>
                <a:latin typeface="Consolas"/>
              </a:rPr>
              <a:t>    whose input schema matches this set — adding</a:t>
            </a:r>
          </a:p>
          <a:p>
            <a:pPr>
              <a:lnSpc>
                <a:spcPct val="134000"/>
              </a:lnSpc>
              <a:spcBef>
                <a:spcPts val="0"/>
              </a:spcBef>
              <a:spcAft>
                <a:spcPts val="0"/>
              </a:spcAft>
            </a:pPr>
            <a:r>
              <a:rPr sz="850" b="0" i="0">
                <a:solidFill>
                  <a:srgbClr val="1C1C1E"/>
                </a:solidFill>
                <a:latin typeface="Consolas"/>
              </a:rPr>
              <a:t>    a regressor is a MODEL change, not a data one.</a:t>
            </a:r>
          </a:p>
        </p:txBody>
      </p:sp>
      <p:sp>
        <p:nvSpPr>
          <p:cNvPr id="20" name="TextBox 19"/>
          <p:cNvSpPr txBox="1"/>
          <p:nvPr/>
        </p:nvSpPr>
        <p:spPr>
          <a:xfrm>
            <a:off x="6202219" y="3633139"/>
            <a:ext cx="5212235" cy="384048"/>
          </a:xfrm>
          <a:prstGeom prst="rect">
            <a:avLst/>
          </a:prstGeom>
          <a:noFill/>
        </p:spPr>
        <p:txBody>
          <a:bodyPr wrap="square" lIns="0" rIns="0" tIns="0" bIns="0" anchor="t">
            <a:spAutoFit/>
          </a:bodyPr>
          <a:lstStyle/>
          <a:p>
            <a:pPr algn="l">
              <a:spcBef>
                <a:spcPts val="0"/>
              </a:spcBef>
              <a:spcAft>
                <a:spcPts val="0"/>
              </a:spcAft>
            </a:pPr>
            <a:r>
              <a:rPr sz="1050" b="1" i="0">
                <a:solidFill>
                  <a:srgbClr val="1C1C1E"/>
                </a:solidFill>
                <a:latin typeface="Calibri"/>
              </a:rPr>
              <a:t>So a third model goes over the wider X:</a:t>
            </a:r>
          </a:p>
        </p:txBody>
      </p:sp>
      <p:graphicFrame>
        <p:nvGraphicFramePr>
          <p:cNvPr id="21" name="Table 20"/>
          <p:cNvGraphicFramePr>
            <a:graphicFrameLocks noGrp="1"/>
          </p:cNvGraphicFramePr>
          <p:nvPr/>
        </p:nvGraphicFramePr>
        <p:xfrm>
          <a:off x="6202219" y="4053763"/>
          <a:ext cx="5212234" cy="1798164"/>
        </p:xfrm>
        <a:graphic>
          <a:graphicData uri="http://schemas.openxmlformats.org/drawingml/2006/table">
            <a:tbl>
              <a:tblPr>
                <a:tableStyleId>{5C22544A-7EE6-4342-B048-85BDC9FD1C3A}</a:tableStyleId>
              </a:tblPr>
              <a:tblGrid>
                <a:gridCol w="868705"/>
                <a:gridCol w="4343529"/>
              </a:tblGrid>
              <a:tr h="299694">
                <a:tc>
                  <a:txBody>
                    <a:bodyPr wrap="square"/>
                    <a:lstStyle/>
                    <a:p>
                      <a:pPr algn="l"/>
                      <a:r>
                        <a:rPr sz="900" b="1">
                          <a:solidFill>
                            <a:srgbClr val="A51C30"/>
                          </a:solidFill>
                          <a:latin typeface="Calibri"/>
                        </a:rPr>
                        <a:t/>
                      </a:r>
                    </a:p>
                  </a:txBody>
                  <a:tcPr marL="82296" marR="64008" marT="32004" marB="32004" anchor="ctr">
                    <a:solidFill>
                      <a:srgbClr val="F6F3EF"/>
                    </a:solidFill>
                  </a:tcPr>
                </a:tc>
                <a:tc>
                  <a:txBody>
                    <a:bodyPr wrap="square"/>
                    <a:lstStyle/>
                    <a:p>
                      <a:pPr algn="l"/>
                      <a:r>
                        <a:rPr sz="900" b="0">
                          <a:solidFill>
                            <a:srgbClr val="1C1C1E"/>
                          </a:solidFill>
                          <a:latin typeface="Calibri"/>
                        </a:rPr>
                        <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what</a:t>
                      </a:r>
                    </a:p>
                  </a:txBody>
                  <a:tcPr marL="82296" marR="64008" marT="32004" marB="32004" anchor="ctr">
                    <a:solidFill>
                      <a:srgbClr val="FFFFFF"/>
                    </a:solidFill>
                  </a:tcPr>
                </a:tc>
                <a:tc>
                  <a:txBody>
                    <a:bodyPr wrap="square"/>
                    <a:lstStyle/>
                    <a:p>
                      <a:pPr algn="l"/>
                      <a:r>
                        <a:rPr sz="900" b="0">
                          <a:solidFill>
                            <a:srgbClr val="1C1C1E"/>
                          </a:solidFill>
                          <a:latin typeface="Calibri"/>
                        </a:rPr>
                        <a:t>gradient-boosted classifier: drawdown next month</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kind</a:t>
                      </a:r>
                    </a:p>
                  </a:txBody>
                  <a:tcPr marL="82296" marR="64008" marT="32004" marB="32004" anchor="ctr">
                    <a:solidFill>
                      <a:srgbClr val="F6F3EF"/>
                    </a:solidFill>
                  </a:tcPr>
                </a:tc>
                <a:tc>
                  <a:txBody>
                    <a:bodyPr wrap="square"/>
                    <a:lstStyle/>
                    <a:p>
                      <a:pPr algn="l"/>
                      <a:r>
                        <a:rPr sz="900" b="0">
                          <a:solidFill>
                            <a:srgbClr val="1C1C1E"/>
                          </a:solidFill>
                          <a:latin typeface="Calibri"/>
                        </a:rPr>
                        <a:t>learned_weights  —  T3, not T2</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fit</a:t>
                      </a:r>
                    </a:p>
                  </a:txBody>
                  <a:tcPr marL="82296" marR="64008" marT="32004" marB="32004" anchor="ctr">
                    <a:solidFill>
                      <a:srgbClr val="FFFFFF"/>
                    </a:solidFill>
                  </a:tcPr>
                </a:tc>
                <a:tc>
                  <a:txBody>
                    <a:bodyPr wrap="square"/>
                    <a:lstStyle/>
                    <a:p>
                      <a:pPr algn="l"/>
                      <a:r>
                        <a:rPr sz="900" b="0">
                          <a:solidFill>
                            <a:srgbClr val="1C1C1E"/>
                          </a:solidFill>
                          <a:latin typeface="Calibri"/>
                        </a:rPr>
                        <a:t>train, not estimate</a:t>
                      </a:r>
                    </a:p>
                  </a:txBody>
                  <a:tcPr marL="82296" marR="64008" marT="32004" marB="32004" anchor="ctr">
                    <a:solidFill>
                      <a:srgbClr val="FFFFFF"/>
                    </a:solidFill>
                  </a:tcPr>
                </a:tc>
              </a:tr>
              <a:tr h="299694">
                <a:tc>
                  <a:txBody>
                    <a:bodyPr wrap="square"/>
                    <a:lstStyle/>
                    <a:p>
                      <a:pPr algn="l"/>
                      <a:r>
                        <a:rPr sz="900" b="1">
                          <a:solidFill>
                            <a:srgbClr val="A51C30"/>
                          </a:solidFill>
                          <a:latin typeface="Calibri"/>
                        </a:rPr>
                        <a:t>D(Y)</a:t>
                      </a:r>
                    </a:p>
                  </a:txBody>
                  <a:tcPr marL="82296" marR="64008" marT="32004" marB="32004" anchor="ctr">
                    <a:solidFill>
                      <a:srgbClr val="F6F3EF"/>
                    </a:solidFill>
                  </a:tcPr>
                </a:tc>
                <a:tc>
                  <a:txBody>
                    <a:bodyPr wrap="square"/>
                    <a:lstStyle/>
                    <a:p>
                      <a:pPr algn="l"/>
                      <a:r>
                        <a:rPr sz="900" b="0">
                          <a:solidFill>
                            <a:srgbClr val="1C1C1E"/>
                          </a:solidFill>
                          <a:latin typeface="Calibri"/>
                        </a:rPr>
                        <a:t>class_probabilities, not a point estimate</a:t>
                      </a:r>
                    </a:p>
                  </a:txBody>
                  <a:tcPr marL="82296" marR="64008" marT="32004" marB="32004" anchor="ctr">
                    <a:solidFill>
                      <a:srgbClr val="F6F3EF"/>
                    </a:solidFill>
                  </a:tcPr>
                </a:tc>
              </a:tr>
              <a:tr h="299694">
                <a:tc>
                  <a:txBody>
                    <a:bodyPr wrap="square"/>
                    <a:lstStyle/>
                    <a:p>
                      <a:pPr algn="l"/>
                      <a:r>
                        <a:rPr sz="900" b="1">
                          <a:solidFill>
                            <a:srgbClr val="A51C30"/>
                          </a:solidFill>
                          <a:latin typeface="Calibri"/>
                        </a:rPr>
                        <a:t>reads</a:t>
                      </a:r>
                    </a:p>
                  </a:txBody>
                  <a:tcPr marL="82296" marR="64008" marT="32004" marB="32004" anchor="ctr">
                    <a:solidFill>
                      <a:srgbClr val="FFFFFF"/>
                    </a:solidFill>
                  </a:tcPr>
                </a:tc>
                <a:tc>
                  <a:txBody>
                    <a:bodyPr wrap="square"/>
                    <a:lstStyle/>
                    <a:p>
                      <a:pPr algn="l"/>
                      <a:r>
                        <a:rPr sz="900" b="0">
                          <a:solidFill>
                            <a:srgbClr val="1C1C1E"/>
                          </a:solidFill>
                          <a:latin typeface="Calibri"/>
                        </a:rPr>
                        <a:t>macro_plus@v1, all four slots</a:t>
                      </a:r>
                    </a:p>
                  </a:txBody>
                  <a:tcPr marL="82296" marR="64008" marT="32004" marB="32004" anchor="ctr">
                    <a:solidFill>
                      <a:srgbClr val="FFFFFF"/>
                    </a:solidFill>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A WORKED EXAMPLE</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The data itself</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25 · A Worked Example</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150</a:t>
            </a:r>
          </a:p>
        </p:txBody>
      </p:sp>
      <p:sp>
        <p:nvSpPr>
          <p:cNvPr id="10" name="TextBox 9"/>
          <p:cNvSpPr txBox="1"/>
          <p:nvPr/>
        </p:nvSpPr>
        <p:spPr>
          <a:xfrm>
            <a:off x="777240" y="1353312"/>
            <a:ext cx="5531351" cy="2377440"/>
          </a:xfrm>
          <a:prstGeom prst="rect">
            <a:avLst/>
          </a:prstGeom>
          <a:noFill/>
        </p:spPr>
        <p:txBody>
          <a:bodyPr wrap="square" lIns="0" rIns="0" tIns="0" bIns="0" anchor="t">
            <a:spAutoFit/>
          </a:bodyPr>
          <a:lstStyle/>
          <a:p>
            <a:pPr algn="l">
              <a:spcBef>
                <a:spcPts val="0"/>
              </a:spcBef>
              <a:spcAft>
                <a:spcPts val="900"/>
              </a:spcAft>
            </a:pPr>
            <a:r>
              <a:rPr sz="1300" b="1" i="0">
                <a:solidFill>
                  <a:srgbClr val="A51C30"/>
                </a:solidFill>
                <a:latin typeface="Georgia"/>
              </a:rPr>
              <a:t>Both files are inside this deck.</a:t>
            </a:r>
          </a:p>
          <a:p>
            <a:pPr>
              <a:lnSpc>
                <a:spcPct val="125000"/>
              </a:lnSpc>
              <a:spcBef>
                <a:spcPts val="0"/>
              </a:spcBef>
              <a:spcAft>
                <a:spcPts val="1000"/>
              </a:spcAft>
            </a:pPr>
            <a:r>
              <a:rPr sz="1100" b="0" i="0">
                <a:solidFill>
                  <a:srgbClr val="1C1C1E"/>
                </a:solidFill>
                <a:latin typeface="Calibri"/>
              </a:rPr>
              <a:t>Double-click either icon and it opens in Excel. They are the data every number in this chapter was computed from, carrying their own provenance in the header — which series, from where, retrieved when, and which column means what.</a:t>
            </a:r>
          </a:p>
          <a:p>
            <a:pPr>
              <a:lnSpc>
                <a:spcPct val="125000"/>
              </a:lnSpc>
              <a:spcBef>
                <a:spcPts val="0"/>
              </a:spcBef>
              <a:spcAft>
                <a:spcPts val="1000"/>
              </a:spcAft>
            </a:pPr>
            <a:r>
              <a:rPr sz="1100" b="1" i="0">
                <a:solidFill>
                  <a:srgbClr val="A51C30"/>
                </a:solidFill>
                <a:latin typeface="Calibri"/>
              </a:rPr>
              <a:t>Including what is not certain. </a:t>
            </a:r>
            <a:r>
              <a:rPr sz="1100" b="0" i="0">
                <a:solidFill>
                  <a:srgbClr val="4A4F57"/>
                </a:solidFill>
                <a:latin typeface="Calibri"/>
              </a:rPr>
              <a:t>The unemployment file says plainly that its ingest_ts is the BLS release CONVENTION computed from the calendar, not a fetched vintage date. The lag is real and material; the exact day may be a day or two out, and a file that did not say so would be inviting somebody to rely on it.</a:t>
            </a:r>
          </a:p>
          <a:p>
            <a:pPr>
              <a:lnSpc>
                <a:spcPct val="125000"/>
              </a:lnSpc>
              <a:spcBef>
                <a:spcPts val="0"/>
              </a:spcBef>
              <a:spcAft>
                <a:spcPts val="0"/>
              </a:spcAft>
            </a:pPr>
            <a:r>
              <a:rPr sz="1100" b="1" i="0">
                <a:solidFill>
                  <a:srgbClr val="1C1C1E"/>
                </a:solidFill>
                <a:latin typeface="Calibri"/>
              </a:rPr>
              <a:t>A deck that quotes figures nobody can check is a deck that has to be believed. These can be checked.</a:t>
            </a:r>
          </a:p>
        </p:txBody>
      </p:sp>
      <p:sp>
        <p:nvSpPr>
          <p:cNvPr id="11" name="Rectangle 10"/>
          <p:cNvSpPr/>
          <p:nvPr/>
        </p:nvSpPr>
        <p:spPr>
          <a:xfrm>
            <a:off x="6734080" y="1408176"/>
            <a:ext cx="4680374" cy="1225296"/>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6734080" y="1408176"/>
            <a:ext cx="4680374"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graphicFrame>
        <p:nvGraphicFramePr>
          <p:cNvPr id="13" name="Object 12"/>
          <p:cNvGraphicFramePr>
            <a:graphicFrameLocks noGrp="1"/>
          </p:cNvGraphicFramePr>
          <p:nvPr/>
        </p:nvGraphicFramePr>
        <p:xfrm>
          <a:off x="6916960" y="1645920"/>
          <a:ext cx="566928" cy="566928"/>
        </p:xfrm>
        <a:graphic>
          <a:graphicData uri="http://schemas.openxmlformats.org/presentationml/2006/ole">
            <p:oleObj showAsIcon="1" r:id="rId2" imgW="965200" imgH="609600" progId="Excel.Sheet.12">
              <p:embed/>
              <p:pic>
                <p:nvPicPr>
                  <p:cNvPr id="0" name=""/>
                  <p:cNvPicPr/>
                  <p:nvPr/>
                </p:nvPicPr>
                <p:blipFill>
                  <a:blip r:embed="rId3"/>
                  <a:stretch>
                    <a:fillRect/>
                  </a:stretch>
                </p:blipFill>
                <p:spPr>
                  <a:xfrm>
                    <a:off x="6916960" y="1645920"/>
                    <a:ext cx="566928" cy="566928"/>
                  </a:xfrm>
                  <a:prstGeom prst="rect">
                    <a:avLst/>
                  </a:prstGeom>
                </p:spPr>
              </p:pic>
            </p:oleObj>
          </a:graphicData>
        </a:graphic>
      </p:graphicFrame>
      <p:sp>
        <p:nvSpPr>
          <p:cNvPr id="14" name="TextBox 13"/>
          <p:cNvSpPr txBox="1"/>
          <p:nvPr/>
        </p:nvSpPr>
        <p:spPr>
          <a:xfrm>
            <a:off x="7611904" y="1609344"/>
            <a:ext cx="3601382" cy="859536"/>
          </a:xfrm>
          <a:prstGeom prst="rect">
            <a:avLst/>
          </a:prstGeom>
          <a:noFill/>
        </p:spPr>
        <p:txBody>
          <a:bodyPr wrap="square" lIns="0" rIns="0" tIns="0" bIns="0" anchor="t">
            <a:spAutoFit/>
          </a:bodyPr>
          <a:lstStyle/>
          <a:p>
            <a:pPr algn="l">
              <a:spcBef>
                <a:spcPts val="0"/>
              </a:spcBef>
              <a:spcAft>
                <a:spcPts val="300"/>
              </a:spcAft>
            </a:pPr>
            <a:r>
              <a:rPr sz="1150" b="1" i="0">
                <a:solidFill>
                  <a:srgbClr val="1C1C1E"/>
                </a:solidFill>
                <a:latin typeface="Georgia"/>
              </a:rPr>
              <a:t>S&amp;P 500, daily close</a:t>
            </a:r>
          </a:p>
          <a:p>
            <a:pPr>
              <a:lnSpc>
                <a:spcPct val="118000"/>
              </a:lnSpc>
              <a:spcBef>
                <a:spcPts val="0"/>
              </a:spcBef>
              <a:spcAft>
                <a:spcPts val="300"/>
              </a:spcAft>
            </a:pPr>
            <a:r>
              <a:rPr sz="900" b="0" i="0">
                <a:solidFill>
                  <a:srgbClr val="4A4F57"/>
                </a:solidFill>
                <a:latin typeface="Calibri"/>
              </a:rPr>
              <a:t>FRED series SP500  ·  258 rows  ·  Sep 2025 – Sep 2026</a:t>
            </a:r>
          </a:p>
          <a:p>
            <a:pPr>
              <a:spcBef>
                <a:spcPts val="0"/>
              </a:spcBef>
              <a:spcAft>
                <a:spcPts val="0"/>
              </a:spcAft>
            </a:pPr>
            <a:r>
              <a:rPr sz="850" b="0" i="0">
                <a:solidFill>
                  <a:srgbClr val="A51C30"/>
                </a:solidFill>
                <a:latin typeface="Calibri"/>
              </a:rPr>
              <a:t>sp500_daily.xlsx</a:t>
            </a:r>
          </a:p>
        </p:txBody>
      </p:sp>
      <p:sp>
        <p:nvSpPr>
          <p:cNvPr id="15" name="Rectangle 14"/>
          <p:cNvSpPr/>
          <p:nvPr/>
        </p:nvSpPr>
        <p:spPr>
          <a:xfrm>
            <a:off x="6734080" y="2798064"/>
            <a:ext cx="4680374" cy="1225296"/>
          </a:xfrm>
          <a:prstGeom prst="rect">
            <a:avLst/>
          </a:prstGeom>
          <a:solidFill>
            <a:srgbClr val="F6F3EF"/>
          </a:solidFill>
          <a:ln w="1270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6734080" y="2798064"/>
            <a:ext cx="4680374" cy="457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graphicFrame>
        <p:nvGraphicFramePr>
          <p:cNvPr id="17" name="Object 16"/>
          <p:cNvGraphicFramePr>
            <a:graphicFrameLocks noGrp="1"/>
          </p:cNvGraphicFramePr>
          <p:nvPr/>
        </p:nvGraphicFramePr>
        <p:xfrm>
          <a:off x="6916960" y="3035808"/>
          <a:ext cx="566928" cy="566928"/>
        </p:xfrm>
        <a:graphic>
          <a:graphicData uri="http://schemas.openxmlformats.org/presentationml/2006/ole">
            <p:oleObj showAsIcon="1" r:id="rId4" imgW="965200" imgH="609600" progId="Excel.Sheet.12">
              <p:embed/>
              <p:pic>
                <p:nvPicPr>
                  <p:cNvPr id="0" name=""/>
                  <p:cNvPicPr/>
                  <p:nvPr/>
                </p:nvPicPr>
                <p:blipFill>
                  <a:blip r:embed="rId3"/>
                  <a:stretch>
                    <a:fillRect/>
                  </a:stretch>
                </p:blipFill>
                <p:spPr>
                  <a:xfrm>
                    <a:off x="6916960" y="3035808"/>
                    <a:ext cx="566928" cy="566928"/>
                  </a:xfrm>
                  <a:prstGeom prst="rect">
                    <a:avLst/>
                  </a:prstGeom>
                </p:spPr>
              </p:pic>
            </p:oleObj>
          </a:graphicData>
        </a:graphic>
      </p:graphicFrame>
      <p:sp>
        <p:nvSpPr>
          <p:cNvPr id="18" name="TextBox 17"/>
          <p:cNvSpPr txBox="1"/>
          <p:nvPr/>
        </p:nvSpPr>
        <p:spPr>
          <a:xfrm>
            <a:off x="7611904" y="2999232"/>
            <a:ext cx="3601382" cy="859536"/>
          </a:xfrm>
          <a:prstGeom prst="rect">
            <a:avLst/>
          </a:prstGeom>
          <a:noFill/>
        </p:spPr>
        <p:txBody>
          <a:bodyPr wrap="square" lIns="0" rIns="0" tIns="0" bIns="0" anchor="t">
            <a:spAutoFit/>
          </a:bodyPr>
          <a:lstStyle/>
          <a:p>
            <a:pPr algn="l">
              <a:spcBef>
                <a:spcPts val="0"/>
              </a:spcBef>
              <a:spcAft>
                <a:spcPts val="300"/>
              </a:spcAft>
            </a:pPr>
            <a:r>
              <a:rPr sz="1150" b="1" i="0">
                <a:solidFill>
                  <a:srgbClr val="1C1C1E"/>
                </a:solidFill>
                <a:latin typeface="Georgia"/>
              </a:rPr>
              <a:t>US unemployment rate (U-3)</a:t>
            </a:r>
          </a:p>
          <a:p>
            <a:pPr>
              <a:lnSpc>
                <a:spcPct val="118000"/>
              </a:lnSpc>
              <a:spcBef>
                <a:spcPts val="0"/>
              </a:spcBef>
              <a:spcAft>
                <a:spcPts val="300"/>
              </a:spcAft>
            </a:pPr>
            <a:r>
              <a:rPr sz="900" b="0" i="0">
                <a:solidFill>
                  <a:srgbClr val="4A4F57"/>
                </a:solidFill>
                <a:latin typeface="Calibri"/>
              </a:rPr>
              <a:t>FRED series UNRATE  ·  12 months  ·  one of them empty</a:t>
            </a:r>
          </a:p>
          <a:p>
            <a:pPr>
              <a:spcBef>
                <a:spcPts val="0"/>
              </a:spcBef>
              <a:spcAft>
                <a:spcPts val="0"/>
              </a:spcAft>
            </a:pPr>
            <a:r>
              <a:rPr sz="850" b="0" i="0">
                <a:solidFill>
                  <a:srgbClr val="A51C30"/>
                </a:solidFill>
                <a:latin typeface="Calibri"/>
              </a:rPr>
              <a:t>us_unemployment_monthly.xlsx</a:t>
            </a:r>
          </a:p>
        </p:txBody>
      </p:sp>
      <p:sp>
        <p:nvSpPr>
          <p:cNvPr id="19" name="Rectangle 18"/>
          <p:cNvSpPr/>
          <p:nvPr/>
        </p:nvSpPr>
        <p:spPr>
          <a:xfrm>
            <a:off x="777240" y="4297680"/>
            <a:ext cx="10637215" cy="786384"/>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0" name="Rectangle 19"/>
          <p:cNvSpPr/>
          <p:nvPr/>
        </p:nvSpPr>
        <p:spPr>
          <a:xfrm>
            <a:off x="777240" y="4297680"/>
            <a:ext cx="41148" cy="786384"/>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TextBox 20"/>
          <p:cNvSpPr txBox="1"/>
          <p:nvPr/>
        </p:nvSpPr>
        <p:spPr>
          <a:xfrm>
            <a:off x="1014983" y="4416552"/>
            <a:ext cx="10180015" cy="566928"/>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They also ship in the repository, at docs/examples/, as CSV. </a:t>
            </a:r>
            <a:r>
              <a:rPr sz="1050" b="0" i="0">
                <a:solidFill>
                  <a:srgbClr val="1C1C1E"/>
                </a:solidFill>
                <a:latin typeface="Calibri"/>
              </a:rPr>
              <a:t>The deck is regenerated from source rather than edited as a binary, so the figures and the files cannot drift apart — </a:t>
            </a:r>
            <a:r>
              <a:rPr sz="1050" b="1" i="0">
                <a:solidFill>
                  <a:srgbClr val="1C1C1E"/>
                </a:solidFill>
                <a:latin typeface="Calibri"/>
              </a:rPr>
              <a:t>the generator reads these same two CSVs.</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82880"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Rectangle 3"/>
          <p:cNvSpPr/>
          <p:nvPr/>
        </p:nvSpPr>
        <p:spPr>
          <a:xfrm>
            <a:off x="1143000" y="1005840"/>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5" name="TextBox 4"/>
          <p:cNvSpPr txBox="1"/>
          <p:nvPr/>
        </p:nvSpPr>
        <p:spPr>
          <a:xfrm>
            <a:off x="1143000" y="1280160"/>
            <a:ext cx="8509772" cy="2377440"/>
          </a:xfrm>
          <a:prstGeom prst="rect">
            <a:avLst/>
          </a:prstGeom>
          <a:noFill/>
        </p:spPr>
        <p:txBody>
          <a:bodyPr wrap="square" lIns="0" rIns="0" tIns="0" bIns="0" anchor="t">
            <a:spAutoFit/>
          </a:bodyPr>
          <a:lstStyle/>
          <a:p>
            <a:pPr algn="l">
              <a:spcBef>
                <a:spcPts val="0"/>
              </a:spcBef>
              <a:spcAft>
                <a:spcPts val="1400"/>
              </a:spcAft>
            </a:pPr>
            <a:r>
              <a:rPr sz="3400" b="0" i="0">
                <a:solidFill>
                  <a:srgbClr val="FFFFFF"/>
                </a:solidFill>
                <a:latin typeface="Georgia"/>
              </a:rPr>
              <a:t>One idea, applied everywhere</a:t>
            </a:r>
          </a:p>
          <a:p>
            <a:pPr>
              <a:lnSpc>
                <a:spcPct val="132000"/>
              </a:lnSpc>
              <a:spcBef>
                <a:spcPts val="0"/>
              </a:spcBef>
              <a:spcAft>
                <a:spcPts val="0"/>
              </a:spcAft>
            </a:pPr>
            <a:r>
              <a:rPr sz="1500" b="0" i="1">
                <a:solidFill>
                  <a:srgbClr val="F4DFE3"/>
                </a:solidFill>
                <a:latin typeface="Calibri"/>
              </a:rPr>
              <a:t>A pin is to a version, never to a name. A clock records when something became knowable, not when it was written down. A refusal says what to do instead. And what the platform will not do is written down beside what it will.</a:t>
            </a:r>
          </a:p>
        </p:txBody>
      </p:sp>
      <p:sp>
        <p:nvSpPr>
          <p:cNvPr id="6" name="TextBox 5"/>
          <p:cNvSpPr txBox="1"/>
          <p:nvPr/>
        </p:nvSpPr>
        <p:spPr>
          <a:xfrm>
            <a:off x="1143000" y="3858768"/>
            <a:ext cx="7871539" cy="1920240"/>
          </a:xfrm>
          <a:prstGeom prst="rect">
            <a:avLst/>
          </a:prstGeom>
          <a:noFill/>
        </p:spPr>
        <p:txBody>
          <a:bodyPr wrap="square" lIns="0" rIns="0" tIns="0" bIns="0" anchor="t">
            <a:spAutoFit/>
          </a:bodyPr>
          <a:lstStyle/>
          <a:p>
            <a:pPr algn="l">
              <a:spcBef>
                <a:spcPts val="0"/>
              </a:spcBef>
              <a:spcAft>
                <a:spcPts val="400"/>
              </a:spcAft>
            </a:pPr>
            <a:r>
              <a:rPr sz="1800" b="1" i="0">
                <a:solidFill>
                  <a:srgbClr val="FFFFFF"/>
                </a:solidFill>
                <a:latin typeface="Calibri"/>
              </a:rPr>
              <a:t>Ashutosh Sinha</a:t>
            </a:r>
          </a:p>
          <a:p>
            <a:pPr>
              <a:spcBef>
                <a:spcPts val="0"/>
              </a:spcBef>
              <a:spcAft>
                <a:spcPts val="1400"/>
              </a:spcAft>
            </a:pPr>
            <a:r>
              <a:rPr sz="1200" b="0" i="0">
                <a:solidFill>
                  <a:srgbClr val="F2D8DC"/>
                </a:solidFill>
                <a:latin typeface="Calibri"/>
              </a:rPr>
              <a:t>Independent Researcher   ·   ajsinha@gmail.com</a:t>
            </a:r>
          </a:p>
          <a:p>
            <a:pPr>
              <a:lnSpc>
                <a:spcPct val="130000"/>
              </a:lnSpc>
              <a:spcBef>
                <a:spcPts val="0"/>
              </a:spcBef>
              <a:spcAft>
                <a:spcPts val="600"/>
              </a:spcAft>
            </a:pPr>
            <a:r>
              <a:rPr sz="1050" b="0" i="0">
                <a:solidFill>
                  <a:srgbClr val="E8C4CA"/>
                </a:solidFill>
                <a:latin typeface="Calibri"/>
              </a:rPr>
              <a:t>Featuresets and parameters: docs/15-featuresets-and-parameters.md   ·   Composition and retrieval: docs/16-features-composed-and-shaped.md   ·   Feature platform: docs/07-feature-platform.md</a:t>
            </a:r>
          </a:p>
          <a:p>
            <a:pPr>
              <a:lnSpc>
                <a:spcPct val="125000"/>
              </a:lnSpc>
              <a:spcBef>
                <a:spcPts val="1000"/>
              </a:spcBef>
              <a:spcAft>
                <a:spcPts val="600"/>
              </a:spcAft>
            </a:pPr>
            <a:r>
              <a:rPr sz="850" b="0" i="0">
                <a:solidFill>
                  <a:srgbClr val="D8A0AC"/>
                </a:solidFill>
                <a:latin typeface="Calibri"/>
              </a:rPr>
              <a:t>© 2026 Ashutosh Sinha. All rights reserved. Proprietary and confidential — see LICENSE and NOTICE. Not legal, regulatory or financial advice.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CLOSING</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What this commits to</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Closing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151</a:t>
            </a:r>
          </a:p>
        </p:txBody>
      </p:sp>
      <p:sp>
        <p:nvSpPr>
          <p:cNvPr id="10" name="Rectangle 9"/>
          <p:cNvSpPr/>
          <p:nvPr/>
        </p:nvSpPr>
        <p:spPr>
          <a:xfrm>
            <a:off x="777240"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1" name="Rectangle 10"/>
          <p:cNvSpPr/>
          <p:nvPr/>
        </p:nvSpPr>
        <p:spPr>
          <a:xfrm>
            <a:off x="777240"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TextBox 11"/>
          <p:cNvSpPr txBox="1"/>
          <p:nvPr/>
        </p:nvSpPr>
        <p:spPr>
          <a:xfrm>
            <a:off x="996695"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01</a:t>
            </a:r>
          </a:p>
        </p:txBody>
      </p:sp>
      <p:sp>
        <p:nvSpPr>
          <p:cNvPr id="13" name="TextBox 12"/>
          <p:cNvSpPr txBox="1"/>
          <p:nvPr/>
        </p:nvSpPr>
        <p:spPr>
          <a:xfrm>
            <a:off x="996695"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A model is a representation, and error is a quantity</a:t>
            </a:r>
          </a:p>
        </p:txBody>
      </p:sp>
      <p:sp>
        <p:nvSpPr>
          <p:cNvPr id="14" name="TextBox 13"/>
          <p:cNvSpPr txBox="1"/>
          <p:nvPr/>
        </p:nvSpPr>
        <p:spPr>
          <a:xfrm>
            <a:off x="996695"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Not a defect to be eliminated. Every version carries an operating boundary, and a warrant outside it is refused rather than answered — which is the mark, drawn as a control.</a:t>
            </a:r>
          </a:p>
        </p:txBody>
      </p:sp>
      <p:sp>
        <p:nvSpPr>
          <p:cNvPr id="15" name="Rectangle 14"/>
          <p:cNvSpPr/>
          <p:nvPr/>
        </p:nvSpPr>
        <p:spPr>
          <a:xfrm>
            <a:off x="4414418"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6" name="Rectangle 15"/>
          <p:cNvSpPr/>
          <p:nvPr/>
        </p:nvSpPr>
        <p:spPr>
          <a:xfrm>
            <a:off x="4414418"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7" name="TextBox 16"/>
          <p:cNvSpPr txBox="1"/>
          <p:nvPr/>
        </p:nvSpPr>
        <p:spPr>
          <a:xfrm>
            <a:off x="4633874"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02</a:t>
            </a:r>
          </a:p>
        </p:txBody>
      </p:sp>
      <p:sp>
        <p:nvSpPr>
          <p:cNvPr id="18" name="TextBox 17"/>
          <p:cNvSpPr txBox="1"/>
          <p:nvPr/>
        </p:nvSpPr>
        <p:spPr>
          <a:xfrm>
            <a:off x="4633874"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Governance is never in the serving path</a:t>
            </a:r>
          </a:p>
        </p:txBody>
      </p:sp>
      <p:sp>
        <p:nvSpPr>
          <p:cNvPr id="19" name="TextBox 18"/>
          <p:cNvSpPr txBox="1"/>
          <p:nvPr/>
        </p:nvSpPr>
        <p:spPr>
          <a:xfrm>
            <a:off x="4633874"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950" b="0" i="0">
                <a:solidFill>
                  <a:srgbClr val="4A4F57"/>
                </a:solidFill>
                <a:latin typeface="Calibri"/>
              </a:rPr>
              <a:t>MAYA issues a warrant; an engine acts on it. If MAYA is down, authorised scoring continues and only new issuance stops. Governance must not be the bank's single point of failure.</a:t>
            </a:r>
          </a:p>
        </p:txBody>
      </p:sp>
      <p:sp>
        <p:nvSpPr>
          <p:cNvPr id="20" name="Rectangle 19"/>
          <p:cNvSpPr/>
          <p:nvPr/>
        </p:nvSpPr>
        <p:spPr>
          <a:xfrm>
            <a:off x="8051596" y="135331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1" name="Rectangle 20"/>
          <p:cNvSpPr/>
          <p:nvPr/>
        </p:nvSpPr>
        <p:spPr>
          <a:xfrm>
            <a:off x="8051596" y="135331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2" name="TextBox 21"/>
          <p:cNvSpPr txBox="1"/>
          <p:nvPr/>
        </p:nvSpPr>
        <p:spPr>
          <a:xfrm>
            <a:off x="8271052" y="1572768"/>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03</a:t>
            </a:r>
          </a:p>
        </p:txBody>
      </p:sp>
      <p:sp>
        <p:nvSpPr>
          <p:cNvPr id="23" name="TextBox 22"/>
          <p:cNvSpPr txBox="1"/>
          <p:nvPr/>
        </p:nvSpPr>
        <p:spPr>
          <a:xfrm>
            <a:off x="8271052" y="1847088"/>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Nobody is asked to believe anything</a:t>
            </a:r>
          </a:p>
        </p:txBody>
      </p:sp>
      <p:sp>
        <p:nvSpPr>
          <p:cNvPr id="24" name="TextBox 23"/>
          <p:cNvSpPr txBox="1"/>
          <p:nvPr/>
        </p:nvSpPr>
        <p:spPr>
          <a:xfrm>
            <a:off x="8271052" y="2350008"/>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Every claim is bound to the artefact it rests on, in one append-only record — which is also the record segregation of duties is decided from, because two accounts of who did what can disagree.</a:t>
            </a:r>
          </a:p>
        </p:txBody>
      </p:sp>
      <p:sp>
        <p:nvSpPr>
          <p:cNvPr id="25" name="Rectangle 24"/>
          <p:cNvSpPr/>
          <p:nvPr/>
        </p:nvSpPr>
        <p:spPr>
          <a:xfrm>
            <a:off x="777240"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6" name="Rectangle 25"/>
          <p:cNvSpPr/>
          <p:nvPr/>
        </p:nvSpPr>
        <p:spPr>
          <a:xfrm>
            <a:off x="777240"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27" name="TextBox 26"/>
          <p:cNvSpPr txBox="1"/>
          <p:nvPr/>
        </p:nvSpPr>
        <p:spPr>
          <a:xfrm>
            <a:off x="996695"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04</a:t>
            </a:r>
          </a:p>
        </p:txBody>
      </p:sp>
      <p:sp>
        <p:nvSpPr>
          <p:cNvPr id="28" name="TextBox 27"/>
          <p:cNvSpPr txBox="1"/>
          <p:nvPr/>
        </p:nvSpPr>
        <p:spPr>
          <a:xfrm>
            <a:off x="996695" y="3950207"/>
            <a:ext cx="2923946" cy="246888"/>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Nothing derivable is stored</a:t>
            </a:r>
          </a:p>
        </p:txBody>
      </p:sp>
      <p:sp>
        <p:nvSpPr>
          <p:cNvPr id="29" name="TextBox 28"/>
          <p:cNvSpPr txBox="1"/>
          <p:nvPr/>
        </p:nvSpPr>
        <p:spPr>
          <a:xfrm>
            <a:off x="996695" y="4261103"/>
            <a:ext cx="2923946" cy="932688"/>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Tier, worklist, estate summary, documentation, dossier, board pack: computed. A stored derivation is one that can go stale, and the stale one is what somebody reads.</a:t>
            </a:r>
          </a:p>
        </p:txBody>
      </p:sp>
      <p:sp>
        <p:nvSpPr>
          <p:cNvPr id="30" name="Rectangle 29"/>
          <p:cNvSpPr/>
          <p:nvPr/>
        </p:nvSpPr>
        <p:spPr>
          <a:xfrm>
            <a:off x="4414418"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1" name="Rectangle 30"/>
          <p:cNvSpPr/>
          <p:nvPr/>
        </p:nvSpPr>
        <p:spPr>
          <a:xfrm>
            <a:off x="4414418"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2" name="TextBox 31"/>
          <p:cNvSpPr txBox="1"/>
          <p:nvPr/>
        </p:nvSpPr>
        <p:spPr>
          <a:xfrm>
            <a:off x="4633874"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05</a:t>
            </a:r>
          </a:p>
        </p:txBody>
      </p:sp>
      <p:sp>
        <p:nvSpPr>
          <p:cNvPr id="33" name="TextBox 32"/>
          <p:cNvSpPr txBox="1"/>
          <p:nvPr/>
        </p:nvSpPr>
        <p:spPr>
          <a:xfrm>
            <a:off x="4633874"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laws are the acceptance criteria</a:t>
            </a:r>
          </a:p>
        </p:txBody>
      </p:sp>
      <p:sp>
        <p:nvSpPr>
          <p:cNvPr id="34" name="TextBox 33"/>
          <p:cNvSpPr txBox="1"/>
          <p:nvPr/>
        </p:nvSpPr>
        <p:spPr>
          <a:xfrm>
            <a:off x="4633874"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850" b="0" i="0">
                <a:solidFill>
                  <a:srgbClr val="4A4F57"/>
                </a:solidFill>
                <a:latin typeface="Calibri"/>
              </a:rPr>
              <a:t>Fifteen of twenty-one foundational laws run, and all fourteen warrant laws run before a signature. The six that do not are named with the reason, because a law stated but not executed prevented nothing.</a:t>
            </a:r>
          </a:p>
        </p:txBody>
      </p:sp>
      <p:sp>
        <p:nvSpPr>
          <p:cNvPr id="35" name="Rectangle 34"/>
          <p:cNvSpPr/>
          <p:nvPr/>
        </p:nvSpPr>
        <p:spPr>
          <a:xfrm>
            <a:off x="8051596" y="3456432"/>
            <a:ext cx="3362858" cy="1920240"/>
          </a:xfrm>
          <a:prstGeom prst="rect">
            <a:avLst/>
          </a:prstGeom>
          <a:solidFill>
            <a:srgbClr val="FFFFFF"/>
          </a:solidFill>
          <a:ln w="11430">
            <a:solidFill>
              <a:srgbClr val="D8D4CF"/>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6" name="Rectangle 35"/>
          <p:cNvSpPr/>
          <p:nvPr/>
        </p:nvSpPr>
        <p:spPr>
          <a:xfrm>
            <a:off x="8051596" y="3456432"/>
            <a:ext cx="3362858"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7" name="TextBox 36"/>
          <p:cNvSpPr txBox="1"/>
          <p:nvPr/>
        </p:nvSpPr>
        <p:spPr>
          <a:xfrm>
            <a:off x="8271052" y="3675887"/>
            <a:ext cx="2923946" cy="237744"/>
          </a:xfrm>
          <a:prstGeom prst="rect">
            <a:avLst/>
          </a:prstGeom>
          <a:noFill/>
        </p:spPr>
        <p:txBody>
          <a:bodyPr wrap="square" lIns="0" rIns="0" tIns="0" bIns="0" anchor="t">
            <a:spAutoFit/>
          </a:bodyPr>
          <a:lstStyle/>
          <a:p>
            <a:pPr algn="l">
              <a:spcBef>
                <a:spcPts val="0"/>
              </a:spcBef>
              <a:spcAft>
                <a:spcPts val="0"/>
              </a:spcAft>
            </a:pPr>
            <a:r>
              <a:rPr sz="1000" b="1" i="0">
                <a:solidFill>
                  <a:srgbClr val="A51C30"/>
                </a:solidFill>
                <a:latin typeface="Calibri"/>
              </a:rPr>
              <a:t>06</a:t>
            </a:r>
          </a:p>
        </p:txBody>
      </p:sp>
      <p:sp>
        <p:nvSpPr>
          <p:cNvPr id="38" name="TextBox 37"/>
          <p:cNvSpPr txBox="1"/>
          <p:nvPr/>
        </p:nvSpPr>
        <p:spPr>
          <a:xfrm>
            <a:off x="8271052" y="3950207"/>
            <a:ext cx="2923946" cy="438912"/>
          </a:xfrm>
          <a:prstGeom prst="rect">
            <a:avLst/>
          </a:prstGeom>
          <a:noFill/>
        </p:spPr>
        <p:txBody>
          <a:bodyPr wrap="square" lIns="0" rIns="0" tIns="0" bIns="0" anchor="t">
            <a:spAutoFit/>
          </a:bodyPr>
          <a:lstStyle/>
          <a:p>
            <a:pPr algn="l">
              <a:lnSpc>
                <a:spcPct val="112000"/>
              </a:lnSpc>
              <a:spcBef>
                <a:spcPts val="0"/>
              </a:spcBef>
              <a:spcAft>
                <a:spcPts val="0"/>
              </a:spcAft>
            </a:pPr>
            <a:r>
              <a:rPr sz="1350" b="1" i="0">
                <a:solidFill>
                  <a:srgbClr val="1C1C1E"/>
                </a:solidFill>
                <a:latin typeface="Georgia"/>
              </a:rPr>
              <a:t>The compliant path is the fast path</a:t>
            </a:r>
          </a:p>
        </p:txBody>
      </p:sp>
      <p:sp>
        <p:nvSpPr>
          <p:cNvPr id="39" name="TextBox 38"/>
          <p:cNvSpPr txBox="1"/>
          <p:nvPr/>
        </p:nvSpPr>
        <p:spPr>
          <a:xfrm>
            <a:off x="8271052" y="4453127"/>
            <a:ext cx="2923946" cy="740664"/>
          </a:xfrm>
          <a:prstGeom prst="rect">
            <a:avLst/>
          </a:prstGeom>
          <a:noFill/>
        </p:spPr>
        <p:txBody>
          <a:bodyPr wrap="square" lIns="0" rIns="0" tIns="0" bIns="0" anchor="t">
            <a:spAutoFit/>
          </a:bodyPr>
          <a:lstStyle/>
          <a:p>
            <a:pPr algn="l">
              <a:lnSpc>
                <a:spcPct val="122000"/>
              </a:lnSpc>
              <a:spcBef>
                <a:spcPts val="0"/>
              </a:spcBef>
              <a:spcAft>
                <a:spcPts val="0"/>
              </a:spcAft>
            </a:pPr>
            <a:r>
              <a:rPr sz="1050" b="0" i="0">
                <a:solidFill>
                  <a:srgbClr val="4A4F57"/>
                </a:solidFill>
                <a:latin typeface="Calibri"/>
              </a:rPr>
              <a:t>If registering a model properly took forty lines of plumbing and getting it wrong took four, the register would fill with models nobody registered properly.</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566928"/>
            <a:ext cx="274320" cy="50292"/>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777240" y="475488"/>
            <a:ext cx="10637215" cy="219456"/>
          </a:xfrm>
          <a:prstGeom prst="rect">
            <a:avLst/>
          </a:prstGeom>
          <a:noFill/>
        </p:spPr>
        <p:txBody>
          <a:bodyPr wrap="square" lIns="0" rIns="0" tIns="0" bIns="0" anchor="t">
            <a:spAutoFit/>
          </a:bodyPr>
          <a:lstStyle/>
          <a:p>
            <a:pPr algn="l">
              <a:spcBef>
                <a:spcPts val="0"/>
              </a:spcBef>
              <a:spcAft>
                <a:spcPts val="0"/>
              </a:spcAft>
            </a:pPr>
            <a:r>
              <a:rPr sz="1050" b="1" i="0">
                <a:solidFill>
                  <a:srgbClr val="A51C30"/>
                </a:solidFill>
                <a:latin typeface="Calibri"/>
              </a:rPr>
              <a:t>CLOSING · THE HONEST HALF</a:t>
            </a:r>
          </a:p>
        </p:txBody>
      </p:sp>
      <p:sp>
        <p:nvSpPr>
          <p:cNvPr id="5" name="TextBox 4"/>
          <p:cNvSpPr txBox="1"/>
          <p:nvPr/>
        </p:nvSpPr>
        <p:spPr>
          <a:xfrm>
            <a:off x="777240" y="749808"/>
            <a:ext cx="10637215" cy="484631"/>
          </a:xfrm>
          <a:prstGeom prst="rect">
            <a:avLst/>
          </a:prstGeom>
          <a:noFill/>
        </p:spPr>
        <p:txBody>
          <a:bodyPr wrap="square" lIns="0" rIns="0" tIns="0" bIns="0" anchor="t">
            <a:spAutoFit/>
          </a:bodyPr>
          <a:lstStyle/>
          <a:p>
            <a:pPr algn="l">
              <a:lnSpc>
                <a:spcPct val="120000"/>
              </a:lnSpc>
              <a:spcBef>
                <a:spcPts val="0"/>
              </a:spcBef>
              <a:spcAft>
                <a:spcPts val="0"/>
              </a:spcAft>
            </a:pPr>
            <a:r>
              <a:rPr sz="2700" b="0" i="0">
                <a:solidFill>
                  <a:srgbClr val="1C1C1E"/>
                </a:solidFill>
                <a:latin typeface="Georgia"/>
              </a:rPr>
              <a:t>And what it does not do</a:t>
            </a:r>
          </a:p>
        </p:txBody>
      </p:sp>
      <p:sp>
        <p:nvSpPr>
          <p:cNvPr id="6" name="Rectangle 5"/>
          <p:cNvSpPr/>
          <p:nvPr/>
        </p:nvSpPr>
        <p:spPr>
          <a:xfrm>
            <a:off x="777240" y="1207008"/>
            <a:ext cx="10637215" cy="10972"/>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7" name="Rectangle 6"/>
          <p:cNvSpPr/>
          <p:nvPr/>
        </p:nvSpPr>
        <p:spPr>
          <a:xfrm>
            <a:off x="777240" y="6355080"/>
            <a:ext cx="10637215" cy="7315"/>
          </a:xfrm>
          <a:prstGeom prst="rect">
            <a:avLst/>
          </a:prstGeom>
          <a:solidFill>
            <a:srgbClr val="D8D4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8" name="TextBox 7"/>
          <p:cNvSpPr txBox="1"/>
          <p:nvPr/>
        </p:nvSpPr>
        <p:spPr>
          <a:xfrm>
            <a:off x="777240" y="6437376"/>
            <a:ext cx="7446050" cy="219456"/>
          </a:xfrm>
          <a:prstGeom prst="rect">
            <a:avLst/>
          </a:prstGeom>
          <a:noFill/>
        </p:spPr>
        <p:txBody>
          <a:bodyPr wrap="square" lIns="0" rIns="0" tIns="0" bIns="0" anchor="t">
            <a:spAutoFit/>
          </a:bodyPr>
          <a:lstStyle/>
          <a:p>
            <a:pPr algn="l">
              <a:spcBef>
                <a:spcPts val="0"/>
              </a:spcBef>
              <a:spcAft>
                <a:spcPts val="0"/>
              </a:spcAft>
            </a:pPr>
            <a:r>
              <a:rPr sz="850" b="0" i="0">
                <a:solidFill>
                  <a:srgbClr val="7A7F87"/>
                </a:solidFill>
                <a:latin typeface="Calibri"/>
              </a:rPr>
              <a:t>Closing</a:t>
            </a:r>
          </a:p>
        </p:txBody>
      </p:sp>
      <p:sp>
        <p:nvSpPr>
          <p:cNvPr id="9" name="TextBox 8"/>
          <p:cNvSpPr txBox="1"/>
          <p:nvPr/>
        </p:nvSpPr>
        <p:spPr>
          <a:xfrm>
            <a:off x="8223290" y="6437376"/>
            <a:ext cx="3191164" cy="219456"/>
          </a:xfrm>
          <a:prstGeom prst="rect">
            <a:avLst/>
          </a:prstGeom>
          <a:noFill/>
        </p:spPr>
        <p:txBody>
          <a:bodyPr wrap="square" lIns="0" rIns="0" tIns="0" bIns="0" anchor="t">
            <a:spAutoFit/>
          </a:bodyPr>
          <a:lstStyle/>
          <a:p>
            <a:pPr algn="r">
              <a:spcBef>
                <a:spcPts val="0"/>
              </a:spcBef>
              <a:spcAft>
                <a:spcPts val="0"/>
              </a:spcAft>
            </a:pPr>
            <a:r>
              <a:rPr sz="850" b="1" i="0">
                <a:solidFill>
                  <a:srgbClr val="7A7F87"/>
                </a:solidFill>
                <a:latin typeface="Calibri"/>
              </a:rPr>
              <a:t>152</a:t>
            </a:r>
          </a:p>
        </p:txBody>
      </p:sp>
      <p:graphicFrame>
        <p:nvGraphicFramePr>
          <p:cNvPr id="10" name="Table 9"/>
          <p:cNvGraphicFramePr>
            <a:graphicFrameLocks noGrp="1"/>
          </p:cNvGraphicFramePr>
          <p:nvPr/>
        </p:nvGraphicFramePr>
        <p:xfrm>
          <a:off x="777240" y="1353312"/>
          <a:ext cx="10637215" cy="2833116"/>
        </p:xfrm>
        <a:graphic>
          <a:graphicData uri="http://schemas.openxmlformats.org/drawingml/2006/table">
            <a:tbl>
              <a:tblPr firstRow="1">
                <a:tableStyleId>{5C22544A-7EE6-4342-B048-85BDC9FD1C3A}</a:tableStyleId>
              </a:tblPr>
              <a:tblGrid>
                <a:gridCol w="3291557"/>
                <a:gridCol w="7345658"/>
              </a:tblGrid>
              <a:tr h="329184">
                <a:tc>
                  <a:txBody>
                    <a:bodyPr wrap="square"/>
                    <a:lstStyle/>
                    <a:p>
                      <a:pPr algn="l"/>
                      <a:r>
                        <a:rPr sz="1000" b="1">
                          <a:solidFill>
                            <a:srgbClr val="FFFFFF"/>
                          </a:solidFill>
                          <a:latin typeface="Calibri"/>
                        </a:rPr>
                        <a:t>Not built</a:t>
                      </a:r>
                    </a:p>
                  </a:txBody>
                  <a:tcPr marL="82296" marR="64008" marT="32004" marB="32004" anchor="ctr">
                    <a:solidFill>
                      <a:srgbClr val="A51C30"/>
                    </a:solidFill>
                  </a:tcPr>
                </a:tc>
                <a:tc>
                  <a:txBody>
                    <a:bodyPr wrap="square"/>
                    <a:lstStyle/>
                    <a:p>
                      <a:pPr algn="l"/>
                      <a:r>
                        <a:rPr sz="1000" b="1">
                          <a:solidFill>
                            <a:srgbClr val="FFFFFF"/>
                          </a:solidFill>
                          <a:latin typeface="Calibri"/>
                        </a:rPr>
                        <a:t>What that means today</a:t>
                      </a:r>
                    </a:p>
                  </a:txBody>
                  <a:tcPr marL="82296" marR="64008" marT="32004" marB="32004" anchor="ctr">
                    <a:solidFill>
                      <a:srgbClr val="A51C30"/>
                    </a:solidFill>
                  </a:tcPr>
                </a:tc>
              </a:tr>
              <a:tr h="487172">
                <a:tc>
                  <a:txBody>
                    <a:bodyPr wrap="square"/>
                    <a:lstStyle/>
                    <a:p>
                      <a:pPr algn="l"/>
                      <a:r>
                        <a:rPr sz="1000" b="1">
                          <a:solidFill>
                            <a:srgbClr val="A51C30"/>
                          </a:solidFill>
                          <a:latin typeface="Calibri"/>
                        </a:rPr>
                        <a:t>Evidence chain anchoring</a:t>
                      </a:r>
                    </a:p>
                  </a:txBody>
                  <a:tcPr marL="82296" marR="64008" marT="32004" marB="32004" anchor="ctr">
                    <a:solidFill>
                      <a:srgbClr val="FFFFFF"/>
                    </a:solidFill>
                  </a:tcPr>
                </a:tc>
                <a:tc>
                  <a:txBody>
                    <a:bodyPr wrap="square"/>
                    <a:lstStyle/>
                    <a:p>
                      <a:pPr algn="l"/>
                      <a:r>
                        <a:rPr sz="1000" b="0">
                          <a:solidFill>
                            <a:srgbClr val="1C1C1E"/>
                          </a:solidFill>
                          <a:latin typeface="Calibri"/>
                        </a:rPr>
                        <a:t>verification compares the chain against itself. Self-consistency of a chain an attacker could rewrite proves less than it appears to; WORM and RFC-3161 timestamping remain a design</a:t>
                      </a:r>
                    </a:p>
                  </a:txBody>
                  <a:tcPr marL="82296" marR="64008" marT="32004" marB="32004" anchor="ctr">
                    <a:solidFill>
                      <a:srgbClr val="FFFFFF"/>
                    </a:solidFill>
                  </a:tcPr>
                </a:tc>
              </a:tr>
              <a:tr h="487172">
                <a:tc>
                  <a:txBody>
                    <a:bodyPr wrap="square"/>
                    <a:lstStyle/>
                    <a:p>
                      <a:pPr algn="l"/>
                      <a:r>
                        <a:rPr sz="1000" b="1">
                          <a:solidFill>
                            <a:srgbClr val="A51C30"/>
                          </a:solidFill>
                          <a:latin typeface="Calibri"/>
                        </a:rPr>
                        <a:t>Asymmetric warrant signatures</a:t>
                      </a:r>
                    </a:p>
                  </a:txBody>
                  <a:tcPr marL="82296" marR="64008" marT="32004" marB="32004" anchor="ctr">
                    <a:solidFill>
                      <a:srgbClr val="F6F3EF"/>
                    </a:solidFill>
                  </a:tcPr>
                </a:tc>
                <a:tc>
                  <a:txBody>
                    <a:bodyPr wrap="square"/>
                    <a:lstStyle/>
                    <a:p>
                      <a:pPr algn="l"/>
                      <a:r>
                        <a:rPr sz="1000" b="0">
                          <a:solidFill>
                            <a:srgbClr val="1C1C1E"/>
                          </a:solidFill>
                          <a:latin typeface="Calibri"/>
                        </a:rPr>
                        <a:t>HMAC today, so verifying a warrant requires holding the key that could mint one — the wrong shape for a contract handed to engines you do not control</a:t>
                      </a:r>
                    </a:p>
                  </a:txBody>
                  <a:tcPr marL="82296" marR="64008" marT="32004" marB="32004" anchor="ctr">
                    <a:solidFill>
                      <a:srgbClr val="F6F3EF"/>
                    </a:solidFill>
                  </a:tcPr>
                </a:tc>
              </a:tr>
              <a:tr h="487172">
                <a:tc>
                  <a:txBody>
                    <a:bodyPr wrap="square"/>
                    <a:lstStyle/>
                    <a:p>
                      <a:pPr algn="l"/>
                      <a:r>
                        <a:rPr sz="1000" b="1">
                          <a:solidFill>
                            <a:srgbClr val="A51C30"/>
                          </a:solidFill>
                          <a:latin typeface="Calibri"/>
                        </a:rPr>
                        <a:t>An online feature store</a:t>
                      </a:r>
                    </a:p>
                  </a:txBody>
                  <a:tcPr marL="82296" marR="64008" marT="32004" marB="32004" anchor="ctr">
                    <a:solidFill>
                      <a:srgbClr val="FFFFFF"/>
                    </a:solidFill>
                  </a:tcPr>
                </a:tc>
                <a:tc>
                  <a:txBody>
                    <a:bodyPr wrap="square"/>
                    <a:lstStyle/>
                    <a:p>
                      <a:pPr algn="l"/>
                      <a:r>
                        <a:rPr sz="1000" b="0">
                          <a:solidFill>
                            <a:srgbClr val="1C1C1E"/>
                          </a:solidFill>
                          <a:latin typeface="Calibri"/>
                        </a:rPr>
                        <a:t>the Delta namespace IS the serving contract. Until a store exists, L-17 has nothing to compare against and training–serving skew is not detectable</a:t>
                      </a:r>
                    </a:p>
                  </a:txBody>
                  <a:tcPr marL="82296" marR="64008" marT="32004" marB="32004" anchor="ctr">
                    <a:solidFill>
                      <a:srgbClr val="FFFFFF"/>
                    </a:solidFill>
                  </a:tcPr>
                </a:tc>
              </a:tr>
              <a:tr h="347472">
                <a:tc>
                  <a:txBody>
                    <a:bodyPr wrap="square"/>
                    <a:lstStyle/>
                    <a:p>
                      <a:pPr algn="l"/>
                      <a:r>
                        <a:rPr sz="1000" b="1">
                          <a:solidFill>
                            <a:srgbClr val="A51C30"/>
                          </a:solidFill>
                          <a:latin typeface="Calibri"/>
                        </a:rPr>
                        <a:t>Six foundational laws</a:t>
                      </a:r>
                    </a:p>
                  </a:txBody>
                  <a:tcPr marL="82296" marR="64008" marT="32004" marB="32004" anchor="ctr">
                    <a:solidFill>
                      <a:srgbClr val="F6F3EF"/>
                    </a:solidFill>
                  </a:tcPr>
                </a:tc>
                <a:tc>
                  <a:txBody>
                    <a:bodyPr wrap="square"/>
                    <a:lstStyle/>
                    <a:p>
                      <a:pPr algn="l"/>
                      <a:r>
                        <a:rPr sz="1000" b="0">
                          <a:solidFill>
                            <a:srgbClr val="1C1C1E"/>
                          </a:solidFill>
                          <a:latin typeface="Calibri"/>
                        </a:rPr>
                        <a:t>L-6, L-11, L-13, L-14, L-15, L-17 — each named in chapter 8 with the reason it does not yet run</a:t>
                      </a:r>
                    </a:p>
                  </a:txBody>
                  <a:tcPr marL="82296" marR="64008" marT="32004" marB="32004" anchor="ctr">
                    <a:solidFill>
                      <a:srgbClr val="F6F3EF"/>
                    </a:solidFill>
                  </a:tcPr>
                </a:tc>
              </a:tr>
              <a:tr h="347472">
                <a:tc>
                  <a:txBody>
                    <a:bodyPr wrap="square"/>
                    <a:lstStyle/>
                    <a:p>
                      <a:pPr algn="l"/>
                      <a:r>
                        <a:rPr sz="1000" b="1">
                          <a:solidFill>
                            <a:srgbClr val="A51C30"/>
                          </a:solidFill>
                          <a:latin typeface="Calibri"/>
                        </a:rPr>
                        <a:t>Composite warrants and the interaction premium</a:t>
                      </a:r>
                    </a:p>
                  </a:txBody>
                  <a:tcPr marL="82296" marR="64008" marT="32004" marB="32004" anchor="ctr">
                    <a:solidFill>
                      <a:srgbClr val="FFFFFF"/>
                    </a:solidFill>
                  </a:tcPr>
                </a:tc>
                <a:tc>
                  <a:txBody>
                    <a:bodyPr wrap="square"/>
                    <a:lstStyle/>
                    <a:p>
                      <a:pPr algn="l"/>
                      <a:r>
                        <a:rPr sz="1000" b="0">
                          <a:solidFill>
                            <a:srgbClr val="1C1C1E"/>
                          </a:solidFill>
                          <a:latin typeface="Calibri"/>
                        </a:rPr>
                        <a:t>typed composition gives L-14 something to quantify over; the aggregate ρ is not built</a:t>
                      </a:r>
                    </a:p>
                  </a:txBody>
                  <a:tcPr marL="82296" marR="64008" marT="32004" marB="32004" anchor="ctr">
                    <a:solidFill>
                      <a:srgbClr val="FFFFFF"/>
                    </a:solidFill>
                  </a:tcPr>
                </a:tc>
              </a:tr>
              <a:tr h="347472">
                <a:tc>
                  <a:txBody>
                    <a:bodyPr wrap="square"/>
                    <a:lstStyle/>
                    <a:p>
                      <a:pPr algn="l"/>
                      <a:r>
                        <a:rPr sz="1000" b="1">
                          <a:solidFill>
                            <a:srgbClr val="A51C30"/>
                          </a:solidFill>
                          <a:latin typeface="Calibri"/>
                        </a:rPr>
                        <a:t>Discovery</a:t>
                      </a:r>
                    </a:p>
                  </a:txBody>
                  <a:tcPr marL="82296" marR="64008" marT="32004" marB="32004" anchor="ctr">
                    <a:solidFill>
                      <a:srgbClr val="F6F3EF"/>
                    </a:solidFill>
                  </a:tcPr>
                </a:tc>
                <a:tc>
                  <a:txBody>
                    <a:bodyPr wrap="square"/>
                    <a:lstStyle/>
                    <a:p>
                      <a:pPr algn="l"/>
                      <a:r>
                        <a:rPr sz="1000" b="0">
                          <a:solidFill>
                            <a:srgbClr val="1C1C1E"/>
                          </a:solidFill>
                          <a:latin typeface="Calibri"/>
                        </a:rPr>
                        <a:t>nothing sweeps for unregistered models or scans an EUC estate. The inventory is what somebody registered</a:t>
                      </a:r>
                    </a:p>
                  </a:txBody>
                  <a:tcPr marL="82296" marR="64008" marT="32004" marB="32004" anchor="ctr">
                    <a:solidFill>
                      <a:srgbClr val="F6F3EF"/>
                    </a:solidFill>
                  </a:tcPr>
                </a:tc>
              </a:tr>
            </a:tbl>
          </a:graphicData>
        </a:graphic>
      </p:graphicFrame>
      <p:sp>
        <p:nvSpPr>
          <p:cNvPr id="11" name="Rectangle 10"/>
          <p:cNvSpPr/>
          <p:nvPr/>
        </p:nvSpPr>
        <p:spPr>
          <a:xfrm>
            <a:off x="777240" y="4442460"/>
            <a:ext cx="10637215" cy="960120"/>
          </a:xfrm>
          <a:prstGeom prst="rect">
            <a:avLst/>
          </a:prstGeom>
          <a:solidFill>
            <a:srgbClr val="F6F3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2" name="Rectangle 11"/>
          <p:cNvSpPr/>
          <p:nvPr/>
        </p:nvSpPr>
        <p:spPr>
          <a:xfrm>
            <a:off x="777240" y="4442460"/>
            <a:ext cx="41148" cy="96012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13" name="TextBox 12"/>
          <p:cNvSpPr txBox="1"/>
          <p:nvPr/>
        </p:nvSpPr>
        <p:spPr>
          <a:xfrm>
            <a:off x="1014983" y="4561332"/>
            <a:ext cx="10180015" cy="740664"/>
          </a:xfrm>
          <a:prstGeom prst="rect">
            <a:avLst/>
          </a:prstGeom>
          <a:noFill/>
        </p:spPr>
        <p:txBody>
          <a:bodyPr wrap="square" lIns="0" rIns="0" tIns="0" bIns="0" anchor="t">
            <a:spAutoFit/>
          </a:bodyPr>
          <a:lstStyle/>
          <a:p>
            <a:pPr algn="l">
              <a:lnSpc>
                <a:spcPct val="124000"/>
              </a:lnSpc>
              <a:spcBef>
                <a:spcPts val="0"/>
              </a:spcBef>
              <a:spcAft>
                <a:spcPts val="0"/>
              </a:spcAft>
            </a:pPr>
            <a:r>
              <a:rPr sz="1050" b="1" i="0">
                <a:solidFill>
                  <a:srgbClr val="A51C30"/>
                </a:solidFill>
                <a:latin typeface="Calibri"/>
              </a:rPr>
              <a:t>A deck that ends on what it built has told you half of it. </a:t>
            </a:r>
            <a:r>
              <a:rPr sz="1050" b="0" i="0">
                <a:solidFill>
                  <a:srgbClr val="1C1C1E"/>
                </a:solidFill>
                <a:latin typeface="Calibri"/>
              </a:rPr>
              <a:t>This list is maintained in 12 §0 and in the law table, and both are checked by tests — because the gap is the part that goes stale first, and it is the part a reader most needs to be told without asking.</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1C3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3" name="Rectangle 2"/>
          <p:cNvSpPr/>
          <p:nvPr/>
        </p:nvSpPr>
        <p:spPr>
          <a:xfrm>
            <a:off x="0" y="0"/>
            <a:ext cx="182880" cy="6858000"/>
          </a:xfrm>
          <a:prstGeom prst="rect">
            <a:avLst/>
          </a:prstGeom>
          <a:solidFill>
            <a:srgbClr val="76142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4" name="TextBox 3"/>
          <p:cNvSpPr txBox="1"/>
          <p:nvPr/>
        </p:nvSpPr>
        <p:spPr>
          <a:xfrm>
            <a:off x="1143000" y="1874519"/>
            <a:ext cx="7658794" cy="1828800"/>
          </a:xfrm>
          <a:prstGeom prst="rect">
            <a:avLst/>
          </a:prstGeom>
          <a:noFill/>
        </p:spPr>
        <p:txBody>
          <a:bodyPr wrap="square" lIns="0" rIns="0" tIns="0" bIns="0" anchor="t">
            <a:spAutoFit/>
          </a:bodyPr>
          <a:lstStyle/>
          <a:p>
            <a:pPr algn="l">
              <a:lnSpc>
                <a:spcPct val="120000"/>
              </a:lnSpc>
              <a:spcBef>
                <a:spcPts val="0"/>
              </a:spcBef>
              <a:spcAft>
                <a:spcPts val="600"/>
              </a:spcAft>
            </a:pPr>
            <a:r>
              <a:rPr sz="3000" b="0" i="0">
                <a:solidFill>
                  <a:srgbClr val="FFFFFF"/>
                </a:solidFill>
                <a:latin typeface="Georgia"/>
              </a:rPr>
              <a:t>A model is a representation of the world.</a:t>
            </a:r>
          </a:p>
          <a:p>
            <a:pPr>
              <a:lnSpc>
                <a:spcPct val="120000"/>
              </a:lnSpc>
              <a:spcBef>
                <a:spcPts val="0"/>
              </a:spcBef>
              <a:spcAft>
                <a:spcPts val="0"/>
              </a:spcAft>
            </a:pPr>
            <a:r>
              <a:rPr sz="3000" b="0" i="0">
                <a:solidFill>
                  <a:srgbClr val="F2D8DC"/>
                </a:solidFill>
                <a:latin typeface="Georgia"/>
              </a:rPr>
              <a:t>Governance is knowing the difference.</a:t>
            </a:r>
          </a:p>
        </p:txBody>
      </p:sp>
      <p:sp>
        <p:nvSpPr>
          <p:cNvPr id="5" name="Rectangle 4"/>
          <p:cNvSpPr/>
          <p:nvPr/>
        </p:nvSpPr>
        <p:spPr>
          <a:xfrm>
            <a:off x="1143000" y="4160520"/>
            <a:ext cx="1554480" cy="32004"/>
          </a:xfrm>
          <a:prstGeom prst="rect">
            <a:avLst/>
          </a:prstGeom>
          <a:solidFill>
            <a:srgbClr val="E8B8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4008" bIns="64008"/>
          <a:lstStyle/>
          <a:p>
            <a:pPr algn="ctr"/>
          </a:p>
        </p:txBody>
      </p:sp>
      <p:sp>
        <p:nvSpPr>
          <p:cNvPr id="6" name="TextBox 5"/>
          <p:cNvSpPr txBox="1"/>
          <p:nvPr/>
        </p:nvSpPr>
        <p:spPr>
          <a:xfrm>
            <a:off x="1143000" y="4434840"/>
            <a:ext cx="6382329" cy="822960"/>
          </a:xfrm>
          <a:prstGeom prst="rect">
            <a:avLst/>
          </a:prstGeom>
          <a:noFill/>
        </p:spPr>
        <p:txBody>
          <a:bodyPr wrap="square" lIns="0" rIns="0" tIns="0" bIns="0" anchor="t">
            <a:spAutoFit/>
          </a:bodyPr>
          <a:lstStyle/>
          <a:p>
            <a:pPr algn="l">
              <a:spcBef>
                <a:spcPts val="0"/>
              </a:spcBef>
              <a:spcAft>
                <a:spcPts val="400"/>
              </a:spcAft>
            </a:pPr>
            <a:r>
              <a:rPr sz="1300" b="1" i="0">
                <a:solidFill>
                  <a:srgbClr val="F4DFE3"/>
                </a:solidFill>
                <a:latin typeface="Calibri"/>
              </a:rPr>
              <a:t>MAYA  ·  Evidence, not assertion.</a:t>
            </a:r>
          </a:p>
          <a:p>
            <a:pPr>
              <a:spcBef>
                <a:spcPts val="0"/>
              </a:spcBef>
              <a:spcAft>
                <a:spcPts val="0"/>
              </a:spcAft>
            </a:pPr>
            <a:r>
              <a:rPr sz="1100" b="0" i="0">
                <a:solidFill>
                  <a:srgbClr val="E8B8C0"/>
                </a:solidFill>
                <a:latin typeface="Calibri"/>
              </a:rPr>
              <a:t>Ashutosh Sinha  ·  Independent Researcher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